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8" r:id="rId5"/>
  </p:sldMasterIdLst>
  <p:notesMasterIdLst>
    <p:notesMasterId r:id="rId48"/>
  </p:notesMasterIdLst>
  <p:handoutMasterIdLst>
    <p:handoutMasterId r:id="rId49"/>
  </p:handoutMasterIdLst>
  <p:sldIdLst>
    <p:sldId id="257" r:id="rId6"/>
    <p:sldId id="326" r:id="rId7"/>
    <p:sldId id="256" r:id="rId8"/>
    <p:sldId id="273" r:id="rId9"/>
    <p:sldId id="319" r:id="rId10"/>
    <p:sldId id="366" r:id="rId11"/>
    <p:sldId id="367" r:id="rId12"/>
    <p:sldId id="283" r:id="rId13"/>
    <p:sldId id="286" r:id="rId14"/>
    <p:sldId id="458" r:id="rId15"/>
    <p:sldId id="289" r:id="rId16"/>
    <p:sldId id="358" r:id="rId17"/>
    <p:sldId id="361" r:id="rId18"/>
    <p:sldId id="379" r:id="rId19"/>
    <p:sldId id="331" r:id="rId20"/>
    <p:sldId id="332" r:id="rId21"/>
    <p:sldId id="297" r:id="rId22"/>
    <p:sldId id="456" r:id="rId23"/>
    <p:sldId id="351" r:id="rId24"/>
    <p:sldId id="335" r:id="rId25"/>
    <p:sldId id="349" r:id="rId26"/>
    <p:sldId id="272" r:id="rId27"/>
    <p:sldId id="357" r:id="rId28"/>
    <p:sldId id="295" r:id="rId29"/>
    <p:sldId id="388" r:id="rId30"/>
    <p:sldId id="457" r:id="rId31"/>
    <p:sldId id="360" r:id="rId32"/>
    <p:sldId id="274" r:id="rId33"/>
    <p:sldId id="459" r:id="rId34"/>
    <p:sldId id="378" r:id="rId35"/>
    <p:sldId id="320" r:id="rId36"/>
    <p:sldId id="321" r:id="rId37"/>
    <p:sldId id="381" r:id="rId38"/>
    <p:sldId id="372" r:id="rId39"/>
    <p:sldId id="294" r:id="rId40"/>
    <p:sldId id="460" r:id="rId41"/>
    <p:sldId id="336" r:id="rId42"/>
    <p:sldId id="307" r:id="rId43"/>
    <p:sldId id="308" r:id="rId44"/>
    <p:sldId id="339" r:id="rId45"/>
    <p:sldId id="380" r:id="rId46"/>
    <p:sldId id="267" r:id="rId47"/>
  </p:sldIdLst>
  <p:sldSz cx="12192000" cy="6858000"/>
  <p:notesSz cx="6799263" cy="98758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EDFF"/>
    <a:srgbClr val="FF5D5D"/>
    <a:srgbClr val="472665"/>
    <a:srgbClr val="491A66"/>
    <a:srgbClr val="FFFF97"/>
    <a:srgbClr val="F8F200"/>
    <a:srgbClr val="F370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93E627-3406-4FA7-91FB-0F00A9619CD3}" v="1" dt="2020-04-20T12:58:19.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24" autoAdjust="0"/>
    <p:restoredTop sz="87451" autoAdjust="0"/>
  </p:normalViewPr>
  <p:slideViewPr>
    <p:cSldViewPr snapToGrid="0">
      <p:cViewPr varScale="1">
        <p:scale>
          <a:sx n="63" d="100"/>
          <a:sy n="63" d="100"/>
        </p:scale>
        <p:origin x="1068" y="66"/>
      </p:cViewPr>
      <p:guideLst/>
    </p:cSldViewPr>
  </p:slideViewPr>
  <p:notesTextViewPr>
    <p:cViewPr>
      <p:scale>
        <a:sx n="75" d="100"/>
        <a:sy n="75" d="100"/>
      </p:scale>
      <p:origin x="0" y="0"/>
    </p:cViewPr>
  </p:notesTextViewPr>
  <p:notesViewPr>
    <p:cSldViewPr snapToGrid="0" showGuides="1">
      <p:cViewPr varScale="1">
        <p:scale>
          <a:sx n="48" d="100"/>
          <a:sy n="48" d="100"/>
        </p:scale>
        <p:origin x="294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4F0777-E9D5-44EE-87B8-929B5F25714B}"/>
              </a:ext>
            </a:extLst>
          </p:cNvPr>
          <p:cNvSpPr>
            <a:spLocks noGrp="1"/>
          </p:cNvSpPr>
          <p:nvPr>
            <p:ph type="hdr" sz="quarter"/>
          </p:nvPr>
        </p:nvSpPr>
        <p:spPr>
          <a:xfrm>
            <a:off x="0" y="0"/>
            <a:ext cx="2946347" cy="495507"/>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9D3F718-09DA-407F-A69F-73CFB4252883}"/>
              </a:ext>
            </a:extLst>
          </p:cNvPr>
          <p:cNvSpPr>
            <a:spLocks noGrp="1"/>
          </p:cNvSpPr>
          <p:nvPr>
            <p:ph type="dt" sz="quarter" idx="1"/>
          </p:nvPr>
        </p:nvSpPr>
        <p:spPr>
          <a:xfrm>
            <a:off x="3851343" y="0"/>
            <a:ext cx="2946347" cy="495507"/>
          </a:xfrm>
          <a:prstGeom prst="rect">
            <a:avLst/>
          </a:prstGeom>
        </p:spPr>
        <p:txBody>
          <a:bodyPr vert="horz" lIns="91440" tIns="45720" rIns="91440" bIns="45720" rtlCol="0"/>
          <a:lstStyle>
            <a:lvl1pPr algn="r">
              <a:defRPr sz="1200"/>
            </a:lvl1pPr>
          </a:lstStyle>
          <a:p>
            <a:fld id="{9826161A-5954-455B-8CA2-ABDFA4CF1D96}" type="datetimeFigureOut">
              <a:rPr lang="en-GB" smtClean="0"/>
              <a:t>15/05/2020</a:t>
            </a:fld>
            <a:endParaRPr lang="en-GB"/>
          </a:p>
        </p:txBody>
      </p:sp>
      <p:sp>
        <p:nvSpPr>
          <p:cNvPr id="4" name="Footer Placeholder 3">
            <a:extLst>
              <a:ext uri="{FF2B5EF4-FFF2-40B4-BE49-F238E27FC236}">
                <a16:creationId xmlns:a16="http://schemas.microsoft.com/office/drawing/2014/main" id="{2A5EBED4-43C0-491D-BB8D-00EA61982A9C}"/>
              </a:ext>
            </a:extLst>
          </p:cNvPr>
          <p:cNvSpPr>
            <a:spLocks noGrp="1"/>
          </p:cNvSpPr>
          <p:nvPr>
            <p:ph type="ftr" sz="quarter" idx="2"/>
          </p:nvPr>
        </p:nvSpPr>
        <p:spPr>
          <a:xfrm>
            <a:off x="0" y="9380332"/>
            <a:ext cx="2946347" cy="49550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D604783-7143-4C7C-945B-9F7D8B5A536E}"/>
              </a:ext>
            </a:extLst>
          </p:cNvPr>
          <p:cNvSpPr>
            <a:spLocks noGrp="1"/>
          </p:cNvSpPr>
          <p:nvPr>
            <p:ph type="sldNum" sz="quarter" idx="3"/>
          </p:nvPr>
        </p:nvSpPr>
        <p:spPr>
          <a:xfrm>
            <a:off x="3851343" y="9380332"/>
            <a:ext cx="2946347" cy="495506"/>
          </a:xfrm>
          <a:prstGeom prst="rect">
            <a:avLst/>
          </a:prstGeom>
        </p:spPr>
        <p:txBody>
          <a:bodyPr vert="horz" lIns="91440" tIns="45720" rIns="91440" bIns="45720" rtlCol="0" anchor="b"/>
          <a:lstStyle>
            <a:lvl1pPr algn="r">
              <a:defRPr sz="1200"/>
            </a:lvl1pPr>
          </a:lstStyle>
          <a:p>
            <a:fld id="{CE5EA01D-0DAD-4591-8474-22CCBD0FDF4F}" type="slidenum">
              <a:rPr lang="en-GB" smtClean="0"/>
              <a:t>‹#›</a:t>
            </a:fld>
            <a:endParaRPr lang="en-GB"/>
          </a:p>
        </p:txBody>
      </p:sp>
    </p:spTree>
    <p:extLst>
      <p:ext uri="{BB962C8B-B14F-4D97-AF65-F5344CB8AC3E}">
        <p14:creationId xmlns:p14="http://schemas.microsoft.com/office/powerpoint/2010/main" val="146928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5507"/>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1343" y="0"/>
            <a:ext cx="2946347" cy="495507"/>
          </a:xfrm>
          <a:prstGeom prst="rect">
            <a:avLst/>
          </a:prstGeom>
        </p:spPr>
        <p:txBody>
          <a:bodyPr vert="horz" lIns="91440" tIns="45720" rIns="91440" bIns="45720" rtlCol="0"/>
          <a:lstStyle>
            <a:lvl1pPr algn="r">
              <a:defRPr sz="1200"/>
            </a:lvl1pPr>
          </a:lstStyle>
          <a:p>
            <a:fld id="{9103C47D-AC40-4C57-B801-0B1A733141B1}" type="datetimeFigureOut">
              <a:rPr lang="en-GB" smtClean="0"/>
              <a:t>15/05/2020</a:t>
            </a:fld>
            <a:endParaRPr lang="en-GB"/>
          </a:p>
        </p:txBody>
      </p:sp>
      <p:sp>
        <p:nvSpPr>
          <p:cNvPr id="4" name="Slide Image Placeholder 3"/>
          <p:cNvSpPr>
            <a:spLocks noGrp="1" noRot="1" noChangeAspect="1"/>
          </p:cNvSpPr>
          <p:nvPr>
            <p:ph type="sldImg" idx="2"/>
          </p:nvPr>
        </p:nvSpPr>
        <p:spPr>
          <a:xfrm>
            <a:off x="439738" y="1235075"/>
            <a:ext cx="5919787" cy="3330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927" y="4752748"/>
            <a:ext cx="5439410" cy="388861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80332"/>
            <a:ext cx="2946347" cy="495506"/>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1343" y="9380332"/>
            <a:ext cx="2946347" cy="495506"/>
          </a:xfrm>
          <a:prstGeom prst="rect">
            <a:avLst/>
          </a:prstGeom>
        </p:spPr>
        <p:txBody>
          <a:bodyPr vert="horz" lIns="91440" tIns="45720" rIns="91440" bIns="45720" rtlCol="0" anchor="b"/>
          <a:lstStyle>
            <a:lvl1pPr algn="r">
              <a:defRPr sz="1200"/>
            </a:lvl1pPr>
          </a:lstStyle>
          <a:p>
            <a:fld id="{40474DD8-23EF-45F8-B399-8BBD2E29D92B}" type="slidenum">
              <a:rPr lang="en-GB" smtClean="0"/>
              <a:t>‹#›</a:t>
            </a:fld>
            <a:endParaRPr lang="en-GB"/>
          </a:p>
        </p:txBody>
      </p:sp>
    </p:spTree>
    <p:extLst>
      <p:ext uri="{BB962C8B-B14F-4D97-AF65-F5344CB8AC3E}">
        <p14:creationId xmlns:p14="http://schemas.microsoft.com/office/powerpoint/2010/main" val="3229767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0474DD8-23EF-45F8-B399-8BBD2E29D92B}" type="slidenum">
              <a:rPr lang="en-GB" smtClean="0"/>
              <a:t>1</a:t>
            </a:fld>
            <a:endParaRPr lang="en-GB"/>
          </a:p>
        </p:txBody>
      </p:sp>
    </p:spTree>
    <p:extLst>
      <p:ext uri="{BB962C8B-B14F-4D97-AF65-F5344CB8AC3E}">
        <p14:creationId xmlns:p14="http://schemas.microsoft.com/office/powerpoint/2010/main" val="951558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0474DD8-23EF-45F8-B399-8BBD2E29D92B}" type="slidenum">
              <a:rPr lang="en-GB" smtClean="0"/>
              <a:t>2</a:t>
            </a:fld>
            <a:endParaRPr lang="en-GB"/>
          </a:p>
        </p:txBody>
      </p:sp>
    </p:spTree>
    <p:extLst>
      <p:ext uri="{BB962C8B-B14F-4D97-AF65-F5344CB8AC3E}">
        <p14:creationId xmlns:p14="http://schemas.microsoft.com/office/powerpoint/2010/main" val="595717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0628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206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2136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5501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6414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1287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1339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8617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first steps to really understanding your social impact is understanding the problem you are solving…</a:t>
            </a:r>
          </a:p>
          <a:p>
            <a:endParaRPr lang="en-GB" dirty="0"/>
          </a:p>
          <a:p>
            <a:r>
              <a:rPr lang="en-GB" dirty="0"/>
              <a:t>This directly feeds into your </a:t>
            </a:r>
            <a:r>
              <a:rPr lang="en-GB" b="1" dirty="0"/>
              <a:t>problem statement </a:t>
            </a:r>
            <a:r>
              <a:rPr lang="en-GB" b="0" dirty="0"/>
              <a:t>that you will often see in a business plan or a pitch to investors. </a:t>
            </a:r>
          </a:p>
          <a:p>
            <a:endParaRPr lang="en-GB" b="0" dirty="0"/>
          </a:p>
          <a:p>
            <a:r>
              <a:rPr lang="en-GB" b="0" dirty="0"/>
              <a:t>The tool here shows the ways to break down a problem… it also comes with the recommended problem statement format. </a:t>
            </a:r>
          </a:p>
          <a:p>
            <a:endParaRPr lang="en-GB" b="0" dirty="0"/>
          </a:p>
          <a:p>
            <a:r>
              <a:rPr lang="en-GB" b="0" dirty="0"/>
              <a:t>The idea here is to set up the idea of </a:t>
            </a:r>
            <a:r>
              <a:rPr lang="en-GB" b="1" dirty="0"/>
              <a:t>what the real difference your solution will make… </a:t>
            </a:r>
            <a:endParaRPr lang="en-GB" b="0" dirty="0"/>
          </a:p>
          <a:p>
            <a:endParaRPr lang="en-GB" b="0" dirty="0"/>
          </a:p>
          <a:p>
            <a:r>
              <a:rPr lang="en-GB" b="0" dirty="0"/>
              <a:t>On the left you will see the information on the problem, the customer and how that affects the customer… on the right is what they currently do if they don’t use your services… </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080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392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you’ve done here is start building up the components of a results chain… this really starts to test the idea of </a:t>
            </a:r>
            <a:r>
              <a:rPr lang="en-GB" b="1" dirty="0"/>
              <a:t>do I understand how the goods &amp; services I provide lead to a change in the end user’s life? </a:t>
            </a:r>
          </a:p>
          <a:p>
            <a:endParaRPr lang="en-GB" b="1" dirty="0"/>
          </a:p>
          <a:p>
            <a:r>
              <a:rPr lang="en-GB" b="1" dirty="0"/>
              <a:t>Is it the change I expect and want? </a:t>
            </a:r>
          </a:p>
          <a:p>
            <a:endParaRPr lang="en-GB" b="1" dirty="0"/>
          </a:p>
          <a:p>
            <a:r>
              <a:rPr lang="en-GB" b="0" dirty="0"/>
              <a:t>Thinking from an enterprise perspective… you could look at this… </a:t>
            </a:r>
          </a:p>
          <a:p>
            <a:endParaRPr lang="en-GB" b="0" dirty="0"/>
          </a:p>
          <a:p>
            <a:endParaRPr lang="en-GB" b="0" dirty="0"/>
          </a:p>
        </p:txBody>
      </p:sp>
      <p:sp>
        <p:nvSpPr>
          <p:cNvPr id="4" name="Slide Number Placeholder 3"/>
          <p:cNvSpPr>
            <a:spLocks noGrp="1"/>
          </p:cNvSpPr>
          <p:nvPr>
            <p:ph type="sldNum" sz="quarter" idx="10"/>
          </p:nvPr>
        </p:nvSpPr>
        <p:spPr/>
        <p:txBody>
          <a:bodyPr/>
          <a:lstStyle/>
          <a:p>
            <a:fld id="{40474DD8-23EF-45F8-B399-8BBD2E29D92B}" type="slidenum">
              <a:rPr lang="en-GB" smtClean="0"/>
              <a:t>15</a:t>
            </a:fld>
            <a:endParaRPr lang="en-GB"/>
          </a:p>
        </p:txBody>
      </p:sp>
    </p:spTree>
    <p:extLst>
      <p:ext uri="{BB962C8B-B14F-4D97-AF65-F5344CB8AC3E}">
        <p14:creationId xmlns:p14="http://schemas.microsoft.com/office/powerpoint/2010/main" val="2022499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8633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kern="1200" baseline="0" dirty="0">
              <a:solidFill>
                <a:schemeClr val="tx1"/>
              </a:solidFill>
              <a:effectLst/>
              <a:latin typeface="+mn-lt"/>
              <a:ea typeface="+mn-ea"/>
              <a:cs typeface="+mn-cs"/>
            </a:endParaRPr>
          </a:p>
          <a:p>
            <a:endParaRPr lang="en-GB" baseline="0" dirty="0"/>
          </a:p>
          <a:p>
            <a:r>
              <a:rPr lang="en-GB" sz="1200" kern="1200" dirty="0">
                <a:solidFill>
                  <a:schemeClr val="tx1"/>
                </a:solidFill>
                <a:effectLst/>
                <a:latin typeface="+mn-lt"/>
                <a:ea typeface="+mn-ea"/>
                <a:cs typeface="+mn-cs"/>
              </a:rPr>
              <a:t>offer to provide feedback to those that send them to </a:t>
            </a:r>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039F3-C8D0-49EB-8F7B-9155C31197A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0505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using example? You’re not invested; can be objective, can see what goes where</a:t>
            </a:r>
          </a:p>
          <a:p>
            <a:endParaRPr lang="en-GB" dirty="0"/>
          </a:p>
          <a:p>
            <a:r>
              <a:rPr lang="en-GB" dirty="0"/>
              <a:t>Things</a:t>
            </a:r>
            <a:r>
              <a:rPr lang="en-GB" baseline="0" dirty="0"/>
              <a:t> to bring up:</a:t>
            </a:r>
          </a:p>
          <a:p>
            <a:r>
              <a:rPr lang="en-GB" baseline="0" dirty="0"/>
              <a:t>Made up!</a:t>
            </a:r>
          </a:p>
          <a:p>
            <a:r>
              <a:rPr lang="en-GB" baseline="0" dirty="0"/>
              <a:t>Not perfect.</a:t>
            </a:r>
          </a:p>
          <a:p>
            <a:endParaRPr lang="en-GB" baseline="0" dirty="0"/>
          </a:p>
          <a:p>
            <a:r>
              <a:rPr lang="en-GB" baseline="0" dirty="0"/>
              <a:t>Any themes in the outcomes? Can the outputs be attached to the same theme?</a:t>
            </a:r>
          </a:p>
          <a:p>
            <a:endParaRPr lang="en-GB" i="0" baseline="0" dirty="0"/>
          </a:p>
          <a:p>
            <a:pPr marL="228600" indent="-228600">
              <a:buAutoNum type="arabicPeriod"/>
            </a:pPr>
            <a:r>
              <a:rPr lang="en-GB" baseline="0" dirty="0"/>
              <a:t>Outcomes to goal</a:t>
            </a:r>
          </a:p>
          <a:p>
            <a:pPr marL="0" indent="0">
              <a:buNone/>
            </a:pPr>
            <a:r>
              <a:rPr lang="en-GB" baseline="0" dirty="0"/>
              <a:t>Are all the outcomes </a:t>
            </a:r>
            <a:r>
              <a:rPr lang="en-GB" i="1" baseline="0" dirty="0"/>
              <a:t>actually</a:t>
            </a:r>
            <a:r>
              <a:rPr lang="en-GB" i="0" baseline="0" dirty="0"/>
              <a:t> linking to the goal? Can we be sure that home cooking or gardening increases veg consumption? Or attitude changes? Is an increase in adults and children cooking together or gardening a positive outcome that isn’t necessarily leading to the goal?</a:t>
            </a:r>
          </a:p>
          <a:p>
            <a:pPr marL="0" indent="0">
              <a:buNone/>
            </a:pPr>
            <a:endParaRPr lang="en-GB" i="0" baseline="0" dirty="0"/>
          </a:p>
          <a:p>
            <a:pPr marL="0" indent="0">
              <a:buNone/>
            </a:pPr>
            <a:r>
              <a:rPr lang="en-GB" i="0" baseline="0" dirty="0"/>
              <a:t>2. Short term goals to long term goals</a:t>
            </a:r>
          </a:p>
          <a:p>
            <a:pPr marL="0" indent="0">
              <a:buNone/>
            </a:pPr>
            <a:r>
              <a:rPr lang="en-GB" i="0" baseline="0" dirty="0"/>
              <a:t>Can we know that the short term goals lead to longer-term goals? Will enjoying the garden experiences actually lead to eating more veg, or doing more gardening?</a:t>
            </a:r>
          </a:p>
          <a:p>
            <a:pPr marL="0" indent="0">
              <a:buNone/>
            </a:pPr>
            <a:endParaRPr lang="en-GB" i="0" baseline="0" dirty="0"/>
          </a:p>
          <a:p>
            <a:pPr marL="0" indent="0">
              <a:buNone/>
            </a:pPr>
            <a:r>
              <a:rPr lang="en-GB" i="0" baseline="0" dirty="0"/>
              <a:t>3. Activities</a:t>
            </a:r>
          </a:p>
          <a:p>
            <a:pPr marL="0" indent="0">
              <a:buNone/>
            </a:pPr>
            <a:r>
              <a:rPr lang="en-GB" i="0" baseline="0" dirty="0"/>
              <a:t>Are all of the activities aiming to address the goal directly? How much are they just ‘what they do’?</a:t>
            </a:r>
          </a:p>
          <a:p>
            <a:pPr marL="0" indent="0">
              <a:buNone/>
            </a:pPr>
            <a:r>
              <a:rPr lang="en-GB" i="0" baseline="0" dirty="0"/>
              <a:t>Some activities can’t be </a:t>
            </a:r>
          </a:p>
          <a:p>
            <a:pPr marL="0" indent="0">
              <a:buNone/>
            </a:pPr>
            <a:endParaRPr lang="en-GB" i="0" baseline="0" dirty="0"/>
          </a:p>
          <a:p>
            <a:pPr marL="0" indent="0">
              <a:buNone/>
            </a:pPr>
            <a:r>
              <a:rPr lang="en-GB" i="0" baseline="0" dirty="0"/>
              <a:t>4. Which of these could be measured?</a:t>
            </a:r>
          </a:p>
          <a:p>
            <a:pPr marL="0" indent="0">
              <a:buNone/>
            </a:pPr>
            <a:r>
              <a:rPr lang="en-GB" i="0" baseline="0" dirty="0"/>
              <a:t>Activities: website hits / booklet downloads, course attendance, how much soup gets eaten (but we can’t follow up on individuals). </a:t>
            </a:r>
          </a:p>
          <a:p>
            <a:pPr marL="0" indent="0">
              <a:buNone/>
            </a:pPr>
            <a:r>
              <a:rPr lang="en-GB" i="0" baseline="0" dirty="0"/>
              <a:t>Let’s look just at the output ‘local children eat soup’. Can we be sure that they’re actually increasing their veg consumption? Could it be the same 3 children every day, and if so how do we know impact?</a:t>
            </a:r>
          </a:p>
          <a:p>
            <a:pPr marL="0" indent="0">
              <a:buNone/>
            </a:pPr>
            <a:r>
              <a:rPr lang="en-GB" i="0" baseline="0" dirty="0"/>
              <a:t>‘They see posters around’ can’t be measured, that’s touching many, many more people than we can measure and test</a:t>
            </a:r>
          </a:p>
          <a:p>
            <a:pPr marL="0" indent="0">
              <a:buNone/>
            </a:pPr>
            <a:r>
              <a:rPr lang="en-GB" i="0" baseline="0" dirty="0"/>
              <a:t>Which of the long-term outcomes can be measured? I’d say improved attitudes could be on a feedback form. Children learning about veg almost requires a test!</a:t>
            </a:r>
          </a:p>
          <a:p>
            <a:pPr marL="0" indent="0">
              <a:buNone/>
            </a:pPr>
            <a:endParaRPr lang="en-GB" i="0" baseline="0" dirty="0"/>
          </a:p>
          <a:p>
            <a:pPr marL="0" indent="0">
              <a:buNone/>
            </a:pPr>
            <a:r>
              <a:rPr lang="en-GB" i="0" baseline="0" dirty="0"/>
              <a:t>5. Outputs to outcomes</a:t>
            </a:r>
          </a:p>
          <a:p>
            <a:pPr marL="0" indent="0">
              <a:buNone/>
            </a:pPr>
            <a:endParaRPr lang="en-GB" i="0" baseline="0" dirty="0"/>
          </a:p>
          <a:p>
            <a:pPr marL="0" indent="0">
              <a:buNone/>
            </a:pPr>
            <a:r>
              <a:rPr lang="en-GB" i="0" baseline="0" dirty="0"/>
              <a:t>5. Who are the participants?</a:t>
            </a:r>
          </a:p>
          <a:p>
            <a:pPr marL="0" indent="0">
              <a:buNone/>
            </a:pPr>
            <a:r>
              <a:rPr lang="en-GB" i="0" baseline="0" dirty="0"/>
              <a:t>Children and adults</a:t>
            </a:r>
          </a:p>
          <a:p>
            <a:pPr marL="0" indent="0">
              <a:buNone/>
            </a:pPr>
            <a:r>
              <a:rPr lang="en-GB" i="0" baseline="0" dirty="0"/>
              <a:t>Seems like some of the activities are geared towards children, some towards adult. Maybe needs to distinguish which activities and outputs and outcomes are for whom, seeing as some of the outcomes are for changing adults, </a:t>
            </a:r>
            <a:r>
              <a:rPr lang="en-GB" i="1" baseline="0" dirty="0"/>
              <a:t>thus</a:t>
            </a:r>
            <a:r>
              <a:rPr lang="en-GB" i="0" baseline="0" dirty="0"/>
              <a:t> changing children, some directly addressing children</a:t>
            </a:r>
          </a:p>
          <a:p>
            <a:pPr marL="0" indent="0">
              <a:buNone/>
            </a:pPr>
            <a:r>
              <a:rPr lang="en-GB" i="0" baseline="0" dirty="0"/>
              <a:t>Children/adults who go to training courses may be far more likely to have improved attitudes to veg than those who eat the soup once at school (then again we know that their veg intake has gone up for that day! Is that enough to say we’re reaching our goal?) and adults who see a poster are unlikely to do more home coming with their child due to just that intervention</a:t>
            </a:r>
          </a:p>
          <a:p>
            <a:pPr marL="0" indent="0">
              <a:buNone/>
            </a:pPr>
            <a:r>
              <a:rPr lang="en-GB" i="0" baseline="0" dirty="0"/>
              <a:t>So we’ve got different levels of participants, who might hit different outcomes, and different information can be gathered from them</a:t>
            </a:r>
          </a:p>
          <a:p>
            <a:pPr marL="0" indent="0">
              <a:buNone/>
            </a:pPr>
            <a:endParaRPr lang="en-GB" i="0" baseline="0" dirty="0"/>
          </a:p>
          <a:p>
            <a:pPr marL="0" indent="0">
              <a:buNone/>
            </a:pPr>
            <a:r>
              <a:rPr lang="en-GB" i="0" baseline="0" dirty="0"/>
              <a:t>7. Other assumptions</a:t>
            </a:r>
          </a:p>
          <a:p>
            <a:pPr marL="0" indent="0">
              <a:buNone/>
            </a:pPr>
            <a:r>
              <a:rPr lang="en-GB" i="0" baseline="0" dirty="0"/>
              <a:t>Targeting adults will vicariously affect children</a:t>
            </a:r>
          </a:p>
          <a:p>
            <a:pPr marL="0" indent="0">
              <a:buNone/>
            </a:pPr>
            <a:r>
              <a:rPr lang="en-GB" i="0" baseline="0" dirty="0"/>
              <a:t>If veg consumption increases, nutrition improves (eating less unhealthy food? Or just more food overall?)</a:t>
            </a:r>
          </a:p>
          <a:p>
            <a:pPr marL="0" indent="0">
              <a:buNone/>
            </a:pPr>
            <a:endParaRPr lang="en-GB" i="0" baseline="0" dirty="0"/>
          </a:p>
        </p:txBody>
      </p:sp>
      <p:sp>
        <p:nvSpPr>
          <p:cNvPr id="4" name="Slide Number Placeholder 3"/>
          <p:cNvSpPr>
            <a:spLocks noGrp="1"/>
          </p:cNvSpPr>
          <p:nvPr>
            <p:ph type="sldNum" sz="quarter" idx="10"/>
          </p:nvPr>
        </p:nvSpPr>
        <p:spPr/>
        <p:txBody>
          <a:bodyPr/>
          <a:lstStyle/>
          <a:p>
            <a:fld id="{42007ECE-A822-4A64-8097-EA65EC8EFB4F}" type="slidenum">
              <a:rPr lang="en-GB" smtClean="0"/>
              <a:t>19</a:t>
            </a:fld>
            <a:endParaRPr lang="en-GB"/>
          </a:p>
        </p:txBody>
      </p:sp>
    </p:spTree>
    <p:extLst>
      <p:ext uri="{BB962C8B-B14F-4D97-AF65-F5344CB8AC3E}">
        <p14:creationId xmlns:p14="http://schemas.microsoft.com/office/powerpoint/2010/main" val="1445575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0474DD8-23EF-45F8-B399-8BBD2E29D92B}" type="slidenum">
              <a:rPr lang="en-GB" smtClean="0"/>
              <a:t>20</a:t>
            </a:fld>
            <a:endParaRPr lang="en-GB"/>
          </a:p>
        </p:txBody>
      </p:sp>
    </p:spTree>
    <p:extLst>
      <p:ext uri="{BB962C8B-B14F-4D97-AF65-F5344CB8AC3E}">
        <p14:creationId xmlns:p14="http://schemas.microsoft.com/office/powerpoint/2010/main" val="2457691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0474DD8-23EF-45F8-B399-8BBD2E29D92B}" type="slidenum">
              <a:rPr lang="en-GB" smtClean="0"/>
              <a:t>21</a:t>
            </a:fld>
            <a:endParaRPr lang="en-GB"/>
          </a:p>
        </p:txBody>
      </p:sp>
    </p:spTree>
    <p:extLst>
      <p:ext uri="{BB962C8B-B14F-4D97-AF65-F5344CB8AC3E}">
        <p14:creationId xmlns:p14="http://schemas.microsoft.com/office/powerpoint/2010/main" val="4784257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way of showing a lot of information and again… showing the pathway from what we do through to the impact we want to achieve. </a:t>
            </a:r>
          </a:p>
        </p:txBody>
      </p:sp>
      <p:sp>
        <p:nvSpPr>
          <p:cNvPr id="4" name="Slide Number Placeholder 3"/>
          <p:cNvSpPr>
            <a:spLocks noGrp="1"/>
          </p:cNvSpPr>
          <p:nvPr>
            <p:ph type="sldNum" sz="quarter" idx="10"/>
          </p:nvPr>
        </p:nvSpPr>
        <p:spPr/>
        <p:txBody>
          <a:bodyPr/>
          <a:lstStyle/>
          <a:p>
            <a:fld id="{40474DD8-23EF-45F8-B399-8BBD2E29D92B}" type="slidenum">
              <a:rPr lang="en-GB" smtClean="0"/>
              <a:t>22</a:t>
            </a:fld>
            <a:endParaRPr lang="en-GB"/>
          </a:p>
        </p:txBody>
      </p:sp>
    </p:spTree>
    <p:extLst>
      <p:ext uri="{BB962C8B-B14F-4D97-AF65-F5344CB8AC3E}">
        <p14:creationId xmlns:p14="http://schemas.microsoft.com/office/powerpoint/2010/main" val="3742424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They can be beautiful</a:t>
            </a:r>
          </a:p>
        </p:txBody>
      </p:sp>
      <p:sp>
        <p:nvSpPr>
          <p:cNvPr id="4" name="Slide Number Placeholder 3"/>
          <p:cNvSpPr>
            <a:spLocks noGrp="1"/>
          </p:cNvSpPr>
          <p:nvPr>
            <p:ph type="sldNum" sz="quarter" idx="10"/>
          </p:nvPr>
        </p:nvSpPr>
        <p:spPr/>
        <p:txBody>
          <a:bodyPr/>
          <a:lstStyle/>
          <a:p>
            <a:fld id="{40474DD8-23EF-45F8-B399-8BBD2E29D92B}" type="slidenum">
              <a:rPr lang="en-GB" smtClean="0"/>
              <a:t>24</a:t>
            </a:fld>
            <a:endParaRPr lang="en-GB"/>
          </a:p>
        </p:txBody>
      </p:sp>
    </p:spTree>
    <p:extLst>
      <p:ext uri="{BB962C8B-B14F-4D97-AF65-F5344CB8AC3E}">
        <p14:creationId xmlns:p14="http://schemas.microsoft.com/office/powerpoint/2010/main" val="2355236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Remember to keep this in as its about pushing the ‘audience’ understanding on the problem you’re solving and the way you do (e.g. framing it </a:t>
            </a:r>
            <a:r>
              <a:rPr lang="en-GB" dirty="0" err="1"/>
              <a:t>outwith</a:t>
            </a:r>
            <a:r>
              <a:rPr lang="en-GB" dirty="0"/>
              <a:t> the lawyer frame of reference and mind set)</a:t>
            </a:r>
          </a:p>
          <a:p>
            <a:endParaRPr lang="en-GB" dirty="0"/>
          </a:p>
          <a:p>
            <a:r>
              <a:rPr lang="en-GB" dirty="0"/>
              <a:t>It’s about seeing the world through the lens of the final beneficiary.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1109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Social Impact Management (SIM) is essentially the way in which you understand, measure and then leverage your social impact. </a:t>
            </a:r>
            <a:r>
              <a:rPr lang="en-GB" dirty="0">
                <a:solidFill>
                  <a:schemeClr val="tx1">
                    <a:lumMod val="75000"/>
                  </a:schemeClr>
                </a:solidFill>
              </a:rPr>
              <a:t>The Social Impact Management Cycle (SIM-C) must be proportional to the size of your enterprise. </a:t>
            </a:r>
            <a:endParaRPr lang="en-GB" dirty="0"/>
          </a:p>
          <a:p>
            <a:endParaRPr lang="en-GB" dirty="0"/>
          </a:p>
          <a:p>
            <a:r>
              <a:rPr lang="en-GB" dirty="0"/>
              <a:t>The Social Impact Management Cycle (SIM-C) is an illustration of the 3 stages of impact management which should be set clearly for social impact management to contribute to your work. The key tools for each stage will be explained in the upcoming ‘How’ section. </a:t>
            </a:r>
          </a:p>
          <a:p>
            <a:endParaRPr lang="en-GB" b="0" u="none" dirty="0"/>
          </a:p>
          <a:p>
            <a:r>
              <a:rPr lang="en-GB" b="0" u="none" dirty="0"/>
              <a:t>As we break down our approach to Social Impact Management (SIM), we will show you how your SIM will compliment your core business activities. </a:t>
            </a:r>
          </a:p>
          <a:p>
            <a:endParaRPr lang="en-GB" b="0" u="none" dirty="0"/>
          </a:p>
          <a:p>
            <a:r>
              <a:rPr lang="en-GB" b="0" u="none" dirty="0"/>
              <a:t>But here are the key takeaways: </a:t>
            </a:r>
          </a:p>
          <a:p>
            <a:endParaRPr lang="en-GB" b="0" u="none" dirty="0"/>
          </a:p>
          <a:p>
            <a:pPr marL="171450" indent="-171450">
              <a:buFontTx/>
              <a:buChar char="-"/>
            </a:pPr>
            <a:r>
              <a:rPr lang="en-GB" b="1" u="none" dirty="0"/>
              <a:t>Proportional: </a:t>
            </a:r>
            <a:r>
              <a:rPr lang="en-GB" b="0" u="none" dirty="0"/>
              <a:t>This cycle can be scaled to managing a huge project costing millions… all the way down to testing a single idea… the steps in the cycle just need to operate at different scales. </a:t>
            </a:r>
          </a:p>
          <a:p>
            <a:pPr marL="0" indent="0">
              <a:buFontTx/>
              <a:buNone/>
            </a:pPr>
            <a:endParaRPr lang="en-GB" b="0" u="none" dirty="0"/>
          </a:p>
          <a:p>
            <a:pPr marL="171450" indent="-171450">
              <a:buFontTx/>
              <a:buChar char="-"/>
            </a:pPr>
            <a:r>
              <a:rPr lang="en-GB" b="1" u="none" dirty="0"/>
              <a:t>Integrating: </a:t>
            </a:r>
            <a:r>
              <a:rPr lang="en-GB" b="0" u="none" dirty="0"/>
              <a:t>This work can’t run as a separate add on to your already busy lives… we’ve pulled it out here but this needs to integrate with your core business activities .</a:t>
            </a:r>
          </a:p>
          <a:p>
            <a:pPr marL="0" indent="0">
              <a:buFontTx/>
              <a:buNone/>
            </a:pPr>
            <a:endParaRPr lang="en-GB" b="0" u="none" dirty="0"/>
          </a:p>
          <a:p>
            <a:pPr marL="171450" indent="-171450">
              <a:buFontTx/>
              <a:buChar char="-"/>
            </a:pPr>
            <a:r>
              <a:rPr lang="en-GB" b="1" u="none" dirty="0"/>
              <a:t>Have a reason: </a:t>
            </a:r>
            <a:r>
              <a:rPr lang="en-GB" b="0" u="none" dirty="0"/>
              <a:t>don’t ever start measuring impact until you know why you are doing it and what you will do with that data… </a:t>
            </a:r>
            <a:endParaRPr lang="en-GB" b="1" dirty="0"/>
          </a:p>
        </p:txBody>
      </p:sp>
      <p:sp>
        <p:nvSpPr>
          <p:cNvPr id="4" name="Slide Number Placeholder 3"/>
          <p:cNvSpPr>
            <a:spLocks noGrp="1"/>
          </p:cNvSpPr>
          <p:nvPr>
            <p:ph type="sldNum" sz="quarter" idx="10"/>
          </p:nvPr>
        </p:nvSpPr>
        <p:spPr/>
        <p:txBody>
          <a:bodyPr/>
          <a:lstStyle/>
          <a:p>
            <a:fld id="{40474DD8-23EF-45F8-B399-8BBD2E29D92B}" type="slidenum">
              <a:rPr lang="en-GB" smtClean="0"/>
              <a:t>28</a:t>
            </a:fld>
            <a:endParaRPr lang="en-GB"/>
          </a:p>
        </p:txBody>
      </p:sp>
    </p:spTree>
    <p:extLst>
      <p:ext uri="{BB962C8B-B14F-4D97-AF65-F5344CB8AC3E}">
        <p14:creationId xmlns:p14="http://schemas.microsoft.com/office/powerpoint/2010/main" val="10537028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59906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key things about demonstrating your social impact is to show what would have happened if you were not there… if that service had not been provided… </a:t>
            </a:r>
          </a:p>
          <a:p>
            <a:endParaRPr lang="en-GB" dirty="0"/>
          </a:p>
          <a:p>
            <a:r>
              <a:rPr lang="en-GB" dirty="0"/>
              <a:t>Let’s take a really simple example… say there are 2 acres of land… 1 is well forested and 1 is barren because of a tree blight which wiped out the forest unexpectedly… </a:t>
            </a:r>
          </a:p>
          <a:p>
            <a:endParaRPr lang="en-GB" dirty="0"/>
          </a:p>
          <a:p>
            <a:r>
              <a:rPr lang="en-GB" dirty="0"/>
              <a:t>You’re enviro charity comes along and invests in regenerating that forest… There are now 2 acres of forest instead of 1. </a:t>
            </a:r>
          </a:p>
          <a:p>
            <a:endParaRPr lang="en-GB" dirty="0"/>
          </a:p>
          <a:p>
            <a:r>
              <a:rPr lang="en-GB" dirty="0"/>
              <a:t>What is your impact?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2904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can get a bit more complicated… particularly when we have social issues… </a:t>
            </a:r>
          </a:p>
          <a:p>
            <a:endParaRPr lang="en-GB" dirty="0"/>
          </a:p>
          <a:p>
            <a:r>
              <a:rPr lang="en-GB" dirty="0"/>
              <a:t>Let’s say we have our young man Peter who is just finishing school. It has been hard for Peter so you’re social enterprise provides support to get him on the path to a good job. </a:t>
            </a:r>
          </a:p>
          <a:p>
            <a:endParaRPr lang="en-GB" dirty="0"/>
          </a:p>
          <a:p>
            <a:r>
              <a:rPr lang="en-GB" dirty="0"/>
              <a:t>But you’re not the only one working with Peter… he has family, he plays in a football team, the school provide services. </a:t>
            </a:r>
          </a:p>
          <a:p>
            <a:endParaRPr lang="en-GB" dirty="0"/>
          </a:p>
          <a:p>
            <a:r>
              <a:rPr lang="en-GB" dirty="0"/>
              <a:t>But let’s say you do excellent work with Peter. You provide training and mentoring and he moves away to a great college… he is on the way to becoming the employed equivalent of the </a:t>
            </a:r>
            <a:r>
              <a:rPr lang="en-GB" dirty="0" err="1"/>
              <a:t>hindu</a:t>
            </a:r>
            <a:r>
              <a:rPr lang="en-GB" dirty="0"/>
              <a:t> goddess Parvati… </a:t>
            </a:r>
          </a:p>
          <a:p>
            <a:endParaRPr lang="en-GB" dirty="0"/>
          </a:p>
          <a:p>
            <a:r>
              <a:rPr lang="en-GB" dirty="0"/>
              <a:t>If your social mission is to help get Peter into employment… then that is achieved… but how much of that was your support? Would he have made it anyway? </a:t>
            </a:r>
          </a:p>
          <a:p>
            <a:endParaRPr lang="en-GB" dirty="0"/>
          </a:p>
          <a:p>
            <a:r>
              <a:rPr lang="en-GB" b="1" dirty="0"/>
              <a:t>This becomes an important question in social value in particular… </a:t>
            </a:r>
          </a:p>
          <a:p>
            <a:endParaRPr lang="en-GB" b="1" dirty="0"/>
          </a:p>
          <a:p>
            <a:r>
              <a:rPr lang="en-GB" b="0" dirty="0"/>
              <a:t>But fortunately… we have the tools here today to help breakdown the steps you can take to show how your actions… lead to the impact that you say they will…</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52391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1535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26822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98116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78033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24586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27880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0474DD8-23EF-45F8-B399-8BBD2E29D92B}" type="slidenum">
              <a:rPr lang="en-GB" smtClean="0"/>
              <a:t>42</a:t>
            </a:fld>
            <a:endParaRPr lang="en-GB"/>
          </a:p>
        </p:txBody>
      </p:sp>
    </p:spTree>
    <p:extLst>
      <p:ext uri="{BB962C8B-B14F-4D97-AF65-F5344CB8AC3E}">
        <p14:creationId xmlns:p14="http://schemas.microsoft.com/office/powerpoint/2010/main" val="1417163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491A66"/>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3CECCCB-7472-448F-B092-773C478B208C}"/>
              </a:ext>
            </a:extLst>
          </p:cNvPr>
          <p:cNvSpPr>
            <a:spLocks noGrp="1"/>
          </p:cNvSpPr>
          <p:nvPr>
            <p:ph type="body" sz="quarter" idx="10" hasCustomPrompt="1"/>
          </p:nvPr>
        </p:nvSpPr>
        <p:spPr>
          <a:xfrm>
            <a:off x="2087563" y="1925638"/>
            <a:ext cx="8369300" cy="2871787"/>
          </a:xfrm>
        </p:spPr>
        <p:txBody>
          <a:bodyPr anchor="ctr"/>
          <a:lstStyle>
            <a:lvl1pPr marL="0" indent="0" algn="ctr">
              <a:buNone/>
              <a:defRPr sz="11500">
                <a:solidFill>
                  <a:schemeClr val="bg1"/>
                </a:solidFill>
                <a:latin typeface="Gotham Black" pitchFamily="50" charset="0"/>
              </a:defRPr>
            </a:lvl1pPr>
            <a:lvl2pPr>
              <a:defRPr>
                <a:solidFill>
                  <a:schemeClr val="bg1"/>
                </a:solidFill>
                <a:latin typeface="Gotham Black" pitchFamily="50" charset="0"/>
              </a:defRPr>
            </a:lvl2pPr>
            <a:lvl3pPr>
              <a:defRPr>
                <a:solidFill>
                  <a:schemeClr val="bg1"/>
                </a:solidFill>
                <a:latin typeface="Gotham Black" pitchFamily="50" charset="0"/>
              </a:defRPr>
            </a:lvl3pPr>
            <a:lvl4pPr>
              <a:defRPr>
                <a:solidFill>
                  <a:schemeClr val="bg1"/>
                </a:solidFill>
                <a:latin typeface="Gotham Black" pitchFamily="50" charset="0"/>
              </a:defRPr>
            </a:lvl4pPr>
            <a:lvl5pPr>
              <a:defRPr>
                <a:solidFill>
                  <a:schemeClr val="bg1"/>
                </a:solidFill>
                <a:latin typeface="Gotham Black" pitchFamily="50" charset="0"/>
              </a:defRPr>
            </a:lvl5pPr>
          </a:lstStyle>
          <a:p>
            <a:pPr lvl="0"/>
            <a:r>
              <a:rPr lang="en-GB" dirty="0"/>
              <a:t>TITLE</a:t>
            </a:r>
          </a:p>
        </p:txBody>
      </p:sp>
    </p:spTree>
    <p:extLst>
      <p:ext uri="{BB962C8B-B14F-4D97-AF65-F5344CB8AC3E}">
        <p14:creationId xmlns:p14="http://schemas.microsoft.com/office/powerpoint/2010/main" val="2366372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6C073B-9002-45FF-8A60-D00AF5498BE3}" type="datetimeFigureOut">
              <a:rPr lang="en-GB" smtClean="0"/>
              <a:t>15/05/2020</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541F0FB5-D502-4438-886F-18082FA237F4}" type="slidenum">
              <a:rPr lang="en-GB" smtClean="0"/>
              <a:t>‹#›</a:t>
            </a:fld>
            <a:endParaRPr lang="en-GB" dirty="0"/>
          </a:p>
        </p:txBody>
      </p:sp>
      <p:sp>
        <p:nvSpPr>
          <p:cNvPr id="11" name="Text Placeholder 10">
            <a:extLst>
              <a:ext uri="{FF2B5EF4-FFF2-40B4-BE49-F238E27FC236}">
                <a16:creationId xmlns:a16="http://schemas.microsoft.com/office/drawing/2014/main" id="{BA62217E-25DD-4960-ABE0-F9AA2F3DC9A2}"/>
              </a:ext>
            </a:extLst>
          </p:cNvPr>
          <p:cNvSpPr>
            <a:spLocks noGrp="1"/>
          </p:cNvSpPr>
          <p:nvPr>
            <p:ph type="body" sz="quarter" idx="13"/>
          </p:nvPr>
        </p:nvSpPr>
        <p:spPr>
          <a:xfrm>
            <a:off x="709062" y="2369370"/>
            <a:ext cx="10644738" cy="1912173"/>
          </a:xfrm>
        </p:spPr>
        <p:txBody>
          <a:bodyPr/>
          <a:lstStyle>
            <a:lvl1pPr marL="0" indent="0">
              <a:buNone/>
              <a:defRPr sz="4400">
                <a:solidFill>
                  <a:srgbClr val="491A66"/>
                </a:solidFill>
                <a:latin typeface="+mj-lt"/>
              </a:defRPr>
            </a:lvl1pPr>
            <a:lvl2pPr marL="457200" indent="0">
              <a:buNone/>
              <a:defRPr sz="4400">
                <a:solidFill>
                  <a:srgbClr val="F37023"/>
                </a:solidFill>
              </a:defRPr>
            </a:lvl2pPr>
          </a:lstStyle>
          <a:p>
            <a:pPr lvl="0"/>
            <a:r>
              <a:rPr lang="en-US"/>
              <a:t>Edit Master text styles</a:t>
            </a:r>
          </a:p>
          <a:p>
            <a:pPr lvl="1"/>
            <a:r>
              <a:rPr lang="en-US"/>
              <a:t>Second level</a:t>
            </a:r>
          </a:p>
        </p:txBody>
      </p:sp>
      <p:pic>
        <p:nvPicPr>
          <p:cNvPr id="14" name="Picture 13">
            <a:extLst>
              <a:ext uri="{FF2B5EF4-FFF2-40B4-BE49-F238E27FC236}">
                <a16:creationId xmlns:a16="http://schemas.microsoft.com/office/drawing/2014/main" id="{7D6A4557-7DDE-4427-A339-35D9B01A0F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23989" y="6084979"/>
            <a:ext cx="1641907" cy="477186"/>
          </a:xfrm>
          <a:prstGeom prst="rect">
            <a:avLst/>
          </a:prstGeom>
        </p:spPr>
      </p:pic>
    </p:spTree>
    <p:extLst>
      <p:ext uri="{BB962C8B-B14F-4D97-AF65-F5344CB8AC3E}">
        <p14:creationId xmlns:p14="http://schemas.microsoft.com/office/powerpoint/2010/main" val="186820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p:bg>
      <p:bgPr>
        <a:solidFill>
          <a:srgbClr val="491A6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C6BF4-2260-497D-9E09-38C2E01E2987}"/>
              </a:ext>
            </a:extLst>
          </p:cNvPr>
          <p:cNvSpPr>
            <a:spLocks noGrp="1"/>
          </p:cNvSpPr>
          <p:nvPr>
            <p:ph type="title"/>
          </p:nvPr>
        </p:nvSpPr>
        <p:spPr>
          <a:xfrm>
            <a:off x="429300" y="341299"/>
            <a:ext cx="10515600" cy="1325563"/>
          </a:xfrm>
        </p:spPr>
        <p:txBody>
          <a:bodyPr/>
          <a:lstStyle>
            <a:lvl1pPr>
              <a:defRPr>
                <a:solidFill>
                  <a:schemeClr val="bg1"/>
                </a:solidFill>
              </a:defRPr>
            </a:lvl1pPr>
          </a:lstStyle>
          <a:p>
            <a:r>
              <a:rPr lang="en-US"/>
              <a:t>Click to edit Master title style</a:t>
            </a:r>
            <a:endParaRPr lang="en-GB" dirty="0"/>
          </a:p>
        </p:txBody>
      </p:sp>
      <p:sp>
        <p:nvSpPr>
          <p:cNvPr id="6" name="Content Placeholder 5">
            <a:extLst>
              <a:ext uri="{FF2B5EF4-FFF2-40B4-BE49-F238E27FC236}">
                <a16:creationId xmlns:a16="http://schemas.microsoft.com/office/drawing/2014/main" id="{CAC3FAB3-9996-49B2-8382-3B04639DFB3A}"/>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solidFill>
                  <a:schemeClr val="bg1"/>
                </a:solidFill>
              </a:defRPr>
            </a:lvl1pPr>
            <a:lvl2pPr marL="800100" indent="-342900">
              <a:buFontTx/>
              <a:buBlip>
                <a:blip r:embed="rId2"/>
              </a:buBlip>
              <a:defRPr>
                <a:solidFill>
                  <a:schemeClr val="bg1"/>
                </a:solidFill>
              </a:defRPr>
            </a:lvl2pPr>
            <a:lvl3pPr marL="1257300" indent="-342900">
              <a:buFontTx/>
              <a:buBlip>
                <a:blip r:embed="rId2"/>
              </a:buBlip>
              <a:defRPr>
                <a:solidFill>
                  <a:schemeClr val="bg1"/>
                </a:solidFill>
              </a:defRPr>
            </a:lvl3pPr>
            <a:lvl4pPr marL="1657350" indent="-285750">
              <a:buFontTx/>
              <a:buBlip>
                <a:blip r:embed="rId2"/>
              </a:buBlip>
              <a:defRPr>
                <a:solidFill>
                  <a:schemeClr val="bg1"/>
                </a:solidFill>
              </a:defRPr>
            </a:lvl4pPr>
            <a:lvl5pPr marL="2114550" indent="-285750">
              <a:buFontTx/>
              <a:buBlip>
                <a:blip r:embed="rId2"/>
              </a:buBlip>
              <a:defRPr>
                <a:solidFill>
                  <a:schemeClr val="bg1"/>
                </a:solidFill>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94149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E61E-3F26-4FE3-879F-DC5A96623F6F}"/>
              </a:ext>
            </a:extLst>
          </p:cNvPr>
          <p:cNvSpPr>
            <a:spLocks noGrp="1"/>
          </p:cNvSpPr>
          <p:nvPr>
            <p:ph type="title"/>
          </p:nvPr>
        </p:nvSpPr>
        <p:spPr>
          <a:xfrm>
            <a:off x="437304" y="354368"/>
            <a:ext cx="10515600" cy="1325563"/>
          </a:xfrm>
        </p:spPr>
        <p:txBody>
          <a:bodyPr/>
          <a:lstStyle>
            <a:lvl1pPr>
              <a:defRPr>
                <a:solidFill>
                  <a:srgbClr val="491A66"/>
                </a:solidFill>
              </a:defRPr>
            </a:lvl1pPr>
          </a:lstStyle>
          <a:p>
            <a:r>
              <a:rPr lang="en-US"/>
              <a:t>Click to edit Master title style</a:t>
            </a:r>
            <a:endParaRPr lang="en-GB" dirty="0"/>
          </a:p>
        </p:txBody>
      </p:sp>
      <p:sp>
        <p:nvSpPr>
          <p:cNvPr id="12" name="Content Placeholder 5">
            <a:extLst>
              <a:ext uri="{FF2B5EF4-FFF2-40B4-BE49-F238E27FC236}">
                <a16:creationId xmlns:a16="http://schemas.microsoft.com/office/drawing/2014/main" id="{30731C49-F76A-4D7B-8FC0-9C92058A7A70}"/>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lvl1pPr>
            <a:lvl2pPr marL="800100" indent="-342900">
              <a:buFontTx/>
              <a:buBlip>
                <a:blip r:embed="rId2"/>
              </a:buBlip>
              <a:defRPr/>
            </a:lvl2pPr>
            <a:lvl3pPr marL="1257300" indent="-342900">
              <a:buFontTx/>
              <a:buBlip>
                <a:blip r:embed="rId2"/>
              </a:buBlip>
              <a:defRPr/>
            </a:lvl3pPr>
            <a:lvl4pPr marL="1657350" indent="-285750">
              <a:buFontTx/>
              <a:buBlip>
                <a:blip r:embed="rId2"/>
              </a:buBlip>
              <a:defRPr/>
            </a:lvl4pPr>
            <a:lvl5pPr marL="2114550" indent="-285750">
              <a:buFontTx/>
              <a:buBlip>
                <a:blip r:embed="rId2"/>
              </a:buBlip>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315341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study">
    <p:bg>
      <p:bgPr>
        <a:solidFill>
          <a:schemeClr val="accent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C9AFB1-1EFD-4868-86E1-7B65C6E929F1}"/>
              </a:ext>
            </a:extLst>
          </p:cNvPr>
          <p:cNvSpPr>
            <a:spLocks noGrp="1"/>
          </p:cNvSpPr>
          <p:nvPr>
            <p:ph type="title" hasCustomPrompt="1"/>
          </p:nvPr>
        </p:nvSpPr>
        <p:spPr>
          <a:xfrm>
            <a:off x="6691256" y="296890"/>
            <a:ext cx="5238276" cy="714329"/>
          </a:xfrm>
        </p:spPr>
        <p:txBody>
          <a:bodyPr/>
          <a:lstStyle>
            <a:lvl1pPr>
              <a:defRPr>
                <a:solidFill>
                  <a:schemeClr val="bg1"/>
                </a:solidFill>
              </a:defRPr>
            </a:lvl1pPr>
          </a:lstStyle>
          <a:p>
            <a:r>
              <a:rPr lang="en-US" dirty="0"/>
              <a:t>Case study title</a:t>
            </a:r>
            <a:endParaRPr lang="en-GB" dirty="0"/>
          </a:p>
        </p:txBody>
      </p:sp>
      <p:sp>
        <p:nvSpPr>
          <p:cNvPr id="8" name="Text Placeholder 7">
            <a:extLst>
              <a:ext uri="{FF2B5EF4-FFF2-40B4-BE49-F238E27FC236}">
                <a16:creationId xmlns:a16="http://schemas.microsoft.com/office/drawing/2014/main" id="{ED2568EF-5343-4C6C-AE6C-6F7A820DEEC3}"/>
              </a:ext>
            </a:extLst>
          </p:cNvPr>
          <p:cNvSpPr>
            <a:spLocks noGrp="1"/>
          </p:cNvSpPr>
          <p:nvPr>
            <p:ph type="body" sz="quarter" idx="11"/>
          </p:nvPr>
        </p:nvSpPr>
        <p:spPr>
          <a:xfrm>
            <a:off x="6765925" y="1204913"/>
            <a:ext cx="5164138" cy="4754562"/>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99097700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103544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hree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3795891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3274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our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63872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hieveing a goal">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916B62F-E266-4F4E-9915-FF25285DB186}"/>
              </a:ext>
            </a:extLst>
          </p:cNvPr>
          <p:cNvSpPr/>
          <p:nvPr userDrawn="1"/>
        </p:nvSpPr>
        <p:spPr>
          <a:xfrm>
            <a:off x="5310470" y="1421969"/>
            <a:ext cx="1631572"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36" name="Rectangle 35">
            <a:extLst>
              <a:ext uri="{FF2B5EF4-FFF2-40B4-BE49-F238E27FC236}">
                <a16:creationId xmlns:a16="http://schemas.microsoft.com/office/drawing/2014/main" id="{32D30E2D-44C1-40C3-86A5-3410ECB0B513}"/>
              </a:ext>
            </a:extLst>
          </p:cNvPr>
          <p:cNvSpPr/>
          <p:nvPr userDrawn="1"/>
        </p:nvSpPr>
        <p:spPr>
          <a:xfrm>
            <a:off x="299330" y="430879"/>
            <a:ext cx="11593340" cy="85425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Gotham Bold" pitchFamily="50" charset="0"/>
              <a:ea typeface="+mn-ea"/>
              <a:cs typeface="+mn-cs"/>
            </a:endParaRPr>
          </a:p>
        </p:txBody>
      </p:sp>
      <p:sp>
        <p:nvSpPr>
          <p:cNvPr id="37" name="Rectangle 36">
            <a:extLst>
              <a:ext uri="{FF2B5EF4-FFF2-40B4-BE49-F238E27FC236}">
                <a16:creationId xmlns:a16="http://schemas.microsoft.com/office/drawing/2014/main" id="{576B9DD9-1B6A-4F9F-AA3E-D816AD0D4364}"/>
              </a:ext>
            </a:extLst>
          </p:cNvPr>
          <p:cNvSpPr/>
          <p:nvPr userDrawn="1"/>
        </p:nvSpPr>
        <p:spPr>
          <a:xfrm>
            <a:off x="304346" y="3192332"/>
            <a:ext cx="3795690" cy="1733481"/>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8" name="Rectangle 37">
            <a:extLst>
              <a:ext uri="{FF2B5EF4-FFF2-40B4-BE49-F238E27FC236}">
                <a16:creationId xmlns:a16="http://schemas.microsoft.com/office/drawing/2014/main" id="{612E48D3-9A6B-46D7-87CF-E66AE0805101}"/>
              </a:ext>
            </a:extLst>
          </p:cNvPr>
          <p:cNvSpPr/>
          <p:nvPr userDrawn="1"/>
        </p:nvSpPr>
        <p:spPr>
          <a:xfrm>
            <a:off x="4207848" y="3208872"/>
            <a:ext cx="3795690" cy="1737354"/>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9" name="Rectangle 38">
            <a:extLst>
              <a:ext uri="{FF2B5EF4-FFF2-40B4-BE49-F238E27FC236}">
                <a16:creationId xmlns:a16="http://schemas.microsoft.com/office/drawing/2014/main" id="{0C629942-9644-4427-85F1-6502ACE9798D}"/>
              </a:ext>
            </a:extLst>
          </p:cNvPr>
          <p:cNvSpPr/>
          <p:nvPr userDrawn="1"/>
        </p:nvSpPr>
        <p:spPr>
          <a:xfrm>
            <a:off x="8111350" y="3205792"/>
            <a:ext cx="3795690" cy="1735350"/>
          </a:xfrm>
          <a:prstGeom prst="rect">
            <a:avLst/>
          </a:prstGeom>
          <a:solidFill>
            <a:srgbClr val="00A19A"/>
          </a:solidFill>
          <a:ln w="12700" cap="flat" cmpd="sng" algn="ctr">
            <a:noFill/>
            <a:prstDash val="solid"/>
            <a:miter lim="800000"/>
          </a:ln>
          <a:effectLst/>
        </p:spPr>
        <p:txBody>
          <a:bodyPr lIns="72000" tIns="72000" r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40" name="Rectangle 39">
            <a:extLst>
              <a:ext uri="{FF2B5EF4-FFF2-40B4-BE49-F238E27FC236}">
                <a16:creationId xmlns:a16="http://schemas.microsoft.com/office/drawing/2014/main" id="{9D37EDFC-5875-4DC3-A044-2158CE585AE4}"/>
              </a:ext>
            </a:extLst>
          </p:cNvPr>
          <p:cNvSpPr/>
          <p:nvPr userDrawn="1"/>
        </p:nvSpPr>
        <p:spPr>
          <a:xfrm>
            <a:off x="283637" y="5067099"/>
            <a:ext cx="11609034" cy="85427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2000" b="1"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1" name="Rectangle 40">
            <a:extLst>
              <a:ext uri="{FF2B5EF4-FFF2-40B4-BE49-F238E27FC236}">
                <a16:creationId xmlns:a16="http://schemas.microsoft.com/office/drawing/2014/main" id="{CE15DDDE-D10E-4AE1-A95B-66499CE8174D}"/>
              </a:ext>
            </a:extLst>
          </p:cNvPr>
          <p:cNvSpPr/>
          <p:nvPr userDrawn="1"/>
        </p:nvSpPr>
        <p:spPr>
          <a:xfrm>
            <a:off x="274890" y="1421969"/>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2" name="Rectangle 41">
            <a:extLst>
              <a:ext uri="{FF2B5EF4-FFF2-40B4-BE49-F238E27FC236}">
                <a16:creationId xmlns:a16="http://schemas.microsoft.com/office/drawing/2014/main" id="{557D46F0-F2F2-4C10-88E6-22B41754FB70}"/>
              </a:ext>
            </a:extLst>
          </p:cNvPr>
          <p:cNvSpPr/>
          <p:nvPr userDrawn="1"/>
        </p:nvSpPr>
        <p:spPr>
          <a:xfrm>
            <a:off x="6740132" y="1423422"/>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4" name="Plus Sign 43">
            <a:extLst>
              <a:ext uri="{FF2B5EF4-FFF2-40B4-BE49-F238E27FC236}">
                <a16:creationId xmlns:a16="http://schemas.microsoft.com/office/drawing/2014/main" id="{1A908DBD-37AA-423E-9412-FA30F81B7BF8}"/>
              </a:ext>
            </a:extLst>
          </p:cNvPr>
          <p:cNvSpPr>
            <a:spLocks/>
          </p:cNvSpPr>
          <p:nvPr userDrawn="1"/>
        </p:nvSpPr>
        <p:spPr>
          <a:xfrm>
            <a:off x="5573125" y="1680477"/>
            <a:ext cx="1106263" cy="1147542"/>
          </a:xfrm>
          <a:prstGeom prst="mathPlus">
            <a:avLst/>
          </a:prstGeom>
          <a:solidFill>
            <a:srgbClr val="00A19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D5403010-B631-40A9-8135-8AF01DAF6004}"/>
              </a:ext>
            </a:extLst>
          </p:cNvPr>
          <p:cNvSpPr>
            <a:spLocks noGrp="1"/>
          </p:cNvSpPr>
          <p:nvPr>
            <p:ph type="body" sz="quarter" idx="10" hasCustomPrompt="1"/>
          </p:nvPr>
        </p:nvSpPr>
        <p:spPr>
          <a:xfrm>
            <a:off x="541206" y="484991"/>
            <a:ext cx="11109589" cy="678470"/>
          </a:xfrm>
        </p:spPr>
        <p:txBody>
          <a:bodyPr>
            <a:noAutofit/>
          </a:bodyPr>
          <a:lstStyle>
            <a:lvl1pPr marL="0" indent="0" algn="ctr">
              <a:buNone/>
              <a:defRPr sz="4400">
                <a:solidFill>
                  <a:schemeClr val="bg1"/>
                </a:solidFill>
                <a:latin typeface="+mj-lt"/>
              </a:defRPr>
            </a:lvl1pPr>
          </a:lstStyle>
          <a:p>
            <a:pPr lvl="0"/>
            <a:r>
              <a:rPr lang="en-US" dirty="0"/>
              <a:t>Title</a:t>
            </a:r>
          </a:p>
        </p:txBody>
      </p:sp>
      <p:sp>
        <p:nvSpPr>
          <p:cNvPr id="5" name="Text Placeholder 4">
            <a:extLst>
              <a:ext uri="{FF2B5EF4-FFF2-40B4-BE49-F238E27FC236}">
                <a16:creationId xmlns:a16="http://schemas.microsoft.com/office/drawing/2014/main" id="{A33AF609-F9DC-456D-ADB5-8EA9E965C4F6}"/>
              </a:ext>
            </a:extLst>
          </p:cNvPr>
          <p:cNvSpPr>
            <a:spLocks noGrp="1"/>
          </p:cNvSpPr>
          <p:nvPr>
            <p:ph type="body" sz="quarter" idx="11" hasCustomPrompt="1"/>
          </p:nvPr>
        </p:nvSpPr>
        <p:spPr>
          <a:xfrm>
            <a:off x="6782521" y="1631240"/>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15" name="Text Placeholder 4">
            <a:extLst>
              <a:ext uri="{FF2B5EF4-FFF2-40B4-BE49-F238E27FC236}">
                <a16:creationId xmlns:a16="http://schemas.microsoft.com/office/drawing/2014/main" id="{A4292DF8-77F3-495C-94B6-0F773F5D8220}"/>
              </a:ext>
            </a:extLst>
          </p:cNvPr>
          <p:cNvSpPr>
            <a:spLocks noGrp="1"/>
          </p:cNvSpPr>
          <p:nvPr>
            <p:ph type="body" sz="quarter" idx="12" hasCustomPrompt="1"/>
          </p:nvPr>
        </p:nvSpPr>
        <p:spPr>
          <a:xfrm>
            <a:off x="706885" y="1645499"/>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7" name="Text Placeholder 6">
            <a:extLst>
              <a:ext uri="{FF2B5EF4-FFF2-40B4-BE49-F238E27FC236}">
                <a16:creationId xmlns:a16="http://schemas.microsoft.com/office/drawing/2014/main" id="{909FF254-4CDB-4CE7-9CED-F304795EA052}"/>
              </a:ext>
            </a:extLst>
          </p:cNvPr>
          <p:cNvSpPr>
            <a:spLocks noGrp="1"/>
          </p:cNvSpPr>
          <p:nvPr>
            <p:ph type="body" sz="quarter" idx="13" hasCustomPrompt="1"/>
          </p:nvPr>
        </p:nvSpPr>
        <p:spPr>
          <a:xfrm>
            <a:off x="448695"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8" name="Text Placeholder 6">
            <a:extLst>
              <a:ext uri="{FF2B5EF4-FFF2-40B4-BE49-F238E27FC236}">
                <a16:creationId xmlns:a16="http://schemas.microsoft.com/office/drawing/2014/main" id="{6BA03FD8-0A50-4C9C-8390-7BB7B9A01941}"/>
              </a:ext>
            </a:extLst>
          </p:cNvPr>
          <p:cNvSpPr>
            <a:spLocks noGrp="1"/>
          </p:cNvSpPr>
          <p:nvPr>
            <p:ph type="body" sz="quarter" idx="14" hasCustomPrompt="1"/>
          </p:nvPr>
        </p:nvSpPr>
        <p:spPr>
          <a:xfrm>
            <a:off x="4372759"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9" name="Text Placeholder 6">
            <a:extLst>
              <a:ext uri="{FF2B5EF4-FFF2-40B4-BE49-F238E27FC236}">
                <a16:creationId xmlns:a16="http://schemas.microsoft.com/office/drawing/2014/main" id="{45C95AB8-2590-415A-A4EB-59CB57FC6750}"/>
              </a:ext>
            </a:extLst>
          </p:cNvPr>
          <p:cNvSpPr>
            <a:spLocks noGrp="1"/>
          </p:cNvSpPr>
          <p:nvPr>
            <p:ph type="body" sz="quarter" idx="15" hasCustomPrompt="1"/>
          </p:nvPr>
        </p:nvSpPr>
        <p:spPr>
          <a:xfrm>
            <a:off x="8255698"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0" name="Text Placeholder 9">
            <a:extLst>
              <a:ext uri="{FF2B5EF4-FFF2-40B4-BE49-F238E27FC236}">
                <a16:creationId xmlns:a16="http://schemas.microsoft.com/office/drawing/2014/main" id="{0489B6DD-9A72-42C0-8F2E-56E4B8FCBD44}"/>
              </a:ext>
            </a:extLst>
          </p:cNvPr>
          <p:cNvSpPr>
            <a:spLocks noGrp="1"/>
          </p:cNvSpPr>
          <p:nvPr>
            <p:ph type="body" sz="quarter" idx="16" hasCustomPrompt="1"/>
          </p:nvPr>
        </p:nvSpPr>
        <p:spPr>
          <a:xfrm>
            <a:off x="729097" y="5226760"/>
            <a:ext cx="10794316" cy="451503"/>
          </a:xfrm>
        </p:spPr>
        <p:txBody>
          <a:bodyPr/>
          <a:lstStyle>
            <a:lvl1pPr marL="0" indent="0" algn="ctr">
              <a:buNone/>
              <a:defRPr>
                <a:solidFill>
                  <a:srgbClr val="F37023"/>
                </a:solidFill>
                <a:latin typeface="+mj-lt"/>
              </a:defRPr>
            </a:lvl1pPr>
          </a:lstStyle>
          <a:p>
            <a:pPr lvl="0"/>
            <a:r>
              <a:rPr lang="en-US" dirty="0"/>
              <a:t>GOAL</a:t>
            </a:r>
          </a:p>
        </p:txBody>
      </p:sp>
    </p:spTree>
    <p:extLst>
      <p:ext uri="{BB962C8B-B14F-4D97-AF65-F5344CB8AC3E}">
        <p14:creationId xmlns:p14="http://schemas.microsoft.com/office/powerpoint/2010/main" val="328178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opy">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33C9B83-9D4A-444C-9CD5-D795BEF362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7304" y="6036990"/>
            <a:ext cx="1807605" cy="527241"/>
          </a:xfrm>
          <a:prstGeom prst="rect">
            <a:avLst/>
          </a:prstGeom>
        </p:spPr>
      </p:pic>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6382926" y="171451"/>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9542033" y="4300858"/>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437304" y="365125"/>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436563" y="1933575"/>
            <a:ext cx="5659437" cy="4013200"/>
          </a:xfrm>
        </p:spPr>
        <p:txBody>
          <a:bodyPr/>
          <a:lstStyle>
            <a:lvl1pPr marL="228600" indent="-228600">
              <a:buFontTx/>
              <a:buBlip>
                <a:blip r:embed="rId3"/>
              </a:buBlip>
              <a:defRPr/>
            </a:lvl1pPr>
            <a:lvl2pPr marL="685800" indent="-228600">
              <a:buFontTx/>
              <a:buBlip>
                <a:blip r:embed="rId3"/>
              </a:buBlip>
              <a:defRPr/>
            </a:lvl2pPr>
            <a:lvl3pPr marL="1143000" indent="-228600">
              <a:buFontTx/>
              <a:buBlip>
                <a:blip r:embed="rId3"/>
              </a:buBlip>
              <a:defRPr/>
            </a:lvl3pPr>
            <a:lvl4pPr marL="1600200" indent="-228600">
              <a:buFontTx/>
              <a:buBlip>
                <a:blip r:embed="rId3"/>
              </a:buBlip>
              <a:defRPr/>
            </a:lvl4pPr>
            <a:lvl5pPr marL="2057400" indent="-228600">
              <a:buFontTx/>
              <a:buBlip>
                <a:blip r:embed="rId3"/>
              </a:buBlip>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23881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icture with copy">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315613" y="232610"/>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3474720" y="4447757"/>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6382926" y="241073"/>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6382185" y="1801095"/>
            <a:ext cx="5659437" cy="4201671"/>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13413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ur focus area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4911634"/>
            <a:ext cx="12192000" cy="1946366"/>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41232" y="5020075"/>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099073"/>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Access to employment</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5036511"/>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7" y="2055839"/>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Resilient Communities</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5036511"/>
            <a:ext cx="2990140" cy="1651672"/>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pic>
        <p:nvPicPr>
          <p:cNvPr id="14" name="Picture 13">
            <a:extLst>
              <a:ext uri="{FF2B5EF4-FFF2-40B4-BE49-F238E27FC236}">
                <a16:creationId xmlns:a16="http://schemas.microsoft.com/office/drawing/2014/main" id="{D9FFFF41-7974-4A2A-8E59-B118C62CF03E}"/>
              </a:ext>
            </a:extLst>
          </p:cNvPr>
          <p:cNvPicPr>
            <a:picLocks noChangeAspect="1"/>
          </p:cNvPicPr>
          <p:nvPr userDrawn="1"/>
        </p:nvPicPr>
        <p:blipFill>
          <a:blip r:embed="rId3"/>
          <a:stretch>
            <a:fillRect/>
          </a:stretch>
        </p:blipFill>
        <p:spPr>
          <a:xfrm>
            <a:off x="5171625" y="2860877"/>
            <a:ext cx="1848750" cy="1846196"/>
          </a:xfrm>
          <a:prstGeom prst="rect">
            <a:avLst/>
          </a:prstGeom>
        </p:spPr>
      </p:pic>
      <p:pic>
        <p:nvPicPr>
          <p:cNvPr id="15" name="Picture 14">
            <a:extLst>
              <a:ext uri="{FF2B5EF4-FFF2-40B4-BE49-F238E27FC236}">
                <a16:creationId xmlns:a16="http://schemas.microsoft.com/office/drawing/2014/main" id="{AB3204B0-888A-48E9-B178-02C77FB22956}"/>
              </a:ext>
            </a:extLst>
          </p:cNvPr>
          <p:cNvPicPr>
            <a:picLocks noChangeAspect="1"/>
          </p:cNvPicPr>
          <p:nvPr userDrawn="1"/>
        </p:nvPicPr>
        <p:blipFill>
          <a:blip r:embed="rId4"/>
          <a:stretch>
            <a:fillRect/>
          </a:stretch>
        </p:blipFill>
        <p:spPr>
          <a:xfrm>
            <a:off x="885204" y="2830126"/>
            <a:ext cx="1853846" cy="1846196"/>
          </a:xfrm>
          <a:prstGeom prst="rect">
            <a:avLst/>
          </a:prstGeom>
        </p:spPr>
      </p:pic>
      <p:pic>
        <p:nvPicPr>
          <p:cNvPr id="18" name="Picture 17">
            <a:extLst>
              <a:ext uri="{FF2B5EF4-FFF2-40B4-BE49-F238E27FC236}">
                <a16:creationId xmlns:a16="http://schemas.microsoft.com/office/drawing/2014/main" id="{F1CE2DF5-1A11-4950-A619-DAABA2C58084}"/>
              </a:ext>
            </a:extLst>
          </p:cNvPr>
          <p:cNvPicPr>
            <a:picLocks noChangeAspect="1"/>
          </p:cNvPicPr>
          <p:nvPr userDrawn="1"/>
        </p:nvPicPr>
        <p:blipFill>
          <a:blip r:embed="rId5"/>
          <a:stretch>
            <a:fillRect/>
          </a:stretch>
        </p:blipFill>
        <p:spPr>
          <a:xfrm flipH="1">
            <a:off x="9328774" y="2889945"/>
            <a:ext cx="1853847" cy="1859004"/>
          </a:xfrm>
          <a:prstGeom prst="rect">
            <a:avLst/>
          </a:prstGeom>
        </p:spPr>
      </p:pic>
      <p:sp>
        <p:nvSpPr>
          <p:cNvPr id="19" name="Text Placeholder 5">
            <a:extLst>
              <a:ext uri="{FF2B5EF4-FFF2-40B4-BE49-F238E27FC236}">
                <a16:creationId xmlns:a16="http://schemas.microsoft.com/office/drawing/2014/main" id="{41F60ACE-FE18-4991-9B6E-92E2DD851D6D}"/>
              </a:ext>
            </a:extLst>
          </p:cNvPr>
          <p:cNvSpPr>
            <a:spLocks noGrp="1"/>
          </p:cNvSpPr>
          <p:nvPr>
            <p:ph type="body" sz="quarter" idx="16" hasCustomPrompt="1"/>
          </p:nvPr>
        </p:nvSpPr>
        <p:spPr>
          <a:xfrm>
            <a:off x="317057" y="2103066"/>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Solutions for an ageing society</a:t>
            </a:r>
          </a:p>
        </p:txBody>
      </p:sp>
    </p:spTree>
    <p:extLst>
      <p:ext uri="{BB962C8B-B14F-4D97-AF65-F5344CB8AC3E}">
        <p14:creationId xmlns:p14="http://schemas.microsoft.com/office/powerpoint/2010/main" val="2878803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491A66"/>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3CECCCB-7472-448F-B092-773C478B208C}"/>
              </a:ext>
            </a:extLst>
          </p:cNvPr>
          <p:cNvSpPr>
            <a:spLocks noGrp="1"/>
          </p:cNvSpPr>
          <p:nvPr>
            <p:ph type="body" sz="quarter" idx="10" hasCustomPrompt="1"/>
          </p:nvPr>
        </p:nvSpPr>
        <p:spPr>
          <a:xfrm>
            <a:off x="2087563" y="1925638"/>
            <a:ext cx="8369300" cy="2871787"/>
          </a:xfrm>
        </p:spPr>
        <p:txBody>
          <a:bodyPr anchor="ctr"/>
          <a:lstStyle>
            <a:lvl1pPr marL="0" indent="0" algn="ctr">
              <a:buNone/>
              <a:defRPr sz="11500">
                <a:solidFill>
                  <a:schemeClr val="bg1"/>
                </a:solidFill>
                <a:latin typeface="Gotham Black" pitchFamily="50" charset="0"/>
              </a:defRPr>
            </a:lvl1pPr>
            <a:lvl2pPr>
              <a:defRPr>
                <a:solidFill>
                  <a:schemeClr val="bg1"/>
                </a:solidFill>
                <a:latin typeface="Gotham Black" pitchFamily="50" charset="0"/>
              </a:defRPr>
            </a:lvl2pPr>
            <a:lvl3pPr>
              <a:defRPr>
                <a:solidFill>
                  <a:schemeClr val="bg1"/>
                </a:solidFill>
                <a:latin typeface="Gotham Black" pitchFamily="50" charset="0"/>
              </a:defRPr>
            </a:lvl3pPr>
            <a:lvl4pPr>
              <a:defRPr>
                <a:solidFill>
                  <a:schemeClr val="bg1"/>
                </a:solidFill>
                <a:latin typeface="Gotham Black" pitchFamily="50" charset="0"/>
              </a:defRPr>
            </a:lvl4pPr>
            <a:lvl5pPr>
              <a:defRPr>
                <a:solidFill>
                  <a:schemeClr val="bg1"/>
                </a:solidFill>
                <a:latin typeface="Gotham Black" pitchFamily="50" charset="0"/>
              </a:defRPr>
            </a:lvl5pPr>
          </a:lstStyle>
          <a:p>
            <a:pPr lvl="0"/>
            <a:r>
              <a:rPr lang="en-GB" dirty="0"/>
              <a:t>TITLE</a:t>
            </a:r>
          </a:p>
        </p:txBody>
      </p:sp>
    </p:spTree>
    <p:extLst>
      <p:ext uri="{BB962C8B-B14F-4D97-AF65-F5344CB8AC3E}">
        <p14:creationId xmlns:p14="http://schemas.microsoft.com/office/powerpoint/2010/main" val="7230817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6C073B-9002-45FF-8A60-D00AF5498BE3}" type="datetimeFigureOut">
              <a:rPr lang="en-GB" smtClean="0"/>
              <a:t>15/05/2020</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541F0FB5-D502-4438-886F-18082FA237F4}" type="slidenum">
              <a:rPr lang="en-GB" smtClean="0"/>
              <a:t>‹#›</a:t>
            </a:fld>
            <a:endParaRPr lang="en-GB" dirty="0"/>
          </a:p>
        </p:txBody>
      </p:sp>
      <p:sp>
        <p:nvSpPr>
          <p:cNvPr id="11" name="Text Placeholder 10">
            <a:extLst>
              <a:ext uri="{FF2B5EF4-FFF2-40B4-BE49-F238E27FC236}">
                <a16:creationId xmlns:a16="http://schemas.microsoft.com/office/drawing/2014/main" id="{BA62217E-25DD-4960-ABE0-F9AA2F3DC9A2}"/>
              </a:ext>
            </a:extLst>
          </p:cNvPr>
          <p:cNvSpPr>
            <a:spLocks noGrp="1"/>
          </p:cNvSpPr>
          <p:nvPr>
            <p:ph type="body" sz="quarter" idx="13"/>
          </p:nvPr>
        </p:nvSpPr>
        <p:spPr>
          <a:xfrm>
            <a:off x="709062" y="2369370"/>
            <a:ext cx="10644738" cy="1912173"/>
          </a:xfrm>
        </p:spPr>
        <p:txBody>
          <a:bodyPr/>
          <a:lstStyle>
            <a:lvl1pPr marL="0" indent="0">
              <a:buNone/>
              <a:defRPr sz="4400">
                <a:solidFill>
                  <a:srgbClr val="491A66"/>
                </a:solidFill>
                <a:latin typeface="+mj-lt"/>
              </a:defRPr>
            </a:lvl1pPr>
            <a:lvl2pPr marL="457200" indent="0">
              <a:buNone/>
              <a:defRPr sz="4400">
                <a:solidFill>
                  <a:srgbClr val="F37023"/>
                </a:solidFill>
              </a:defRPr>
            </a:lvl2pPr>
          </a:lstStyle>
          <a:p>
            <a:pPr lvl="0"/>
            <a:r>
              <a:rPr lang="en-US"/>
              <a:t>Edit Master text styles</a:t>
            </a:r>
          </a:p>
          <a:p>
            <a:pPr lvl="1"/>
            <a:r>
              <a:rPr lang="en-US"/>
              <a:t>Second level</a:t>
            </a:r>
          </a:p>
        </p:txBody>
      </p:sp>
      <p:pic>
        <p:nvPicPr>
          <p:cNvPr id="14" name="Picture 13">
            <a:extLst>
              <a:ext uri="{FF2B5EF4-FFF2-40B4-BE49-F238E27FC236}">
                <a16:creationId xmlns:a16="http://schemas.microsoft.com/office/drawing/2014/main" id="{7D6A4557-7DDE-4427-A339-35D9B01A0F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23989" y="6084979"/>
            <a:ext cx="1641907" cy="477186"/>
          </a:xfrm>
          <a:prstGeom prst="rect">
            <a:avLst/>
          </a:prstGeom>
        </p:spPr>
      </p:pic>
    </p:spTree>
    <p:extLst>
      <p:ext uri="{BB962C8B-B14F-4D97-AF65-F5344CB8AC3E}">
        <p14:creationId xmlns:p14="http://schemas.microsoft.com/office/powerpoint/2010/main" val="3744392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p:bg>
      <p:bgPr>
        <a:solidFill>
          <a:srgbClr val="491A6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C6BF4-2260-497D-9E09-38C2E01E2987}"/>
              </a:ext>
            </a:extLst>
          </p:cNvPr>
          <p:cNvSpPr>
            <a:spLocks noGrp="1"/>
          </p:cNvSpPr>
          <p:nvPr>
            <p:ph type="title"/>
          </p:nvPr>
        </p:nvSpPr>
        <p:spPr>
          <a:xfrm>
            <a:off x="429300" y="341299"/>
            <a:ext cx="10515600" cy="1325563"/>
          </a:xfrm>
        </p:spPr>
        <p:txBody>
          <a:bodyPr/>
          <a:lstStyle>
            <a:lvl1pPr>
              <a:defRPr>
                <a:solidFill>
                  <a:schemeClr val="bg1"/>
                </a:solidFill>
              </a:defRPr>
            </a:lvl1pPr>
          </a:lstStyle>
          <a:p>
            <a:r>
              <a:rPr lang="en-US"/>
              <a:t>Click to edit Master title style</a:t>
            </a:r>
            <a:endParaRPr lang="en-GB" dirty="0"/>
          </a:p>
        </p:txBody>
      </p:sp>
      <p:sp>
        <p:nvSpPr>
          <p:cNvPr id="6" name="Content Placeholder 5">
            <a:extLst>
              <a:ext uri="{FF2B5EF4-FFF2-40B4-BE49-F238E27FC236}">
                <a16:creationId xmlns:a16="http://schemas.microsoft.com/office/drawing/2014/main" id="{CAC3FAB3-9996-49B2-8382-3B04639DFB3A}"/>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solidFill>
                  <a:schemeClr val="bg1"/>
                </a:solidFill>
              </a:defRPr>
            </a:lvl1pPr>
            <a:lvl2pPr marL="800100" indent="-342900">
              <a:buFontTx/>
              <a:buBlip>
                <a:blip r:embed="rId2"/>
              </a:buBlip>
              <a:defRPr>
                <a:solidFill>
                  <a:schemeClr val="bg1"/>
                </a:solidFill>
              </a:defRPr>
            </a:lvl2pPr>
            <a:lvl3pPr marL="1257300" indent="-342900">
              <a:buFontTx/>
              <a:buBlip>
                <a:blip r:embed="rId2"/>
              </a:buBlip>
              <a:defRPr>
                <a:solidFill>
                  <a:schemeClr val="bg1"/>
                </a:solidFill>
              </a:defRPr>
            </a:lvl3pPr>
            <a:lvl4pPr marL="1657350" indent="-285750">
              <a:buFontTx/>
              <a:buBlip>
                <a:blip r:embed="rId2"/>
              </a:buBlip>
              <a:defRPr>
                <a:solidFill>
                  <a:schemeClr val="bg1"/>
                </a:solidFill>
              </a:defRPr>
            </a:lvl4pPr>
            <a:lvl5pPr marL="2114550" indent="-285750">
              <a:buFontTx/>
              <a:buBlip>
                <a:blip r:embed="rId2"/>
              </a:buBlip>
              <a:defRPr>
                <a:solidFill>
                  <a:schemeClr val="bg1"/>
                </a:solidFill>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8243237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E61E-3F26-4FE3-879F-DC5A96623F6F}"/>
              </a:ext>
            </a:extLst>
          </p:cNvPr>
          <p:cNvSpPr>
            <a:spLocks noGrp="1"/>
          </p:cNvSpPr>
          <p:nvPr>
            <p:ph type="title"/>
          </p:nvPr>
        </p:nvSpPr>
        <p:spPr>
          <a:xfrm>
            <a:off x="437304" y="354368"/>
            <a:ext cx="10515600" cy="1325563"/>
          </a:xfrm>
        </p:spPr>
        <p:txBody>
          <a:bodyPr/>
          <a:lstStyle>
            <a:lvl1pPr>
              <a:defRPr>
                <a:solidFill>
                  <a:srgbClr val="491A66"/>
                </a:solidFill>
              </a:defRPr>
            </a:lvl1pPr>
          </a:lstStyle>
          <a:p>
            <a:r>
              <a:rPr lang="en-US"/>
              <a:t>Click to edit Master title style</a:t>
            </a:r>
            <a:endParaRPr lang="en-GB" dirty="0"/>
          </a:p>
        </p:txBody>
      </p:sp>
      <p:sp>
        <p:nvSpPr>
          <p:cNvPr id="12" name="Content Placeholder 5">
            <a:extLst>
              <a:ext uri="{FF2B5EF4-FFF2-40B4-BE49-F238E27FC236}">
                <a16:creationId xmlns:a16="http://schemas.microsoft.com/office/drawing/2014/main" id="{30731C49-F76A-4D7B-8FC0-9C92058A7A70}"/>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lvl1pPr>
            <a:lvl2pPr marL="800100" indent="-342900">
              <a:buFontTx/>
              <a:buBlip>
                <a:blip r:embed="rId2"/>
              </a:buBlip>
              <a:defRPr/>
            </a:lvl2pPr>
            <a:lvl3pPr marL="1257300" indent="-342900">
              <a:buFontTx/>
              <a:buBlip>
                <a:blip r:embed="rId2"/>
              </a:buBlip>
              <a:defRPr/>
            </a:lvl3pPr>
            <a:lvl4pPr marL="1657350" indent="-285750">
              <a:buFontTx/>
              <a:buBlip>
                <a:blip r:embed="rId2"/>
              </a:buBlip>
              <a:defRPr/>
            </a:lvl4pPr>
            <a:lvl5pPr marL="2114550" indent="-285750">
              <a:buFontTx/>
              <a:buBlip>
                <a:blip r:embed="rId2"/>
              </a:buBlip>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246780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se study">
    <p:bg>
      <p:bgPr>
        <a:solidFill>
          <a:schemeClr val="accent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C9AFB1-1EFD-4868-86E1-7B65C6E929F1}"/>
              </a:ext>
            </a:extLst>
          </p:cNvPr>
          <p:cNvSpPr>
            <a:spLocks noGrp="1"/>
          </p:cNvSpPr>
          <p:nvPr>
            <p:ph type="title" hasCustomPrompt="1"/>
          </p:nvPr>
        </p:nvSpPr>
        <p:spPr>
          <a:xfrm>
            <a:off x="6691256" y="296890"/>
            <a:ext cx="5238276" cy="714329"/>
          </a:xfrm>
        </p:spPr>
        <p:txBody>
          <a:bodyPr/>
          <a:lstStyle>
            <a:lvl1pPr>
              <a:defRPr>
                <a:solidFill>
                  <a:schemeClr val="bg1"/>
                </a:solidFill>
              </a:defRPr>
            </a:lvl1pPr>
          </a:lstStyle>
          <a:p>
            <a:r>
              <a:rPr lang="en-US" dirty="0"/>
              <a:t>Case study title</a:t>
            </a:r>
            <a:endParaRPr lang="en-GB" dirty="0"/>
          </a:p>
        </p:txBody>
      </p:sp>
      <p:sp>
        <p:nvSpPr>
          <p:cNvPr id="8" name="Text Placeholder 7">
            <a:extLst>
              <a:ext uri="{FF2B5EF4-FFF2-40B4-BE49-F238E27FC236}">
                <a16:creationId xmlns:a16="http://schemas.microsoft.com/office/drawing/2014/main" id="{ED2568EF-5343-4C6C-AE6C-6F7A820DEEC3}"/>
              </a:ext>
            </a:extLst>
          </p:cNvPr>
          <p:cNvSpPr>
            <a:spLocks noGrp="1"/>
          </p:cNvSpPr>
          <p:nvPr>
            <p:ph type="body" sz="quarter" idx="11"/>
          </p:nvPr>
        </p:nvSpPr>
        <p:spPr>
          <a:xfrm>
            <a:off x="6765925" y="1204913"/>
            <a:ext cx="5164138" cy="4754562"/>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464415919"/>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26929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hree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4435409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74408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Four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4658449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chieveing a goal">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916B62F-E266-4F4E-9915-FF25285DB186}"/>
              </a:ext>
            </a:extLst>
          </p:cNvPr>
          <p:cNvSpPr/>
          <p:nvPr userDrawn="1"/>
        </p:nvSpPr>
        <p:spPr>
          <a:xfrm>
            <a:off x="5310470" y="1421969"/>
            <a:ext cx="1631572"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36" name="Rectangle 35">
            <a:extLst>
              <a:ext uri="{FF2B5EF4-FFF2-40B4-BE49-F238E27FC236}">
                <a16:creationId xmlns:a16="http://schemas.microsoft.com/office/drawing/2014/main" id="{32D30E2D-44C1-40C3-86A5-3410ECB0B513}"/>
              </a:ext>
            </a:extLst>
          </p:cNvPr>
          <p:cNvSpPr/>
          <p:nvPr userDrawn="1"/>
        </p:nvSpPr>
        <p:spPr>
          <a:xfrm>
            <a:off x="299330" y="430879"/>
            <a:ext cx="11593340" cy="85425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Gotham Bold" pitchFamily="50" charset="0"/>
              <a:ea typeface="+mn-ea"/>
              <a:cs typeface="+mn-cs"/>
            </a:endParaRPr>
          </a:p>
        </p:txBody>
      </p:sp>
      <p:sp>
        <p:nvSpPr>
          <p:cNvPr id="37" name="Rectangle 36">
            <a:extLst>
              <a:ext uri="{FF2B5EF4-FFF2-40B4-BE49-F238E27FC236}">
                <a16:creationId xmlns:a16="http://schemas.microsoft.com/office/drawing/2014/main" id="{576B9DD9-1B6A-4F9F-AA3E-D816AD0D4364}"/>
              </a:ext>
            </a:extLst>
          </p:cNvPr>
          <p:cNvSpPr/>
          <p:nvPr userDrawn="1"/>
        </p:nvSpPr>
        <p:spPr>
          <a:xfrm>
            <a:off x="304346" y="3192332"/>
            <a:ext cx="3795690" cy="1733481"/>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8" name="Rectangle 37">
            <a:extLst>
              <a:ext uri="{FF2B5EF4-FFF2-40B4-BE49-F238E27FC236}">
                <a16:creationId xmlns:a16="http://schemas.microsoft.com/office/drawing/2014/main" id="{612E48D3-9A6B-46D7-87CF-E66AE0805101}"/>
              </a:ext>
            </a:extLst>
          </p:cNvPr>
          <p:cNvSpPr/>
          <p:nvPr userDrawn="1"/>
        </p:nvSpPr>
        <p:spPr>
          <a:xfrm>
            <a:off x="4207848" y="3208872"/>
            <a:ext cx="3795690" cy="1737354"/>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9" name="Rectangle 38">
            <a:extLst>
              <a:ext uri="{FF2B5EF4-FFF2-40B4-BE49-F238E27FC236}">
                <a16:creationId xmlns:a16="http://schemas.microsoft.com/office/drawing/2014/main" id="{0C629942-9644-4427-85F1-6502ACE9798D}"/>
              </a:ext>
            </a:extLst>
          </p:cNvPr>
          <p:cNvSpPr/>
          <p:nvPr userDrawn="1"/>
        </p:nvSpPr>
        <p:spPr>
          <a:xfrm>
            <a:off x="8111350" y="3205792"/>
            <a:ext cx="3795690" cy="1735350"/>
          </a:xfrm>
          <a:prstGeom prst="rect">
            <a:avLst/>
          </a:prstGeom>
          <a:solidFill>
            <a:srgbClr val="00A19A"/>
          </a:solidFill>
          <a:ln w="12700" cap="flat" cmpd="sng" algn="ctr">
            <a:noFill/>
            <a:prstDash val="solid"/>
            <a:miter lim="800000"/>
          </a:ln>
          <a:effectLst/>
        </p:spPr>
        <p:txBody>
          <a:bodyPr lIns="72000" tIns="72000" r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40" name="Rectangle 39">
            <a:extLst>
              <a:ext uri="{FF2B5EF4-FFF2-40B4-BE49-F238E27FC236}">
                <a16:creationId xmlns:a16="http://schemas.microsoft.com/office/drawing/2014/main" id="{9D37EDFC-5875-4DC3-A044-2158CE585AE4}"/>
              </a:ext>
            </a:extLst>
          </p:cNvPr>
          <p:cNvSpPr/>
          <p:nvPr userDrawn="1"/>
        </p:nvSpPr>
        <p:spPr>
          <a:xfrm>
            <a:off x="283637" y="5067099"/>
            <a:ext cx="11609034" cy="85427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2000" b="1"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1" name="Rectangle 40">
            <a:extLst>
              <a:ext uri="{FF2B5EF4-FFF2-40B4-BE49-F238E27FC236}">
                <a16:creationId xmlns:a16="http://schemas.microsoft.com/office/drawing/2014/main" id="{CE15DDDE-D10E-4AE1-A95B-66499CE8174D}"/>
              </a:ext>
            </a:extLst>
          </p:cNvPr>
          <p:cNvSpPr/>
          <p:nvPr userDrawn="1"/>
        </p:nvSpPr>
        <p:spPr>
          <a:xfrm>
            <a:off x="274890" y="1421969"/>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2" name="Rectangle 41">
            <a:extLst>
              <a:ext uri="{FF2B5EF4-FFF2-40B4-BE49-F238E27FC236}">
                <a16:creationId xmlns:a16="http://schemas.microsoft.com/office/drawing/2014/main" id="{557D46F0-F2F2-4C10-88E6-22B41754FB70}"/>
              </a:ext>
            </a:extLst>
          </p:cNvPr>
          <p:cNvSpPr/>
          <p:nvPr userDrawn="1"/>
        </p:nvSpPr>
        <p:spPr>
          <a:xfrm>
            <a:off x="6740132" y="1423422"/>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4" name="Plus Sign 43">
            <a:extLst>
              <a:ext uri="{FF2B5EF4-FFF2-40B4-BE49-F238E27FC236}">
                <a16:creationId xmlns:a16="http://schemas.microsoft.com/office/drawing/2014/main" id="{1A908DBD-37AA-423E-9412-FA30F81B7BF8}"/>
              </a:ext>
            </a:extLst>
          </p:cNvPr>
          <p:cNvSpPr>
            <a:spLocks/>
          </p:cNvSpPr>
          <p:nvPr userDrawn="1"/>
        </p:nvSpPr>
        <p:spPr>
          <a:xfrm>
            <a:off x="5573125" y="1680477"/>
            <a:ext cx="1106263" cy="1147542"/>
          </a:xfrm>
          <a:prstGeom prst="mathPlus">
            <a:avLst/>
          </a:prstGeom>
          <a:solidFill>
            <a:srgbClr val="00A19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D5403010-B631-40A9-8135-8AF01DAF6004}"/>
              </a:ext>
            </a:extLst>
          </p:cNvPr>
          <p:cNvSpPr>
            <a:spLocks noGrp="1"/>
          </p:cNvSpPr>
          <p:nvPr>
            <p:ph type="body" sz="quarter" idx="10" hasCustomPrompt="1"/>
          </p:nvPr>
        </p:nvSpPr>
        <p:spPr>
          <a:xfrm>
            <a:off x="541206" y="484991"/>
            <a:ext cx="11109589" cy="678470"/>
          </a:xfrm>
        </p:spPr>
        <p:txBody>
          <a:bodyPr>
            <a:noAutofit/>
          </a:bodyPr>
          <a:lstStyle>
            <a:lvl1pPr marL="0" indent="0" algn="ctr">
              <a:buNone/>
              <a:defRPr sz="4400">
                <a:solidFill>
                  <a:schemeClr val="bg1"/>
                </a:solidFill>
                <a:latin typeface="+mj-lt"/>
              </a:defRPr>
            </a:lvl1pPr>
          </a:lstStyle>
          <a:p>
            <a:pPr lvl="0"/>
            <a:r>
              <a:rPr lang="en-US" dirty="0"/>
              <a:t>Title</a:t>
            </a:r>
          </a:p>
        </p:txBody>
      </p:sp>
      <p:sp>
        <p:nvSpPr>
          <p:cNvPr id="5" name="Text Placeholder 4">
            <a:extLst>
              <a:ext uri="{FF2B5EF4-FFF2-40B4-BE49-F238E27FC236}">
                <a16:creationId xmlns:a16="http://schemas.microsoft.com/office/drawing/2014/main" id="{A33AF609-F9DC-456D-ADB5-8EA9E965C4F6}"/>
              </a:ext>
            </a:extLst>
          </p:cNvPr>
          <p:cNvSpPr>
            <a:spLocks noGrp="1"/>
          </p:cNvSpPr>
          <p:nvPr>
            <p:ph type="body" sz="quarter" idx="11" hasCustomPrompt="1"/>
          </p:nvPr>
        </p:nvSpPr>
        <p:spPr>
          <a:xfrm>
            <a:off x="6782521" y="1631240"/>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15" name="Text Placeholder 4">
            <a:extLst>
              <a:ext uri="{FF2B5EF4-FFF2-40B4-BE49-F238E27FC236}">
                <a16:creationId xmlns:a16="http://schemas.microsoft.com/office/drawing/2014/main" id="{A4292DF8-77F3-495C-94B6-0F773F5D8220}"/>
              </a:ext>
            </a:extLst>
          </p:cNvPr>
          <p:cNvSpPr>
            <a:spLocks noGrp="1"/>
          </p:cNvSpPr>
          <p:nvPr>
            <p:ph type="body" sz="quarter" idx="12" hasCustomPrompt="1"/>
          </p:nvPr>
        </p:nvSpPr>
        <p:spPr>
          <a:xfrm>
            <a:off x="706885" y="1645499"/>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7" name="Text Placeholder 6">
            <a:extLst>
              <a:ext uri="{FF2B5EF4-FFF2-40B4-BE49-F238E27FC236}">
                <a16:creationId xmlns:a16="http://schemas.microsoft.com/office/drawing/2014/main" id="{909FF254-4CDB-4CE7-9CED-F304795EA052}"/>
              </a:ext>
            </a:extLst>
          </p:cNvPr>
          <p:cNvSpPr>
            <a:spLocks noGrp="1"/>
          </p:cNvSpPr>
          <p:nvPr>
            <p:ph type="body" sz="quarter" idx="13" hasCustomPrompt="1"/>
          </p:nvPr>
        </p:nvSpPr>
        <p:spPr>
          <a:xfrm>
            <a:off x="448695"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8" name="Text Placeholder 6">
            <a:extLst>
              <a:ext uri="{FF2B5EF4-FFF2-40B4-BE49-F238E27FC236}">
                <a16:creationId xmlns:a16="http://schemas.microsoft.com/office/drawing/2014/main" id="{6BA03FD8-0A50-4C9C-8390-7BB7B9A01941}"/>
              </a:ext>
            </a:extLst>
          </p:cNvPr>
          <p:cNvSpPr>
            <a:spLocks noGrp="1"/>
          </p:cNvSpPr>
          <p:nvPr>
            <p:ph type="body" sz="quarter" idx="14" hasCustomPrompt="1"/>
          </p:nvPr>
        </p:nvSpPr>
        <p:spPr>
          <a:xfrm>
            <a:off x="4372759"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9" name="Text Placeholder 6">
            <a:extLst>
              <a:ext uri="{FF2B5EF4-FFF2-40B4-BE49-F238E27FC236}">
                <a16:creationId xmlns:a16="http://schemas.microsoft.com/office/drawing/2014/main" id="{45C95AB8-2590-415A-A4EB-59CB57FC6750}"/>
              </a:ext>
            </a:extLst>
          </p:cNvPr>
          <p:cNvSpPr>
            <a:spLocks noGrp="1"/>
          </p:cNvSpPr>
          <p:nvPr>
            <p:ph type="body" sz="quarter" idx="15" hasCustomPrompt="1"/>
          </p:nvPr>
        </p:nvSpPr>
        <p:spPr>
          <a:xfrm>
            <a:off x="8255698"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0" name="Text Placeholder 9">
            <a:extLst>
              <a:ext uri="{FF2B5EF4-FFF2-40B4-BE49-F238E27FC236}">
                <a16:creationId xmlns:a16="http://schemas.microsoft.com/office/drawing/2014/main" id="{0489B6DD-9A72-42C0-8F2E-56E4B8FCBD44}"/>
              </a:ext>
            </a:extLst>
          </p:cNvPr>
          <p:cNvSpPr>
            <a:spLocks noGrp="1"/>
          </p:cNvSpPr>
          <p:nvPr>
            <p:ph type="body" sz="quarter" idx="16" hasCustomPrompt="1"/>
          </p:nvPr>
        </p:nvSpPr>
        <p:spPr>
          <a:xfrm>
            <a:off x="729097" y="5226760"/>
            <a:ext cx="10794316" cy="451503"/>
          </a:xfrm>
        </p:spPr>
        <p:txBody>
          <a:bodyPr/>
          <a:lstStyle>
            <a:lvl1pPr marL="0" indent="0" algn="ctr">
              <a:buNone/>
              <a:defRPr>
                <a:solidFill>
                  <a:srgbClr val="F37023"/>
                </a:solidFill>
                <a:latin typeface="+mj-lt"/>
              </a:defRPr>
            </a:lvl1pPr>
          </a:lstStyle>
          <a:p>
            <a:pPr lvl="0"/>
            <a:r>
              <a:rPr lang="en-US" dirty="0"/>
              <a:t>GOAL</a:t>
            </a:r>
          </a:p>
        </p:txBody>
      </p:sp>
    </p:spTree>
    <p:extLst>
      <p:ext uri="{BB962C8B-B14F-4D97-AF65-F5344CB8AC3E}">
        <p14:creationId xmlns:p14="http://schemas.microsoft.com/office/powerpoint/2010/main" val="29294683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opy">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33C9B83-9D4A-444C-9CD5-D795BEF362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7304" y="6036990"/>
            <a:ext cx="1807605" cy="527241"/>
          </a:xfrm>
          <a:prstGeom prst="rect">
            <a:avLst/>
          </a:prstGeom>
        </p:spPr>
      </p:pic>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6382926" y="171451"/>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9542033" y="4300858"/>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437304" y="365125"/>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436563" y="1933575"/>
            <a:ext cx="5659437" cy="4013200"/>
          </a:xfrm>
        </p:spPr>
        <p:txBody>
          <a:bodyPr/>
          <a:lstStyle>
            <a:lvl1pPr marL="228600" indent="-228600">
              <a:buFontTx/>
              <a:buBlip>
                <a:blip r:embed="rId3"/>
              </a:buBlip>
              <a:defRPr/>
            </a:lvl1pPr>
            <a:lvl2pPr marL="685800" indent="-228600">
              <a:buFontTx/>
              <a:buBlip>
                <a:blip r:embed="rId3"/>
              </a:buBlip>
              <a:defRPr/>
            </a:lvl2pPr>
            <a:lvl3pPr marL="1143000" indent="-228600">
              <a:buFontTx/>
              <a:buBlip>
                <a:blip r:embed="rId3"/>
              </a:buBlip>
              <a:defRPr/>
            </a:lvl3pPr>
            <a:lvl4pPr marL="1600200" indent="-228600">
              <a:buFontTx/>
              <a:buBlip>
                <a:blip r:embed="rId3"/>
              </a:buBlip>
              <a:defRPr/>
            </a:lvl4pPr>
            <a:lvl5pPr marL="2057400" indent="-228600">
              <a:buFontTx/>
              <a:buBlip>
                <a:blip r:embed="rId3"/>
              </a:buBlip>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4832366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Picture with copy">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315613" y="232610"/>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3474720" y="4447757"/>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6382926" y="241073"/>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6382185" y="1801095"/>
            <a:ext cx="5659437" cy="4201671"/>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738378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ur focus area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4911634"/>
            <a:ext cx="12192000" cy="1946366"/>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41232" y="5020075"/>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099073"/>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Access to employment</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5036511"/>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7" y="2055839"/>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Resilient Communities</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5036511"/>
            <a:ext cx="2990140" cy="1651672"/>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pic>
        <p:nvPicPr>
          <p:cNvPr id="14" name="Picture 13">
            <a:extLst>
              <a:ext uri="{FF2B5EF4-FFF2-40B4-BE49-F238E27FC236}">
                <a16:creationId xmlns:a16="http://schemas.microsoft.com/office/drawing/2014/main" id="{D9FFFF41-7974-4A2A-8E59-B118C62CF03E}"/>
              </a:ext>
            </a:extLst>
          </p:cNvPr>
          <p:cNvPicPr>
            <a:picLocks noChangeAspect="1"/>
          </p:cNvPicPr>
          <p:nvPr userDrawn="1"/>
        </p:nvPicPr>
        <p:blipFill>
          <a:blip r:embed="rId3"/>
          <a:stretch>
            <a:fillRect/>
          </a:stretch>
        </p:blipFill>
        <p:spPr>
          <a:xfrm>
            <a:off x="5171625" y="2860877"/>
            <a:ext cx="1848750" cy="1846196"/>
          </a:xfrm>
          <a:prstGeom prst="rect">
            <a:avLst/>
          </a:prstGeom>
        </p:spPr>
      </p:pic>
      <p:pic>
        <p:nvPicPr>
          <p:cNvPr id="15" name="Picture 14">
            <a:extLst>
              <a:ext uri="{FF2B5EF4-FFF2-40B4-BE49-F238E27FC236}">
                <a16:creationId xmlns:a16="http://schemas.microsoft.com/office/drawing/2014/main" id="{AB3204B0-888A-48E9-B178-02C77FB22956}"/>
              </a:ext>
            </a:extLst>
          </p:cNvPr>
          <p:cNvPicPr>
            <a:picLocks noChangeAspect="1"/>
          </p:cNvPicPr>
          <p:nvPr userDrawn="1"/>
        </p:nvPicPr>
        <p:blipFill>
          <a:blip r:embed="rId4"/>
          <a:stretch>
            <a:fillRect/>
          </a:stretch>
        </p:blipFill>
        <p:spPr>
          <a:xfrm>
            <a:off x="885204" y="2830126"/>
            <a:ext cx="1853846" cy="1846196"/>
          </a:xfrm>
          <a:prstGeom prst="rect">
            <a:avLst/>
          </a:prstGeom>
        </p:spPr>
      </p:pic>
      <p:pic>
        <p:nvPicPr>
          <p:cNvPr id="18" name="Picture 17">
            <a:extLst>
              <a:ext uri="{FF2B5EF4-FFF2-40B4-BE49-F238E27FC236}">
                <a16:creationId xmlns:a16="http://schemas.microsoft.com/office/drawing/2014/main" id="{F1CE2DF5-1A11-4950-A619-DAABA2C58084}"/>
              </a:ext>
            </a:extLst>
          </p:cNvPr>
          <p:cNvPicPr>
            <a:picLocks noChangeAspect="1"/>
          </p:cNvPicPr>
          <p:nvPr userDrawn="1"/>
        </p:nvPicPr>
        <p:blipFill>
          <a:blip r:embed="rId5"/>
          <a:stretch>
            <a:fillRect/>
          </a:stretch>
        </p:blipFill>
        <p:spPr>
          <a:xfrm flipH="1">
            <a:off x="9328774" y="2889945"/>
            <a:ext cx="1853847" cy="1859004"/>
          </a:xfrm>
          <a:prstGeom prst="rect">
            <a:avLst/>
          </a:prstGeom>
        </p:spPr>
      </p:pic>
      <p:sp>
        <p:nvSpPr>
          <p:cNvPr id="19" name="Text Placeholder 5">
            <a:extLst>
              <a:ext uri="{FF2B5EF4-FFF2-40B4-BE49-F238E27FC236}">
                <a16:creationId xmlns:a16="http://schemas.microsoft.com/office/drawing/2014/main" id="{41F60ACE-FE18-4991-9B6E-92E2DD851D6D}"/>
              </a:ext>
            </a:extLst>
          </p:cNvPr>
          <p:cNvSpPr>
            <a:spLocks noGrp="1"/>
          </p:cNvSpPr>
          <p:nvPr>
            <p:ph type="body" sz="quarter" idx="16" hasCustomPrompt="1"/>
          </p:nvPr>
        </p:nvSpPr>
        <p:spPr>
          <a:xfrm>
            <a:off x="317057" y="2103066"/>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Solutions for an ageing society</a:t>
            </a:r>
          </a:p>
        </p:txBody>
      </p:sp>
    </p:spTree>
    <p:extLst>
      <p:ext uri="{BB962C8B-B14F-4D97-AF65-F5344CB8AC3E}">
        <p14:creationId xmlns:p14="http://schemas.microsoft.com/office/powerpoint/2010/main" val="36461120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7B89DB8-B8B2-41F3-ACC1-444ADA506181}" type="datetimeFigureOut">
              <a:rPr lang="en-GB" smtClean="0"/>
              <a:t>15/05/2020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13EECA-33E9-44F4-BE5D-DBD2713AC189}" type="slidenum">
              <a:rPr lang="en-GB" smtClean="0"/>
              <a:t>‹#›</a:t>
            </a:fld>
            <a:endParaRPr lang="en-GB"/>
          </a:p>
        </p:txBody>
      </p:sp>
    </p:spTree>
    <p:extLst>
      <p:ext uri="{BB962C8B-B14F-4D97-AF65-F5344CB8AC3E}">
        <p14:creationId xmlns:p14="http://schemas.microsoft.com/office/powerpoint/2010/main" val="3028722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6" name="Picture Placeholder 5"/>
          <p:cNvSpPr>
            <a:spLocks noGrp="1"/>
          </p:cNvSpPr>
          <p:nvPr>
            <p:ph type="pic" sz="quarter" idx="13" hasCustomPrompt="1"/>
          </p:nvPr>
        </p:nvSpPr>
        <p:spPr>
          <a:xfrm>
            <a:off x="2274888" y="1441450"/>
            <a:ext cx="7302500" cy="4021138"/>
          </a:xfrm>
        </p:spPr>
        <p:txBody>
          <a:bodyPr>
            <a:noAutofit/>
          </a:bodyPr>
          <a:lstStyle>
            <a:lvl1pPr marL="0" indent="0" algn="ctr">
              <a:buNone/>
              <a:defRPr sz="19900">
                <a:solidFill>
                  <a:schemeClr val="bg1">
                    <a:lumMod val="75000"/>
                  </a:schemeClr>
                </a:solidFill>
              </a:defRPr>
            </a:lvl1pPr>
          </a:lstStyle>
          <a:p>
            <a:r>
              <a:rPr lang="en-GB" dirty="0"/>
              <a:t>DRAFT</a:t>
            </a:r>
          </a:p>
        </p:txBody>
      </p:sp>
    </p:spTree>
    <p:extLst>
      <p:ext uri="{BB962C8B-B14F-4D97-AF65-F5344CB8AC3E}">
        <p14:creationId xmlns:p14="http://schemas.microsoft.com/office/powerpoint/2010/main" val="39668176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C3EF3-2ED1-40DA-9CD8-07ABBA0EF7F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0D1DBF-134D-4DA1-A8E8-530BB8EBF1E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7862B0-7B12-4803-B640-B3746F8769AD}"/>
              </a:ext>
            </a:extLst>
          </p:cNvPr>
          <p:cNvSpPr>
            <a:spLocks noGrp="1"/>
          </p:cNvSpPr>
          <p:nvPr>
            <p:ph type="dt" sz="half" idx="10"/>
          </p:nvPr>
        </p:nvSpPr>
        <p:spPr/>
        <p:txBody>
          <a:bodyPr/>
          <a:lstStyle/>
          <a:p>
            <a:fld id="{185B4647-AAB0-494D-9C53-C19F2C8C90F9}" type="datetimeFigureOut">
              <a:rPr lang="en-GB" smtClean="0"/>
              <a:t>15/05/2020</a:t>
            </a:fld>
            <a:endParaRPr lang="en-GB"/>
          </a:p>
        </p:txBody>
      </p:sp>
      <p:sp>
        <p:nvSpPr>
          <p:cNvPr id="5" name="Footer Placeholder 4">
            <a:extLst>
              <a:ext uri="{FF2B5EF4-FFF2-40B4-BE49-F238E27FC236}">
                <a16:creationId xmlns:a16="http://schemas.microsoft.com/office/drawing/2014/main" id="{1FDE5B12-B281-4827-95CD-5A122378261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A98191-5161-4EF6-8748-24F9F81688C2}"/>
              </a:ext>
            </a:extLst>
          </p:cNvPr>
          <p:cNvSpPr>
            <a:spLocks noGrp="1"/>
          </p:cNvSpPr>
          <p:nvPr>
            <p:ph type="sldNum" sz="quarter" idx="12"/>
          </p:nvPr>
        </p:nvSpPr>
        <p:spPr/>
        <p:txBody>
          <a:bodyPr/>
          <a:lstStyle/>
          <a:p>
            <a:fld id="{C741B7C8-AEFF-41C1-B803-35E17425C37E}" type="slidenum">
              <a:rPr lang="en-GB" smtClean="0"/>
              <a:t>‹#›</a:t>
            </a:fld>
            <a:endParaRPr lang="en-GB"/>
          </a:p>
        </p:txBody>
      </p:sp>
    </p:spTree>
    <p:extLst>
      <p:ext uri="{BB962C8B-B14F-4D97-AF65-F5344CB8AC3E}">
        <p14:creationId xmlns:p14="http://schemas.microsoft.com/office/powerpoint/2010/main" val="581426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379392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6C073B-9002-45FF-8A60-D00AF5498BE3}" type="datetimeFigureOut">
              <a:rPr lang="en-GB" smtClean="0"/>
              <a:t>15/05/2020</a:t>
            </a:fld>
            <a:endParaRPr lang="en-GB"/>
          </a:p>
        </p:txBody>
      </p:sp>
      <p:sp>
        <p:nvSpPr>
          <p:cNvPr id="5" name="Footer Placeholder 4"/>
          <p:cNvSpPr>
            <a:spLocks noGrp="1"/>
          </p:cNvSpPr>
          <p:nvPr>
            <p:ph type="ftr" sz="quarter" idx="3"/>
          </p:nvPr>
        </p:nvSpPr>
        <p:spPr>
          <a:xfrm>
            <a:off x="0" y="5819887"/>
            <a:ext cx="12192000" cy="1038113"/>
          </a:xfrm>
          <a:prstGeom prst="rect">
            <a:avLst/>
          </a:prstGeom>
          <a:solidFill>
            <a:srgbClr val="491A66"/>
          </a:solidFill>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9062421" y="61277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1F0FB5-D502-4438-886F-18082FA237F4}" type="slidenum">
              <a:rPr lang="en-GB" smtClean="0"/>
              <a:t>‹#›</a:t>
            </a:fld>
            <a:endParaRPr lang="en-GB" dirty="0"/>
          </a:p>
        </p:txBody>
      </p:sp>
      <p:pic>
        <p:nvPicPr>
          <p:cNvPr id="8" name="Picture 7">
            <a:extLst>
              <a:ext uri="{FF2B5EF4-FFF2-40B4-BE49-F238E27FC236}">
                <a16:creationId xmlns:a16="http://schemas.microsoft.com/office/drawing/2014/main" id="{0D202232-D9A4-4294-B888-27130295AC6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517829" y="6080721"/>
            <a:ext cx="1653988" cy="480697"/>
          </a:xfrm>
          <a:prstGeom prst="rect">
            <a:avLst/>
          </a:prstGeom>
        </p:spPr>
      </p:pic>
    </p:spTree>
    <p:extLst>
      <p:ext uri="{BB962C8B-B14F-4D97-AF65-F5344CB8AC3E}">
        <p14:creationId xmlns:p14="http://schemas.microsoft.com/office/powerpoint/2010/main" val="3066424861"/>
      </p:ext>
    </p:extLst>
  </p:cSld>
  <p:clrMap bg1="lt1" tx1="dk1" bg2="lt2" tx2="dk2" accent1="accent1" accent2="accent2" accent3="accent3" accent4="accent4" accent5="accent5" accent6="accent6" hlink="hlink" folHlink="folHlink"/>
  <p:sldLayoutIdLst>
    <p:sldLayoutId id="2147483678" r:id="rId1"/>
    <p:sldLayoutId id="2147483673" r:id="rId2"/>
    <p:sldLayoutId id="2147483674" r:id="rId3"/>
    <p:sldLayoutId id="2147483675" r:id="rId4"/>
    <p:sldLayoutId id="2147483676" r:id="rId5"/>
    <p:sldLayoutId id="2147483677" r:id="rId6"/>
    <p:sldLayoutId id="2147483684" r:id="rId7"/>
    <p:sldLayoutId id="2147483683" r:id="rId8"/>
    <p:sldLayoutId id="2147483685" r:id="rId9"/>
    <p:sldLayoutId id="2147483680" r:id="rId10"/>
    <p:sldLayoutId id="2147483681" r:id="rId11"/>
    <p:sldLayoutId id="2147483687" r:id="rId12"/>
    <p:sldLayoutId id="214748368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379392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6C073B-9002-45FF-8A60-D00AF5498BE3}" type="datetimeFigureOut">
              <a:rPr lang="en-GB" smtClean="0"/>
              <a:t>15/05/2020</a:t>
            </a:fld>
            <a:endParaRPr lang="en-GB"/>
          </a:p>
        </p:txBody>
      </p:sp>
      <p:sp>
        <p:nvSpPr>
          <p:cNvPr id="5" name="Footer Placeholder 4"/>
          <p:cNvSpPr>
            <a:spLocks noGrp="1"/>
          </p:cNvSpPr>
          <p:nvPr>
            <p:ph type="ftr" sz="quarter" idx="3"/>
          </p:nvPr>
        </p:nvSpPr>
        <p:spPr>
          <a:xfrm>
            <a:off x="0" y="5819887"/>
            <a:ext cx="12192000" cy="1038113"/>
          </a:xfrm>
          <a:prstGeom prst="rect">
            <a:avLst/>
          </a:prstGeom>
          <a:solidFill>
            <a:srgbClr val="491A66"/>
          </a:solidFill>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9062421" y="61277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1F0FB5-D502-4438-886F-18082FA237F4}" type="slidenum">
              <a:rPr lang="en-GB" smtClean="0"/>
              <a:t>‹#›</a:t>
            </a:fld>
            <a:endParaRPr lang="en-GB" dirty="0"/>
          </a:p>
        </p:txBody>
      </p:sp>
      <p:pic>
        <p:nvPicPr>
          <p:cNvPr id="8" name="Picture 7">
            <a:extLst>
              <a:ext uri="{FF2B5EF4-FFF2-40B4-BE49-F238E27FC236}">
                <a16:creationId xmlns:a16="http://schemas.microsoft.com/office/drawing/2014/main" id="{0D202232-D9A4-4294-B888-27130295AC6F}"/>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517829" y="6080721"/>
            <a:ext cx="1653988" cy="480697"/>
          </a:xfrm>
          <a:prstGeom prst="rect">
            <a:avLst/>
          </a:prstGeom>
        </p:spPr>
      </p:pic>
    </p:spTree>
    <p:extLst>
      <p:ext uri="{BB962C8B-B14F-4D97-AF65-F5344CB8AC3E}">
        <p14:creationId xmlns:p14="http://schemas.microsoft.com/office/powerpoint/2010/main" val="338655863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buysocialdirectory.org.uk/sites/default/files/social_value_guide.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hyperlink" Target="http://socialimpactstrategy.org/what-is-social-impact-anyway/" TargetMode="Externa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hyperlink" Target="http://www.socialvalueuk.org/report-databas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torgronsund.com/2011/11/29/7-proven-templates-for-creating-value-propositions-that-work/" TargetMode="External"/><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video" Target="https://www.youtube.com/embed/dpb4AGT684U" TargetMode="Externa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9.jpeg"/><Relationship Id="rId7"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hyperlink" Target="https://www.goodfinance.org.uk/measuring-social-impact/social-impact-guidance"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image" Target="../media/image39.jpg"/><Relationship Id="rId3" Type="http://schemas.openxmlformats.org/officeDocument/2006/relationships/image" Target="../media/image34.jpg"/><Relationship Id="rId7" Type="http://schemas.openxmlformats.org/officeDocument/2006/relationships/image" Target="../media/image38.jp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37.jpg"/><Relationship Id="rId5" Type="http://schemas.openxmlformats.org/officeDocument/2006/relationships/image" Target="../media/image36.jpg"/><Relationship Id="rId10" Type="http://schemas.openxmlformats.org/officeDocument/2006/relationships/image" Target="../media/image41.jpeg"/><Relationship Id="rId4" Type="http://schemas.openxmlformats.org/officeDocument/2006/relationships/image" Target="../media/image35.png"/><Relationship Id="rId9"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hyperlink" Target="mailto:joshmeek@unltd.org.uk"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hyperlink" Target="mailto:jamidixon@unltd.org.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564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3D5D-160F-4499-AE64-7508BBA9FB77}"/>
              </a:ext>
            </a:extLst>
          </p:cNvPr>
          <p:cNvSpPr>
            <a:spLocks noGrp="1"/>
          </p:cNvSpPr>
          <p:nvPr>
            <p:ph type="title"/>
          </p:nvPr>
        </p:nvSpPr>
        <p:spPr>
          <a:xfrm>
            <a:off x="186704" y="96817"/>
            <a:ext cx="10515600" cy="938881"/>
          </a:xfrm>
        </p:spPr>
        <p:txBody>
          <a:bodyPr/>
          <a:lstStyle/>
          <a:p>
            <a:r>
              <a:rPr lang="en-GB" dirty="0"/>
              <a:t>Aim for this session </a:t>
            </a:r>
          </a:p>
        </p:txBody>
      </p:sp>
      <p:sp>
        <p:nvSpPr>
          <p:cNvPr id="3" name="Content Placeholder 2">
            <a:extLst>
              <a:ext uri="{FF2B5EF4-FFF2-40B4-BE49-F238E27FC236}">
                <a16:creationId xmlns:a16="http://schemas.microsoft.com/office/drawing/2014/main" id="{07346475-B1CF-4FD2-BE47-338EEC0DB114}"/>
              </a:ext>
            </a:extLst>
          </p:cNvPr>
          <p:cNvSpPr>
            <a:spLocks noGrp="1"/>
          </p:cNvSpPr>
          <p:nvPr>
            <p:ph sz="quarter" idx="10"/>
          </p:nvPr>
        </p:nvSpPr>
        <p:spPr>
          <a:xfrm>
            <a:off x="419969" y="1035698"/>
            <a:ext cx="10515600" cy="4558541"/>
          </a:xfrm>
        </p:spPr>
        <p:txBody>
          <a:bodyPr>
            <a:normAutofit lnSpcReduction="10000"/>
          </a:bodyPr>
          <a:lstStyle/>
          <a:p>
            <a:pPr marL="0" indent="0">
              <a:buNone/>
            </a:pPr>
            <a:endParaRPr lang="en-GB" dirty="0"/>
          </a:p>
          <a:p>
            <a:r>
              <a:rPr lang="en-GB" dirty="0"/>
              <a:t>Quick overview of social impact vs. social value </a:t>
            </a:r>
          </a:p>
          <a:p>
            <a:pPr marL="0" indent="0">
              <a:buNone/>
            </a:pPr>
            <a:endParaRPr lang="en-GB" dirty="0"/>
          </a:p>
          <a:p>
            <a:r>
              <a:rPr lang="en-GB" dirty="0"/>
              <a:t>Understand the necessary steps to set up a Social Impact Management Cycle (SIM-C). </a:t>
            </a:r>
          </a:p>
          <a:p>
            <a:pPr marL="0" indent="0">
              <a:buNone/>
            </a:pPr>
            <a:endParaRPr lang="en-GB" dirty="0"/>
          </a:p>
          <a:p>
            <a:r>
              <a:rPr lang="en-GB" dirty="0"/>
              <a:t>Key concepts</a:t>
            </a:r>
          </a:p>
          <a:p>
            <a:pPr marL="0" indent="0">
              <a:buNone/>
            </a:pPr>
            <a:r>
              <a:rPr lang="en-GB" dirty="0"/>
              <a:t> </a:t>
            </a:r>
          </a:p>
          <a:p>
            <a:r>
              <a:rPr lang="en-GB" dirty="0"/>
              <a:t>Establish next steps to build up our own approach to impact management. </a:t>
            </a:r>
          </a:p>
        </p:txBody>
      </p:sp>
    </p:spTree>
    <p:extLst>
      <p:ext uri="{BB962C8B-B14F-4D97-AF65-F5344CB8AC3E}">
        <p14:creationId xmlns:p14="http://schemas.microsoft.com/office/powerpoint/2010/main" val="2708650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15A06-857D-4E20-A326-F69B5376D618}"/>
              </a:ext>
            </a:extLst>
          </p:cNvPr>
          <p:cNvSpPr>
            <a:spLocks noGrp="1"/>
          </p:cNvSpPr>
          <p:nvPr>
            <p:ph type="body" sz="quarter" idx="10"/>
          </p:nvPr>
        </p:nvSpPr>
        <p:spPr/>
        <p:txBody>
          <a:bodyPr>
            <a:normAutofit fontScale="77500" lnSpcReduction="20000"/>
          </a:bodyPr>
          <a:lstStyle/>
          <a:p>
            <a:r>
              <a:rPr lang="en-GB" dirty="0"/>
              <a:t>Session 1: What is social impact? </a:t>
            </a:r>
          </a:p>
        </p:txBody>
      </p:sp>
    </p:spTree>
    <p:extLst>
      <p:ext uri="{BB962C8B-B14F-4D97-AF65-F5344CB8AC3E}">
        <p14:creationId xmlns:p14="http://schemas.microsoft.com/office/powerpoint/2010/main" val="4121422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1C13B7-F2C7-458B-96E1-855BC374FFF1}"/>
              </a:ext>
            </a:extLst>
          </p:cNvPr>
          <p:cNvSpPr>
            <a:spLocks noGrp="1"/>
          </p:cNvSpPr>
          <p:nvPr>
            <p:ph type="body" sz="quarter" idx="13"/>
          </p:nvPr>
        </p:nvSpPr>
        <p:spPr>
          <a:xfrm>
            <a:off x="0" y="0"/>
            <a:ext cx="10644738" cy="697680"/>
          </a:xfrm>
        </p:spPr>
        <p:txBody>
          <a:bodyPr/>
          <a:lstStyle/>
          <a:p>
            <a:r>
              <a:rPr lang="en-GB" dirty="0"/>
              <a:t>Social Impact vs. Social Value</a:t>
            </a:r>
          </a:p>
        </p:txBody>
      </p:sp>
      <p:cxnSp>
        <p:nvCxnSpPr>
          <p:cNvPr id="4" name="Straight Connector 3">
            <a:extLst>
              <a:ext uri="{FF2B5EF4-FFF2-40B4-BE49-F238E27FC236}">
                <a16:creationId xmlns:a16="http://schemas.microsoft.com/office/drawing/2014/main" id="{D2188768-87C2-4E53-A09A-E494C396C8ED}"/>
              </a:ext>
            </a:extLst>
          </p:cNvPr>
          <p:cNvCxnSpPr/>
          <p:nvPr/>
        </p:nvCxnSpPr>
        <p:spPr>
          <a:xfrm>
            <a:off x="6096000" y="838200"/>
            <a:ext cx="0" cy="601980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4B583D45-C31B-4618-8BDB-B01C390B47A3}"/>
              </a:ext>
            </a:extLst>
          </p:cNvPr>
          <p:cNvSpPr/>
          <p:nvPr/>
        </p:nvSpPr>
        <p:spPr>
          <a:xfrm>
            <a:off x="6667501" y="697680"/>
            <a:ext cx="4972045" cy="54057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Social Value</a:t>
            </a:r>
          </a:p>
        </p:txBody>
      </p:sp>
      <p:sp>
        <p:nvSpPr>
          <p:cNvPr id="6" name="Rectangle: Rounded Corners 5">
            <a:extLst>
              <a:ext uri="{FF2B5EF4-FFF2-40B4-BE49-F238E27FC236}">
                <a16:creationId xmlns:a16="http://schemas.microsoft.com/office/drawing/2014/main" id="{6F0A6381-751E-4D6F-9E12-D46C751C013E}"/>
              </a:ext>
            </a:extLst>
          </p:cNvPr>
          <p:cNvSpPr/>
          <p:nvPr/>
        </p:nvSpPr>
        <p:spPr>
          <a:xfrm>
            <a:off x="552454" y="697680"/>
            <a:ext cx="4972045" cy="54057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Social Impact </a:t>
            </a:r>
          </a:p>
        </p:txBody>
      </p:sp>
      <p:sp>
        <p:nvSpPr>
          <p:cNvPr id="7" name="TextBox 6">
            <a:extLst>
              <a:ext uri="{FF2B5EF4-FFF2-40B4-BE49-F238E27FC236}">
                <a16:creationId xmlns:a16="http://schemas.microsoft.com/office/drawing/2014/main" id="{C180880C-5C6F-4CC3-89E3-8E67A8FE576D}"/>
              </a:ext>
            </a:extLst>
          </p:cNvPr>
          <p:cNvSpPr txBox="1"/>
          <p:nvPr/>
        </p:nvSpPr>
        <p:spPr>
          <a:xfrm>
            <a:off x="6324605" y="1352550"/>
            <a:ext cx="55816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Social Value is defined in the </a:t>
            </a:r>
            <a:r>
              <a:rPr kumimoji="0" lang="en-GB" sz="1800" b="0" i="0" u="none" strike="noStrike" kern="1200" cap="none" spc="0" normalizeH="0" baseline="0" noProof="0" dirty="0">
                <a:ln>
                  <a:noFill/>
                </a:ln>
                <a:solidFill>
                  <a:srgbClr val="636363"/>
                </a:solidFill>
                <a:effectLst/>
                <a:uLnTx/>
                <a:uFillTx/>
                <a:latin typeface="Gotham Book"/>
                <a:ea typeface="+mn-ea"/>
                <a:cs typeface="+mn-cs"/>
                <a:hlinkClick r:id="rId3"/>
              </a:rPr>
              <a:t>Social Value Act 2012 </a:t>
            </a:r>
            <a:r>
              <a:rPr kumimoji="0" lang="en-GB" sz="1800" b="0" i="0" u="none" strike="noStrike" kern="1200" cap="none" spc="0" normalizeH="0" baseline="0" noProof="0" dirty="0">
                <a:ln>
                  <a:noFill/>
                </a:ln>
                <a:solidFill>
                  <a:srgbClr val="636363"/>
                </a:solidFill>
                <a:effectLst/>
                <a:uLnTx/>
                <a:uFillTx/>
                <a:latin typeface="Gotham Book"/>
                <a:ea typeface="+mn-ea"/>
                <a:cs typeface="+mn-cs"/>
              </a:rPr>
              <a:t>as: </a:t>
            </a:r>
          </a:p>
        </p:txBody>
      </p:sp>
      <p:sp>
        <p:nvSpPr>
          <p:cNvPr id="8" name="Rectangle: Rounded Corners 7">
            <a:extLst>
              <a:ext uri="{FF2B5EF4-FFF2-40B4-BE49-F238E27FC236}">
                <a16:creationId xmlns:a16="http://schemas.microsoft.com/office/drawing/2014/main" id="{3B761603-5088-404D-B34A-47BD4B21A2C3}"/>
              </a:ext>
            </a:extLst>
          </p:cNvPr>
          <p:cNvSpPr/>
          <p:nvPr/>
        </p:nvSpPr>
        <p:spPr>
          <a:xfrm>
            <a:off x="6324611" y="2160032"/>
            <a:ext cx="5581640" cy="1192768"/>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a:t>
            </a:r>
            <a:r>
              <a:rPr kumimoji="0" lang="en-GB" sz="1800" b="0" i="1" u="none" strike="noStrike" kern="1200" cap="none" spc="0" normalizeH="0" baseline="0" noProof="0" dirty="0">
                <a:ln>
                  <a:noFill/>
                </a:ln>
                <a:solidFill>
                  <a:prstClr val="white"/>
                </a:solidFill>
                <a:effectLst/>
                <a:uLnTx/>
                <a:uFillTx/>
                <a:latin typeface="Gotham Book"/>
                <a:ea typeface="+mn-ea"/>
                <a:cs typeface="+mn-cs"/>
              </a:rPr>
              <a:t>the additional benefit to the community from a commissioning/procurement process over and above the direct purchasing of goods, services and outcomes.”</a:t>
            </a: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pic>
        <p:nvPicPr>
          <p:cNvPr id="1026" name="Picture 2" descr="Image result for social value act">
            <a:extLst>
              <a:ext uri="{FF2B5EF4-FFF2-40B4-BE49-F238E27FC236}">
                <a16:creationId xmlns:a16="http://schemas.microsoft.com/office/drawing/2014/main" id="{8C1D50FC-54D2-49A4-A7B0-E545548D6D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6675" y="3733800"/>
            <a:ext cx="28575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F5D7841C-9A53-4310-B97A-715085795B24}"/>
              </a:ext>
            </a:extLst>
          </p:cNvPr>
          <p:cNvSpPr txBox="1"/>
          <p:nvPr/>
        </p:nvSpPr>
        <p:spPr>
          <a:xfrm>
            <a:off x="400052" y="1352550"/>
            <a:ext cx="55816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hlinkClick r:id="rId5"/>
              </a:rPr>
              <a:t>Social Impact </a:t>
            </a:r>
            <a:r>
              <a:rPr kumimoji="0" lang="en-GB" sz="1800" b="0" i="0" u="none" strike="noStrike" kern="1200" cap="none" spc="0" normalizeH="0" baseline="0" noProof="0" dirty="0">
                <a:ln>
                  <a:noFill/>
                </a:ln>
                <a:solidFill>
                  <a:srgbClr val="636363"/>
                </a:solidFill>
                <a:effectLst/>
                <a:uLnTx/>
                <a:uFillTx/>
                <a:latin typeface="Gotham Book"/>
                <a:ea typeface="+mn-ea"/>
                <a:cs typeface="+mn-cs"/>
              </a:rPr>
              <a:t>is defined as:</a:t>
            </a:r>
          </a:p>
        </p:txBody>
      </p:sp>
      <p:sp>
        <p:nvSpPr>
          <p:cNvPr id="10" name="TextBox 9">
            <a:extLst>
              <a:ext uri="{FF2B5EF4-FFF2-40B4-BE49-F238E27FC236}">
                <a16:creationId xmlns:a16="http://schemas.microsoft.com/office/drawing/2014/main" id="{40308920-326C-4AA0-A1AD-D4D01BAFF854}"/>
              </a:ext>
            </a:extLst>
          </p:cNvPr>
          <p:cNvSpPr txBox="1"/>
          <p:nvPr/>
        </p:nvSpPr>
        <p:spPr>
          <a:xfrm>
            <a:off x="247652" y="1770534"/>
            <a:ext cx="5581641" cy="6622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“T</a:t>
            </a:r>
            <a:r>
              <a:rPr kumimoji="0" lang="en-GB" sz="1800" b="0" i="1" u="none" strike="noStrike" kern="1200" cap="none" spc="0" normalizeH="0" baseline="0" noProof="0" dirty="0">
                <a:ln>
                  <a:noFill/>
                </a:ln>
                <a:solidFill>
                  <a:prstClr val="white"/>
                </a:solidFill>
                <a:effectLst/>
                <a:uLnTx/>
                <a:uFillTx/>
                <a:latin typeface="Gotham Book"/>
                <a:ea typeface="+mn-ea"/>
                <a:cs typeface="+mn-cs"/>
              </a:rPr>
              <a:t>he net effect of an activity on the community and the well-being of individuals and families.”</a:t>
            </a: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5" name="TextBox 14">
            <a:extLst>
              <a:ext uri="{FF2B5EF4-FFF2-40B4-BE49-F238E27FC236}">
                <a16:creationId xmlns:a16="http://schemas.microsoft.com/office/drawing/2014/main" id="{C2C6479E-E902-4E72-B008-F15B0C1AEC21}"/>
              </a:ext>
            </a:extLst>
          </p:cNvPr>
          <p:cNvSpPr txBox="1"/>
          <p:nvPr/>
        </p:nvSpPr>
        <p:spPr>
          <a:xfrm>
            <a:off x="2609846" y="2389299"/>
            <a:ext cx="85724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or</a:t>
            </a:r>
          </a:p>
        </p:txBody>
      </p:sp>
      <p:sp>
        <p:nvSpPr>
          <p:cNvPr id="16" name="TextBox 15">
            <a:extLst>
              <a:ext uri="{FF2B5EF4-FFF2-40B4-BE49-F238E27FC236}">
                <a16:creationId xmlns:a16="http://schemas.microsoft.com/office/drawing/2014/main" id="{7E30CF10-C8D1-4725-9B53-14E5A3C379A9}"/>
              </a:ext>
            </a:extLst>
          </p:cNvPr>
          <p:cNvSpPr txBox="1"/>
          <p:nvPr/>
        </p:nvSpPr>
        <p:spPr>
          <a:xfrm>
            <a:off x="247652" y="2758631"/>
            <a:ext cx="5581641" cy="7578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a:t>
            </a:r>
            <a:r>
              <a:rPr kumimoji="0" lang="en-GB" sz="1800" b="0" i="1" u="none" strike="noStrike" kern="1200" cap="none" spc="0" normalizeH="0" baseline="0" noProof="0" dirty="0">
                <a:ln>
                  <a:noFill/>
                </a:ln>
                <a:solidFill>
                  <a:prstClr val="white"/>
                </a:solidFill>
                <a:effectLst/>
                <a:uLnTx/>
                <a:uFillTx/>
                <a:latin typeface="Gotham Book"/>
                <a:ea typeface="+mn-ea"/>
                <a:cs typeface="+mn-cs"/>
              </a:rPr>
              <a:t>A significant positive change that addressed a pressing social challenge.”</a:t>
            </a: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7" name="TextBox 16">
            <a:extLst>
              <a:ext uri="{FF2B5EF4-FFF2-40B4-BE49-F238E27FC236}">
                <a16:creationId xmlns:a16="http://schemas.microsoft.com/office/drawing/2014/main" id="{4B4432FD-59D9-47BC-A43E-3FCADB10C671}"/>
              </a:ext>
            </a:extLst>
          </p:cNvPr>
          <p:cNvSpPr txBox="1"/>
          <p:nvPr/>
        </p:nvSpPr>
        <p:spPr>
          <a:xfrm>
            <a:off x="2684856" y="3433326"/>
            <a:ext cx="70722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or</a:t>
            </a:r>
          </a:p>
        </p:txBody>
      </p:sp>
      <p:sp>
        <p:nvSpPr>
          <p:cNvPr id="18" name="TextBox 17">
            <a:extLst>
              <a:ext uri="{FF2B5EF4-FFF2-40B4-BE49-F238E27FC236}">
                <a16:creationId xmlns:a16="http://schemas.microsoft.com/office/drawing/2014/main" id="{40EA4F60-50DE-400F-AD51-72D7A22DB2AF}"/>
              </a:ext>
            </a:extLst>
          </p:cNvPr>
          <p:cNvSpPr txBox="1"/>
          <p:nvPr/>
        </p:nvSpPr>
        <p:spPr>
          <a:xfrm>
            <a:off x="228608" y="3845865"/>
            <a:ext cx="5581641" cy="7526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a:t>
            </a:r>
            <a:r>
              <a:rPr kumimoji="0" lang="en-GB" sz="1800" b="0" i="1" u="none" strike="noStrike" kern="1200" cap="none" spc="0" normalizeH="0" baseline="0" noProof="0" dirty="0">
                <a:ln>
                  <a:noFill/>
                </a:ln>
                <a:solidFill>
                  <a:prstClr val="white"/>
                </a:solidFill>
                <a:effectLst/>
                <a:uLnTx/>
                <a:uFillTx/>
                <a:latin typeface="Gotham Book"/>
                <a:ea typeface="+mn-ea"/>
                <a:cs typeface="+mn-cs"/>
              </a:rPr>
              <a:t>the social change that an organisation creates through its actions (i.e. the impact of its interventions).“</a:t>
            </a: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9" name="TextBox 15">
            <a:extLst>
              <a:ext uri="{FF2B5EF4-FFF2-40B4-BE49-F238E27FC236}">
                <a16:creationId xmlns:a16="http://schemas.microsoft.com/office/drawing/2014/main" id="{74A996C7-7F8A-402D-98A0-77F2E34D60B4}"/>
              </a:ext>
            </a:extLst>
          </p:cNvPr>
          <p:cNvSpPr txBox="1">
            <a:spLocks noChangeArrowheads="1"/>
          </p:cNvSpPr>
          <p:nvPr/>
        </p:nvSpPr>
        <p:spPr bwMode="auto">
          <a:xfrm>
            <a:off x="3260665" y="3497216"/>
            <a:ext cx="2937217" cy="261610"/>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srgbClr val="5D5D5D"/>
                </a:solidFill>
                <a:effectLst/>
                <a:uLnTx/>
                <a:uFillTx/>
                <a:latin typeface="Georgia" pitchFamily="-103" charset="0"/>
                <a:ea typeface="+mn-ea"/>
                <a:cs typeface="+mn-cs"/>
              </a:rPr>
              <a:t>University of Michigan Business School</a:t>
            </a:r>
          </a:p>
        </p:txBody>
      </p:sp>
      <p:sp>
        <p:nvSpPr>
          <p:cNvPr id="20" name="TextBox 15">
            <a:extLst>
              <a:ext uri="{FF2B5EF4-FFF2-40B4-BE49-F238E27FC236}">
                <a16:creationId xmlns:a16="http://schemas.microsoft.com/office/drawing/2014/main" id="{E72590D5-C350-417C-AA8A-CEC238BB4E22}"/>
              </a:ext>
            </a:extLst>
          </p:cNvPr>
          <p:cNvSpPr txBox="1">
            <a:spLocks noChangeArrowheads="1"/>
          </p:cNvSpPr>
          <p:nvPr/>
        </p:nvSpPr>
        <p:spPr bwMode="auto">
          <a:xfrm>
            <a:off x="3190875" y="2409341"/>
            <a:ext cx="3296842" cy="261610"/>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srgbClr val="5D5D5D"/>
                </a:solidFill>
                <a:effectLst/>
                <a:uLnTx/>
                <a:uFillTx/>
                <a:latin typeface="Georgia" pitchFamily="-103" charset="0"/>
                <a:ea typeface="+mn-ea"/>
                <a:cs typeface="+mn-cs"/>
              </a:rPr>
              <a:t>Centre for Social Impact (CSI)</a:t>
            </a:r>
          </a:p>
        </p:txBody>
      </p:sp>
      <p:sp>
        <p:nvSpPr>
          <p:cNvPr id="21" name="TextBox 15">
            <a:extLst>
              <a:ext uri="{FF2B5EF4-FFF2-40B4-BE49-F238E27FC236}">
                <a16:creationId xmlns:a16="http://schemas.microsoft.com/office/drawing/2014/main" id="{230E9E79-1650-4C9A-B416-3E9CA042699F}"/>
              </a:ext>
            </a:extLst>
          </p:cNvPr>
          <p:cNvSpPr txBox="1">
            <a:spLocks noChangeArrowheads="1"/>
          </p:cNvSpPr>
          <p:nvPr/>
        </p:nvSpPr>
        <p:spPr bwMode="auto">
          <a:xfrm>
            <a:off x="5012384" y="4541100"/>
            <a:ext cx="867850" cy="261610"/>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err="1">
                <a:ln>
                  <a:noFill/>
                </a:ln>
                <a:solidFill>
                  <a:srgbClr val="5D5D5D"/>
                </a:solidFill>
                <a:effectLst/>
                <a:uLnTx/>
                <a:uFillTx/>
                <a:latin typeface="Georgia" pitchFamily="-103" charset="0"/>
                <a:ea typeface="+mn-ea"/>
                <a:cs typeface="+mn-cs"/>
              </a:rPr>
              <a:t>UnLtd</a:t>
            </a:r>
            <a:endParaRPr kumimoji="0" lang="en-GB" sz="1100" b="0" i="1" u="none" strike="noStrike" kern="1200" cap="none" spc="0" normalizeH="0" baseline="0" noProof="0" dirty="0">
              <a:ln>
                <a:noFill/>
              </a:ln>
              <a:solidFill>
                <a:srgbClr val="5D5D5D"/>
              </a:solidFill>
              <a:effectLst/>
              <a:uLnTx/>
              <a:uFillTx/>
              <a:latin typeface="Georgia" pitchFamily="-103" charset="0"/>
              <a:ea typeface="+mn-ea"/>
              <a:cs typeface="+mn-cs"/>
            </a:endParaRPr>
          </a:p>
        </p:txBody>
      </p:sp>
      <p:sp>
        <p:nvSpPr>
          <p:cNvPr id="3" name="Arrow: Down 2">
            <a:extLst>
              <a:ext uri="{FF2B5EF4-FFF2-40B4-BE49-F238E27FC236}">
                <a16:creationId xmlns:a16="http://schemas.microsoft.com/office/drawing/2014/main" id="{B4ADD49F-DEEA-4FA0-A354-895D6A6A3D79}"/>
              </a:ext>
            </a:extLst>
          </p:cNvPr>
          <p:cNvSpPr/>
          <p:nvPr/>
        </p:nvSpPr>
        <p:spPr>
          <a:xfrm>
            <a:off x="2901041" y="4609285"/>
            <a:ext cx="359625" cy="26161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22" name="TextBox 21">
            <a:extLst>
              <a:ext uri="{FF2B5EF4-FFF2-40B4-BE49-F238E27FC236}">
                <a16:creationId xmlns:a16="http://schemas.microsoft.com/office/drawing/2014/main" id="{E1371879-6CD0-416A-BFA8-736902E5EFAF}"/>
              </a:ext>
            </a:extLst>
          </p:cNvPr>
          <p:cNvSpPr txBox="1"/>
          <p:nvPr/>
        </p:nvSpPr>
        <p:spPr>
          <a:xfrm>
            <a:off x="247652" y="4890390"/>
            <a:ext cx="5581641" cy="1921665"/>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It has to be an </a:t>
            </a:r>
            <a:r>
              <a:rPr kumimoji="0" lang="en-GB" sz="1800" b="1" i="0" u="none" strike="noStrike" kern="1200" cap="none" spc="0" normalizeH="0" baseline="0" noProof="0" dirty="0">
                <a:ln>
                  <a:noFill/>
                </a:ln>
                <a:solidFill>
                  <a:sysClr val="windowText" lastClr="000000"/>
                </a:solidFill>
                <a:effectLst/>
                <a:uLnTx/>
                <a:uFillTx/>
                <a:latin typeface="Gotham Book"/>
                <a:ea typeface="+mn-ea"/>
                <a:cs typeface="+mn-cs"/>
              </a:rPr>
              <a:t>actual change </a:t>
            </a: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that wouldn’t have happened without your work. </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It’s about an </a:t>
            </a:r>
            <a:r>
              <a:rPr kumimoji="0" lang="en-GB" sz="1800" b="1" i="0" u="none" strike="noStrike" kern="1200" cap="none" spc="0" normalizeH="0" baseline="0" noProof="0" dirty="0">
                <a:ln>
                  <a:noFill/>
                </a:ln>
                <a:solidFill>
                  <a:sysClr val="windowText" lastClr="000000"/>
                </a:solidFill>
                <a:effectLst/>
                <a:uLnTx/>
                <a:uFillTx/>
                <a:latin typeface="Gotham Book"/>
                <a:ea typeface="+mn-ea"/>
                <a:cs typeface="+mn-cs"/>
              </a:rPr>
              <a:t>important change </a:t>
            </a: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to a person/people/community. </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It has to be a change that has some </a:t>
            </a:r>
            <a:r>
              <a:rPr kumimoji="0" lang="en-GB" sz="1800" b="1" i="0" u="none" strike="noStrike" kern="1200" cap="none" spc="0" normalizeH="0" baseline="0" noProof="0" dirty="0">
                <a:ln>
                  <a:noFill/>
                </a:ln>
                <a:solidFill>
                  <a:sysClr val="windowText" lastClr="000000"/>
                </a:solidFill>
                <a:effectLst/>
                <a:uLnTx/>
                <a:uFillTx/>
                <a:latin typeface="Gotham Book"/>
                <a:ea typeface="+mn-ea"/>
                <a:cs typeface="+mn-cs"/>
              </a:rPr>
              <a:t>‘staying power’</a:t>
            </a: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 it lasts beyond the interaction.</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endPar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endParaRPr>
          </a:p>
        </p:txBody>
      </p:sp>
      <p:pic>
        <p:nvPicPr>
          <p:cNvPr id="23" name="Picture 2" descr="Image result for british pound graphic">
            <a:extLst>
              <a:ext uri="{FF2B5EF4-FFF2-40B4-BE49-F238E27FC236}">
                <a16:creationId xmlns:a16="http://schemas.microsoft.com/office/drawing/2014/main" id="{2D4D550D-AA75-4239-B0AB-ACF9E96128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8074" y="4294279"/>
            <a:ext cx="630011" cy="630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387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path" presetSubtype="0" accel="50000" decel="50000" fill="hold" grpId="1" nodeType="clickEffect">
                                  <p:stCondLst>
                                    <p:cond delay="0"/>
                                  </p:stCondLst>
                                  <p:childTnLst>
                                    <p:animMotion origin="layout" path="M 3.75E-6 -7.40741E-7 L 0.00104 -0.25463 " pathEditMode="relative" rAng="0" ptsTypes="AA">
                                      <p:cBhvr>
                                        <p:cTn id="48" dur="2000" fill="hold"/>
                                        <p:tgtEl>
                                          <p:spTgt spid="18"/>
                                        </p:tgtEl>
                                        <p:attrNameLst>
                                          <p:attrName>ppt_x</p:attrName>
                                          <p:attrName>ppt_y</p:attrName>
                                        </p:attrNameLst>
                                      </p:cBhvr>
                                      <p:rCtr x="52" y="-12731"/>
                                    </p:animMotion>
                                  </p:childTnLst>
                                </p:cTn>
                              </p:par>
                              <p:par>
                                <p:cTn id="49" presetID="42" presetClass="path" presetSubtype="0" accel="50000" decel="50000" fill="hold" grpId="1" nodeType="withEffect">
                                  <p:stCondLst>
                                    <p:cond delay="0"/>
                                  </p:stCondLst>
                                  <p:childTnLst>
                                    <p:animMotion origin="layout" path="M -4.58333E-6 1.11022E-16 L -0.00598 -0.24421 " pathEditMode="relative" rAng="0" ptsTypes="AA">
                                      <p:cBhvr>
                                        <p:cTn id="50" dur="2000" fill="hold"/>
                                        <p:tgtEl>
                                          <p:spTgt spid="21"/>
                                        </p:tgtEl>
                                        <p:attrNameLst>
                                          <p:attrName>ppt_x</p:attrName>
                                          <p:attrName>ppt_y</p:attrName>
                                        </p:attrNameLst>
                                      </p:cBhvr>
                                      <p:rCtr x="-299" y="-12222"/>
                                    </p:animMotion>
                                  </p:childTnLst>
                                </p:cTn>
                              </p:par>
                              <p:par>
                                <p:cTn id="51" presetID="42" presetClass="path" presetSubtype="0" accel="50000" decel="50000" fill="hold" grpId="1" nodeType="withEffect">
                                  <p:stCondLst>
                                    <p:cond delay="0"/>
                                  </p:stCondLst>
                                  <p:childTnLst>
                                    <p:animMotion origin="layout" path="M 1.25E-6 -7.40741E-7 L -0.00156 -0.2375 " pathEditMode="relative" rAng="0" ptsTypes="AA">
                                      <p:cBhvr>
                                        <p:cTn id="52" dur="2000" fill="hold"/>
                                        <p:tgtEl>
                                          <p:spTgt spid="22"/>
                                        </p:tgtEl>
                                        <p:attrNameLst>
                                          <p:attrName>ppt_x</p:attrName>
                                          <p:attrName>ppt_y</p:attrName>
                                        </p:attrNameLst>
                                      </p:cBhvr>
                                      <p:rCtr x="0" y="-12245"/>
                                    </p:animMotion>
                                  </p:childTnLst>
                                </p:cTn>
                              </p:par>
                              <p:par>
                                <p:cTn id="53" presetID="42" presetClass="path" presetSubtype="0" accel="50000" decel="50000" fill="hold" grpId="1" nodeType="withEffect">
                                  <p:stCondLst>
                                    <p:cond delay="0"/>
                                  </p:stCondLst>
                                  <p:childTnLst>
                                    <p:animMotion origin="layout" path="M -4.16667E-6 -2.22222E-6 L -0.0039 -0.25185 " pathEditMode="relative" rAng="0" ptsTypes="AA">
                                      <p:cBhvr>
                                        <p:cTn id="54" dur="2000" fill="hold"/>
                                        <p:tgtEl>
                                          <p:spTgt spid="3"/>
                                        </p:tgtEl>
                                        <p:attrNameLst>
                                          <p:attrName>ppt_x</p:attrName>
                                          <p:attrName>ppt_y</p:attrName>
                                        </p:attrNameLst>
                                      </p:cBhvr>
                                      <p:rCtr x="-195" y="-12593"/>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2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0" grpId="1" animBg="1"/>
      <p:bldP spid="15" grpId="0"/>
      <p:bldP spid="15" grpId="1"/>
      <p:bldP spid="16" grpId="0" animBg="1"/>
      <p:bldP spid="16" grpId="1" animBg="1"/>
      <p:bldP spid="17" grpId="0"/>
      <p:bldP spid="17" grpId="1"/>
      <p:bldP spid="18" grpId="0" animBg="1"/>
      <p:bldP spid="18" grpId="1" animBg="1"/>
      <p:bldP spid="19" grpId="0"/>
      <p:bldP spid="19" grpId="1"/>
      <p:bldP spid="20" grpId="0"/>
      <p:bldP spid="20" grpId="1"/>
      <p:bldP spid="21" grpId="0"/>
      <p:bldP spid="21" grpId="1"/>
      <p:bldP spid="3" grpId="0" animBg="1"/>
      <p:bldP spid="3" grpId="1" animBg="1"/>
      <p:bldP spid="22" grpId="0" animBg="1"/>
      <p:bldP spid="22"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39E23A-7E1E-4A9E-80AA-540DF0059D75}"/>
              </a:ext>
            </a:extLst>
          </p:cNvPr>
          <p:cNvSpPr>
            <a:spLocks noGrp="1"/>
          </p:cNvSpPr>
          <p:nvPr>
            <p:ph type="body" sz="quarter" idx="13"/>
          </p:nvPr>
        </p:nvSpPr>
        <p:spPr>
          <a:xfrm>
            <a:off x="0" y="0"/>
            <a:ext cx="10644738" cy="663762"/>
          </a:xfrm>
        </p:spPr>
        <p:txBody>
          <a:bodyPr>
            <a:normAutofit lnSpcReduction="10000"/>
          </a:bodyPr>
          <a:lstStyle/>
          <a:p>
            <a:r>
              <a:rPr lang="en-GB" dirty="0"/>
              <a:t>Social Impact vs. Social Value </a:t>
            </a:r>
          </a:p>
        </p:txBody>
      </p:sp>
      <p:sp>
        <p:nvSpPr>
          <p:cNvPr id="3" name="TextBox 2">
            <a:extLst>
              <a:ext uri="{FF2B5EF4-FFF2-40B4-BE49-F238E27FC236}">
                <a16:creationId xmlns:a16="http://schemas.microsoft.com/office/drawing/2014/main" id="{5AE2E1B5-1CCA-4D5F-A557-745A1B8E8CE7}"/>
              </a:ext>
            </a:extLst>
          </p:cNvPr>
          <p:cNvSpPr txBox="1"/>
          <p:nvPr/>
        </p:nvSpPr>
        <p:spPr>
          <a:xfrm>
            <a:off x="7179997" y="147215"/>
            <a:ext cx="55816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In a nutshell…</a:t>
            </a:r>
          </a:p>
        </p:txBody>
      </p:sp>
      <p:sp>
        <p:nvSpPr>
          <p:cNvPr id="4" name="Rectangle: Rounded Corners 3">
            <a:extLst>
              <a:ext uri="{FF2B5EF4-FFF2-40B4-BE49-F238E27FC236}">
                <a16:creationId xmlns:a16="http://schemas.microsoft.com/office/drawing/2014/main" id="{00541ECA-18A4-48AE-96F8-E961DAD3467A}"/>
              </a:ext>
            </a:extLst>
          </p:cNvPr>
          <p:cNvSpPr/>
          <p:nvPr/>
        </p:nvSpPr>
        <p:spPr>
          <a:xfrm>
            <a:off x="9886277" y="2144101"/>
            <a:ext cx="2219268" cy="3245006"/>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Social value: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a framework to compare the economic and fiscal case of interventions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5" name="Rectangle: Rounded Corners 4">
            <a:extLst>
              <a:ext uri="{FF2B5EF4-FFF2-40B4-BE49-F238E27FC236}">
                <a16:creationId xmlns:a16="http://schemas.microsoft.com/office/drawing/2014/main" id="{03C7E5FD-00D5-43D8-A67E-27412A6B4C61}"/>
              </a:ext>
            </a:extLst>
          </p:cNvPr>
          <p:cNvSpPr/>
          <p:nvPr/>
        </p:nvSpPr>
        <p:spPr>
          <a:xfrm>
            <a:off x="43217" y="2144101"/>
            <a:ext cx="2216403" cy="32450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Social impact: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Focused on the change to the beneficiary.</a:t>
            </a:r>
          </a:p>
        </p:txBody>
      </p:sp>
      <p:sp>
        <p:nvSpPr>
          <p:cNvPr id="6" name="Left Brace 5">
            <a:extLst>
              <a:ext uri="{FF2B5EF4-FFF2-40B4-BE49-F238E27FC236}">
                <a16:creationId xmlns:a16="http://schemas.microsoft.com/office/drawing/2014/main" id="{D1920212-4CBA-4365-8B54-BD41FF7AC9E9}"/>
              </a:ext>
            </a:extLst>
          </p:cNvPr>
          <p:cNvSpPr/>
          <p:nvPr/>
        </p:nvSpPr>
        <p:spPr>
          <a:xfrm>
            <a:off x="2464988" y="906501"/>
            <a:ext cx="493891" cy="5755556"/>
          </a:xfrm>
          <a:prstGeom prst="leftBrace">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7" name="Rectangle: Rounded Corners 6">
            <a:extLst>
              <a:ext uri="{FF2B5EF4-FFF2-40B4-BE49-F238E27FC236}">
                <a16:creationId xmlns:a16="http://schemas.microsoft.com/office/drawing/2014/main" id="{EA5B2539-3829-4ABE-A5F4-7DB7239F7DA3}"/>
              </a:ext>
            </a:extLst>
          </p:cNvPr>
          <p:cNvSpPr/>
          <p:nvPr/>
        </p:nvSpPr>
        <p:spPr>
          <a:xfrm>
            <a:off x="3118145" y="1017310"/>
            <a:ext cx="2319452" cy="663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Social &amp; community impacts</a:t>
            </a:r>
          </a:p>
        </p:txBody>
      </p:sp>
      <p:sp>
        <p:nvSpPr>
          <p:cNvPr id="8" name="Rectangle: Rounded Corners 7">
            <a:extLst>
              <a:ext uri="{FF2B5EF4-FFF2-40B4-BE49-F238E27FC236}">
                <a16:creationId xmlns:a16="http://schemas.microsoft.com/office/drawing/2014/main" id="{4E655542-037D-41BB-A9DC-50357193A55D}"/>
              </a:ext>
            </a:extLst>
          </p:cNvPr>
          <p:cNvSpPr/>
          <p:nvPr/>
        </p:nvSpPr>
        <p:spPr>
          <a:xfrm>
            <a:off x="3118147" y="3535690"/>
            <a:ext cx="2319452" cy="663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Economic impacts</a:t>
            </a:r>
          </a:p>
        </p:txBody>
      </p:sp>
      <p:sp>
        <p:nvSpPr>
          <p:cNvPr id="9" name="Rectangle: Rounded Corners 8">
            <a:extLst>
              <a:ext uri="{FF2B5EF4-FFF2-40B4-BE49-F238E27FC236}">
                <a16:creationId xmlns:a16="http://schemas.microsoft.com/office/drawing/2014/main" id="{D8B139EA-80A3-422E-8671-B715336B87D3}"/>
              </a:ext>
            </a:extLst>
          </p:cNvPr>
          <p:cNvSpPr/>
          <p:nvPr/>
        </p:nvSpPr>
        <p:spPr>
          <a:xfrm>
            <a:off x="3118147" y="4352342"/>
            <a:ext cx="2319452" cy="663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Environmental impacts</a:t>
            </a:r>
          </a:p>
        </p:txBody>
      </p:sp>
      <p:sp>
        <p:nvSpPr>
          <p:cNvPr id="10" name="Rectangle: Rounded Corners 9">
            <a:extLst>
              <a:ext uri="{FF2B5EF4-FFF2-40B4-BE49-F238E27FC236}">
                <a16:creationId xmlns:a16="http://schemas.microsoft.com/office/drawing/2014/main" id="{714C62CD-5CAC-4FA1-83C0-D3A9D9E9F3BC}"/>
              </a:ext>
            </a:extLst>
          </p:cNvPr>
          <p:cNvSpPr/>
          <p:nvPr/>
        </p:nvSpPr>
        <p:spPr>
          <a:xfrm>
            <a:off x="3118147" y="5171005"/>
            <a:ext cx="2319452" cy="663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Political impacts</a:t>
            </a:r>
          </a:p>
        </p:txBody>
      </p:sp>
      <p:sp>
        <p:nvSpPr>
          <p:cNvPr id="11" name="Rectangle: Rounded Corners 10">
            <a:extLst>
              <a:ext uri="{FF2B5EF4-FFF2-40B4-BE49-F238E27FC236}">
                <a16:creationId xmlns:a16="http://schemas.microsoft.com/office/drawing/2014/main" id="{60AA3F95-9BE2-489E-9C96-122E60252347}"/>
              </a:ext>
            </a:extLst>
          </p:cNvPr>
          <p:cNvSpPr/>
          <p:nvPr/>
        </p:nvSpPr>
        <p:spPr>
          <a:xfrm>
            <a:off x="3118145" y="1886572"/>
            <a:ext cx="2319452" cy="663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Personal wellbeing impacts</a:t>
            </a:r>
          </a:p>
        </p:txBody>
      </p:sp>
      <p:sp>
        <p:nvSpPr>
          <p:cNvPr id="12" name="Rectangle: Rounded Corners 11">
            <a:extLst>
              <a:ext uri="{FF2B5EF4-FFF2-40B4-BE49-F238E27FC236}">
                <a16:creationId xmlns:a16="http://schemas.microsoft.com/office/drawing/2014/main" id="{999F0D42-A434-4835-B09E-66D87DDC87E8}"/>
              </a:ext>
            </a:extLst>
          </p:cNvPr>
          <p:cNvSpPr/>
          <p:nvPr/>
        </p:nvSpPr>
        <p:spPr>
          <a:xfrm>
            <a:off x="3118146" y="2717027"/>
            <a:ext cx="2319452" cy="663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Household dynamics</a:t>
            </a:r>
          </a:p>
        </p:txBody>
      </p:sp>
      <p:sp>
        <p:nvSpPr>
          <p:cNvPr id="13" name="Equals 12">
            <a:extLst>
              <a:ext uri="{FF2B5EF4-FFF2-40B4-BE49-F238E27FC236}">
                <a16:creationId xmlns:a16="http://schemas.microsoft.com/office/drawing/2014/main" id="{118D01F5-9B2D-4D60-92C9-D827D5606BF8}"/>
              </a:ext>
            </a:extLst>
          </p:cNvPr>
          <p:cNvSpPr/>
          <p:nvPr/>
        </p:nvSpPr>
        <p:spPr>
          <a:xfrm flipH="1">
            <a:off x="9287427" y="1216508"/>
            <a:ext cx="436031" cy="5044998"/>
          </a:xfrm>
          <a:prstGeom prst="mathEqual">
            <a:avLst>
              <a:gd name="adj1" fmla="val 863"/>
              <a:gd name="adj2" fmla="val 2194"/>
            </a:avLst>
          </a:prstGeom>
          <a:solidFill>
            <a:schemeClr val="tx1"/>
          </a:solidFill>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4" name="Left Brace 13">
            <a:extLst>
              <a:ext uri="{FF2B5EF4-FFF2-40B4-BE49-F238E27FC236}">
                <a16:creationId xmlns:a16="http://schemas.microsoft.com/office/drawing/2014/main" id="{7D036FC6-A197-4F46-9EB2-C7339CAB0B4F}"/>
              </a:ext>
            </a:extLst>
          </p:cNvPr>
          <p:cNvSpPr/>
          <p:nvPr/>
        </p:nvSpPr>
        <p:spPr>
          <a:xfrm flipH="1">
            <a:off x="5586741" y="906500"/>
            <a:ext cx="623139" cy="5755555"/>
          </a:xfrm>
          <a:prstGeom prst="leftBrace">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5" name="Rectangle: Rounded Corners 14">
            <a:extLst>
              <a:ext uri="{FF2B5EF4-FFF2-40B4-BE49-F238E27FC236}">
                <a16:creationId xmlns:a16="http://schemas.microsoft.com/office/drawing/2014/main" id="{8FD76835-AD05-42C0-8CA7-C6E3925901A6}"/>
              </a:ext>
            </a:extLst>
          </p:cNvPr>
          <p:cNvSpPr/>
          <p:nvPr/>
        </p:nvSpPr>
        <p:spPr>
          <a:xfrm>
            <a:off x="6536626" y="3036704"/>
            <a:ext cx="2671168" cy="1404606"/>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Value of economic benefit + social benefits in the community</a:t>
            </a:r>
          </a:p>
        </p:txBody>
      </p:sp>
      <p:sp>
        <p:nvSpPr>
          <p:cNvPr id="19" name="TextBox 18">
            <a:extLst>
              <a:ext uri="{FF2B5EF4-FFF2-40B4-BE49-F238E27FC236}">
                <a16:creationId xmlns:a16="http://schemas.microsoft.com/office/drawing/2014/main" id="{FBD0BDED-C324-4837-AD77-0C64ADE9A710}"/>
              </a:ext>
            </a:extLst>
          </p:cNvPr>
          <p:cNvSpPr txBox="1"/>
          <p:nvPr/>
        </p:nvSpPr>
        <p:spPr>
          <a:xfrm>
            <a:off x="7051186" y="948810"/>
            <a:ext cx="5054359" cy="369332"/>
          </a:xfrm>
          <a:prstGeom prst="rect">
            <a:avLst/>
          </a:prstGeom>
          <a:solidFill>
            <a:schemeClr val="bg2">
              <a:lumMod val="2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hlinkClick r:id="rId3"/>
              </a:rPr>
              <a:t>http://www.socialvalueuk.org/report-database</a:t>
            </a:r>
            <a:r>
              <a:rPr kumimoji="0" lang="en-GB" sz="1800" b="1" i="0" u="none" strike="noStrike" kern="1200" cap="none" spc="0" normalizeH="0" baseline="0" noProof="0" dirty="0">
                <a:ln>
                  <a:noFill/>
                </a:ln>
                <a:solidFill>
                  <a:srgbClr val="0070C0"/>
                </a:solidFill>
                <a:effectLst/>
                <a:uLnTx/>
                <a:uFillTx/>
                <a:latin typeface="Gotham Book"/>
                <a:ea typeface="+mn-ea"/>
                <a:cs typeface="+mn-cs"/>
                <a:hlinkClick r:id="rId3"/>
              </a:rPr>
              <a:t>/</a:t>
            </a:r>
            <a:r>
              <a:rPr kumimoji="0" lang="en-GB" sz="1800" b="1" i="0" u="none" strike="noStrike" kern="1200" cap="none" spc="0" normalizeH="0" baseline="0" noProof="0" dirty="0">
                <a:ln>
                  <a:noFill/>
                </a:ln>
                <a:solidFill>
                  <a:srgbClr val="0070C0"/>
                </a:solidFill>
                <a:effectLst/>
                <a:uLnTx/>
                <a:uFillTx/>
                <a:latin typeface="Gotham Book"/>
                <a:ea typeface="+mn-ea"/>
                <a:cs typeface="+mn-cs"/>
              </a:rPr>
              <a:t> </a:t>
            </a:r>
          </a:p>
        </p:txBody>
      </p:sp>
      <p:sp>
        <p:nvSpPr>
          <p:cNvPr id="17" name="Rectangle: Rounded Corners 16">
            <a:extLst>
              <a:ext uri="{FF2B5EF4-FFF2-40B4-BE49-F238E27FC236}">
                <a16:creationId xmlns:a16="http://schemas.microsoft.com/office/drawing/2014/main" id="{231A9684-CAF6-4A53-B5A7-33E85BB2C4D1}"/>
              </a:ext>
            </a:extLst>
          </p:cNvPr>
          <p:cNvSpPr/>
          <p:nvPr/>
        </p:nvSpPr>
        <p:spPr>
          <a:xfrm>
            <a:off x="3134233" y="6002317"/>
            <a:ext cx="2319452" cy="663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Health &amp; health systems</a:t>
            </a:r>
          </a:p>
        </p:txBody>
      </p:sp>
    </p:spTree>
    <p:extLst>
      <p:ext uri="{BB962C8B-B14F-4D97-AF65-F5344CB8AC3E}">
        <p14:creationId xmlns:p14="http://schemas.microsoft.com/office/powerpoint/2010/main" val="58574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9"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15A06-857D-4E20-A326-F69B5376D618}"/>
              </a:ext>
            </a:extLst>
          </p:cNvPr>
          <p:cNvSpPr>
            <a:spLocks noGrp="1"/>
          </p:cNvSpPr>
          <p:nvPr>
            <p:ph type="body" sz="quarter" idx="10"/>
          </p:nvPr>
        </p:nvSpPr>
        <p:spPr/>
        <p:txBody>
          <a:bodyPr>
            <a:normAutofit fontScale="55000" lnSpcReduction="20000"/>
          </a:bodyPr>
          <a:lstStyle/>
          <a:p>
            <a:r>
              <a:rPr lang="en-GB" b="1" dirty="0"/>
              <a:t>Session 2: </a:t>
            </a:r>
            <a:r>
              <a:rPr lang="en-GB" dirty="0"/>
              <a:t>Social Impact Management system: </a:t>
            </a:r>
          </a:p>
          <a:p>
            <a:r>
              <a:rPr lang="en-GB" i="1" dirty="0"/>
              <a:t>Stakeholder Mapping</a:t>
            </a:r>
          </a:p>
        </p:txBody>
      </p:sp>
    </p:spTree>
    <p:extLst>
      <p:ext uri="{BB962C8B-B14F-4D97-AF65-F5344CB8AC3E}">
        <p14:creationId xmlns:p14="http://schemas.microsoft.com/office/powerpoint/2010/main" val="3704847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114">
            <a:extLst>
              <a:ext uri="{FF2B5EF4-FFF2-40B4-BE49-F238E27FC236}">
                <a16:creationId xmlns:a16="http://schemas.microsoft.com/office/drawing/2014/main" id="{000810A0-4A10-4CED-89BD-225FCFC522C1}"/>
              </a:ext>
            </a:extLst>
          </p:cNvPr>
          <p:cNvGrpSpPr/>
          <p:nvPr/>
        </p:nvGrpSpPr>
        <p:grpSpPr>
          <a:xfrm>
            <a:off x="1877593" y="75264"/>
            <a:ext cx="9794491" cy="6178177"/>
            <a:chOff x="2438036" y="-42724"/>
            <a:chExt cx="9794491" cy="6178177"/>
          </a:xfrm>
        </p:grpSpPr>
        <p:sp>
          <p:nvSpPr>
            <p:cNvPr id="113" name="Rectangle: Rounded Corners 112">
              <a:extLst>
                <a:ext uri="{FF2B5EF4-FFF2-40B4-BE49-F238E27FC236}">
                  <a16:creationId xmlns:a16="http://schemas.microsoft.com/office/drawing/2014/main" id="{0FC68556-119B-4A24-9BC2-B15A411E8CE2}"/>
                </a:ext>
              </a:extLst>
            </p:cNvPr>
            <p:cNvSpPr/>
            <p:nvPr/>
          </p:nvSpPr>
          <p:spPr>
            <a:xfrm rot="1155032">
              <a:off x="2958711" y="2687319"/>
              <a:ext cx="6259165" cy="2504922"/>
            </a:xfrm>
            <a:prstGeom prst="round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12" name="Rectangle: Rounded Corners 111">
              <a:extLst>
                <a:ext uri="{FF2B5EF4-FFF2-40B4-BE49-F238E27FC236}">
                  <a16:creationId xmlns:a16="http://schemas.microsoft.com/office/drawing/2014/main" id="{ECB041FF-47EF-48CB-ADC0-F2CDB5A4D230}"/>
                </a:ext>
              </a:extLst>
            </p:cNvPr>
            <p:cNvSpPr/>
            <p:nvPr/>
          </p:nvSpPr>
          <p:spPr>
            <a:xfrm rot="20383317">
              <a:off x="3121645" y="933817"/>
              <a:ext cx="6190961" cy="2564842"/>
            </a:xfrm>
            <a:prstGeom prst="round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11" name="Oval 110">
              <a:extLst>
                <a:ext uri="{FF2B5EF4-FFF2-40B4-BE49-F238E27FC236}">
                  <a16:creationId xmlns:a16="http://schemas.microsoft.com/office/drawing/2014/main" id="{B88C38E9-2370-4862-A85C-D792365A68A9}"/>
                </a:ext>
              </a:extLst>
            </p:cNvPr>
            <p:cNvSpPr/>
            <p:nvPr/>
          </p:nvSpPr>
          <p:spPr>
            <a:xfrm>
              <a:off x="5988926" y="-42724"/>
              <a:ext cx="6243601" cy="6178177"/>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10" name="Oval 109">
              <a:extLst>
                <a:ext uri="{FF2B5EF4-FFF2-40B4-BE49-F238E27FC236}">
                  <a16:creationId xmlns:a16="http://schemas.microsoft.com/office/drawing/2014/main" id="{FD1851A0-7043-4A7F-91CE-7CF0FDFA5F75}"/>
                </a:ext>
              </a:extLst>
            </p:cNvPr>
            <p:cNvSpPr/>
            <p:nvPr/>
          </p:nvSpPr>
          <p:spPr>
            <a:xfrm>
              <a:off x="2438036" y="1806512"/>
              <a:ext cx="2967759" cy="2627938"/>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grpSp>
      <p:sp>
        <p:nvSpPr>
          <p:cNvPr id="2" name="Text Placeholder 1">
            <a:extLst>
              <a:ext uri="{FF2B5EF4-FFF2-40B4-BE49-F238E27FC236}">
                <a16:creationId xmlns:a16="http://schemas.microsoft.com/office/drawing/2014/main" id="{106C3AD1-82AF-455B-BD97-81BC4EDEC97D}"/>
              </a:ext>
            </a:extLst>
          </p:cNvPr>
          <p:cNvSpPr>
            <a:spLocks noGrp="1"/>
          </p:cNvSpPr>
          <p:nvPr>
            <p:ph type="body" sz="quarter" idx="13"/>
          </p:nvPr>
        </p:nvSpPr>
        <p:spPr>
          <a:xfrm>
            <a:off x="141250" y="91028"/>
            <a:ext cx="6011841" cy="605862"/>
          </a:xfrm>
          <a:ln>
            <a:noFill/>
          </a:ln>
        </p:spPr>
        <p:txBody>
          <a:bodyPr>
            <a:normAutofit fontScale="77500" lnSpcReduction="20000"/>
          </a:bodyPr>
          <a:lstStyle/>
          <a:p>
            <a:r>
              <a:rPr lang="en-GB" dirty="0"/>
              <a:t>Social Impact Management Cycle</a:t>
            </a:r>
          </a:p>
        </p:txBody>
      </p:sp>
      <p:grpSp>
        <p:nvGrpSpPr>
          <p:cNvPr id="56" name="Group 55">
            <a:extLst>
              <a:ext uri="{FF2B5EF4-FFF2-40B4-BE49-F238E27FC236}">
                <a16:creationId xmlns:a16="http://schemas.microsoft.com/office/drawing/2014/main" id="{0AC8F96B-943B-45F2-9029-88A58A186939}"/>
              </a:ext>
            </a:extLst>
          </p:cNvPr>
          <p:cNvGrpSpPr/>
          <p:nvPr/>
        </p:nvGrpSpPr>
        <p:grpSpPr>
          <a:xfrm rot="17697111">
            <a:off x="5340857" y="-14867"/>
            <a:ext cx="6215632" cy="6259163"/>
            <a:chOff x="5885468" y="-122761"/>
            <a:chExt cx="6215632" cy="6259163"/>
          </a:xfrm>
        </p:grpSpPr>
        <p:sp>
          <p:nvSpPr>
            <p:cNvPr id="57" name="Freeform: Shape 56">
              <a:extLst>
                <a:ext uri="{FF2B5EF4-FFF2-40B4-BE49-F238E27FC236}">
                  <a16:creationId xmlns:a16="http://schemas.microsoft.com/office/drawing/2014/main" id="{2B5FE096-DD98-49E3-8CC2-8BB3F8D5CF50}"/>
                </a:ext>
              </a:extLst>
            </p:cNvPr>
            <p:cNvSpPr/>
            <p:nvPr/>
          </p:nvSpPr>
          <p:spPr>
            <a:xfrm rot="3902889">
              <a:off x="10824508" y="1223840"/>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Problem Definition</a:t>
              </a:r>
            </a:p>
          </p:txBody>
        </p:sp>
        <p:sp>
          <p:nvSpPr>
            <p:cNvPr id="58" name="Arrow: Circular 57">
              <a:extLst>
                <a:ext uri="{FF2B5EF4-FFF2-40B4-BE49-F238E27FC236}">
                  <a16:creationId xmlns:a16="http://schemas.microsoft.com/office/drawing/2014/main" id="{2B6938A5-9A78-47C4-A130-19798CFFBA35}"/>
                </a:ext>
              </a:extLst>
            </p:cNvPr>
            <p:cNvSpPr/>
            <p:nvPr/>
          </p:nvSpPr>
          <p:spPr>
            <a:xfrm>
              <a:off x="6096447" y="90542"/>
              <a:ext cx="5793674" cy="5793674"/>
            </a:xfrm>
            <a:prstGeom prst="circularArrow">
              <a:avLst>
                <a:gd name="adj1" fmla="val 2940"/>
                <a:gd name="adj2" fmla="val 179900"/>
                <a:gd name="adj3" fmla="val 18937533"/>
                <a:gd name="adj4" fmla="val 18011997"/>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59" name="Freeform: Shape 58">
              <a:extLst>
                <a:ext uri="{FF2B5EF4-FFF2-40B4-BE49-F238E27FC236}">
                  <a16:creationId xmlns:a16="http://schemas.microsoft.com/office/drawing/2014/main" id="{830B18E5-2E4E-4D7D-9A10-A9D2D50989FE}"/>
                </a:ext>
              </a:extLst>
            </p:cNvPr>
            <p:cNvSpPr/>
            <p:nvPr/>
          </p:nvSpPr>
          <p:spPr>
            <a:xfrm rot="3902889">
              <a:off x="9386658" y="-67161"/>
              <a:ext cx="984567" cy="873367"/>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Stakeholder Identification</a:t>
              </a:r>
            </a:p>
          </p:txBody>
        </p:sp>
        <p:sp>
          <p:nvSpPr>
            <p:cNvPr id="60" name="Arrow: Circular 59">
              <a:extLst>
                <a:ext uri="{FF2B5EF4-FFF2-40B4-BE49-F238E27FC236}">
                  <a16:creationId xmlns:a16="http://schemas.microsoft.com/office/drawing/2014/main" id="{D1EE1693-F86C-45FE-8AB3-E21AB193867D}"/>
                </a:ext>
              </a:extLst>
            </p:cNvPr>
            <p:cNvSpPr/>
            <p:nvPr/>
          </p:nvSpPr>
          <p:spPr>
            <a:xfrm>
              <a:off x="6096447" y="90542"/>
              <a:ext cx="5793674" cy="5793674"/>
            </a:xfrm>
            <a:prstGeom prst="circularArrow">
              <a:avLst>
                <a:gd name="adj1" fmla="val 2940"/>
                <a:gd name="adj2" fmla="val 179900"/>
                <a:gd name="adj3" fmla="val 21463586"/>
                <a:gd name="adj4" fmla="val 20411039"/>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1" name="Freeform: Shape 60">
              <a:extLst>
                <a:ext uri="{FF2B5EF4-FFF2-40B4-BE49-F238E27FC236}">
                  <a16:creationId xmlns:a16="http://schemas.microsoft.com/office/drawing/2014/main" id="{684F84A7-D46A-4E54-99E9-39E69519F0B7}"/>
                </a:ext>
              </a:extLst>
            </p:cNvPr>
            <p:cNvSpPr/>
            <p:nvPr/>
          </p:nvSpPr>
          <p:spPr>
            <a:xfrm rot="3902889">
              <a:off x="11227732" y="3021688"/>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Impact Framework</a:t>
              </a:r>
            </a:p>
          </p:txBody>
        </p:sp>
        <p:sp>
          <p:nvSpPr>
            <p:cNvPr id="62" name="Arrow: Circular 61">
              <a:extLst>
                <a:ext uri="{FF2B5EF4-FFF2-40B4-BE49-F238E27FC236}">
                  <a16:creationId xmlns:a16="http://schemas.microsoft.com/office/drawing/2014/main" id="{54D14219-38B7-416F-8DB0-686A8EB6463F}"/>
                </a:ext>
              </a:extLst>
            </p:cNvPr>
            <p:cNvSpPr/>
            <p:nvPr/>
          </p:nvSpPr>
          <p:spPr>
            <a:xfrm>
              <a:off x="6096447" y="90542"/>
              <a:ext cx="5793674" cy="5793674"/>
            </a:xfrm>
            <a:prstGeom prst="circularArrow">
              <a:avLst>
                <a:gd name="adj1" fmla="val 2940"/>
                <a:gd name="adj2" fmla="val 179900"/>
                <a:gd name="adj3" fmla="val 2054027"/>
                <a:gd name="adj4" fmla="val 1173065"/>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3" name="Freeform: Shape 62">
              <a:extLst>
                <a:ext uri="{FF2B5EF4-FFF2-40B4-BE49-F238E27FC236}">
                  <a16:creationId xmlns:a16="http://schemas.microsoft.com/office/drawing/2014/main" id="{7C2FDF10-DCDA-48F7-A202-002871420DF7}"/>
                </a:ext>
              </a:extLst>
            </p:cNvPr>
            <p:cNvSpPr/>
            <p:nvPr/>
          </p:nvSpPr>
          <p:spPr>
            <a:xfrm rot="3902889">
              <a:off x="10300057" y="4628467"/>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KPIs </a:t>
              </a:r>
            </a:p>
          </p:txBody>
        </p:sp>
        <p:sp>
          <p:nvSpPr>
            <p:cNvPr id="64" name="Arrow: Circular 63">
              <a:extLst>
                <a:ext uri="{FF2B5EF4-FFF2-40B4-BE49-F238E27FC236}">
                  <a16:creationId xmlns:a16="http://schemas.microsoft.com/office/drawing/2014/main" id="{71BC7D7E-52CD-4BCE-8D38-E61426A2B4CB}"/>
                </a:ext>
              </a:extLst>
            </p:cNvPr>
            <p:cNvSpPr/>
            <p:nvPr/>
          </p:nvSpPr>
          <p:spPr>
            <a:xfrm>
              <a:off x="6096447" y="90542"/>
              <a:ext cx="5793674" cy="5793674"/>
            </a:xfrm>
            <a:prstGeom prst="circularArrow">
              <a:avLst>
                <a:gd name="adj1" fmla="val 2940"/>
                <a:gd name="adj2" fmla="val 179900"/>
                <a:gd name="adj3" fmla="val 4664207"/>
                <a:gd name="adj4" fmla="val 3671863"/>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5" name="Freeform: Shape 64">
              <a:extLst>
                <a:ext uri="{FF2B5EF4-FFF2-40B4-BE49-F238E27FC236}">
                  <a16:creationId xmlns:a16="http://schemas.microsoft.com/office/drawing/2014/main" id="{D9F0CF3A-1961-4147-B931-E4AF532D0B5F}"/>
                </a:ext>
              </a:extLst>
            </p:cNvPr>
            <p:cNvSpPr/>
            <p:nvPr/>
          </p:nvSpPr>
          <p:spPr>
            <a:xfrm rot="3902889">
              <a:off x="8556600" y="5263034"/>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Choosing Approaches &amp; Tools</a:t>
              </a:r>
            </a:p>
          </p:txBody>
        </p:sp>
        <p:sp>
          <p:nvSpPr>
            <p:cNvPr id="66" name="Arrow: Circular 65">
              <a:extLst>
                <a:ext uri="{FF2B5EF4-FFF2-40B4-BE49-F238E27FC236}">
                  <a16:creationId xmlns:a16="http://schemas.microsoft.com/office/drawing/2014/main" id="{9CAFB3A2-85C4-48B7-ADBA-EF490032CFDA}"/>
                </a:ext>
              </a:extLst>
            </p:cNvPr>
            <p:cNvSpPr/>
            <p:nvPr/>
          </p:nvSpPr>
          <p:spPr>
            <a:xfrm>
              <a:off x="6096447" y="90542"/>
              <a:ext cx="5793674" cy="5793674"/>
            </a:xfrm>
            <a:prstGeom prst="circularArrow">
              <a:avLst>
                <a:gd name="adj1" fmla="val 2940"/>
                <a:gd name="adj2" fmla="val 179900"/>
                <a:gd name="adj3" fmla="val 6948237"/>
                <a:gd name="adj4" fmla="val 5955894"/>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7" name="Freeform: Shape 66">
              <a:extLst>
                <a:ext uri="{FF2B5EF4-FFF2-40B4-BE49-F238E27FC236}">
                  <a16:creationId xmlns:a16="http://schemas.microsoft.com/office/drawing/2014/main" id="{70CF4E6C-906C-4B6C-8E70-FCC0BCD3A7EA}"/>
                </a:ext>
              </a:extLst>
            </p:cNvPr>
            <p:cNvSpPr/>
            <p:nvPr/>
          </p:nvSpPr>
          <p:spPr>
            <a:xfrm rot="3902889">
              <a:off x="6813143" y="4628467"/>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Data Collection</a:t>
              </a:r>
            </a:p>
          </p:txBody>
        </p:sp>
        <p:sp>
          <p:nvSpPr>
            <p:cNvPr id="68" name="Arrow: Circular 67">
              <a:extLst>
                <a:ext uri="{FF2B5EF4-FFF2-40B4-BE49-F238E27FC236}">
                  <a16:creationId xmlns:a16="http://schemas.microsoft.com/office/drawing/2014/main" id="{E4CF1F48-2E53-4A82-9F08-B9151A4455E8}"/>
                </a:ext>
              </a:extLst>
            </p:cNvPr>
            <p:cNvSpPr/>
            <p:nvPr/>
          </p:nvSpPr>
          <p:spPr>
            <a:xfrm>
              <a:off x="6096447" y="90542"/>
              <a:ext cx="5793674" cy="5793674"/>
            </a:xfrm>
            <a:prstGeom prst="circularArrow">
              <a:avLst>
                <a:gd name="adj1" fmla="val 2940"/>
                <a:gd name="adj2" fmla="val 179900"/>
                <a:gd name="adj3" fmla="val 9447035"/>
                <a:gd name="adj4" fmla="val 8566074"/>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9" name="Freeform: Shape 68">
              <a:extLst>
                <a:ext uri="{FF2B5EF4-FFF2-40B4-BE49-F238E27FC236}">
                  <a16:creationId xmlns:a16="http://schemas.microsoft.com/office/drawing/2014/main" id="{CBDE1510-449B-4B7E-A1ED-AF59BBF6A654}"/>
                </a:ext>
              </a:extLst>
            </p:cNvPr>
            <p:cNvSpPr/>
            <p:nvPr/>
          </p:nvSpPr>
          <p:spPr>
            <a:xfrm rot="3902889">
              <a:off x="5885468" y="3021688"/>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Analysis &amp; Insights</a:t>
              </a:r>
            </a:p>
          </p:txBody>
        </p:sp>
        <p:sp>
          <p:nvSpPr>
            <p:cNvPr id="70" name="Arrow: Circular 69">
              <a:extLst>
                <a:ext uri="{FF2B5EF4-FFF2-40B4-BE49-F238E27FC236}">
                  <a16:creationId xmlns:a16="http://schemas.microsoft.com/office/drawing/2014/main" id="{490D0009-DCFE-4CD3-A121-D24D5DB06E2F}"/>
                </a:ext>
              </a:extLst>
            </p:cNvPr>
            <p:cNvSpPr/>
            <p:nvPr/>
          </p:nvSpPr>
          <p:spPr>
            <a:xfrm>
              <a:off x="6096447" y="90542"/>
              <a:ext cx="5793674" cy="5793674"/>
            </a:xfrm>
            <a:prstGeom prst="circularArrow">
              <a:avLst>
                <a:gd name="adj1" fmla="val 2940"/>
                <a:gd name="adj2" fmla="val 179900"/>
                <a:gd name="adj3" fmla="val 11809061"/>
                <a:gd name="adj4" fmla="val 10756515"/>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1" name="Freeform: Shape 70">
              <a:extLst>
                <a:ext uri="{FF2B5EF4-FFF2-40B4-BE49-F238E27FC236}">
                  <a16:creationId xmlns:a16="http://schemas.microsoft.com/office/drawing/2014/main" id="{C31F3C77-C823-4228-BDE8-0C503363B907}"/>
                </a:ext>
              </a:extLst>
            </p:cNvPr>
            <p:cNvSpPr/>
            <p:nvPr/>
          </p:nvSpPr>
          <p:spPr>
            <a:xfrm rot="3902889">
              <a:off x="6207647" y="1194526"/>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Learning</a:t>
              </a:r>
            </a:p>
          </p:txBody>
        </p:sp>
        <p:sp>
          <p:nvSpPr>
            <p:cNvPr id="72" name="Arrow: Circular 71">
              <a:extLst>
                <a:ext uri="{FF2B5EF4-FFF2-40B4-BE49-F238E27FC236}">
                  <a16:creationId xmlns:a16="http://schemas.microsoft.com/office/drawing/2014/main" id="{81371CED-B2EE-4F4D-B3F7-0C99B43CFBC3}"/>
                </a:ext>
              </a:extLst>
            </p:cNvPr>
            <p:cNvSpPr/>
            <p:nvPr/>
          </p:nvSpPr>
          <p:spPr>
            <a:xfrm>
              <a:off x="6096447" y="90542"/>
              <a:ext cx="5793674" cy="5793674"/>
            </a:xfrm>
            <a:prstGeom prst="circularArrow">
              <a:avLst>
                <a:gd name="adj1" fmla="val 2940"/>
                <a:gd name="adj2" fmla="val 179900"/>
                <a:gd name="adj3" fmla="val 14208103"/>
                <a:gd name="adj4" fmla="val 13282567"/>
                <a:gd name="adj5" fmla="val 3429"/>
              </a:avLst>
            </a:pr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3" name="Freeform: Shape 72">
              <a:extLst>
                <a:ext uri="{FF2B5EF4-FFF2-40B4-BE49-F238E27FC236}">
                  <a16:creationId xmlns:a16="http://schemas.microsoft.com/office/drawing/2014/main" id="{4971B152-3243-4CC3-9797-785CB00F2D10}"/>
                </a:ext>
              </a:extLst>
            </p:cNvPr>
            <p:cNvSpPr/>
            <p:nvPr/>
          </p:nvSpPr>
          <p:spPr>
            <a:xfrm rot="3902889">
              <a:off x="7518941" y="-113694"/>
              <a:ext cx="963109" cy="1192595"/>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err="1">
                  <a:ln>
                    <a:noFill/>
                  </a:ln>
                  <a:solidFill>
                    <a:srgbClr val="636363">
                      <a:hueOff val="0"/>
                      <a:satOff val="0"/>
                      <a:lumOff val="0"/>
                      <a:alphaOff val="0"/>
                    </a:srgbClr>
                  </a:solidFill>
                  <a:effectLst/>
                  <a:uLnTx/>
                  <a:uFillTx/>
                  <a:latin typeface="Gotham Book"/>
                  <a:ea typeface="+mn-ea"/>
                  <a:cs typeface="+mn-cs"/>
                </a:rPr>
                <a:t>Comms</a:t>
              </a: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 </a:t>
              </a:r>
            </a:p>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a:t>
              </a:r>
              <a:r>
                <a:rPr kumimoji="0" lang="en-GB" sz="1200" b="1" i="0" u="none" strike="noStrike" kern="1200" cap="none" spc="0" normalizeH="0" baseline="0" noProof="0" dirty="0" err="1">
                  <a:ln>
                    <a:noFill/>
                  </a:ln>
                  <a:solidFill>
                    <a:srgbClr val="636363">
                      <a:hueOff val="0"/>
                      <a:satOff val="0"/>
                      <a:lumOff val="0"/>
                      <a:alphaOff val="0"/>
                    </a:srgbClr>
                  </a:solidFill>
                  <a:effectLst/>
                  <a:uLnTx/>
                  <a:uFillTx/>
                  <a:latin typeface="Gotham Book"/>
                  <a:ea typeface="+mn-ea"/>
                  <a:cs typeface="+mn-cs"/>
                </a:rPr>
                <a:t>int</a:t>
              </a: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 &amp; </a:t>
              </a:r>
              <a:r>
                <a:rPr kumimoji="0" lang="en-GB" sz="1200" b="1" i="0" u="none" strike="noStrike" kern="1200" cap="none" spc="0" normalizeH="0" baseline="0" noProof="0" dirty="0" err="1">
                  <a:ln>
                    <a:noFill/>
                  </a:ln>
                  <a:solidFill>
                    <a:srgbClr val="636363">
                      <a:hueOff val="0"/>
                      <a:satOff val="0"/>
                      <a:lumOff val="0"/>
                      <a:alphaOff val="0"/>
                    </a:srgbClr>
                  </a:solidFill>
                  <a:effectLst/>
                  <a:uLnTx/>
                  <a:uFillTx/>
                  <a:latin typeface="Gotham Book"/>
                  <a:ea typeface="+mn-ea"/>
                  <a:cs typeface="+mn-cs"/>
                </a:rPr>
                <a:t>ext</a:t>
              </a: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a:t>
              </a:r>
            </a:p>
          </p:txBody>
        </p:sp>
        <p:sp>
          <p:nvSpPr>
            <p:cNvPr id="74" name="Arrow: Circular 73">
              <a:extLst>
                <a:ext uri="{FF2B5EF4-FFF2-40B4-BE49-F238E27FC236}">
                  <a16:creationId xmlns:a16="http://schemas.microsoft.com/office/drawing/2014/main" id="{0DB0E987-C5C5-43EE-9C0F-88CEE8CDE4DB}"/>
                </a:ext>
              </a:extLst>
            </p:cNvPr>
            <p:cNvSpPr/>
            <p:nvPr/>
          </p:nvSpPr>
          <p:spPr>
            <a:xfrm>
              <a:off x="6096447" y="90542"/>
              <a:ext cx="5793674" cy="5793674"/>
            </a:xfrm>
            <a:prstGeom prst="circularArrow">
              <a:avLst>
                <a:gd name="adj1" fmla="val 2940"/>
                <a:gd name="adj2" fmla="val 179900"/>
                <a:gd name="adj3" fmla="val 16645855"/>
                <a:gd name="adj4" fmla="val 15574246"/>
                <a:gd name="adj5" fmla="val 3429"/>
              </a:avLst>
            </a:pr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sp>
        <p:nvSpPr>
          <p:cNvPr id="76" name="Block Arc 75">
            <a:extLst>
              <a:ext uri="{FF2B5EF4-FFF2-40B4-BE49-F238E27FC236}">
                <a16:creationId xmlns:a16="http://schemas.microsoft.com/office/drawing/2014/main" id="{6DDEF3FE-5ACF-41C9-AD6C-D4837D38CF3E}"/>
              </a:ext>
            </a:extLst>
          </p:cNvPr>
          <p:cNvSpPr/>
          <p:nvPr/>
        </p:nvSpPr>
        <p:spPr>
          <a:xfrm rot="20495650">
            <a:off x="5986367" y="890273"/>
            <a:ext cx="4745245" cy="4539528"/>
          </a:xfrm>
          <a:prstGeom prst="blockArc">
            <a:avLst>
              <a:gd name="adj1" fmla="val 14307505"/>
              <a:gd name="adj2" fmla="val 729615"/>
              <a:gd name="adj3" fmla="val 58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77" name="Block Arc 76">
            <a:extLst>
              <a:ext uri="{FF2B5EF4-FFF2-40B4-BE49-F238E27FC236}">
                <a16:creationId xmlns:a16="http://schemas.microsoft.com/office/drawing/2014/main" id="{F800A673-2C32-47FA-8175-EA11C30CE685}"/>
              </a:ext>
            </a:extLst>
          </p:cNvPr>
          <p:cNvSpPr/>
          <p:nvPr/>
        </p:nvSpPr>
        <p:spPr>
          <a:xfrm rot="8538096">
            <a:off x="6339317" y="1081459"/>
            <a:ext cx="4367639" cy="4336055"/>
          </a:xfrm>
          <a:prstGeom prst="blockArc">
            <a:avLst>
              <a:gd name="adj1" fmla="val 12837860"/>
              <a:gd name="adj2" fmla="val 20882524"/>
              <a:gd name="adj3" fmla="val 577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78" name="Block Arc 77">
            <a:extLst>
              <a:ext uri="{FF2B5EF4-FFF2-40B4-BE49-F238E27FC236}">
                <a16:creationId xmlns:a16="http://schemas.microsoft.com/office/drawing/2014/main" id="{0690729D-34DF-4D47-B5BF-3DC77AA807C5}"/>
              </a:ext>
            </a:extLst>
          </p:cNvPr>
          <p:cNvSpPr/>
          <p:nvPr/>
        </p:nvSpPr>
        <p:spPr>
          <a:xfrm rot="16976356">
            <a:off x="6256884" y="774878"/>
            <a:ext cx="4490510" cy="4765022"/>
          </a:xfrm>
          <a:prstGeom prst="blockArc">
            <a:avLst>
              <a:gd name="adj1" fmla="val 12837860"/>
              <a:gd name="adj2" fmla="val 17482697"/>
              <a:gd name="adj3" fmla="val 576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79" name="Oval 78">
            <a:extLst>
              <a:ext uri="{FF2B5EF4-FFF2-40B4-BE49-F238E27FC236}">
                <a16:creationId xmlns:a16="http://schemas.microsoft.com/office/drawing/2014/main" id="{95BBB272-EAAC-4F1D-B37F-488248B18740}"/>
              </a:ext>
            </a:extLst>
          </p:cNvPr>
          <p:cNvSpPr/>
          <p:nvPr/>
        </p:nvSpPr>
        <p:spPr>
          <a:xfrm>
            <a:off x="6976515" y="1672832"/>
            <a:ext cx="2909062" cy="2879606"/>
          </a:xfrm>
          <a:prstGeom prst="ellipse">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829AA4">
                    <a:lumMod val="75000"/>
                  </a:srgbClr>
                </a:solidFill>
                <a:effectLst/>
                <a:uLnTx/>
                <a:uFillTx/>
                <a:latin typeface="Gotham Book"/>
                <a:ea typeface="+mn-ea"/>
                <a:cs typeface="+mn-cs"/>
              </a:rPr>
              <a:t>Social Impact Management Cycle</a:t>
            </a:r>
          </a:p>
        </p:txBody>
      </p:sp>
      <p:sp>
        <p:nvSpPr>
          <p:cNvPr id="80" name="Rectangle: Rounded Corners 79">
            <a:extLst>
              <a:ext uri="{FF2B5EF4-FFF2-40B4-BE49-F238E27FC236}">
                <a16:creationId xmlns:a16="http://schemas.microsoft.com/office/drawing/2014/main" id="{D057672F-54F6-41B8-9175-22B60FA61E5E}"/>
              </a:ext>
            </a:extLst>
          </p:cNvPr>
          <p:cNvSpPr/>
          <p:nvPr/>
        </p:nvSpPr>
        <p:spPr>
          <a:xfrm>
            <a:off x="83027" y="5744198"/>
            <a:ext cx="1662953" cy="438150"/>
          </a:xfrm>
          <a:prstGeom prst="round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Design</a:t>
            </a:r>
          </a:p>
        </p:txBody>
      </p:sp>
      <p:sp>
        <p:nvSpPr>
          <p:cNvPr id="81" name="Rectangle: Rounded Corners 80">
            <a:extLst>
              <a:ext uri="{FF2B5EF4-FFF2-40B4-BE49-F238E27FC236}">
                <a16:creationId xmlns:a16="http://schemas.microsoft.com/office/drawing/2014/main" id="{DECD62C7-C8C6-483D-971F-327CCDA798F5}"/>
              </a:ext>
            </a:extLst>
          </p:cNvPr>
          <p:cNvSpPr/>
          <p:nvPr/>
        </p:nvSpPr>
        <p:spPr>
          <a:xfrm>
            <a:off x="1908136" y="5744198"/>
            <a:ext cx="1662953" cy="438150"/>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Do</a:t>
            </a:r>
          </a:p>
        </p:txBody>
      </p:sp>
      <p:sp>
        <p:nvSpPr>
          <p:cNvPr id="82" name="Rectangle: Rounded Corners 81">
            <a:extLst>
              <a:ext uri="{FF2B5EF4-FFF2-40B4-BE49-F238E27FC236}">
                <a16:creationId xmlns:a16="http://schemas.microsoft.com/office/drawing/2014/main" id="{3CAB09EF-0913-45DC-8C08-1CDAC4334211}"/>
              </a:ext>
            </a:extLst>
          </p:cNvPr>
          <p:cNvSpPr/>
          <p:nvPr/>
        </p:nvSpPr>
        <p:spPr>
          <a:xfrm>
            <a:off x="3733245" y="5744198"/>
            <a:ext cx="1693067" cy="438150"/>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Learn &amp; Share</a:t>
            </a:r>
          </a:p>
        </p:txBody>
      </p:sp>
      <p:sp>
        <p:nvSpPr>
          <p:cNvPr id="83" name="Oval 82">
            <a:extLst>
              <a:ext uri="{FF2B5EF4-FFF2-40B4-BE49-F238E27FC236}">
                <a16:creationId xmlns:a16="http://schemas.microsoft.com/office/drawing/2014/main" id="{79BB5309-2219-4A1E-87ED-72FC2A010795}"/>
              </a:ext>
            </a:extLst>
          </p:cNvPr>
          <p:cNvSpPr/>
          <p:nvPr/>
        </p:nvSpPr>
        <p:spPr>
          <a:xfrm>
            <a:off x="2051086" y="2131360"/>
            <a:ext cx="2298367" cy="2087439"/>
          </a:xfrm>
          <a:prstGeom prst="ellipse">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829AA4">
                    <a:lumMod val="75000"/>
                  </a:srgbClr>
                </a:solidFill>
                <a:effectLst/>
                <a:uLnTx/>
                <a:uFillTx/>
                <a:latin typeface="Gotham Book"/>
                <a:ea typeface="+mn-ea"/>
                <a:cs typeface="+mn-cs"/>
              </a:rPr>
              <a:t>Core Business Activities &amp; Strategy </a:t>
            </a:r>
            <a:r>
              <a:rPr kumimoji="0" lang="en-GB" sz="1400" b="0" i="0" u="none" strike="noStrike" kern="1200" cap="none" spc="0" normalizeH="0" baseline="0" noProof="0" dirty="0">
                <a:ln>
                  <a:noFill/>
                </a:ln>
                <a:solidFill>
                  <a:srgbClr val="829AA4">
                    <a:lumMod val="75000"/>
                  </a:srgbClr>
                </a:solidFill>
                <a:effectLst/>
                <a:uLnTx/>
                <a:uFillTx/>
                <a:latin typeface="Gotham Book"/>
                <a:ea typeface="+mn-ea"/>
                <a:cs typeface="+mn-cs"/>
              </a:rPr>
              <a:t>(e.g. investment, sales, marketing, training etc.)</a:t>
            </a:r>
          </a:p>
        </p:txBody>
      </p:sp>
      <p:sp>
        <p:nvSpPr>
          <p:cNvPr id="108" name="Arrow: Left 107">
            <a:extLst>
              <a:ext uri="{FF2B5EF4-FFF2-40B4-BE49-F238E27FC236}">
                <a16:creationId xmlns:a16="http://schemas.microsoft.com/office/drawing/2014/main" id="{FCD9E9AE-1F43-4A54-8130-C066E393C1D6}"/>
              </a:ext>
            </a:extLst>
          </p:cNvPr>
          <p:cNvSpPr/>
          <p:nvPr/>
        </p:nvSpPr>
        <p:spPr>
          <a:xfrm rot="1180788">
            <a:off x="3803817" y="4458403"/>
            <a:ext cx="2214447" cy="49931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09" name="Arrow: Left 108">
            <a:extLst>
              <a:ext uri="{FF2B5EF4-FFF2-40B4-BE49-F238E27FC236}">
                <a16:creationId xmlns:a16="http://schemas.microsoft.com/office/drawing/2014/main" id="{3686C534-7B55-4976-BF94-65379A714240}"/>
              </a:ext>
            </a:extLst>
          </p:cNvPr>
          <p:cNvSpPr/>
          <p:nvPr/>
        </p:nvSpPr>
        <p:spPr>
          <a:xfrm rot="20470368" flipH="1">
            <a:off x="3686159" y="1341722"/>
            <a:ext cx="2125772" cy="49931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38" name="Arrow: Circular 37">
            <a:extLst>
              <a:ext uri="{FF2B5EF4-FFF2-40B4-BE49-F238E27FC236}">
                <a16:creationId xmlns:a16="http://schemas.microsoft.com/office/drawing/2014/main" id="{03BD2D31-08CB-45DD-B3F8-426847B20B43}"/>
              </a:ext>
            </a:extLst>
          </p:cNvPr>
          <p:cNvSpPr/>
          <p:nvPr/>
        </p:nvSpPr>
        <p:spPr>
          <a:xfrm rot="4414517" flipV="1">
            <a:off x="7556702" y="-4894866"/>
            <a:ext cx="5793674" cy="5793674"/>
          </a:xfrm>
          <a:prstGeom prst="circularArrow">
            <a:avLst>
              <a:gd name="adj1" fmla="val 2940"/>
              <a:gd name="adj2" fmla="val 179900"/>
              <a:gd name="adj3" fmla="val 21463586"/>
              <a:gd name="adj4" fmla="val 20411039"/>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9" name="Freeform: Shape 38">
            <a:extLst>
              <a:ext uri="{FF2B5EF4-FFF2-40B4-BE49-F238E27FC236}">
                <a16:creationId xmlns:a16="http://schemas.microsoft.com/office/drawing/2014/main" id="{7210D798-8358-4CAE-A532-45F57513E473}"/>
              </a:ext>
            </a:extLst>
          </p:cNvPr>
          <p:cNvSpPr/>
          <p:nvPr/>
        </p:nvSpPr>
        <p:spPr>
          <a:xfrm>
            <a:off x="11224810" y="202013"/>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Value</a:t>
            </a:r>
          </a:p>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Proposition</a:t>
            </a:r>
          </a:p>
        </p:txBody>
      </p:sp>
      <p:sp>
        <p:nvSpPr>
          <p:cNvPr id="40" name="Arrow: Circular 39">
            <a:extLst>
              <a:ext uri="{FF2B5EF4-FFF2-40B4-BE49-F238E27FC236}">
                <a16:creationId xmlns:a16="http://schemas.microsoft.com/office/drawing/2014/main" id="{F5A3604E-455A-4ACB-927F-FEC2969C8178}"/>
              </a:ext>
            </a:extLst>
          </p:cNvPr>
          <p:cNvSpPr/>
          <p:nvPr/>
        </p:nvSpPr>
        <p:spPr>
          <a:xfrm rot="10800000" flipV="1">
            <a:off x="11068658" y="-905688"/>
            <a:ext cx="5793674" cy="5793674"/>
          </a:xfrm>
          <a:prstGeom prst="circularArrow">
            <a:avLst>
              <a:gd name="adj1" fmla="val 2940"/>
              <a:gd name="adj2" fmla="val 179900"/>
              <a:gd name="adj3" fmla="val 21463586"/>
              <a:gd name="adj4" fmla="val 20411039"/>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2455422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EA2E2-5B09-4F99-99D9-7FC29657A3D7}"/>
              </a:ext>
            </a:extLst>
          </p:cNvPr>
          <p:cNvSpPr>
            <a:spLocks noGrp="1"/>
          </p:cNvSpPr>
          <p:nvPr>
            <p:ph type="title"/>
          </p:nvPr>
        </p:nvSpPr>
        <p:spPr>
          <a:xfrm>
            <a:off x="190561" y="165683"/>
            <a:ext cx="10515600" cy="835803"/>
          </a:xfrm>
        </p:spPr>
        <p:txBody>
          <a:bodyPr/>
          <a:lstStyle/>
          <a:p>
            <a:r>
              <a:rPr lang="en-GB" dirty="0"/>
              <a:t>Mapping key stakeholders </a:t>
            </a:r>
          </a:p>
        </p:txBody>
      </p:sp>
      <p:sp>
        <p:nvSpPr>
          <p:cNvPr id="17" name="TextBox 16">
            <a:extLst>
              <a:ext uri="{FF2B5EF4-FFF2-40B4-BE49-F238E27FC236}">
                <a16:creationId xmlns:a16="http://schemas.microsoft.com/office/drawing/2014/main" id="{E6B61D1C-4D69-4407-ACC3-E1A29737C8AD}"/>
              </a:ext>
            </a:extLst>
          </p:cNvPr>
          <p:cNvSpPr txBox="1"/>
          <p:nvPr/>
        </p:nvSpPr>
        <p:spPr>
          <a:xfrm>
            <a:off x="18676038" y="6955085"/>
            <a:ext cx="181972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Interest</a:t>
            </a:r>
          </a:p>
        </p:txBody>
      </p:sp>
      <p:sp>
        <p:nvSpPr>
          <p:cNvPr id="27" name="Rectangle: Rounded Corners 26">
            <a:extLst>
              <a:ext uri="{FF2B5EF4-FFF2-40B4-BE49-F238E27FC236}">
                <a16:creationId xmlns:a16="http://schemas.microsoft.com/office/drawing/2014/main" id="{119E7A1A-4B48-49BA-82D7-B35A914FCA65}"/>
              </a:ext>
            </a:extLst>
          </p:cNvPr>
          <p:cNvSpPr/>
          <p:nvPr/>
        </p:nvSpPr>
        <p:spPr>
          <a:xfrm>
            <a:off x="4753434" y="1631304"/>
            <a:ext cx="2685131" cy="2336529"/>
          </a:xfrm>
          <a:prstGeom prst="roundRect">
            <a:avLst/>
          </a:prstGeom>
          <a:solidFill>
            <a:schemeClr val="accent1">
              <a:alpha val="39000"/>
            </a:schemeClr>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636363">
                    <a:lumMod val="75000"/>
                  </a:srgbClr>
                </a:solidFill>
                <a:effectLst/>
                <a:uLnTx/>
                <a:uFillTx/>
                <a:latin typeface="Gotham Book"/>
                <a:ea typeface="+mn-ea"/>
                <a:cs typeface="+mn-cs"/>
              </a:rPr>
              <a:t>Who Benefits</a:t>
            </a:r>
          </a:p>
        </p:txBody>
      </p:sp>
      <p:sp>
        <p:nvSpPr>
          <p:cNvPr id="28" name="Rectangle: Rounded Corners 27">
            <a:extLst>
              <a:ext uri="{FF2B5EF4-FFF2-40B4-BE49-F238E27FC236}">
                <a16:creationId xmlns:a16="http://schemas.microsoft.com/office/drawing/2014/main" id="{64B722BD-795E-468F-9832-57F318811F07}"/>
              </a:ext>
            </a:extLst>
          </p:cNvPr>
          <p:cNvSpPr/>
          <p:nvPr/>
        </p:nvSpPr>
        <p:spPr>
          <a:xfrm>
            <a:off x="429422" y="1631304"/>
            <a:ext cx="2685131" cy="2336529"/>
          </a:xfrm>
          <a:prstGeom prst="roundRect">
            <a:avLst/>
          </a:prstGeom>
          <a:solidFill>
            <a:schemeClr val="accent1">
              <a:alpha val="39000"/>
            </a:schemeClr>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636363">
                    <a:lumMod val="75000"/>
                  </a:srgbClr>
                </a:solidFill>
                <a:effectLst/>
                <a:uLnTx/>
                <a:uFillTx/>
                <a:latin typeface="Gotham Book"/>
                <a:ea typeface="+mn-ea"/>
                <a:cs typeface="+mn-cs"/>
              </a:rPr>
              <a:t>Who Pays</a:t>
            </a:r>
          </a:p>
        </p:txBody>
      </p:sp>
      <p:sp>
        <p:nvSpPr>
          <p:cNvPr id="29" name="Rectangle: Rounded Corners 28">
            <a:extLst>
              <a:ext uri="{FF2B5EF4-FFF2-40B4-BE49-F238E27FC236}">
                <a16:creationId xmlns:a16="http://schemas.microsoft.com/office/drawing/2014/main" id="{12B9FF04-0537-4A70-8B75-D58A50090F7E}"/>
              </a:ext>
            </a:extLst>
          </p:cNvPr>
          <p:cNvSpPr/>
          <p:nvPr/>
        </p:nvSpPr>
        <p:spPr>
          <a:xfrm>
            <a:off x="9077447" y="1631304"/>
            <a:ext cx="2685131" cy="2336529"/>
          </a:xfrm>
          <a:prstGeom prst="roundRect">
            <a:avLst/>
          </a:prstGeom>
          <a:solidFill>
            <a:schemeClr val="accent1">
              <a:alpha val="39000"/>
            </a:schemeClr>
          </a:solidFill>
          <a:ln>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636363">
                    <a:lumMod val="75000"/>
                  </a:srgbClr>
                </a:solidFill>
                <a:effectLst/>
                <a:uLnTx/>
                <a:uFillTx/>
                <a:latin typeface="Gotham Book"/>
                <a:ea typeface="+mn-ea"/>
                <a:cs typeface="+mn-cs"/>
              </a:rPr>
              <a:t>Who Else Cares</a:t>
            </a:r>
          </a:p>
        </p:txBody>
      </p:sp>
      <p:sp>
        <p:nvSpPr>
          <p:cNvPr id="35" name="Rectangle: Rounded Corners 34">
            <a:extLst>
              <a:ext uri="{FF2B5EF4-FFF2-40B4-BE49-F238E27FC236}">
                <a16:creationId xmlns:a16="http://schemas.microsoft.com/office/drawing/2014/main" id="{F49800FE-3D38-4AC1-927E-ECD5DEB2D67F}"/>
              </a:ext>
            </a:extLst>
          </p:cNvPr>
          <p:cNvSpPr/>
          <p:nvPr/>
        </p:nvSpPr>
        <p:spPr>
          <a:xfrm>
            <a:off x="429422" y="4282892"/>
            <a:ext cx="11333152" cy="1521018"/>
          </a:xfrm>
          <a:prstGeom prst="round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For each group there are different levels of interest and influence. Key questions: </a:t>
            </a:r>
          </a:p>
          <a:p>
            <a:pPr marL="342900" lvl="0" indent="-342900" algn="ctr">
              <a:buFont typeface="+mj-lt"/>
              <a:buAutoNum type="arabicPeriod"/>
            </a:pPr>
            <a:r>
              <a:rPr lang="en-GB" dirty="0"/>
              <a:t>What do you want to tell them? </a:t>
            </a:r>
          </a:p>
          <a:p>
            <a:pPr marL="342900" lvl="0" indent="-342900" algn="ctr">
              <a:buFont typeface="+mj-lt"/>
              <a:buAutoNum type="arabicPeriod"/>
            </a:pPr>
            <a:r>
              <a:rPr lang="en-GB" dirty="0"/>
              <a:t>What do they want to know? </a:t>
            </a:r>
          </a:p>
          <a:p>
            <a:pPr marL="342900" lvl="0" indent="-342900" algn="ctr">
              <a:buFont typeface="+mj-lt"/>
              <a:buAutoNum type="arabicPeriod"/>
            </a:pPr>
            <a:r>
              <a:rPr lang="en-GB" dirty="0"/>
              <a:t>Is it worth your time?  </a:t>
            </a:r>
          </a:p>
        </p:txBody>
      </p:sp>
    </p:spTree>
    <p:extLst>
      <p:ext uri="{BB962C8B-B14F-4D97-AF65-F5344CB8AC3E}">
        <p14:creationId xmlns:p14="http://schemas.microsoft.com/office/powerpoint/2010/main" val="1341719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0551520-768D-4971-B2E3-A4E20639C8CD}"/>
              </a:ext>
            </a:extLst>
          </p:cNvPr>
          <p:cNvSpPr>
            <a:spLocks noGrp="1"/>
          </p:cNvSpPr>
          <p:nvPr>
            <p:ph type="title"/>
          </p:nvPr>
        </p:nvSpPr>
        <p:spPr>
          <a:xfrm>
            <a:off x="294852" y="242075"/>
            <a:ext cx="11602296" cy="807682"/>
          </a:xfrm>
        </p:spPr>
        <p:txBody>
          <a:bodyPr>
            <a:normAutofit/>
          </a:bodyPr>
          <a:lstStyle/>
          <a:p>
            <a:r>
              <a:rPr lang="en-GB" dirty="0"/>
              <a:t>Exercise: Stakeholder prioritisation </a:t>
            </a:r>
            <a:endParaRPr lang="en-GB" dirty="0">
              <a:highlight>
                <a:srgbClr val="FFFF00"/>
              </a:highlight>
            </a:endParaRPr>
          </a:p>
        </p:txBody>
      </p:sp>
      <p:sp>
        <p:nvSpPr>
          <p:cNvPr id="4" name="Rectangle: Rounded Corners 3">
            <a:extLst>
              <a:ext uri="{FF2B5EF4-FFF2-40B4-BE49-F238E27FC236}">
                <a16:creationId xmlns:a16="http://schemas.microsoft.com/office/drawing/2014/main" id="{1D2BFE79-B85C-437F-BDFE-FD2802EC4D30}"/>
              </a:ext>
            </a:extLst>
          </p:cNvPr>
          <p:cNvSpPr/>
          <p:nvPr/>
        </p:nvSpPr>
        <p:spPr>
          <a:xfrm>
            <a:off x="609600" y="1716507"/>
            <a:ext cx="10972800" cy="678933"/>
          </a:xfrm>
          <a:prstGeom prst="roundRect">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Stakeholder prioritising: who benefits, who pays, who cares</a:t>
            </a:r>
          </a:p>
        </p:txBody>
      </p:sp>
      <p:sp>
        <p:nvSpPr>
          <p:cNvPr id="13" name="Content Placeholder 12">
            <a:extLst>
              <a:ext uri="{FF2B5EF4-FFF2-40B4-BE49-F238E27FC236}">
                <a16:creationId xmlns:a16="http://schemas.microsoft.com/office/drawing/2014/main" id="{CA6BA755-9CD6-42C1-A46A-339BD1296577}"/>
              </a:ext>
            </a:extLst>
          </p:cNvPr>
          <p:cNvSpPr>
            <a:spLocks noGrp="1"/>
          </p:cNvSpPr>
          <p:nvPr>
            <p:ph sz="quarter" idx="10"/>
          </p:nvPr>
        </p:nvSpPr>
        <p:spPr>
          <a:xfrm>
            <a:off x="609600" y="1129967"/>
            <a:ext cx="10972800" cy="506328"/>
          </a:xfrm>
          <a:prstGeom prst="roundRect">
            <a:avLst/>
          </a:prstGeom>
          <a:solidFill>
            <a:schemeClr val="bg1"/>
          </a:solidFill>
        </p:spPr>
        <p:txBody>
          <a:bodyPr>
            <a:normAutofit lnSpcReduction="10000"/>
          </a:bodyPr>
          <a:lstStyle/>
          <a:p>
            <a:r>
              <a:rPr lang="en-GB" dirty="0">
                <a:solidFill>
                  <a:schemeClr val="tx1">
                    <a:lumMod val="75000"/>
                  </a:schemeClr>
                </a:solidFill>
              </a:rPr>
              <a:t>Time: 15 minutes</a:t>
            </a:r>
          </a:p>
        </p:txBody>
      </p:sp>
      <p:sp>
        <p:nvSpPr>
          <p:cNvPr id="7" name="Rectangle: Rounded Corners 6">
            <a:extLst>
              <a:ext uri="{FF2B5EF4-FFF2-40B4-BE49-F238E27FC236}">
                <a16:creationId xmlns:a16="http://schemas.microsoft.com/office/drawing/2014/main" id="{E43F7640-837E-44B1-8724-C19B214CF8A7}"/>
              </a:ext>
            </a:extLst>
          </p:cNvPr>
          <p:cNvSpPr/>
          <p:nvPr/>
        </p:nvSpPr>
        <p:spPr>
          <a:xfrm>
            <a:off x="609600" y="2475651"/>
            <a:ext cx="10972800" cy="3547777"/>
          </a:xfrm>
          <a:prstGeom prst="roundRect">
            <a:avLst/>
          </a:prstGeom>
          <a:solidFill>
            <a:schemeClr val="bg1">
              <a:lumMod val="95000"/>
            </a:schemeClr>
          </a:solidFill>
          <a:ln w="28575">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42900" indent="-342900">
              <a:buAutoNum type="arabicParenR"/>
            </a:pPr>
            <a:r>
              <a:rPr lang="en-GB" dirty="0">
                <a:solidFill>
                  <a:srgbClr val="636363">
                    <a:lumMod val="75000"/>
                  </a:srgbClr>
                </a:solidFill>
              </a:rPr>
              <a:t>Get into pairs. </a:t>
            </a:r>
            <a:br>
              <a:rPr lang="en-GB" dirty="0">
                <a:solidFill>
                  <a:srgbClr val="636363">
                    <a:lumMod val="75000"/>
                  </a:srgbClr>
                </a:solidFill>
              </a:rPr>
            </a:br>
            <a:endParaRPr lang="en-GB" dirty="0">
              <a:solidFill>
                <a:srgbClr val="636363">
                  <a:lumMod val="75000"/>
                </a:srgbClr>
              </a:solidFill>
            </a:endParaRPr>
          </a:p>
          <a:p>
            <a:pPr marL="342900" indent="-342900">
              <a:buAutoNum type="arabicParenR"/>
            </a:pPr>
            <a:r>
              <a:rPr lang="en-GB" dirty="0">
                <a:solidFill>
                  <a:srgbClr val="636363">
                    <a:lumMod val="75000"/>
                  </a:srgbClr>
                </a:solidFill>
              </a:rPr>
              <a:t>Think about how your stakeholders fall into the 3 categories of who pays/benefits/cares.</a:t>
            </a:r>
            <a:br>
              <a:rPr lang="en-GB" dirty="0">
                <a:solidFill>
                  <a:srgbClr val="636363">
                    <a:lumMod val="75000"/>
                  </a:srgbClr>
                </a:solidFill>
              </a:rPr>
            </a:br>
            <a:endParaRPr lang="en-GB" dirty="0">
              <a:solidFill>
                <a:srgbClr val="636363">
                  <a:lumMod val="75000"/>
                </a:srgbClr>
              </a:solidFill>
            </a:endParaRPr>
          </a:p>
          <a:p>
            <a:pPr marL="342900" indent="-342900">
              <a:buAutoNum type="arabicParenR"/>
            </a:pPr>
            <a:r>
              <a:rPr lang="en-GB" dirty="0">
                <a:solidFill>
                  <a:srgbClr val="636363">
                    <a:lumMod val="75000"/>
                  </a:srgbClr>
                </a:solidFill>
              </a:rPr>
              <a:t>Once you have completed your list, pick a maximum of </a:t>
            </a:r>
            <a:r>
              <a:rPr lang="en-GB" b="1" dirty="0">
                <a:solidFill>
                  <a:srgbClr val="636363">
                    <a:lumMod val="75000"/>
                  </a:srgbClr>
                </a:solidFill>
              </a:rPr>
              <a:t>1 stakeholder per category </a:t>
            </a:r>
            <a:r>
              <a:rPr lang="en-GB" dirty="0">
                <a:solidFill>
                  <a:srgbClr val="636363">
                    <a:lumMod val="75000"/>
                  </a:srgbClr>
                </a:solidFill>
              </a:rPr>
              <a:t>(e.g. 1 pays, 1 benefits, 1 cares). </a:t>
            </a:r>
            <a:br>
              <a:rPr lang="en-GB" dirty="0">
                <a:solidFill>
                  <a:srgbClr val="636363">
                    <a:lumMod val="75000"/>
                  </a:srgbClr>
                </a:solidFill>
              </a:rPr>
            </a:br>
            <a:endParaRPr lang="en-GB" dirty="0">
              <a:solidFill>
                <a:srgbClr val="636363">
                  <a:lumMod val="75000"/>
                </a:srgbClr>
              </a:solidFill>
            </a:endParaRPr>
          </a:p>
          <a:p>
            <a:pPr marL="342900" indent="-342900">
              <a:buAutoNum type="arabicParenR"/>
            </a:pPr>
            <a:r>
              <a:rPr lang="en-GB" dirty="0">
                <a:solidFill>
                  <a:srgbClr val="636363">
                    <a:lumMod val="75000"/>
                  </a:srgbClr>
                </a:solidFill>
              </a:rPr>
              <a:t>For each of the stakeholders answer the following question on the post-it:  </a:t>
            </a:r>
          </a:p>
          <a:p>
            <a:pPr marL="800100" lvl="1" indent="-342900">
              <a:buFontTx/>
              <a:buAutoNum type="alphaLcParenR"/>
              <a:defRPr/>
            </a:pPr>
            <a:r>
              <a:rPr lang="en-GB" dirty="0">
                <a:solidFill>
                  <a:schemeClr val="tx1">
                    <a:lumMod val="75000"/>
                  </a:schemeClr>
                </a:solidFill>
              </a:rPr>
              <a:t>What do you want to tell them? </a:t>
            </a:r>
          </a:p>
          <a:p>
            <a:pPr marL="800100" lvl="1" indent="-342900">
              <a:buFontTx/>
              <a:buAutoNum type="alphaLcParenR"/>
              <a:defRPr/>
            </a:pPr>
            <a:r>
              <a:rPr lang="en-GB" dirty="0">
                <a:solidFill>
                  <a:schemeClr val="tx1">
                    <a:lumMod val="75000"/>
                  </a:schemeClr>
                </a:solidFill>
              </a:rPr>
              <a:t>Why do they share? </a:t>
            </a:r>
          </a:p>
          <a:p>
            <a:pPr marL="800100" lvl="1" indent="-342900">
              <a:buFontTx/>
              <a:buAutoNum type="alphaLcParenR"/>
              <a:defRPr/>
            </a:pPr>
            <a:r>
              <a:rPr lang="en-GB" dirty="0">
                <a:solidFill>
                  <a:schemeClr val="tx1">
                    <a:lumMod val="75000"/>
                  </a:schemeClr>
                </a:solidFill>
              </a:rPr>
              <a:t>Why would they care? </a:t>
            </a: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p:txBody>
      </p:sp>
    </p:spTree>
    <p:extLst>
      <p:ext uri="{BB962C8B-B14F-4D97-AF65-F5344CB8AC3E}">
        <p14:creationId xmlns:p14="http://schemas.microsoft.com/office/powerpoint/2010/main" val="1069133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15A06-857D-4E20-A326-F69B5376D618}"/>
              </a:ext>
            </a:extLst>
          </p:cNvPr>
          <p:cNvSpPr>
            <a:spLocks noGrp="1"/>
          </p:cNvSpPr>
          <p:nvPr>
            <p:ph type="body" sz="quarter" idx="10"/>
          </p:nvPr>
        </p:nvSpPr>
        <p:spPr/>
        <p:txBody>
          <a:bodyPr>
            <a:normAutofit fontScale="55000" lnSpcReduction="20000"/>
          </a:bodyPr>
          <a:lstStyle/>
          <a:p>
            <a:r>
              <a:rPr lang="en-GB" b="1" dirty="0"/>
              <a:t>Session 3: </a:t>
            </a:r>
            <a:r>
              <a:rPr lang="en-GB" dirty="0"/>
              <a:t>Social Impact Management system: </a:t>
            </a:r>
            <a:r>
              <a:rPr lang="en-GB" i="1" dirty="0"/>
              <a:t>Problem Statement, Value Proposition &amp; </a:t>
            </a:r>
            <a:r>
              <a:rPr lang="en-GB" i="1" dirty="0" err="1"/>
              <a:t>ToC</a:t>
            </a:r>
            <a:r>
              <a:rPr lang="en-GB" i="1" dirty="0"/>
              <a:t> </a:t>
            </a:r>
          </a:p>
        </p:txBody>
      </p:sp>
    </p:spTree>
    <p:extLst>
      <p:ext uri="{BB962C8B-B14F-4D97-AF65-F5344CB8AC3E}">
        <p14:creationId xmlns:p14="http://schemas.microsoft.com/office/powerpoint/2010/main" val="3800152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5A95-7DFD-456E-A0FB-A5FD5ECC14D9}"/>
              </a:ext>
            </a:extLst>
          </p:cNvPr>
          <p:cNvSpPr>
            <a:spLocks noGrp="1"/>
          </p:cNvSpPr>
          <p:nvPr>
            <p:ph type="title"/>
          </p:nvPr>
        </p:nvSpPr>
        <p:spPr>
          <a:xfrm>
            <a:off x="0" y="45625"/>
            <a:ext cx="10515600" cy="844039"/>
          </a:xfrm>
        </p:spPr>
        <p:txBody>
          <a:bodyPr/>
          <a:lstStyle/>
          <a:p>
            <a:r>
              <a:rPr lang="en-GB" dirty="0"/>
              <a:t>Defining the problem</a:t>
            </a:r>
          </a:p>
        </p:txBody>
      </p:sp>
      <p:pic>
        <p:nvPicPr>
          <p:cNvPr id="13" name="Picture 12">
            <a:extLst>
              <a:ext uri="{FF2B5EF4-FFF2-40B4-BE49-F238E27FC236}">
                <a16:creationId xmlns:a16="http://schemas.microsoft.com/office/drawing/2014/main" id="{0703EE98-3DDF-49C7-85C5-8F62D69D3CD5}"/>
              </a:ext>
            </a:extLst>
          </p:cNvPr>
          <p:cNvPicPr>
            <a:picLocks noChangeAspect="1"/>
          </p:cNvPicPr>
          <p:nvPr/>
        </p:nvPicPr>
        <p:blipFill>
          <a:blip r:embed="rId3"/>
          <a:stretch>
            <a:fillRect/>
          </a:stretch>
        </p:blipFill>
        <p:spPr>
          <a:xfrm>
            <a:off x="77381" y="820999"/>
            <a:ext cx="8769120" cy="5216002"/>
          </a:xfrm>
          <a:prstGeom prst="rect">
            <a:avLst/>
          </a:prstGeom>
        </p:spPr>
      </p:pic>
      <p:sp>
        <p:nvSpPr>
          <p:cNvPr id="14" name="Right Brace 13">
            <a:extLst>
              <a:ext uri="{FF2B5EF4-FFF2-40B4-BE49-F238E27FC236}">
                <a16:creationId xmlns:a16="http://schemas.microsoft.com/office/drawing/2014/main" id="{819B5F23-1AF2-467F-937F-F3B415B72F6E}"/>
              </a:ext>
            </a:extLst>
          </p:cNvPr>
          <p:cNvSpPr/>
          <p:nvPr/>
        </p:nvSpPr>
        <p:spPr>
          <a:xfrm>
            <a:off x="8988357" y="933855"/>
            <a:ext cx="194554" cy="5103146"/>
          </a:xfrm>
          <a:prstGeom prst="rightBrace">
            <a:avLst/>
          </a:prstGeom>
          <a:ln w="22225">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5C664D6D-53B7-4DE7-B3FA-2548EE61A9E9}"/>
              </a:ext>
            </a:extLst>
          </p:cNvPr>
          <p:cNvSpPr/>
          <p:nvPr/>
        </p:nvSpPr>
        <p:spPr>
          <a:xfrm>
            <a:off x="9448799" y="2613700"/>
            <a:ext cx="2665819" cy="17434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 this exercise to define the social problem you are addressing and why it has not been fixed.</a:t>
            </a:r>
          </a:p>
        </p:txBody>
      </p:sp>
    </p:spTree>
    <p:extLst>
      <p:ext uri="{BB962C8B-B14F-4D97-AF65-F5344CB8AC3E}">
        <p14:creationId xmlns:p14="http://schemas.microsoft.com/office/powerpoint/2010/main" val="1180629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F7E4C-E616-48F8-B4E6-4FB100F79A77}"/>
              </a:ext>
            </a:extLst>
          </p:cNvPr>
          <p:cNvSpPr>
            <a:spLocks noGrp="1"/>
          </p:cNvSpPr>
          <p:nvPr>
            <p:ph type="title"/>
          </p:nvPr>
        </p:nvSpPr>
        <p:spPr>
          <a:xfrm>
            <a:off x="437304" y="1"/>
            <a:ext cx="10515600" cy="905816"/>
          </a:xfrm>
        </p:spPr>
        <p:txBody>
          <a:bodyPr/>
          <a:lstStyle/>
          <a:p>
            <a:r>
              <a:rPr lang="en-GB" dirty="0"/>
              <a:t>Social Value Proposition</a:t>
            </a:r>
          </a:p>
        </p:txBody>
      </p:sp>
      <p:sp>
        <p:nvSpPr>
          <p:cNvPr id="3" name="Content Placeholder 2">
            <a:extLst>
              <a:ext uri="{FF2B5EF4-FFF2-40B4-BE49-F238E27FC236}">
                <a16:creationId xmlns:a16="http://schemas.microsoft.com/office/drawing/2014/main" id="{CBE6D06B-586F-4747-85A1-43A86659B94C}"/>
              </a:ext>
            </a:extLst>
          </p:cNvPr>
          <p:cNvSpPr>
            <a:spLocks noGrp="1"/>
          </p:cNvSpPr>
          <p:nvPr>
            <p:ph sz="quarter" idx="10"/>
          </p:nvPr>
        </p:nvSpPr>
        <p:spPr>
          <a:xfrm>
            <a:off x="437304" y="905817"/>
            <a:ext cx="10515600" cy="905815"/>
          </a:xfrm>
        </p:spPr>
        <p:txBody>
          <a:bodyPr/>
          <a:lstStyle/>
          <a:p>
            <a:r>
              <a:rPr lang="en-GB" dirty="0"/>
              <a:t>Shows how your social enterprises fixes your customers problem and provides ‘gains’. </a:t>
            </a:r>
          </a:p>
        </p:txBody>
      </p:sp>
      <p:pic>
        <p:nvPicPr>
          <p:cNvPr id="4" name="Picture 3">
            <a:extLst>
              <a:ext uri="{FF2B5EF4-FFF2-40B4-BE49-F238E27FC236}">
                <a16:creationId xmlns:a16="http://schemas.microsoft.com/office/drawing/2014/main" id="{2D6DE8EA-3875-455C-9EC3-6329377F0494}"/>
              </a:ext>
            </a:extLst>
          </p:cNvPr>
          <p:cNvPicPr>
            <a:picLocks noChangeAspect="1"/>
          </p:cNvPicPr>
          <p:nvPr/>
        </p:nvPicPr>
        <p:blipFill>
          <a:blip r:embed="rId2"/>
          <a:stretch>
            <a:fillRect/>
          </a:stretch>
        </p:blipFill>
        <p:spPr>
          <a:xfrm>
            <a:off x="1583277" y="1811632"/>
            <a:ext cx="9982733" cy="5262502"/>
          </a:xfrm>
          <a:prstGeom prst="rect">
            <a:avLst/>
          </a:prstGeom>
        </p:spPr>
      </p:pic>
    </p:spTree>
    <p:extLst>
      <p:ext uri="{BB962C8B-B14F-4D97-AF65-F5344CB8AC3E}">
        <p14:creationId xmlns:p14="http://schemas.microsoft.com/office/powerpoint/2010/main" val="37028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4C650-3742-44BF-95BD-60BCFDF8EACC}"/>
              </a:ext>
            </a:extLst>
          </p:cNvPr>
          <p:cNvSpPr>
            <a:spLocks noGrp="1"/>
          </p:cNvSpPr>
          <p:nvPr>
            <p:ph type="title"/>
          </p:nvPr>
        </p:nvSpPr>
        <p:spPr>
          <a:xfrm>
            <a:off x="437304" y="0"/>
            <a:ext cx="10515600" cy="908375"/>
          </a:xfrm>
        </p:spPr>
        <p:txBody>
          <a:bodyPr/>
          <a:lstStyle/>
          <a:p>
            <a:r>
              <a:rPr lang="en-GB" dirty="0"/>
              <a:t>Social Value Proposition</a:t>
            </a:r>
          </a:p>
        </p:txBody>
      </p:sp>
      <p:pic>
        <p:nvPicPr>
          <p:cNvPr id="5" name="Picture 4">
            <a:extLst>
              <a:ext uri="{FF2B5EF4-FFF2-40B4-BE49-F238E27FC236}">
                <a16:creationId xmlns:a16="http://schemas.microsoft.com/office/drawing/2014/main" id="{FD529EBF-9041-44CF-9F5A-39F53714B98C}"/>
              </a:ext>
            </a:extLst>
          </p:cNvPr>
          <p:cNvPicPr>
            <a:picLocks noChangeAspect="1"/>
          </p:cNvPicPr>
          <p:nvPr/>
        </p:nvPicPr>
        <p:blipFill>
          <a:blip r:embed="rId2"/>
          <a:stretch>
            <a:fillRect/>
          </a:stretch>
        </p:blipFill>
        <p:spPr>
          <a:xfrm>
            <a:off x="437304" y="1344671"/>
            <a:ext cx="4602162" cy="2426078"/>
          </a:xfrm>
          <a:prstGeom prst="rect">
            <a:avLst/>
          </a:prstGeom>
        </p:spPr>
      </p:pic>
      <p:sp>
        <p:nvSpPr>
          <p:cNvPr id="6" name="Arrow: Chevron 5">
            <a:extLst>
              <a:ext uri="{FF2B5EF4-FFF2-40B4-BE49-F238E27FC236}">
                <a16:creationId xmlns:a16="http://schemas.microsoft.com/office/drawing/2014/main" id="{A1A74735-4621-4FED-AFFD-70127B945C58}"/>
              </a:ext>
            </a:extLst>
          </p:cNvPr>
          <p:cNvSpPr/>
          <p:nvPr/>
        </p:nvSpPr>
        <p:spPr>
          <a:xfrm>
            <a:off x="5695104" y="2357685"/>
            <a:ext cx="457200" cy="40005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8" name="Right Brace 7">
            <a:extLst>
              <a:ext uri="{FF2B5EF4-FFF2-40B4-BE49-F238E27FC236}">
                <a16:creationId xmlns:a16="http://schemas.microsoft.com/office/drawing/2014/main" id="{5E9A6173-4035-41BF-BEA7-C68D2E2184E2}"/>
              </a:ext>
            </a:extLst>
          </p:cNvPr>
          <p:cNvSpPr/>
          <p:nvPr/>
        </p:nvSpPr>
        <p:spPr>
          <a:xfrm rot="5400000">
            <a:off x="5723678" y="-1376874"/>
            <a:ext cx="400051" cy="11567889"/>
          </a:xfrm>
          <a:prstGeom prst="rightBrace">
            <a:avLst/>
          </a:prstGeom>
          <a:ln w="2857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9" name="Rectangle: Rounded Corners 8">
            <a:extLst>
              <a:ext uri="{FF2B5EF4-FFF2-40B4-BE49-F238E27FC236}">
                <a16:creationId xmlns:a16="http://schemas.microsoft.com/office/drawing/2014/main" id="{CB7BB113-D447-4CC7-8067-E9BC44173D26}"/>
              </a:ext>
            </a:extLst>
          </p:cNvPr>
          <p:cNvSpPr/>
          <p:nvPr/>
        </p:nvSpPr>
        <p:spPr>
          <a:xfrm>
            <a:off x="4369655" y="4683706"/>
            <a:ext cx="3108095" cy="400052"/>
          </a:xfrm>
          <a:prstGeom prst="roundRect">
            <a:avLst/>
          </a:prstGeom>
          <a:solidFill>
            <a:schemeClr val="bg1"/>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hlinkClick r:id="rId3"/>
              </a:rPr>
              <a:t>Written articulations</a:t>
            </a:r>
            <a:endPar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endParaRPr>
          </a:p>
        </p:txBody>
      </p:sp>
      <p:sp>
        <p:nvSpPr>
          <p:cNvPr id="10" name="Rectangle: Rounded Corners 9">
            <a:extLst>
              <a:ext uri="{FF2B5EF4-FFF2-40B4-BE49-F238E27FC236}">
                <a16:creationId xmlns:a16="http://schemas.microsoft.com/office/drawing/2014/main" id="{5405ACA1-7CDA-4D45-80F8-A78645574518}"/>
              </a:ext>
            </a:extLst>
          </p:cNvPr>
          <p:cNvSpPr/>
          <p:nvPr/>
        </p:nvSpPr>
        <p:spPr>
          <a:xfrm>
            <a:off x="1513465" y="5513329"/>
            <a:ext cx="2361849" cy="400052"/>
          </a:xfrm>
          <a:prstGeom prst="roundRect">
            <a:avLst/>
          </a:prstGeom>
          <a:solidFill>
            <a:schemeClr val="bg1"/>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Steve Blanks XYZ</a:t>
            </a:r>
          </a:p>
        </p:txBody>
      </p:sp>
      <p:sp>
        <p:nvSpPr>
          <p:cNvPr id="11" name="Rectangle: Rounded Corners 10">
            <a:extLst>
              <a:ext uri="{FF2B5EF4-FFF2-40B4-BE49-F238E27FC236}">
                <a16:creationId xmlns:a16="http://schemas.microsoft.com/office/drawing/2014/main" id="{AD7E4A7D-1DEC-4D86-8BA3-64B2C73704D7}"/>
              </a:ext>
            </a:extLst>
          </p:cNvPr>
          <p:cNvSpPr/>
          <p:nvPr/>
        </p:nvSpPr>
        <p:spPr>
          <a:xfrm>
            <a:off x="4742777" y="5527177"/>
            <a:ext cx="2361849" cy="400052"/>
          </a:xfrm>
          <a:prstGeom prst="roundRect">
            <a:avLst/>
          </a:prstGeom>
          <a:solidFill>
            <a:schemeClr val="bg1"/>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Geoff Moore’s VP</a:t>
            </a:r>
          </a:p>
        </p:txBody>
      </p:sp>
      <p:sp>
        <p:nvSpPr>
          <p:cNvPr id="14" name="Rectangle: Rounded Corners 13">
            <a:extLst>
              <a:ext uri="{FF2B5EF4-FFF2-40B4-BE49-F238E27FC236}">
                <a16:creationId xmlns:a16="http://schemas.microsoft.com/office/drawing/2014/main" id="{CDDD7ABF-1B8A-4F99-AF5F-9A5390B3D684}"/>
              </a:ext>
            </a:extLst>
          </p:cNvPr>
          <p:cNvSpPr/>
          <p:nvPr/>
        </p:nvSpPr>
        <p:spPr>
          <a:xfrm>
            <a:off x="7972089" y="5527177"/>
            <a:ext cx="2361849" cy="400052"/>
          </a:xfrm>
          <a:prstGeom prst="roundRect">
            <a:avLst/>
          </a:prstGeom>
          <a:solidFill>
            <a:schemeClr val="bg1"/>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Geoff Moore’s VP</a:t>
            </a:r>
          </a:p>
        </p:txBody>
      </p:sp>
      <p:pic>
        <p:nvPicPr>
          <p:cNvPr id="7" name="Picture 6">
            <a:extLst>
              <a:ext uri="{FF2B5EF4-FFF2-40B4-BE49-F238E27FC236}">
                <a16:creationId xmlns:a16="http://schemas.microsoft.com/office/drawing/2014/main" id="{7A450F3C-E80E-47EE-9C48-DD6CB23FFC3B}"/>
              </a:ext>
            </a:extLst>
          </p:cNvPr>
          <p:cNvPicPr>
            <a:picLocks noChangeAspect="1"/>
          </p:cNvPicPr>
          <p:nvPr/>
        </p:nvPicPr>
        <p:blipFill>
          <a:blip r:embed="rId4"/>
          <a:stretch>
            <a:fillRect/>
          </a:stretch>
        </p:blipFill>
        <p:spPr>
          <a:xfrm>
            <a:off x="6617807" y="1041838"/>
            <a:ext cx="5222728" cy="2943497"/>
          </a:xfrm>
          <a:prstGeom prst="rect">
            <a:avLst/>
          </a:prstGeom>
        </p:spPr>
      </p:pic>
    </p:spTree>
    <p:extLst>
      <p:ext uri="{BB962C8B-B14F-4D97-AF65-F5344CB8AC3E}">
        <p14:creationId xmlns:p14="http://schemas.microsoft.com/office/powerpoint/2010/main" val="1471581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16768-7111-42A9-8DE0-FD16AF2C3A48}"/>
              </a:ext>
            </a:extLst>
          </p:cNvPr>
          <p:cNvSpPr>
            <a:spLocks noGrp="1"/>
          </p:cNvSpPr>
          <p:nvPr>
            <p:ph type="title"/>
          </p:nvPr>
        </p:nvSpPr>
        <p:spPr>
          <a:xfrm>
            <a:off x="273376" y="75030"/>
            <a:ext cx="11309023" cy="793114"/>
          </a:xfrm>
        </p:spPr>
        <p:txBody>
          <a:bodyPr>
            <a:noAutofit/>
          </a:bodyPr>
          <a:lstStyle/>
          <a:p>
            <a:r>
              <a:rPr lang="en-GB" sz="3000" dirty="0"/>
              <a:t>Exercise: Develop your problem statement &amp; Value Proposition</a:t>
            </a:r>
          </a:p>
        </p:txBody>
      </p:sp>
      <p:sp>
        <p:nvSpPr>
          <p:cNvPr id="5" name="Content Placeholder 12">
            <a:extLst>
              <a:ext uri="{FF2B5EF4-FFF2-40B4-BE49-F238E27FC236}">
                <a16:creationId xmlns:a16="http://schemas.microsoft.com/office/drawing/2014/main" id="{8F6A1C9F-9898-4033-9960-0FE7159DF45D}"/>
              </a:ext>
            </a:extLst>
          </p:cNvPr>
          <p:cNvSpPr>
            <a:spLocks noGrp="1"/>
          </p:cNvSpPr>
          <p:nvPr>
            <p:ph sz="quarter" idx="10"/>
          </p:nvPr>
        </p:nvSpPr>
        <p:spPr>
          <a:xfrm>
            <a:off x="609600" y="790299"/>
            <a:ext cx="10972800" cy="506328"/>
          </a:xfrm>
          <a:prstGeom prst="roundRect">
            <a:avLst/>
          </a:prstGeom>
          <a:solidFill>
            <a:schemeClr val="bg1"/>
          </a:solidFill>
        </p:spPr>
        <p:txBody>
          <a:bodyPr>
            <a:normAutofit lnSpcReduction="10000"/>
          </a:bodyPr>
          <a:lstStyle/>
          <a:p>
            <a:r>
              <a:rPr lang="en-GB" dirty="0">
                <a:solidFill>
                  <a:schemeClr val="tx1">
                    <a:lumMod val="75000"/>
                  </a:schemeClr>
                </a:solidFill>
              </a:rPr>
              <a:t>Time: 20 minutes</a:t>
            </a:r>
          </a:p>
        </p:txBody>
      </p:sp>
      <p:sp>
        <p:nvSpPr>
          <p:cNvPr id="6" name="Rectangle: Rounded Corners 5">
            <a:extLst>
              <a:ext uri="{FF2B5EF4-FFF2-40B4-BE49-F238E27FC236}">
                <a16:creationId xmlns:a16="http://schemas.microsoft.com/office/drawing/2014/main" id="{A9F73D19-D05A-4800-9390-60F48EE3031A}"/>
              </a:ext>
            </a:extLst>
          </p:cNvPr>
          <p:cNvSpPr/>
          <p:nvPr/>
        </p:nvSpPr>
        <p:spPr>
          <a:xfrm>
            <a:off x="609600" y="1583413"/>
            <a:ext cx="10972800" cy="953349"/>
          </a:xfrm>
          <a:prstGeom prst="roundRect">
            <a:avLst/>
          </a:prstGeom>
          <a:solidFill>
            <a:schemeClr val="bg1">
              <a:lumMod val="95000"/>
            </a:schemeClr>
          </a:solidFill>
          <a:ln w="28575">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Get into pairs. </a:t>
            </a:r>
            <a:b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b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Use the problem definition canvas and the proposition worksheet to develop your problem statement and VP.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p:txBody>
      </p:sp>
      <p:pic>
        <p:nvPicPr>
          <p:cNvPr id="9" name="Picture 8">
            <a:extLst>
              <a:ext uri="{FF2B5EF4-FFF2-40B4-BE49-F238E27FC236}">
                <a16:creationId xmlns:a16="http://schemas.microsoft.com/office/drawing/2014/main" id="{A4490890-CE4F-4189-9918-7BC3768875F1}"/>
              </a:ext>
            </a:extLst>
          </p:cNvPr>
          <p:cNvPicPr>
            <a:picLocks noChangeAspect="1"/>
          </p:cNvPicPr>
          <p:nvPr/>
        </p:nvPicPr>
        <p:blipFill>
          <a:blip r:embed="rId3"/>
          <a:stretch>
            <a:fillRect/>
          </a:stretch>
        </p:blipFill>
        <p:spPr>
          <a:xfrm>
            <a:off x="7999030" y="3508878"/>
            <a:ext cx="3950989" cy="2082805"/>
          </a:xfrm>
          <a:prstGeom prst="rect">
            <a:avLst/>
          </a:prstGeom>
        </p:spPr>
      </p:pic>
      <p:sp>
        <p:nvSpPr>
          <p:cNvPr id="3" name="Arrow: Right 2">
            <a:extLst>
              <a:ext uri="{FF2B5EF4-FFF2-40B4-BE49-F238E27FC236}">
                <a16:creationId xmlns:a16="http://schemas.microsoft.com/office/drawing/2014/main" id="{4BCEAB00-A10D-40C9-84CC-3152F8746024}"/>
              </a:ext>
            </a:extLst>
          </p:cNvPr>
          <p:cNvSpPr/>
          <p:nvPr/>
        </p:nvSpPr>
        <p:spPr>
          <a:xfrm>
            <a:off x="3840120" y="4317804"/>
            <a:ext cx="711200" cy="279790"/>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0" name="Arrow: Right 9">
            <a:extLst>
              <a:ext uri="{FF2B5EF4-FFF2-40B4-BE49-F238E27FC236}">
                <a16:creationId xmlns:a16="http://schemas.microsoft.com/office/drawing/2014/main" id="{7C86F994-DB5A-4139-9ED8-F876AE6147A5}"/>
              </a:ext>
            </a:extLst>
          </p:cNvPr>
          <p:cNvSpPr/>
          <p:nvPr/>
        </p:nvSpPr>
        <p:spPr>
          <a:xfrm flipH="1">
            <a:off x="7265663" y="4319617"/>
            <a:ext cx="711200" cy="279790"/>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4" name="Rectangle: Rounded Corners 3">
            <a:extLst>
              <a:ext uri="{FF2B5EF4-FFF2-40B4-BE49-F238E27FC236}">
                <a16:creationId xmlns:a16="http://schemas.microsoft.com/office/drawing/2014/main" id="{4B92E0DA-2D4A-4449-B40E-064CD32435EC}"/>
              </a:ext>
            </a:extLst>
          </p:cNvPr>
          <p:cNvSpPr/>
          <p:nvPr/>
        </p:nvSpPr>
        <p:spPr>
          <a:xfrm>
            <a:off x="4551320" y="4049486"/>
            <a:ext cx="2736510" cy="827314"/>
          </a:xfrm>
          <a:prstGeom prst="roundRect">
            <a:avLst/>
          </a:prstGeom>
          <a:solidFill>
            <a:schemeClr val="bg1"/>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rPr>
              <a:t>Basis of Theory of Change</a:t>
            </a:r>
          </a:p>
        </p:txBody>
      </p:sp>
      <p:pic>
        <p:nvPicPr>
          <p:cNvPr id="12" name="Picture 11">
            <a:extLst>
              <a:ext uri="{FF2B5EF4-FFF2-40B4-BE49-F238E27FC236}">
                <a16:creationId xmlns:a16="http://schemas.microsoft.com/office/drawing/2014/main" id="{AD02197A-534B-4F7D-B1AD-C56F1A97599E}"/>
              </a:ext>
            </a:extLst>
          </p:cNvPr>
          <p:cNvPicPr>
            <a:picLocks noChangeAspect="1"/>
          </p:cNvPicPr>
          <p:nvPr/>
        </p:nvPicPr>
        <p:blipFill>
          <a:blip r:embed="rId4"/>
          <a:stretch>
            <a:fillRect/>
          </a:stretch>
        </p:blipFill>
        <p:spPr>
          <a:xfrm>
            <a:off x="489670" y="3560424"/>
            <a:ext cx="3328283" cy="1979712"/>
          </a:xfrm>
          <a:prstGeom prst="rect">
            <a:avLst/>
          </a:prstGeom>
        </p:spPr>
      </p:pic>
    </p:spTree>
    <p:extLst>
      <p:ext uri="{BB962C8B-B14F-4D97-AF65-F5344CB8AC3E}">
        <p14:creationId xmlns:p14="http://schemas.microsoft.com/office/powerpoint/2010/main" val="2218764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7C421FA6-960B-47E3-8E4A-0DA5FA5D506B}"/>
              </a:ext>
            </a:extLst>
          </p:cNvPr>
          <p:cNvSpPr/>
          <p:nvPr/>
        </p:nvSpPr>
        <p:spPr>
          <a:xfrm>
            <a:off x="9466581" y="6068619"/>
            <a:ext cx="1963419" cy="680457"/>
          </a:xfrm>
          <a:prstGeom prst="round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b="1" u="sng" dirty="0">
              <a:solidFill>
                <a:schemeClr val="tx1">
                  <a:lumMod val="75000"/>
                </a:schemeClr>
              </a:solidFill>
            </a:endParaRPr>
          </a:p>
        </p:txBody>
      </p:sp>
      <p:sp>
        <p:nvSpPr>
          <p:cNvPr id="48" name="Rectangle: Rounded Corners 47">
            <a:extLst>
              <a:ext uri="{FF2B5EF4-FFF2-40B4-BE49-F238E27FC236}">
                <a16:creationId xmlns:a16="http://schemas.microsoft.com/office/drawing/2014/main" id="{AF143F93-DE5E-4652-B335-CD853AF704B4}"/>
              </a:ext>
            </a:extLst>
          </p:cNvPr>
          <p:cNvSpPr/>
          <p:nvPr/>
        </p:nvSpPr>
        <p:spPr>
          <a:xfrm>
            <a:off x="19018" y="760038"/>
            <a:ext cx="2297431" cy="561970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lumMod val="75000"/>
                  </a:schemeClr>
                </a:solidFill>
              </a:rPr>
              <a:t>Assumptions</a:t>
            </a:r>
          </a:p>
        </p:txBody>
      </p:sp>
      <p:sp>
        <p:nvSpPr>
          <p:cNvPr id="2" name="Title 1">
            <a:extLst>
              <a:ext uri="{FF2B5EF4-FFF2-40B4-BE49-F238E27FC236}">
                <a16:creationId xmlns:a16="http://schemas.microsoft.com/office/drawing/2014/main" id="{E4527604-A527-44E2-B795-E208D6A7C06D}"/>
              </a:ext>
            </a:extLst>
          </p:cNvPr>
          <p:cNvSpPr>
            <a:spLocks noGrp="1"/>
          </p:cNvSpPr>
          <p:nvPr>
            <p:ph type="title"/>
          </p:nvPr>
        </p:nvSpPr>
        <p:spPr>
          <a:xfrm>
            <a:off x="0" y="32125"/>
            <a:ext cx="10515600" cy="597338"/>
          </a:xfrm>
        </p:spPr>
        <p:txBody>
          <a:bodyPr>
            <a:normAutofit fontScale="90000"/>
          </a:bodyPr>
          <a:lstStyle/>
          <a:p>
            <a:r>
              <a:rPr lang="en-GB" dirty="0"/>
              <a:t>Impact Framework</a:t>
            </a:r>
          </a:p>
        </p:txBody>
      </p:sp>
      <p:sp>
        <p:nvSpPr>
          <p:cNvPr id="4" name="Rectangle: Rounded Corners 3">
            <a:extLst>
              <a:ext uri="{FF2B5EF4-FFF2-40B4-BE49-F238E27FC236}">
                <a16:creationId xmlns:a16="http://schemas.microsoft.com/office/drawing/2014/main" id="{CF69E52B-9C76-45EE-A78C-806517B66C49}"/>
              </a:ext>
            </a:extLst>
          </p:cNvPr>
          <p:cNvSpPr/>
          <p:nvPr/>
        </p:nvSpPr>
        <p:spPr>
          <a:xfrm>
            <a:off x="2446733" y="4363105"/>
            <a:ext cx="7317815"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Activities </a:t>
            </a:r>
          </a:p>
        </p:txBody>
      </p:sp>
      <p:sp>
        <p:nvSpPr>
          <p:cNvPr id="5" name="Rectangle: Rounded Corners 4">
            <a:extLst>
              <a:ext uri="{FF2B5EF4-FFF2-40B4-BE49-F238E27FC236}">
                <a16:creationId xmlns:a16="http://schemas.microsoft.com/office/drawing/2014/main" id="{92884CEB-58BA-4378-81D5-EB7C71F0F26F}"/>
              </a:ext>
            </a:extLst>
          </p:cNvPr>
          <p:cNvSpPr/>
          <p:nvPr/>
        </p:nvSpPr>
        <p:spPr>
          <a:xfrm>
            <a:off x="2451666" y="3333982"/>
            <a:ext cx="7333132"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Outputs of activities (goods &amp; services)</a:t>
            </a:r>
            <a:endParaRPr lang="en-GB" b="1" dirty="0"/>
          </a:p>
        </p:txBody>
      </p:sp>
      <p:sp>
        <p:nvSpPr>
          <p:cNvPr id="6" name="Rectangle: Rounded Corners 5">
            <a:extLst>
              <a:ext uri="{FF2B5EF4-FFF2-40B4-BE49-F238E27FC236}">
                <a16:creationId xmlns:a16="http://schemas.microsoft.com/office/drawing/2014/main" id="{B45A487A-10A4-458E-85D3-75F04DF9C877}"/>
              </a:ext>
            </a:extLst>
          </p:cNvPr>
          <p:cNvSpPr/>
          <p:nvPr/>
        </p:nvSpPr>
        <p:spPr>
          <a:xfrm>
            <a:off x="2451666" y="2304859"/>
            <a:ext cx="7333132"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Change in the behaviour of the user </a:t>
            </a:r>
          </a:p>
        </p:txBody>
      </p:sp>
      <p:sp>
        <p:nvSpPr>
          <p:cNvPr id="7" name="Rectangle: Rounded Corners 6">
            <a:extLst>
              <a:ext uri="{FF2B5EF4-FFF2-40B4-BE49-F238E27FC236}">
                <a16:creationId xmlns:a16="http://schemas.microsoft.com/office/drawing/2014/main" id="{937848CA-2809-4A2A-8859-9B44D63551BF}"/>
              </a:ext>
            </a:extLst>
          </p:cNvPr>
          <p:cNvSpPr/>
          <p:nvPr/>
        </p:nvSpPr>
        <p:spPr>
          <a:xfrm>
            <a:off x="2446733" y="1275736"/>
            <a:ext cx="7317815"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Difference in the user’s life</a:t>
            </a:r>
          </a:p>
        </p:txBody>
      </p:sp>
      <p:sp>
        <p:nvSpPr>
          <p:cNvPr id="20" name="Rectangle: Rounded Corners 19">
            <a:extLst>
              <a:ext uri="{FF2B5EF4-FFF2-40B4-BE49-F238E27FC236}">
                <a16:creationId xmlns:a16="http://schemas.microsoft.com/office/drawing/2014/main" id="{BB9A8FEE-F28E-4314-ADBF-101FC4AABF18}"/>
              </a:ext>
            </a:extLst>
          </p:cNvPr>
          <p:cNvSpPr/>
          <p:nvPr/>
        </p:nvSpPr>
        <p:spPr>
          <a:xfrm>
            <a:off x="2446733" y="5392228"/>
            <a:ext cx="7317815" cy="627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Resources</a:t>
            </a:r>
          </a:p>
        </p:txBody>
      </p:sp>
      <p:sp>
        <p:nvSpPr>
          <p:cNvPr id="24" name="TextBox 23">
            <a:extLst>
              <a:ext uri="{FF2B5EF4-FFF2-40B4-BE49-F238E27FC236}">
                <a16:creationId xmlns:a16="http://schemas.microsoft.com/office/drawing/2014/main" id="{E41876CE-A3D6-46D6-868F-71BB65DEE5C5}"/>
              </a:ext>
            </a:extLst>
          </p:cNvPr>
          <p:cNvSpPr txBox="1"/>
          <p:nvPr/>
        </p:nvSpPr>
        <p:spPr>
          <a:xfrm>
            <a:off x="274812" y="5361264"/>
            <a:ext cx="1654748" cy="646331"/>
          </a:xfrm>
          <a:prstGeom prst="rect">
            <a:avLst/>
          </a:prstGeom>
          <a:noFill/>
        </p:spPr>
        <p:txBody>
          <a:bodyPr wrap="square" rtlCol="0">
            <a:spAutoFit/>
          </a:bodyPr>
          <a:lstStyle/>
          <a:p>
            <a:r>
              <a:rPr lang="en-GB" dirty="0"/>
              <a:t>If my enterprise has these…</a:t>
            </a:r>
          </a:p>
        </p:txBody>
      </p:sp>
      <p:cxnSp>
        <p:nvCxnSpPr>
          <p:cNvPr id="26" name="Connector: Curved 25">
            <a:extLst>
              <a:ext uri="{FF2B5EF4-FFF2-40B4-BE49-F238E27FC236}">
                <a16:creationId xmlns:a16="http://schemas.microsoft.com/office/drawing/2014/main" id="{94FA496C-376F-4CEB-B734-757CAC86478F}"/>
              </a:ext>
            </a:extLst>
          </p:cNvPr>
          <p:cNvCxnSpPr>
            <a:cxnSpLocks/>
          </p:cNvCxnSpPr>
          <p:nvPr/>
        </p:nvCxnSpPr>
        <p:spPr>
          <a:xfrm rot="10800000" flipH="1">
            <a:off x="9799557" y="4877666"/>
            <a:ext cx="12700" cy="1029123"/>
          </a:xfrm>
          <a:prstGeom prst="curvedConnector3">
            <a:avLst>
              <a:gd name="adj1" fmla="val 5752945"/>
            </a:avLst>
          </a:prstGeom>
          <a:ln w="28575">
            <a:solidFill>
              <a:schemeClr val="tx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0FC5065-667D-4939-B3BE-BE3D355BE803}"/>
              </a:ext>
            </a:extLst>
          </p:cNvPr>
          <p:cNvSpPr txBox="1"/>
          <p:nvPr/>
        </p:nvSpPr>
        <p:spPr>
          <a:xfrm>
            <a:off x="155202" y="4326480"/>
            <a:ext cx="1903504" cy="646331"/>
          </a:xfrm>
          <a:prstGeom prst="rect">
            <a:avLst/>
          </a:prstGeom>
          <a:noFill/>
        </p:spPr>
        <p:txBody>
          <a:bodyPr wrap="square" rtlCol="0">
            <a:spAutoFit/>
          </a:bodyPr>
          <a:lstStyle/>
          <a:p>
            <a:r>
              <a:rPr lang="en-GB" dirty="0"/>
              <a:t>If my enterprise does these…</a:t>
            </a:r>
          </a:p>
        </p:txBody>
      </p:sp>
      <p:sp>
        <p:nvSpPr>
          <p:cNvPr id="29" name="TextBox 28">
            <a:extLst>
              <a:ext uri="{FF2B5EF4-FFF2-40B4-BE49-F238E27FC236}">
                <a16:creationId xmlns:a16="http://schemas.microsoft.com/office/drawing/2014/main" id="{A8CDB114-9F63-443A-88FE-B48269364318}"/>
              </a:ext>
            </a:extLst>
          </p:cNvPr>
          <p:cNvSpPr txBox="1"/>
          <p:nvPr/>
        </p:nvSpPr>
        <p:spPr>
          <a:xfrm>
            <a:off x="150434" y="3569890"/>
            <a:ext cx="1903504" cy="369332"/>
          </a:xfrm>
          <a:prstGeom prst="rect">
            <a:avLst/>
          </a:prstGeom>
          <a:noFill/>
        </p:spPr>
        <p:txBody>
          <a:bodyPr wrap="square" rtlCol="0">
            <a:spAutoFit/>
          </a:bodyPr>
          <a:lstStyle/>
          <a:p>
            <a:r>
              <a:rPr lang="en-GB" dirty="0"/>
              <a:t>If people access…</a:t>
            </a:r>
          </a:p>
        </p:txBody>
      </p:sp>
      <p:cxnSp>
        <p:nvCxnSpPr>
          <p:cNvPr id="30" name="Connector: Curved 29">
            <a:extLst>
              <a:ext uri="{FF2B5EF4-FFF2-40B4-BE49-F238E27FC236}">
                <a16:creationId xmlns:a16="http://schemas.microsoft.com/office/drawing/2014/main" id="{266549D7-A217-4213-B61A-861DB54BB007}"/>
              </a:ext>
            </a:extLst>
          </p:cNvPr>
          <p:cNvCxnSpPr>
            <a:cxnSpLocks/>
          </p:cNvCxnSpPr>
          <p:nvPr/>
        </p:nvCxnSpPr>
        <p:spPr>
          <a:xfrm rot="10800000" flipH="1">
            <a:off x="9805907" y="3750626"/>
            <a:ext cx="12700" cy="1029123"/>
          </a:xfrm>
          <a:prstGeom prst="curvedConnector3">
            <a:avLst>
              <a:gd name="adj1" fmla="val 5752945"/>
            </a:avLst>
          </a:prstGeom>
          <a:ln w="28575">
            <a:solidFill>
              <a:schemeClr val="tx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09757F2C-FC0C-4A68-923A-D8B9A198C5D1}"/>
              </a:ext>
            </a:extLst>
          </p:cNvPr>
          <p:cNvCxnSpPr>
            <a:cxnSpLocks/>
          </p:cNvCxnSpPr>
          <p:nvPr/>
        </p:nvCxnSpPr>
        <p:spPr>
          <a:xfrm rot="10800000" flipH="1">
            <a:off x="9818607" y="2653678"/>
            <a:ext cx="12700" cy="1029123"/>
          </a:xfrm>
          <a:prstGeom prst="curvedConnector3">
            <a:avLst>
              <a:gd name="adj1" fmla="val 5752945"/>
            </a:avLst>
          </a:prstGeom>
          <a:ln w="28575">
            <a:solidFill>
              <a:schemeClr val="tx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100A7470-8563-4912-A1E3-5C7E3131F03C}"/>
              </a:ext>
            </a:extLst>
          </p:cNvPr>
          <p:cNvCxnSpPr>
            <a:cxnSpLocks/>
          </p:cNvCxnSpPr>
          <p:nvPr/>
        </p:nvCxnSpPr>
        <p:spPr>
          <a:xfrm rot="10800000" flipH="1">
            <a:off x="9831307" y="1460423"/>
            <a:ext cx="12700" cy="1029123"/>
          </a:xfrm>
          <a:prstGeom prst="curvedConnector3">
            <a:avLst>
              <a:gd name="adj1" fmla="val 5752945"/>
            </a:avLst>
          </a:prstGeom>
          <a:ln w="28575">
            <a:solidFill>
              <a:schemeClr val="tx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326B7CE-FC70-4F59-983D-82CF2FFD6A73}"/>
              </a:ext>
            </a:extLst>
          </p:cNvPr>
          <p:cNvSpPr txBox="1"/>
          <p:nvPr/>
        </p:nvSpPr>
        <p:spPr>
          <a:xfrm>
            <a:off x="150434" y="2364801"/>
            <a:ext cx="2404583" cy="646331"/>
          </a:xfrm>
          <a:prstGeom prst="rect">
            <a:avLst/>
          </a:prstGeom>
          <a:noFill/>
        </p:spPr>
        <p:txBody>
          <a:bodyPr wrap="square" rtlCol="0">
            <a:spAutoFit/>
          </a:bodyPr>
          <a:lstStyle/>
          <a:p>
            <a:r>
              <a:rPr lang="en-GB" dirty="0"/>
              <a:t>If people use the good/service then…</a:t>
            </a:r>
          </a:p>
        </p:txBody>
      </p:sp>
      <p:sp>
        <p:nvSpPr>
          <p:cNvPr id="40" name="TextBox 39">
            <a:extLst>
              <a:ext uri="{FF2B5EF4-FFF2-40B4-BE49-F238E27FC236}">
                <a16:creationId xmlns:a16="http://schemas.microsoft.com/office/drawing/2014/main" id="{06ADD1A7-56FC-4F37-8A9C-6289DBF7F302}"/>
              </a:ext>
            </a:extLst>
          </p:cNvPr>
          <p:cNvSpPr txBox="1"/>
          <p:nvPr/>
        </p:nvSpPr>
        <p:spPr>
          <a:xfrm>
            <a:off x="156055" y="1300622"/>
            <a:ext cx="2404583" cy="646331"/>
          </a:xfrm>
          <a:prstGeom prst="rect">
            <a:avLst/>
          </a:prstGeom>
          <a:noFill/>
        </p:spPr>
        <p:txBody>
          <a:bodyPr wrap="square" rtlCol="0">
            <a:spAutoFit/>
          </a:bodyPr>
          <a:lstStyle/>
          <a:p>
            <a:r>
              <a:rPr lang="en-GB" dirty="0"/>
              <a:t>If people change their behaviour then…</a:t>
            </a:r>
          </a:p>
        </p:txBody>
      </p:sp>
      <p:sp>
        <p:nvSpPr>
          <p:cNvPr id="41" name="TextBox 40">
            <a:extLst>
              <a:ext uri="{FF2B5EF4-FFF2-40B4-BE49-F238E27FC236}">
                <a16:creationId xmlns:a16="http://schemas.microsoft.com/office/drawing/2014/main" id="{02F01EC8-3C50-4E93-B14F-4EB0D73146F2}"/>
              </a:ext>
            </a:extLst>
          </p:cNvPr>
          <p:cNvSpPr txBox="1"/>
          <p:nvPr/>
        </p:nvSpPr>
        <p:spPr>
          <a:xfrm>
            <a:off x="10543259" y="5059659"/>
            <a:ext cx="1654748" cy="646331"/>
          </a:xfrm>
          <a:prstGeom prst="rect">
            <a:avLst/>
          </a:prstGeom>
          <a:noFill/>
        </p:spPr>
        <p:txBody>
          <a:bodyPr wrap="square" rtlCol="0">
            <a:spAutoFit/>
          </a:bodyPr>
          <a:lstStyle/>
          <a:p>
            <a:r>
              <a:rPr lang="en-GB" dirty="0"/>
              <a:t>I will deliver these… </a:t>
            </a:r>
          </a:p>
        </p:txBody>
      </p:sp>
      <p:sp>
        <p:nvSpPr>
          <p:cNvPr id="42" name="TextBox 41">
            <a:extLst>
              <a:ext uri="{FF2B5EF4-FFF2-40B4-BE49-F238E27FC236}">
                <a16:creationId xmlns:a16="http://schemas.microsoft.com/office/drawing/2014/main" id="{1DA86C41-5FA9-4CA4-9E27-F8B85DE1BD2D}"/>
              </a:ext>
            </a:extLst>
          </p:cNvPr>
          <p:cNvSpPr txBox="1"/>
          <p:nvPr/>
        </p:nvSpPr>
        <p:spPr>
          <a:xfrm>
            <a:off x="10543259" y="3904932"/>
            <a:ext cx="1654748" cy="646331"/>
          </a:xfrm>
          <a:prstGeom prst="rect">
            <a:avLst/>
          </a:prstGeom>
          <a:noFill/>
        </p:spPr>
        <p:txBody>
          <a:bodyPr wrap="square" rtlCol="0">
            <a:spAutoFit/>
          </a:bodyPr>
          <a:lstStyle/>
          <a:p>
            <a:r>
              <a:rPr lang="en-GB" dirty="0"/>
              <a:t>People will access…</a:t>
            </a:r>
          </a:p>
        </p:txBody>
      </p:sp>
      <p:sp>
        <p:nvSpPr>
          <p:cNvPr id="43" name="TextBox 42">
            <a:extLst>
              <a:ext uri="{FF2B5EF4-FFF2-40B4-BE49-F238E27FC236}">
                <a16:creationId xmlns:a16="http://schemas.microsoft.com/office/drawing/2014/main" id="{0815F9F0-506F-4522-B99A-18CCD018A0EE}"/>
              </a:ext>
            </a:extLst>
          </p:cNvPr>
          <p:cNvSpPr txBox="1"/>
          <p:nvPr/>
        </p:nvSpPr>
        <p:spPr>
          <a:xfrm>
            <a:off x="10528874" y="2845073"/>
            <a:ext cx="1654748" cy="646331"/>
          </a:xfrm>
          <a:prstGeom prst="rect">
            <a:avLst/>
          </a:prstGeom>
          <a:noFill/>
        </p:spPr>
        <p:txBody>
          <a:bodyPr wrap="square" rtlCol="0">
            <a:spAutoFit/>
          </a:bodyPr>
          <a:lstStyle/>
          <a:p>
            <a:r>
              <a:rPr lang="en-GB" dirty="0"/>
              <a:t>People will use the G&amp;S…</a:t>
            </a:r>
          </a:p>
        </p:txBody>
      </p:sp>
      <p:sp>
        <p:nvSpPr>
          <p:cNvPr id="44" name="TextBox 43">
            <a:extLst>
              <a:ext uri="{FF2B5EF4-FFF2-40B4-BE49-F238E27FC236}">
                <a16:creationId xmlns:a16="http://schemas.microsoft.com/office/drawing/2014/main" id="{89607C3A-6A8B-4BD0-A383-EA38AB635720}"/>
              </a:ext>
            </a:extLst>
          </p:cNvPr>
          <p:cNvSpPr txBox="1"/>
          <p:nvPr/>
        </p:nvSpPr>
        <p:spPr>
          <a:xfrm>
            <a:off x="10528874" y="1508215"/>
            <a:ext cx="1654748" cy="923330"/>
          </a:xfrm>
          <a:prstGeom prst="rect">
            <a:avLst/>
          </a:prstGeom>
          <a:noFill/>
        </p:spPr>
        <p:txBody>
          <a:bodyPr wrap="square" rtlCol="0">
            <a:spAutoFit/>
          </a:bodyPr>
          <a:lstStyle/>
          <a:p>
            <a:r>
              <a:rPr lang="en-GB" dirty="0"/>
              <a:t>People will change their behaviours…</a:t>
            </a:r>
          </a:p>
        </p:txBody>
      </p:sp>
      <p:sp>
        <p:nvSpPr>
          <p:cNvPr id="49" name="Rectangle: Rounded Corners 48">
            <a:extLst>
              <a:ext uri="{FF2B5EF4-FFF2-40B4-BE49-F238E27FC236}">
                <a16:creationId xmlns:a16="http://schemas.microsoft.com/office/drawing/2014/main" id="{1BB16E0C-9950-4837-9995-5CA5CCA6D87D}"/>
              </a:ext>
            </a:extLst>
          </p:cNvPr>
          <p:cNvSpPr/>
          <p:nvPr/>
        </p:nvSpPr>
        <p:spPr>
          <a:xfrm>
            <a:off x="9841948" y="760037"/>
            <a:ext cx="2297431" cy="561970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lumMod val="75000"/>
                  </a:schemeClr>
                </a:solidFill>
              </a:rPr>
              <a:t>Assumptions</a:t>
            </a:r>
          </a:p>
        </p:txBody>
      </p:sp>
    </p:spTree>
    <p:extLst>
      <p:ext uri="{BB962C8B-B14F-4D97-AF65-F5344CB8AC3E}">
        <p14:creationId xmlns:p14="http://schemas.microsoft.com/office/powerpoint/2010/main" val="289974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1" nodeType="click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1"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48"/>
                                        </p:tgtEl>
                                      </p:cBhvr>
                                    </p:animEffect>
                                    <p:animScale>
                                      <p:cBhvr>
                                        <p:cTn id="67" dur="250" autoRev="1" fill="hold"/>
                                        <p:tgtEl>
                                          <p:spTgt spid="48"/>
                                        </p:tgtEl>
                                      </p:cBhvr>
                                      <p:by x="105000" y="105000"/>
                                    </p:animScale>
                                  </p:childTnLst>
                                </p:cTn>
                              </p:par>
                              <p:par>
                                <p:cTn id="68" presetID="26" presetClass="emph" presetSubtype="0" fill="hold" grpId="0" nodeType="withEffect">
                                  <p:stCondLst>
                                    <p:cond delay="0"/>
                                  </p:stCondLst>
                                  <p:childTnLst>
                                    <p:animEffect transition="out" filter="fade">
                                      <p:cBhvr>
                                        <p:cTn id="69" dur="500" tmFilter="0, 0; .2, .5; .8, .5; 1, 0"/>
                                        <p:tgtEl>
                                          <p:spTgt spid="49"/>
                                        </p:tgtEl>
                                      </p:cBhvr>
                                    </p:animEffect>
                                    <p:animScale>
                                      <p:cBhvr>
                                        <p:cTn id="70" dur="250" autoRev="1" fill="hold"/>
                                        <p:tgtEl>
                                          <p:spTgt spid="4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 grpId="0" animBg="1"/>
      <p:bldP spid="5" grpId="0" animBg="1"/>
      <p:bldP spid="6" grpId="0" animBg="1"/>
      <p:bldP spid="7" grpId="0" animBg="1"/>
      <p:bldP spid="20" grpId="0" animBg="1"/>
      <p:bldP spid="24" grpId="0"/>
      <p:bldP spid="28" grpId="0"/>
      <p:bldP spid="29" grpId="0"/>
      <p:bldP spid="39" grpId="0"/>
      <p:bldP spid="40" grpId="0"/>
      <p:bldP spid="41" grpId="0"/>
      <p:bldP spid="42" grpId="0"/>
      <p:bldP spid="43" grpId="0"/>
      <p:bldP spid="44" grpId="0"/>
      <p:bldP spid="49" grpId="0" animBg="1"/>
      <p:bldP spid="49"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75EBC-FB05-4EF9-806D-158F13E4DDED}"/>
              </a:ext>
            </a:extLst>
          </p:cNvPr>
          <p:cNvSpPr>
            <a:spLocks noGrp="1"/>
          </p:cNvSpPr>
          <p:nvPr>
            <p:ph type="title"/>
          </p:nvPr>
        </p:nvSpPr>
        <p:spPr>
          <a:xfrm>
            <a:off x="0" y="0"/>
            <a:ext cx="10515600" cy="720052"/>
          </a:xfrm>
        </p:spPr>
        <p:txBody>
          <a:bodyPr/>
          <a:lstStyle/>
          <a:p>
            <a:r>
              <a:rPr lang="en-GB" dirty="0"/>
              <a:t>Theory of Change explained</a:t>
            </a:r>
          </a:p>
        </p:txBody>
      </p:sp>
      <p:pic>
        <p:nvPicPr>
          <p:cNvPr id="4" name="Online Media 3">
            <a:hlinkClick r:id="" action="ppaction://media"/>
            <a:extLst>
              <a:ext uri="{FF2B5EF4-FFF2-40B4-BE49-F238E27FC236}">
                <a16:creationId xmlns:a16="http://schemas.microsoft.com/office/drawing/2014/main" id="{D9806AB5-4C05-4C04-AE6F-3550E5AEAE41}"/>
              </a:ext>
            </a:extLst>
          </p:cNvPr>
          <p:cNvPicPr>
            <a:picLocks noGrp="1" noRot="1" noChangeAspect="1"/>
          </p:cNvPicPr>
          <p:nvPr>
            <p:ph sz="quarter" idx="10"/>
            <a:videoFile r:link="rId1"/>
          </p:nvPr>
        </p:nvPicPr>
        <p:blipFill>
          <a:blip r:embed="rId4"/>
          <a:stretch>
            <a:fillRect/>
          </a:stretch>
        </p:blipFill>
        <p:spPr>
          <a:xfrm>
            <a:off x="1818640" y="1011555"/>
            <a:ext cx="8554720" cy="4812030"/>
          </a:xfrm>
          <a:prstGeom prst="rect">
            <a:avLst/>
          </a:prstGeom>
        </p:spPr>
      </p:pic>
    </p:spTree>
    <p:extLst>
      <p:ext uri="{BB962C8B-B14F-4D97-AF65-F5344CB8AC3E}">
        <p14:creationId xmlns:p14="http://schemas.microsoft.com/office/powerpoint/2010/main" val="2200218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cxnSp>
        <p:nvCxnSpPr>
          <p:cNvPr id="9" name="Straight Connector 8"/>
          <p:cNvCxnSpPr/>
          <p:nvPr/>
        </p:nvCxnSpPr>
        <p:spPr>
          <a:xfrm>
            <a:off x="10134600" y="412750"/>
            <a:ext cx="381000" cy="0"/>
          </a:xfrm>
          <a:prstGeom prst="line">
            <a:avLst/>
          </a:prstGeom>
          <a:ln w="6350" cap="rnd" cmpd="sng" algn="ctr">
            <a:solidFill>
              <a:schemeClr val="tx1">
                <a:lumMod val="50000"/>
                <a:lumOff val="50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32014" y="876748"/>
            <a:ext cx="11527971" cy="2553891"/>
          </a:xfrm>
          <a:prstGeom prst="roundRect">
            <a:avLst/>
          </a:prstGeom>
          <a:ln w="31750"/>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636363"/>
                </a:solidFill>
                <a:effectLst/>
                <a:uLnTx/>
                <a:uFillTx/>
                <a:latin typeface="Gotham Book"/>
                <a:ea typeface="+mn-ea"/>
                <a:cs typeface="+mn-cs"/>
              </a:rPr>
              <a:t>With an A1 sheet of paper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4 sets of post it notes.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400" dirty="0">
                <a:solidFill>
                  <a:srgbClr val="636363"/>
                </a:solidFill>
                <a:latin typeface="Gotham Book"/>
              </a:rPr>
              <a:t>Sharpie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srgbClr val="636363"/>
              </a:solidFill>
              <a:effectLst/>
              <a:uLnTx/>
              <a:uFillTx/>
              <a:latin typeface="Gotham Book"/>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en-GB" sz="2400" i="1" dirty="0">
                <a:solidFill>
                  <a:srgbClr val="636363"/>
                </a:solidFill>
                <a:latin typeface="Gotham Book"/>
              </a:rPr>
              <a:t>You can also work directly in your workbook, but we recommend using a pencil as you may move</a:t>
            </a:r>
            <a:r>
              <a:rPr lang="en-GB" sz="2400" dirty="0">
                <a:solidFill>
                  <a:srgbClr val="636363"/>
                </a:solidFill>
                <a:latin typeface="Gotham Book"/>
              </a:rPr>
              <a:t> your ideas around. </a:t>
            </a:r>
            <a:endParaRPr kumimoji="0" lang="en-GB" sz="2400" b="0" i="1" u="none" strike="noStrike" kern="1200" cap="none" spc="0" normalizeH="0" baseline="0" noProof="0" dirty="0">
              <a:ln>
                <a:noFill/>
              </a:ln>
              <a:solidFill>
                <a:srgbClr val="636363"/>
              </a:solidFill>
              <a:effectLst/>
              <a:uLnTx/>
              <a:uFillTx/>
              <a:latin typeface="Gotham Book"/>
              <a:ea typeface="+mn-ea"/>
              <a:cs typeface="+mn-cs"/>
            </a:endParaRPr>
          </a:p>
        </p:txBody>
      </p:sp>
      <p:sp>
        <p:nvSpPr>
          <p:cNvPr id="14" name="Title 1">
            <a:extLst>
              <a:ext uri="{FF2B5EF4-FFF2-40B4-BE49-F238E27FC236}">
                <a16:creationId xmlns:a16="http://schemas.microsoft.com/office/drawing/2014/main" id="{E1A6A034-FE65-477E-AFEB-9250087B3FAB}"/>
              </a:ext>
            </a:extLst>
          </p:cNvPr>
          <p:cNvSpPr txBox="1">
            <a:spLocks/>
          </p:cNvSpPr>
          <p:nvPr/>
        </p:nvSpPr>
        <p:spPr>
          <a:xfrm>
            <a:off x="437304" y="128030"/>
            <a:ext cx="10515600" cy="748718"/>
          </a:xfrm>
          <a:prstGeom prst="rect">
            <a:avLst/>
          </a:prstGeom>
        </p:spPr>
        <p:txBody>
          <a:bodyPr vert="horz" lIns="91440" tIns="45720" rIns="91440" bIns="45720" rtlCol="0" anchor="ctr">
            <a:normAutofit/>
          </a:bodyPr>
          <a:lstStyle>
            <a:lvl1pPr>
              <a:lnSpc>
                <a:spcPct val="90000"/>
              </a:lnSpc>
              <a:spcBef>
                <a:spcPct val="0"/>
              </a:spcBef>
              <a:buNone/>
              <a:defRPr sz="4400">
                <a:solidFill>
                  <a:srgbClr val="491A66"/>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400" b="0" i="0" u="none" strike="noStrike" kern="1200" cap="none" spc="0" normalizeH="0" baseline="0" noProof="0" dirty="0">
                <a:ln>
                  <a:noFill/>
                </a:ln>
                <a:solidFill>
                  <a:srgbClr val="491A66"/>
                </a:solidFill>
                <a:effectLst/>
                <a:uLnTx/>
                <a:uFillTx/>
                <a:latin typeface="Gotham Bold"/>
                <a:ea typeface="+mj-ea"/>
                <a:cs typeface="+mj-cs"/>
              </a:rPr>
              <a:t>Impact Framework: Activity</a:t>
            </a:r>
          </a:p>
        </p:txBody>
      </p:sp>
      <p:graphicFrame>
        <p:nvGraphicFramePr>
          <p:cNvPr id="3" name="Table 2">
            <a:extLst>
              <a:ext uri="{FF2B5EF4-FFF2-40B4-BE49-F238E27FC236}">
                <a16:creationId xmlns:a16="http://schemas.microsoft.com/office/drawing/2014/main" id="{4CB83716-65B5-47D2-958A-AEB40440115F}"/>
              </a:ext>
            </a:extLst>
          </p:cNvPr>
          <p:cNvGraphicFramePr>
            <a:graphicFrameLocks noGrp="1"/>
          </p:cNvGraphicFramePr>
          <p:nvPr>
            <p:extLst>
              <p:ext uri="{D42A27DB-BD31-4B8C-83A1-F6EECF244321}">
                <p14:modId xmlns:p14="http://schemas.microsoft.com/office/powerpoint/2010/main" val="66898412"/>
              </p:ext>
            </p:extLst>
          </p:nvPr>
        </p:nvGraphicFramePr>
        <p:xfrm>
          <a:off x="219474" y="3507284"/>
          <a:ext cx="11753052" cy="3174471"/>
        </p:xfrm>
        <a:graphic>
          <a:graphicData uri="http://schemas.openxmlformats.org/drawingml/2006/table">
            <a:tbl>
              <a:tblPr firstRow="1" bandRow="1">
                <a:tableStyleId>{5C22544A-7EE6-4342-B048-85BDC9FD1C3A}</a:tableStyleId>
              </a:tblPr>
              <a:tblGrid>
                <a:gridCol w="2938263">
                  <a:extLst>
                    <a:ext uri="{9D8B030D-6E8A-4147-A177-3AD203B41FA5}">
                      <a16:colId xmlns:a16="http://schemas.microsoft.com/office/drawing/2014/main" val="768447951"/>
                    </a:ext>
                  </a:extLst>
                </a:gridCol>
                <a:gridCol w="2938263">
                  <a:extLst>
                    <a:ext uri="{9D8B030D-6E8A-4147-A177-3AD203B41FA5}">
                      <a16:colId xmlns:a16="http://schemas.microsoft.com/office/drawing/2014/main" val="3227175970"/>
                    </a:ext>
                  </a:extLst>
                </a:gridCol>
                <a:gridCol w="2938263">
                  <a:extLst>
                    <a:ext uri="{9D8B030D-6E8A-4147-A177-3AD203B41FA5}">
                      <a16:colId xmlns:a16="http://schemas.microsoft.com/office/drawing/2014/main" val="421756672"/>
                    </a:ext>
                  </a:extLst>
                </a:gridCol>
                <a:gridCol w="2938263">
                  <a:extLst>
                    <a:ext uri="{9D8B030D-6E8A-4147-A177-3AD203B41FA5}">
                      <a16:colId xmlns:a16="http://schemas.microsoft.com/office/drawing/2014/main" val="4057376478"/>
                    </a:ext>
                  </a:extLst>
                </a:gridCol>
              </a:tblGrid>
              <a:tr h="402120">
                <a:tc>
                  <a:txBody>
                    <a:bodyPr/>
                    <a:lstStyle/>
                    <a:p>
                      <a:pPr algn="ctr"/>
                      <a:r>
                        <a:rPr lang="en-GB" dirty="0"/>
                        <a:t>Goods &amp; services </a:t>
                      </a:r>
                    </a:p>
                  </a:txBody>
                  <a:tcPr anchor="ctr"/>
                </a:tc>
                <a:tc>
                  <a:txBody>
                    <a:bodyPr/>
                    <a:lstStyle/>
                    <a:p>
                      <a:pPr algn="ctr"/>
                      <a:r>
                        <a:rPr lang="en-GB" dirty="0"/>
                        <a:t>What behavioural changes? </a:t>
                      </a:r>
                    </a:p>
                  </a:txBody>
                  <a:tcPr anchor="ctr"/>
                </a:tc>
                <a:tc>
                  <a:txBody>
                    <a:bodyPr/>
                    <a:lstStyle/>
                    <a:p>
                      <a:pPr algn="ctr"/>
                      <a:r>
                        <a:rPr lang="en-GB" dirty="0"/>
                        <a:t>Who benefits and how?</a:t>
                      </a:r>
                    </a:p>
                  </a:txBody>
                  <a:tcPr anchor="ctr"/>
                </a:tc>
                <a:tc>
                  <a:txBody>
                    <a:bodyPr/>
                    <a:lstStyle/>
                    <a:p>
                      <a:pPr algn="ctr"/>
                      <a:r>
                        <a:rPr lang="en-GB" dirty="0"/>
                        <a:t>Change in the world</a:t>
                      </a:r>
                    </a:p>
                  </a:txBody>
                  <a:tcPr anchor="ctr"/>
                </a:tc>
                <a:extLst>
                  <a:ext uri="{0D108BD9-81ED-4DB2-BD59-A6C34878D82A}">
                    <a16:rowId xmlns:a16="http://schemas.microsoft.com/office/drawing/2014/main" val="1388521654"/>
                  </a:ext>
                </a:extLst>
              </a:tr>
              <a:tr h="2772351">
                <a:tc>
                  <a:txBody>
                    <a:bodyPr/>
                    <a:lstStyle/>
                    <a:p>
                      <a:pPr marL="285750" indent="-285750" algn="ctr">
                        <a:buFontTx/>
                        <a:buChar char="-"/>
                      </a:pPr>
                      <a:r>
                        <a:rPr lang="en-GB" dirty="0"/>
                        <a:t>Up to 5 post it notes. </a:t>
                      </a:r>
                    </a:p>
                    <a:p>
                      <a:pPr marL="0" indent="0" algn="ctr">
                        <a:buFontTx/>
                        <a:buNone/>
                      </a:pPr>
                      <a:endParaRPr lang="en-GB" dirty="0"/>
                    </a:p>
                    <a:p>
                      <a:pPr marL="285750" indent="-285750" algn="ctr">
                        <a:buFontTx/>
                        <a:buChar char="-"/>
                      </a:pPr>
                      <a:r>
                        <a:rPr lang="en-GB" dirty="0"/>
                        <a:t>Focus on the goods and services your users access. </a:t>
                      </a:r>
                    </a:p>
                  </a:txBody>
                  <a:tcPr anchor="ctr"/>
                </a:tc>
                <a:tc>
                  <a:txBody>
                    <a:bodyPr/>
                    <a:lstStyle/>
                    <a:p>
                      <a:pPr marL="285750" indent="-285750" algn="ctr">
                        <a:buFontTx/>
                        <a:buChar char="-"/>
                      </a:pPr>
                      <a:r>
                        <a:rPr lang="en-GB" dirty="0"/>
                        <a:t>Up to 3 post it notes. </a:t>
                      </a:r>
                    </a:p>
                    <a:p>
                      <a:pPr marL="285750" indent="-285750" algn="ctr">
                        <a:buFontTx/>
                        <a:buChar char="-"/>
                      </a:pPr>
                      <a:endParaRPr lang="en-GB" dirty="0"/>
                    </a:p>
                    <a:p>
                      <a:pPr marL="285750" indent="-285750" algn="ctr">
                        <a:buFontTx/>
                        <a:buChar char="-"/>
                      </a:pPr>
                      <a:r>
                        <a:rPr lang="en-GB" dirty="0"/>
                        <a:t>Focus on the change in behaviour, knowledge or attitude of the user. </a:t>
                      </a:r>
                    </a:p>
                    <a:p>
                      <a:pPr marL="285750" indent="-285750" algn="ctr">
                        <a:buFontTx/>
                        <a:buChar char="-"/>
                      </a:pPr>
                      <a:endParaRPr lang="en-GB" dirty="0"/>
                    </a:p>
                  </a:txBody>
                  <a:tcPr anchor="ctr"/>
                </a:tc>
                <a:tc>
                  <a:txBody>
                    <a:bodyPr/>
                    <a:lstStyle/>
                    <a:p>
                      <a:pPr marL="285750" indent="-285750" algn="ctr">
                        <a:buFontTx/>
                        <a:buChar char="-"/>
                      </a:pPr>
                      <a:r>
                        <a:rPr lang="en-GB" dirty="0"/>
                        <a:t>Up to 2 post it notes. </a:t>
                      </a:r>
                    </a:p>
                    <a:p>
                      <a:pPr marL="0" indent="0" algn="ctr">
                        <a:buFontTx/>
                        <a:buNone/>
                      </a:pPr>
                      <a:endParaRPr lang="en-GB" dirty="0"/>
                    </a:p>
                    <a:p>
                      <a:pPr marL="285750" indent="-285750" algn="ctr">
                        <a:buFontTx/>
                        <a:buChar char="-"/>
                      </a:pPr>
                      <a:r>
                        <a:rPr lang="en-GB" dirty="0"/>
                        <a:t>Focus on the what changes in their social, economic, enviro, physical sphere. </a:t>
                      </a:r>
                    </a:p>
                    <a:p>
                      <a:pPr marL="285750" indent="-285750" algn="ctr">
                        <a:buFontTx/>
                        <a:buChar char="-"/>
                      </a:pPr>
                      <a:endParaRPr lang="en-GB" dirty="0"/>
                    </a:p>
                  </a:txBody>
                  <a:tcPr anchor="ctr"/>
                </a:tc>
                <a:tc>
                  <a:txBody>
                    <a:bodyPr/>
                    <a:lstStyle/>
                    <a:p>
                      <a:pPr marL="285750" indent="-285750" algn="ctr">
                        <a:buFontTx/>
                        <a:buChar char="-"/>
                      </a:pPr>
                      <a:r>
                        <a:rPr lang="en-GB" dirty="0"/>
                        <a:t>Preferably 1 (up to 2) post it notes. </a:t>
                      </a:r>
                    </a:p>
                    <a:p>
                      <a:pPr marL="0" indent="0" algn="ctr">
                        <a:buFontTx/>
                        <a:buNone/>
                      </a:pPr>
                      <a:endParaRPr lang="en-GB" dirty="0"/>
                    </a:p>
                    <a:p>
                      <a:pPr marL="285750" indent="-285750" algn="ctr">
                        <a:buFontTx/>
                        <a:buChar char="-"/>
                      </a:pPr>
                      <a:r>
                        <a:rPr lang="en-GB" dirty="0"/>
                        <a:t>Think about the </a:t>
                      </a:r>
                      <a:r>
                        <a:rPr lang="en-GB" b="1" dirty="0"/>
                        <a:t>big picture. </a:t>
                      </a:r>
                      <a:r>
                        <a:rPr lang="en-GB" b="0" dirty="0"/>
                        <a:t>What’s the change in the world you want to see? </a:t>
                      </a:r>
                      <a:endParaRPr lang="en-GB" dirty="0"/>
                    </a:p>
                  </a:txBody>
                  <a:tcPr anchor="ctr"/>
                </a:tc>
                <a:extLst>
                  <a:ext uri="{0D108BD9-81ED-4DB2-BD59-A6C34878D82A}">
                    <a16:rowId xmlns:a16="http://schemas.microsoft.com/office/drawing/2014/main" val="1150757948"/>
                  </a:ext>
                </a:extLst>
              </a:tr>
            </a:tbl>
          </a:graphicData>
        </a:graphic>
      </p:graphicFrame>
    </p:spTree>
    <p:extLst>
      <p:ext uri="{BB962C8B-B14F-4D97-AF65-F5344CB8AC3E}">
        <p14:creationId xmlns:p14="http://schemas.microsoft.com/office/powerpoint/2010/main" val="1989620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D325C5B9-4E9E-4818-B42C-AF9A1329CD7C}"/>
              </a:ext>
            </a:extLst>
          </p:cNvPr>
          <p:cNvSpPr txBox="1">
            <a:spLocks/>
          </p:cNvSpPr>
          <p:nvPr/>
        </p:nvSpPr>
        <p:spPr>
          <a:xfrm>
            <a:off x="0" y="92896"/>
            <a:ext cx="9739863" cy="7357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4400" kern="1200">
                <a:solidFill>
                  <a:srgbClr val="491A66"/>
                </a:solidFill>
                <a:latin typeface="+mj-lt"/>
                <a:ea typeface="+mn-ea"/>
                <a:cs typeface="+mn-cs"/>
              </a:defRPr>
            </a:lvl1pPr>
            <a:lvl2pPr marL="457200" indent="0" algn="l" defTabSz="914400" rtl="0" eaLnBrk="1" latinLnBrk="0" hangingPunct="1">
              <a:lnSpc>
                <a:spcPct val="90000"/>
              </a:lnSpc>
              <a:spcBef>
                <a:spcPts val="500"/>
              </a:spcBef>
              <a:buFont typeface="Arial"/>
              <a:buNone/>
              <a:defRPr sz="4400" kern="1200">
                <a:solidFill>
                  <a:srgbClr val="F37023"/>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kumimoji="0" lang="en-GB" sz="4400" b="0" i="0" u="none" strike="noStrike" kern="1200" cap="none" spc="0" normalizeH="0" baseline="0" noProof="0" dirty="0">
                <a:ln>
                  <a:noFill/>
                </a:ln>
                <a:solidFill>
                  <a:srgbClr val="491A66"/>
                </a:solidFill>
                <a:effectLst/>
                <a:uLnTx/>
                <a:uFillTx/>
                <a:latin typeface="Gotham Bold"/>
                <a:ea typeface="+mn-ea"/>
                <a:cs typeface="+mn-cs"/>
              </a:rPr>
              <a:t>An example: Disability Challengers </a:t>
            </a:r>
            <a:r>
              <a:rPr kumimoji="0" lang="en-GB" sz="4400" b="0" i="1" u="none" strike="noStrike" kern="1200" cap="none" spc="0" normalizeH="0" baseline="0" noProof="0" dirty="0" err="1">
                <a:ln>
                  <a:noFill/>
                </a:ln>
                <a:solidFill>
                  <a:srgbClr val="491A66"/>
                </a:solidFill>
                <a:effectLst/>
                <a:uLnTx/>
                <a:uFillTx/>
                <a:latin typeface="Gotham Bold"/>
                <a:ea typeface="+mn-ea"/>
                <a:cs typeface="+mn-cs"/>
              </a:rPr>
              <a:t>ToC</a:t>
            </a:r>
            <a:r>
              <a:rPr kumimoji="0" lang="en-GB" sz="4400" b="0" i="1" u="none" strike="noStrike" kern="1200" cap="none" spc="0" normalizeH="0" baseline="0" noProof="0" dirty="0">
                <a:ln>
                  <a:noFill/>
                </a:ln>
                <a:solidFill>
                  <a:srgbClr val="491A66"/>
                </a:solidFill>
                <a:effectLst/>
                <a:uLnTx/>
                <a:uFillTx/>
                <a:latin typeface="Gotham Bold"/>
                <a:ea typeface="+mn-ea"/>
                <a:cs typeface="+mn-cs"/>
              </a:rPr>
              <a:t> </a:t>
            </a:r>
            <a:endParaRPr kumimoji="0" lang="en-GB" sz="4400" b="0" i="0" u="none" strike="noStrike" kern="1200" cap="none" spc="0" normalizeH="0" baseline="0" noProof="0" dirty="0">
              <a:ln>
                <a:noFill/>
              </a:ln>
              <a:solidFill>
                <a:srgbClr val="491A66"/>
              </a:solidFill>
              <a:effectLst/>
              <a:uLnTx/>
              <a:uFillTx/>
              <a:latin typeface="Gotham Bold"/>
              <a:ea typeface="+mn-ea"/>
              <a:cs typeface="+mn-cs"/>
            </a:endParaRPr>
          </a:p>
        </p:txBody>
      </p:sp>
      <p:pic>
        <p:nvPicPr>
          <p:cNvPr id="5" name="Picture 4">
            <a:extLst>
              <a:ext uri="{FF2B5EF4-FFF2-40B4-BE49-F238E27FC236}">
                <a16:creationId xmlns:a16="http://schemas.microsoft.com/office/drawing/2014/main" id="{96DAA9CF-2870-467A-AFC1-502B41D51A67}"/>
              </a:ext>
            </a:extLst>
          </p:cNvPr>
          <p:cNvPicPr>
            <a:picLocks noChangeAspect="1"/>
          </p:cNvPicPr>
          <p:nvPr/>
        </p:nvPicPr>
        <p:blipFill>
          <a:blip r:embed="rId2"/>
          <a:stretch>
            <a:fillRect/>
          </a:stretch>
        </p:blipFill>
        <p:spPr>
          <a:xfrm>
            <a:off x="276225" y="745133"/>
            <a:ext cx="11258550" cy="5915326"/>
          </a:xfrm>
          <a:prstGeom prst="rect">
            <a:avLst/>
          </a:prstGeom>
        </p:spPr>
      </p:pic>
    </p:spTree>
    <p:extLst>
      <p:ext uri="{BB962C8B-B14F-4D97-AF65-F5344CB8AC3E}">
        <p14:creationId xmlns:p14="http://schemas.microsoft.com/office/powerpoint/2010/main" val="1362804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46995" y="861738"/>
            <a:ext cx="8059456" cy="520446"/>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GB" sz="1400" b="1" dirty="0"/>
              <a:t>Goal</a:t>
            </a:r>
            <a:r>
              <a:rPr lang="en-GB" sz="1400" dirty="0"/>
              <a:t>:</a:t>
            </a:r>
            <a:r>
              <a:rPr lang="en-GB" sz="1100" dirty="0"/>
              <a:t>  to empower people with learning and physical disabilities or people from disadvantaged backgrounds to participate in mixed ability sport alongside able-bodied people through education and sporting means.</a:t>
            </a:r>
          </a:p>
        </p:txBody>
      </p:sp>
      <p:sp>
        <p:nvSpPr>
          <p:cNvPr id="7" name="Rounded Rectangle 6"/>
          <p:cNvSpPr/>
          <p:nvPr/>
        </p:nvSpPr>
        <p:spPr>
          <a:xfrm>
            <a:off x="2137512" y="1510818"/>
            <a:ext cx="1968674" cy="420065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b="1" dirty="0"/>
              <a:t>Activities</a:t>
            </a:r>
          </a:p>
          <a:p>
            <a:pPr marL="171450" lvl="0" indent="-171450">
              <a:buFont typeface="Arial"/>
              <a:buChar char="•"/>
            </a:pPr>
            <a:endParaRPr lang="en-GB" sz="1100" b="1" dirty="0"/>
          </a:p>
          <a:p>
            <a:pPr marL="171450" lvl="0" indent="-171450">
              <a:buFont typeface="Arial"/>
              <a:buChar char="•"/>
            </a:pPr>
            <a:endParaRPr lang="en-GB" sz="1100" b="1" dirty="0"/>
          </a:p>
          <a:p>
            <a:pPr marL="171450" lvl="0" indent="-171450">
              <a:buFont typeface="Arial"/>
              <a:buChar char="•"/>
            </a:pPr>
            <a:endParaRPr lang="en-GB" sz="1100" b="1" dirty="0"/>
          </a:p>
          <a:p>
            <a:pPr marL="171450" indent="-171450">
              <a:spcBef>
                <a:spcPts val="600"/>
              </a:spcBef>
              <a:buFont typeface="Arial"/>
              <a:buChar char="•"/>
            </a:pPr>
            <a:r>
              <a:rPr lang="en-GB" sz="1100" dirty="0"/>
              <a:t>Train coaches and volunteers</a:t>
            </a:r>
          </a:p>
          <a:p>
            <a:pPr marL="171450" lvl="0" indent="-171450">
              <a:spcBef>
                <a:spcPts val="600"/>
              </a:spcBef>
              <a:buFont typeface="Arial"/>
              <a:buChar char="•"/>
            </a:pPr>
            <a:r>
              <a:rPr lang="en-GB" sz="1100" dirty="0"/>
              <a:t>Mixed-ability sport &amp; physical activity</a:t>
            </a:r>
          </a:p>
          <a:p>
            <a:pPr marL="171450" lvl="0" indent="-171450">
              <a:spcBef>
                <a:spcPts val="600"/>
              </a:spcBef>
              <a:buFont typeface="Arial"/>
              <a:buChar char="•"/>
            </a:pPr>
            <a:r>
              <a:rPr lang="en-GB" sz="1100" dirty="0"/>
              <a:t>Create local, nationals and international support network to share best practice</a:t>
            </a:r>
          </a:p>
          <a:p>
            <a:pPr marL="171450" indent="-171450">
              <a:spcBef>
                <a:spcPts val="600"/>
              </a:spcBef>
              <a:buFont typeface="Arial"/>
              <a:buChar char="•"/>
            </a:pPr>
            <a:r>
              <a:rPr lang="en-GB" sz="1100" dirty="0"/>
              <a:t>Produce new resources and learning modules</a:t>
            </a:r>
          </a:p>
          <a:p>
            <a:pPr marL="171450" indent="-171450">
              <a:spcBef>
                <a:spcPts val="600"/>
              </a:spcBef>
              <a:buFont typeface="Arial"/>
              <a:buChar char="•"/>
            </a:pPr>
            <a:r>
              <a:rPr lang="en-GB" sz="1100" dirty="0"/>
              <a:t>Education &amp; awareness raising </a:t>
            </a:r>
          </a:p>
          <a:p>
            <a:pPr marL="171450" indent="-171450">
              <a:spcBef>
                <a:spcPts val="600"/>
              </a:spcBef>
              <a:buFont typeface="Arial"/>
              <a:buChar char="•"/>
            </a:pPr>
            <a:r>
              <a:rPr lang="en-GB" sz="1100" dirty="0"/>
              <a:t>Work experience / placements</a:t>
            </a:r>
            <a:endParaRPr lang="en-GB" sz="1400" b="1" dirty="0"/>
          </a:p>
          <a:p>
            <a:pPr lvl="0"/>
            <a:endParaRPr lang="en-GB" sz="1400" b="1" dirty="0"/>
          </a:p>
          <a:p>
            <a:pPr lvl="0"/>
            <a:endParaRPr lang="en-GB" sz="1100" b="1" dirty="0"/>
          </a:p>
        </p:txBody>
      </p:sp>
      <p:sp>
        <p:nvSpPr>
          <p:cNvPr id="8" name="Rounded Rectangle 7"/>
          <p:cNvSpPr/>
          <p:nvPr/>
        </p:nvSpPr>
        <p:spPr>
          <a:xfrm>
            <a:off x="4313276" y="1506705"/>
            <a:ext cx="2086200" cy="420065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b="1" dirty="0"/>
          </a:p>
          <a:p>
            <a:pPr algn="ctr"/>
            <a:r>
              <a:rPr lang="en-GB" b="1" dirty="0"/>
              <a:t>Outputs</a:t>
            </a:r>
          </a:p>
          <a:p>
            <a:pPr algn="ctr"/>
            <a:endParaRPr lang="en-GB" sz="1100" b="1" dirty="0"/>
          </a:p>
          <a:p>
            <a:pPr marL="171450" indent="-171450">
              <a:spcBef>
                <a:spcPts val="600"/>
              </a:spcBef>
              <a:buFont typeface="Arial"/>
              <a:buChar char="•"/>
            </a:pPr>
            <a:r>
              <a:rPr lang="en-GB" sz="1100" dirty="0"/>
              <a:t>No of people trained in mixed-ability model</a:t>
            </a:r>
          </a:p>
          <a:p>
            <a:pPr marL="171450" indent="-171450">
              <a:spcBef>
                <a:spcPts val="600"/>
              </a:spcBef>
              <a:buFont typeface="Arial"/>
              <a:buChar char="•"/>
            </a:pPr>
            <a:r>
              <a:rPr lang="en-GB" sz="1100" dirty="0"/>
              <a:t>The range of mixed ability sports offered in each country</a:t>
            </a:r>
          </a:p>
          <a:p>
            <a:pPr marL="171450" indent="-171450">
              <a:spcBef>
                <a:spcPts val="600"/>
              </a:spcBef>
              <a:buFont typeface="Arial"/>
              <a:buChar char="•"/>
            </a:pPr>
            <a:r>
              <a:rPr lang="en-GB" sz="1100" dirty="0"/>
              <a:t>No of people with participating in mixed-ability sports</a:t>
            </a:r>
          </a:p>
          <a:p>
            <a:pPr marL="171450" lvl="0" indent="-171450">
              <a:spcBef>
                <a:spcPts val="600"/>
              </a:spcBef>
              <a:buFont typeface="Arial"/>
              <a:buChar char="•"/>
            </a:pPr>
            <a:r>
              <a:rPr lang="en-GB" sz="1100" dirty="0"/>
              <a:t>A growing mixed-ability community</a:t>
            </a:r>
          </a:p>
          <a:p>
            <a:pPr marL="171450" lvl="0" indent="-171450">
              <a:spcBef>
                <a:spcPts val="600"/>
              </a:spcBef>
              <a:buFont typeface="Arial"/>
              <a:buChar char="•"/>
            </a:pPr>
            <a:r>
              <a:rPr lang="en-GB" sz="1100" dirty="0"/>
              <a:t>No of publications produced (including resources, guidelines, protocols)</a:t>
            </a:r>
          </a:p>
          <a:p>
            <a:pPr marL="171450" indent="-171450">
              <a:spcBef>
                <a:spcPts val="600"/>
              </a:spcBef>
              <a:buFont typeface="Arial"/>
              <a:buChar char="•"/>
            </a:pPr>
            <a:r>
              <a:rPr lang="en-GB" sz="1100" dirty="0"/>
              <a:t>No of awareness raising events </a:t>
            </a:r>
          </a:p>
          <a:p>
            <a:pPr marL="171450" indent="-171450">
              <a:spcBef>
                <a:spcPts val="600"/>
              </a:spcBef>
              <a:buFont typeface="Arial"/>
              <a:buChar char="•"/>
            </a:pPr>
            <a:r>
              <a:rPr lang="en-GB" sz="1100" dirty="0"/>
              <a:t>No of work experience placements completed</a:t>
            </a:r>
            <a:endParaRPr lang="en-GB" sz="1100" b="1" dirty="0"/>
          </a:p>
          <a:p>
            <a:pPr lvl="0"/>
            <a:endParaRPr lang="en-GB" sz="1100" dirty="0"/>
          </a:p>
          <a:p>
            <a:endParaRPr lang="en-GB" sz="1400" dirty="0"/>
          </a:p>
        </p:txBody>
      </p:sp>
      <p:sp>
        <p:nvSpPr>
          <p:cNvPr id="9" name="Rounded Rectangle 8"/>
          <p:cNvSpPr/>
          <p:nvPr/>
        </p:nvSpPr>
        <p:spPr>
          <a:xfrm>
            <a:off x="6617255" y="1519158"/>
            <a:ext cx="1999095" cy="4234077"/>
          </a:xfrm>
          <a:prstGeom prst="roundRect">
            <a:avLst/>
          </a:prstGeom>
        </p:spPr>
        <p:style>
          <a:lnRef idx="2">
            <a:schemeClr val="accent2"/>
          </a:lnRef>
          <a:fillRef idx="1">
            <a:schemeClr val="lt1"/>
          </a:fillRef>
          <a:effectRef idx="0">
            <a:schemeClr val="accent2"/>
          </a:effectRef>
          <a:fontRef idx="minor">
            <a:schemeClr val="dk1"/>
          </a:fontRef>
        </p:style>
        <p:txBody>
          <a:bodyPr numCol="1" rtlCol="0" anchor="ctr"/>
          <a:lstStyle/>
          <a:p>
            <a:endParaRPr lang="en-GB" sz="1050" dirty="0"/>
          </a:p>
          <a:p>
            <a:pPr algn="ctr"/>
            <a:r>
              <a:rPr lang="en-GB" b="1" dirty="0"/>
              <a:t>Short-term Outcomes</a:t>
            </a:r>
            <a:endParaRPr lang="en-GB" sz="1000" b="1" dirty="0"/>
          </a:p>
          <a:p>
            <a:r>
              <a:rPr lang="en-GB" sz="1000" b="1" dirty="0"/>
              <a:t>Participants with disabilities</a:t>
            </a:r>
            <a:endParaRPr lang="en-GB" sz="1000" dirty="0"/>
          </a:p>
          <a:p>
            <a:pPr marL="171450" indent="-171450">
              <a:spcBef>
                <a:spcPts val="600"/>
              </a:spcBef>
              <a:buFont typeface="Arial"/>
              <a:buChar char="•"/>
            </a:pPr>
            <a:r>
              <a:rPr lang="en-GB" sz="1000" dirty="0"/>
              <a:t>Increased accessibility &amp; access to opportunities</a:t>
            </a:r>
            <a:endParaRPr lang="en-GB" sz="1000" b="1" dirty="0"/>
          </a:p>
          <a:p>
            <a:pPr lvl="0">
              <a:spcBef>
                <a:spcPts val="600"/>
              </a:spcBef>
            </a:pPr>
            <a:r>
              <a:rPr lang="en-GB" sz="1000" b="1" dirty="0"/>
              <a:t>All Participants</a:t>
            </a:r>
          </a:p>
          <a:p>
            <a:pPr marL="171450" indent="-171450">
              <a:spcBef>
                <a:spcPts val="600"/>
              </a:spcBef>
              <a:buFont typeface="Arial"/>
              <a:buChar char="•"/>
            </a:pPr>
            <a:r>
              <a:rPr lang="en-GB" sz="1000" dirty="0"/>
              <a:t>Increased sense of teamwork, respect, enjoyment, self-discipline &amp; fair-play</a:t>
            </a:r>
          </a:p>
          <a:p>
            <a:pPr marL="171450" indent="-171450">
              <a:spcBef>
                <a:spcPts val="600"/>
              </a:spcBef>
              <a:buFont typeface="Arial"/>
              <a:buChar char="•"/>
            </a:pPr>
            <a:r>
              <a:rPr lang="en-GB" sz="1000" dirty="0"/>
              <a:t>Increased self-esteem, confidence &amp; resilience</a:t>
            </a:r>
          </a:p>
          <a:p>
            <a:pPr marL="171450" indent="-171450">
              <a:spcBef>
                <a:spcPts val="600"/>
              </a:spcBef>
              <a:buFont typeface="Arial"/>
              <a:buChar char="•"/>
            </a:pPr>
            <a:r>
              <a:rPr lang="en-GB" sz="1000" dirty="0"/>
              <a:t>Increased knowledge,  skills &amp; expertise</a:t>
            </a:r>
          </a:p>
          <a:p>
            <a:pPr marL="171450" lvl="0" indent="-171450">
              <a:spcBef>
                <a:spcPts val="600"/>
              </a:spcBef>
              <a:buFont typeface="Arial"/>
              <a:buChar char="•"/>
            </a:pPr>
            <a:r>
              <a:rPr lang="en-GB" sz="1000" dirty="0"/>
              <a:t>Increased physical activity</a:t>
            </a:r>
            <a:endParaRPr lang="en-GB" sz="1000" b="1" dirty="0"/>
          </a:p>
          <a:p>
            <a:pPr lvl="0">
              <a:spcBef>
                <a:spcPts val="600"/>
              </a:spcBef>
            </a:pPr>
            <a:r>
              <a:rPr lang="en-GB" sz="1000" b="1" dirty="0"/>
              <a:t>Wider Community</a:t>
            </a:r>
          </a:p>
          <a:p>
            <a:pPr marL="171450" indent="-171450">
              <a:spcBef>
                <a:spcPts val="600"/>
              </a:spcBef>
              <a:buFont typeface="Arial"/>
              <a:buChar char="•"/>
            </a:pPr>
            <a:r>
              <a:rPr lang="en-GB" sz="1000" dirty="0"/>
              <a:t>Increased awareness about mixed-ability sport and the rights and opportunities  for people with disabilities</a:t>
            </a:r>
          </a:p>
          <a:p>
            <a:pPr marL="171450" lvl="0" indent="-171450">
              <a:spcBef>
                <a:spcPts val="600"/>
              </a:spcBef>
              <a:buFont typeface="Arial"/>
              <a:buChar char="•"/>
            </a:pPr>
            <a:r>
              <a:rPr lang="en-GB" sz="1000" dirty="0"/>
              <a:t>Increased interaction between people with different abilities, backgrounds &amp; nationalities</a:t>
            </a:r>
          </a:p>
          <a:p>
            <a:pPr lvl="0">
              <a:spcBef>
                <a:spcPts val="600"/>
              </a:spcBef>
            </a:pPr>
            <a:endParaRPr lang="en-GB" sz="1000" b="1" dirty="0"/>
          </a:p>
          <a:p>
            <a:pPr lvl="0">
              <a:spcBef>
                <a:spcPts val="600"/>
              </a:spcBef>
            </a:pPr>
            <a:endParaRPr lang="en-GB" sz="1000" b="1" dirty="0"/>
          </a:p>
        </p:txBody>
      </p:sp>
      <p:sp>
        <p:nvSpPr>
          <p:cNvPr id="10" name="Rounded Rectangle 9"/>
          <p:cNvSpPr/>
          <p:nvPr/>
        </p:nvSpPr>
        <p:spPr>
          <a:xfrm>
            <a:off x="317509" y="136064"/>
            <a:ext cx="8061573" cy="619847"/>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GB" sz="1400" b="1" dirty="0"/>
              <a:t>Rationale: </a:t>
            </a:r>
            <a:r>
              <a:rPr lang="en-GB" sz="1100" dirty="0"/>
              <a:t>People with physical and learning disabilities face barriers to inclusion and effective participation in society, especially in the field of sport and physical activity. They face a number of number of physical, practical, social, cultural and emotional barriers  (e.g. lack of time, finance, stigma). As a result they have a higher risk of developing an unhealthy lifestyle. </a:t>
            </a:r>
          </a:p>
        </p:txBody>
      </p:sp>
      <p:sp>
        <p:nvSpPr>
          <p:cNvPr id="11" name="Rounded Rectangle 10"/>
          <p:cNvSpPr/>
          <p:nvPr/>
        </p:nvSpPr>
        <p:spPr>
          <a:xfrm>
            <a:off x="273615" y="5799104"/>
            <a:ext cx="4095926" cy="95003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GB" sz="1050" b="1" dirty="0"/>
              <a:t>Assumptions</a:t>
            </a:r>
          </a:p>
          <a:p>
            <a:pPr marL="171450" indent="-171450">
              <a:buFont typeface="Arial"/>
              <a:buChar char="•"/>
            </a:pPr>
            <a:r>
              <a:rPr lang="en-GB" sz="1050" dirty="0"/>
              <a:t>Partners are able to recruit and retain the right staff and volunteers to ensure that they can fulfil their roles and responsibilities</a:t>
            </a:r>
          </a:p>
        </p:txBody>
      </p:sp>
      <p:sp>
        <p:nvSpPr>
          <p:cNvPr id="16" name="Right Arrow 15"/>
          <p:cNvSpPr/>
          <p:nvPr/>
        </p:nvSpPr>
        <p:spPr>
          <a:xfrm>
            <a:off x="4002550" y="2377700"/>
            <a:ext cx="350198" cy="2615595"/>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19" name="Rounded Rectangle 18"/>
          <p:cNvSpPr/>
          <p:nvPr/>
        </p:nvSpPr>
        <p:spPr>
          <a:xfrm>
            <a:off x="8814844" y="5868686"/>
            <a:ext cx="3184312" cy="89281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GB" sz="1050" b="1" dirty="0"/>
              <a:t>Assumptions</a:t>
            </a:r>
          </a:p>
          <a:p>
            <a:pPr marL="171450" indent="-171450">
              <a:buFont typeface="Arial"/>
              <a:buChar char="•"/>
            </a:pPr>
            <a:r>
              <a:rPr lang="en-GB" sz="1050" dirty="0"/>
              <a:t>Long term engagement with key stakeholders</a:t>
            </a:r>
          </a:p>
          <a:p>
            <a:pPr marL="171450" indent="-171450">
              <a:buFont typeface="Arial"/>
              <a:buChar char="•"/>
            </a:pPr>
            <a:r>
              <a:rPr lang="en-GB" sz="1050" dirty="0"/>
              <a:t>Support from national sport bodies</a:t>
            </a:r>
          </a:p>
          <a:p>
            <a:endParaRPr lang="en-GB" sz="1050" b="1" dirty="0"/>
          </a:p>
          <a:p>
            <a:endParaRPr lang="en-GB" sz="1050" dirty="0"/>
          </a:p>
        </p:txBody>
      </p:sp>
      <p:sp>
        <p:nvSpPr>
          <p:cNvPr id="20" name="Rounded Rectangle 19"/>
          <p:cNvSpPr/>
          <p:nvPr/>
        </p:nvSpPr>
        <p:spPr>
          <a:xfrm>
            <a:off x="10942965" y="1544062"/>
            <a:ext cx="1143342" cy="4176745"/>
          </a:xfrm>
          <a:prstGeom prst="roundRect">
            <a:avLst/>
          </a:prstGeom>
        </p:spPr>
        <p:style>
          <a:lnRef idx="2">
            <a:schemeClr val="accent2"/>
          </a:lnRef>
          <a:fillRef idx="1">
            <a:schemeClr val="lt1"/>
          </a:fillRef>
          <a:effectRef idx="0">
            <a:schemeClr val="accent2"/>
          </a:effectRef>
          <a:fontRef idx="minor">
            <a:schemeClr val="dk1"/>
          </a:fontRef>
        </p:style>
        <p:txBody>
          <a:bodyPr numCol="1" rtlCol="0" anchor="ctr"/>
          <a:lstStyle/>
          <a:p>
            <a:pPr algn="ctr"/>
            <a:r>
              <a:rPr lang="en-GB" b="1" dirty="0"/>
              <a:t>Impact</a:t>
            </a:r>
          </a:p>
          <a:p>
            <a:pPr algn="ctr"/>
            <a:endParaRPr lang="en-GB" b="1" dirty="0"/>
          </a:p>
          <a:p>
            <a:pPr algn="ctr"/>
            <a:endParaRPr lang="en-GB" b="1" dirty="0"/>
          </a:p>
          <a:p>
            <a:pPr algn="ctr"/>
            <a:endParaRPr lang="en-GB" b="1" dirty="0"/>
          </a:p>
          <a:p>
            <a:pPr algn="ctr"/>
            <a:r>
              <a:rPr lang="en-GB" sz="1200" dirty="0"/>
              <a:t>A cultural shift: attitudes and behaviours that foster equality, social inclusion &amp; wellbeing.  </a:t>
            </a:r>
          </a:p>
          <a:p>
            <a:pPr algn="ctr"/>
            <a:endParaRPr lang="en-GB" sz="1300" b="1" dirty="0"/>
          </a:p>
          <a:p>
            <a:pPr algn="ctr"/>
            <a:endParaRPr lang="en-GB" sz="1300" b="1" dirty="0"/>
          </a:p>
          <a:p>
            <a:pPr algn="ctr"/>
            <a:endParaRPr lang="en-GB" sz="1300" b="1" dirty="0"/>
          </a:p>
          <a:p>
            <a:pPr algn="ctr"/>
            <a:endParaRPr lang="en-GB" sz="1300" b="1" dirty="0"/>
          </a:p>
          <a:p>
            <a:endParaRPr lang="en-GB" sz="1100" b="1" dirty="0"/>
          </a:p>
          <a:p>
            <a:endParaRPr lang="en-GB" sz="1100" dirty="0"/>
          </a:p>
        </p:txBody>
      </p:sp>
      <p:sp>
        <p:nvSpPr>
          <p:cNvPr id="23" name="Rounded Rectangle 8"/>
          <p:cNvSpPr/>
          <p:nvPr/>
        </p:nvSpPr>
        <p:spPr>
          <a:xfrm>
            <a:off x="144460" y="1510008"/>
            <a:ext cx="1819634" cy="4173289"/>
          </a:xfrm>
          <a:prstGeom prst="roundRect">
            <a:avLst/>
          </a:prstGeom>
        </p:spPr>
        <p:style>
          <a:lnRef idx="2">
            <a:schemeClr val="accent2"/>
          </a:lnRef>
          <a:fillRef idx="1">
            <a:schemeClr val="lt1"/>
          </a:fillRef>
          <a:effectRef idx="0">
            <a:schemeClr val="accent2"/>
          </a:effectRef>
          <a:fontRef idx="minor">
            <a:schemeClr val="dk1"/>
          </a:fontRef>
        </p:style>
        <p:txBody>
          <a:bodyPr numCol="1" rtlCol="0" anchor="ctr"/>
          <a:lstStyle/>
          <a:p>
            <a:pPr lvl="0" algn="ctr"/>
            <a:r>
              <a:rPr lang="en-GB" b="1" dirty="0"/>
              <a:t>Inputs</a:t>
            </a:r>
          </a:p>
          <a:p>
            <a:pPr lvl="0" algn="ctr"/>
            <a:endParaRPr lang="en-GB" b="1" dirty="0"/>
          </a:p>
          <a:p>
            <a:pPr lvl="0" algn="ctr"/>
            <a:endParaRPr lang="en-GB" dirty="0"/>
          </a:p>
          <a:p>
            <a:pPr lvl="0"/>
            <a:endParaRPr lang="en-GB" sz="1200" dirty="0"/>
          </a:p>
          <a:p>
            <a:pPr lvl="0"/>
            <a:r>
              <a:rPr lang="en-GB" sz="1050" b="1" dirty="0"/>
              <a:t>Human </a:t>
            </a:r>
          </a:p>
          <a:p>
            <a:pPr marL="171450" lvl="0" indent="-171450">
              <a:buFont typeface="Arial"/>
              <a:buChar char="•"/>
            </a:pPr>
            <a:r>
              <a:rPr lang="en-GB" sz="1050" dirty="0"/>
              <a:t> No of staff working on the programme</a:t>
            </a:r>
          </a:p>
          <a:p>
            <a:pPr marL="171450" lvl="0" indent="-171450">
              <a:buFont typeface="Arial"/>
              <a:buChar char="•"/>
            </a:pPr>
            <a:r>
              <a:rPr lang="en-GB" sz="1050" dirty="0"/>
              <a:t>No of volunteers participating in programme</a:t>
            </a:r>
          </a:p>
          <a:p>
            <a:pPr lvl="0"/>
            <a:r>
              <a:rPr lang="en-GB" sz="1050" b="1" dirty="0"/>
              <a:t> </a:t>
            </a:r>
          </a:p>
          <a:p>
            <a:pPr lvl="0"/>
            <a:r>
              <a:rPr lang="en-GB" sz="1050" b="1" dirty="0"/>
              <a:t>Financial resources </a:t>
            </a:r>
          </a:p>
          <a:p>
            <a:pPr marL="171450" lvl="0" indent="-171450">
              <a:buFont typeface="Arial"/>
              <a:buChar char="•"/>
            </a:pPr>
            <a:r>
              <a:rPr lang="en-GB" sz="1050" dirty="0"/>
              <a:t>Projected expenditure vs. actual expenditure</a:t>
            </a:r>
          </a:p>
          <a:p>
            <a:pPr lvl="0"/>
            <a:endParaRPr lang="en-GB" sz="1050" dirty="0"/>
          </a:p>
          <a:p>
            <a:pPr lvl="0"/>
            <a:r>
              <a:rPr lang="en-GB" sz="1050" b="1" dirty="0"/>
              <a:t>Material resources</a:t>
            </a:r>
          </a:p>
          <a:p>
            <a:pPr marL="171450" lvl="0" indent="-171450">
              <a:buFont typeface="Arial"/>
              <a:buChar char="•"/>
            </a:pPr>
            <a:r>
              <a:rPr lang="en-GB" sz="1050" dirty="0"/>
              <a:t>Value of non-financial resources secured (e.g. event space)</a:t>
            </a:r>
          </a:p>
          <a:p>
            <a:pPr marL="171450" lvl="0" indent="-171450">
              <a:buFont typeface="Arial"/>
              <a:buChar char="•"/>
            </a:pPr>
            <a:endParaRPr lang="en-GB" sz="1050" b="1" dirty="0"/>
          </a:p>
          <a:p>
            <a:pPr marL="171450" lvl="0" indent="-171450">
              <a:buFont typeface="Arial"/>
              <a:buChar char="•"/>
            </a:pPr>
            <a:endParaRPr lang="en-GB" sz="1050" b="1" dirty="0"/>
          </a:p>
          <a:p>
            <a:pPr marL="171450" lvl="0" indent="-171450">
              <a:buFont typeface="Arial"/>
              <a:buChar char="•"/>
            </a:pPr>
            <a:endParaRPr lang="en-GB" sz="1050" b="1" dirty="0"/>
          </a:p>
          <a:p>
            <a:pPr lvl="0"/>
            <a:endParaRPr lang="en-GB" sz="1200" b="1" dirty="0"/>
          </a:p>
        </p:txBody>
      </p:sp>
      <p:sp>
        <p:nvSpPr>
          <p:cNvPr id="14" name="Circular Arrow 13"/>
          <p:cNvSpPr/>
          <p:nvPr/>
        </p:nvSpPr>
        <p:spPr>
          <a:xfrm rot="5400000" flipV="1">
            <a:off x="63850" y="883039"/>
            <a:ext cx="821316" cy="949012"/>
          </a:xfrm>
          <a:prstGeom prst="circular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solidFill>
                <a:schemeClr val="tx1"/>
              </a:solidFill>
            </a:endParaRPr>
          </a:p>
        </p:txBody>
      </p:sp>
      <p:sp>
        <p:nvSpPr>
          <p:cNvPr id="22" name="Rounded Rectangle 21"/>
          <p:cNvSpPr/>
          <p:nvPr/>
        </p:nvSpPr>
        <p:spPr>
          <a:xfrm>
            <a:off x="8752086" y="1519159"/>
            <a:ext cx="1999095" cy="4220176"/>
          </a:xfrm>
          <a:prstGeom prst="roundRect">
            <a:avLst/>
          </a:prstGeom>
        </p:spPr>
        <p:style>
          <a:lnRef idx="2">
            <a:schemeClr val="accent2"/>
          </a:lnRef>
          <a:fillRef idx="1">
            <a:schemeClr val="lt1"/>
          </a:fillRef>
          <a:effectRef idx="0">
            <a:schemeClr val="accent2"/>
          </a:effectRef>
          <a:fontRef idx="minor">
            <a:schemeClr val="dk1"/>
          </a:fontRef>
        </p:style>
        <p:txBody>
          <a:bodyPr numCol="1" rtlCol="0" anchor="ctr"/>
          <a:lstStyle/>
          <a:p>
            <a:pPr algn="ctr"/>
            <a:endParaRPr lang="en-GB" sz="1000" b="1" dirty="0"/>
          </a:p>
          <a:p>
            <a:pPr algn="ctr"/>
            <a:r>
              <a:rPr lang="en-GB" b="1" dirty="0"/>
              <a:t>Longer-term Outcomes</a:t>
            </a:r>
            <a:endParaRPr lang="en-GB" sz="1000" b="1" dirty="0"/>
          </a:p>
          <a:p>
            <a:r>
              <a:rPr lang="en-GB" sz="1000" dirty="0"/>
              <a:t> </a:t>
            </a:r>
            <a:r>
              <a:rPr lang="en-GB" sz="1000" b="1" dirty="0"/>
              <a:t>Participants with disabilities </a:t>
            </a:r>
          </a:p>
          <a:p>
            <a:pPr marL="171450" indent="-171450">
              <a:spcBef>
                <a:spcPts val="600"/>
              </a:spcBef>
              <a:buFont typeface="Arial"/>
              <a:buChar char="•"/>
            </a:pPr>
            <a:r>
              <a:rPr lang="en-GB" sz="1000" dirty="0"/>
              <a:t>Breaking down physical &amp; emotional barriers to participation</a:t>
            </a:r>
          </a:p>
          <a:p>
            <a:endParaRPr lang="en-GB" sz="1000" b="1" dirty="0"/>
          </a:p>
          <a:p>
            <a:pPr lvl="0"/>
            <a:r>
              <a:rPr lang="en-GB" sz="1000" b="1" dirty="0"/>
              <a:t>All Participants</a:t>
            </a:r>
            <a:endParaRPr lang="en-GB" sz="1000" dirty="0"/>
          </a:p>
          <a:p>
            <a:pPr marL="171450" indent="-171450">
              <a:spcBef>
                <a:spcPts val="600"/>
              </a:spcBef>
              <a:buFont typeface="Arial"/>
              <a:buChar char="•"/>
            </a:pPr>
            <a:r>
              <a:rPr lang="en-GB" sz="1000" dirty="0"/>
              <a:t>Increased  resilience, self-esteem &amp; self-confidence</a:t>
            </a:r>
          </a:p>
          <a:p>
            <a:pPr marL="171450" lvl="0" indent="-171450">
              <a:spcBef>
                <a:spcPts val="600"/>
              </a:spcBef>
              <a:buFont typeface="Arial"/>
              <a:buChar char="•"/>
            </a:pPr>
            <a:r>
              <a:rPr lang="en-GB" sz="1000" dirty="0"/>
              <a:t>Increased integration</a:t>
            </a:r>
          </a:p>
          <a:p>
            <a:pPr marL="171450" lvl="0" indent="-171450">
              <a:spcBef>
                <a:spcPts val="600"/>
              </a:spcBef>
              <a:buFont typeface="Arial"/>
              <a:buChar char="•"/>
            </a:pPr>
            <a:r>
              <a:rPr lang="en-GB" sz="1000" dirty="0"/>
              <a:t>Healthier lifestyles</a:t>
            </a:r>
          </a:p>
          <a:p>
            <a:pPr lvl="0"/>
            <a:endParaRPr lang="en-GB" sz="1000" b="1" dirty="0"/>
          </a:p>
          <a:p>
            <a:pPr lvl="0"/>
            <a:r>
              <a:rPr lang="en-GB" sz="1000" b="1" dirty="0"/>
              <a:t>Wider Community</a:t>
            </a:r>
            <a:endParaRPr lang="en-GB" sz="1000" dirty="0"/>
          </a:p>
          <a:p>
            <a:pPr marL="171450" indent="-171450">
              <a:spcBef>
                <a:spcPts val="600"/>
              </a:spcBef>
              <a:buFont typeface="Arial"/>
              <a:buChar char="•"/>
            </a:pPr>
            <a:r>
              <a:rPr lang="en-GB" sz="1000" dirty="0"/>
              <a:t>Changing attitudes and perceptions about people with disabilities </a:t>
            </a:r>
          </a:p>
          <a:p>
            <a:pPr marL="171450" indent="-171450">
              <a:spcBef>
                <a:spcPts val="600"/>
              </a:spcBef>
              <a:buFont typeface="Arial"/>
              <a:buChar char="•"/>
            </a:pPr>
            <a:r>
              <a:rPr lang="en-GB" sz="1000" dirty="0"/>
              <a:t>More people actively support and promote social inclusion</a:t>
            </a:r>
          </a:p>
          <a:p>
            <a:pPr marL="171450" indent="-171450">
              <a:spcBef>
                <a:spcPts val="600"/>
              </a:spcBef>
              <a:buFont typeface="Arial"/>
              <a:buChar char="•"/>
            </a:pPr>
            <a:r>
              <a:rPr lang="en-GB" sz="1000" dirty="0"/>
              <a:t>Increased collaboration between network members &amp; others</a:t>
            </a:r>
          </a:p>
          <a:p>
            <a:endParaRPr lang="en-GB" sz="1000" dirty="0"/>
          </a:p>
          <a:p>
            <a:pPr lvl="0"/>
            <a:endParaRPr lang="en-GB" sz="1000" b="1" dirty="0"/>
          </a:p>
          <a:p>
            <a:pPr lvl="0"/>
            <a:endParaRPr lang="en-GB" sz="1000" b="1" dirty="0"/>
          </a:p>
          <a:p>
            <a:pPr lvl="0"/>
            <a:endParaRPr lang="en-GB" sz="1000" b="1" dirty="0"/>
          </a:p>
        </p:txBody>
      </p:sp>
      <p:sp>
        <p:nvSpPr>
          <p:cNvPr id="24" name="Rounded Rectangle 23"/>
          <p:cNvSpPr/>
          <p:nvPr/>
        </p:nvSpPr>
        <p:spPr>
          <a:xfrm>
            <a:off x="4435026" y="5814531"/>
            <a:ext cx="4230414" cy="95003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GB" sz="1050" b="1" dirty="0"/>
              <a:t>Assumptions</a:t>
            </a:r>
          </a:p>
          <a:p>
            <a:pPr marL="171450" indent="-171450">
              <a:buFont typeface="Arial"/>
              <a:buChar char="•"/>
            </a:pPr>
            <a:r>
              <a:rPr lang="en-GB" sz="1050" dirty="0"/>
              <a:t>All partners document and share of good practice</a:t>
            </a:r>
          </a:p>
          <a:p>
            <a:pPr marL="171450" indent="-171450">
              <a:buFont typeface="Arial"/>
              <a:buChar char="•"/>
            </a:pPr>
            <a:r>
              <a:rPr lang="en-GB" sz="1050" dirty="0"/>
              <a:t>Enough demand and interest in mixed-ability sports</a:t>
            </a:r>
          </a:p>
        </p:txBody>
      </p:sp>
      <p:sp>
        <p:nvSpPr>
          <p:cNvPr id="25" name="Right Arrow 24"/>
          <p:cNvSpPr/>
          <p:nvPr/>
        </p:nvSpPr>
        <p:spPr>
          <a:xfrm>
            <a:off x="6271507" y="2418031"/>
            <a:ext cx="350198" cy="2450743"/>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26" name="Right Arrow 25"/>
          <p:cNvSpPr/>
          <p:nvPr/>
        </p:nvSpPr>
        <p:spPr>
          <a:xfrm>
            <a:off x="1916883" y="2284034"/>
            <a:ext cx="350198" cy="2584742"/>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17" name="Right Arrow 16"/>
          <p:cNvSpPr/>
          <p:nvPr/>
        </p:nvSpPr>
        <p:spPr>
          <a:xfrm>
            <a:off x="8498564" y="2095066"/>
            <a:ext cx="322609" cy="310764"/>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27" name="Right Arrow 26"/>
          <p:cNvSpPr/>
          <p:nvPr/>
        </p:nvSpPr>
        <p:spPr>
          <a:xfrm>
            <a:off x="8464208" y="3380608"/>
            <a:ext cx="322609" cy="310764"/>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28" name="Right Arrow 27"/>
          <p:cNvSpPr/>
          <p:nvPr/>
        </p:nvSpPr>
        <p:spPr>
          <a:xfrm>
            <a:off x="8476660" y="4837505"/>
            <a:ext cx="322609" cy="310764"/>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29" name="Right Arrow 28"/>
          <p:cNvSpPr/>
          <p:nvPr/>
        </p:nvSpPr>
        <p:spPr>
          <a:xfrm>
            <a:off x="10644574" y="2346293"/>
            <a:ext cx="350198" cy="2450743"/>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30" name="Text Placeholder 1">
            <a:extLst>
              <a:ext uri="{FF2B5EF4-FFF2-40B4-BE49-F238E27FC236}">
                <a16:creationId xmlns:a16="http://schemas.microsoft.com/office/drawing/2014/main" id="{F320974D-768C-A84E-9BFF-322BDBA0863A}"/>
              </a:ext>
            </a:extLst>
          </p:cNvPr>
          <p:cNvSpPr txBox="1">
            <a:spLocks/>
          </p:cNvSpPr>
          <p:nvPr/>
        </p:nvSpPr>
        <p:spPr>
          <a:xfrm>
            <a:off x="8799269" y="212460"/>
            <a:ext cx="3062173" cy="467054"/>
          </a:xfrm>
          <a:prstGeom prst="rect">
            <a:avLst/>
          </a:prstGeom>
          <a:ln>
            <a:solidFill>
              <a:schemeClr val="accent1"/>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99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dirty="0">
                <a:solidFill>
                  <a:schemeClr val="accent1"/>
                </a:solidFill>
              </a:rPr>
              <a:t>EXAMPLE </a:t>
            </a:r>
            <a:r>
              <a:rPr lang="en-GB" sz="2800" dirty="0" err="1">
                <a:solidFill>
                  <a:schemeClr val="accent1"/>
                </a:solidFill>
              </a:rPr>
              <a:t>ToC</a:t>
            </a:r>
            <a:endParaRPr lang="en-GB" sz="2800" dirty="0">
              <a:solidFill>
                <a:schemeClr val="accent1"/>
              </a:solidFill>
            </a:endParaRPr>
          </a:p>
        </p:txBody>
      </p:sp>
    </p:spTree>
    <p:extLst>
      <p:ext uri="{BB962C8B-B14F-4D97-AF65-F5344CB8AC3E}">
        <p14:creationId xmlns:p14="http://schemas.microsoft.com/office/powerpoint/2010/main" val="27784539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8AAB8D4C-92EE-4076-96C6-6D57646B7770}"/>
              </a:ext>
            </a:extLst>
          </p:cNvPr>
          <p:cNvSpPr/>
          <p:nvPr/>
        </p:nvSpPr>
        <p:spPr>
          <a:xfrm>
            <a:off x="2" y="619431"/>
            <a:ext cx="12057858" cy="5722375"/>
          </a:xfrm>
          <a:prstGeom prst="ellipse">
            <a:avLst/>
          </a:prstGeom>
          <a:solidFill>
            <a:srgbClr val="491A6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9" name="Oval 18">
            <a:extLst>
              <a:ext uri="{FF2B5EF4-FFF2-40B4-BE49-F238E27FC236}">
                <a16:creationId xmlns:a16="http://schemas.microsoft.com/office/drawing/2014/main" id="{396D7E28-BB14-4391-886A-41C5BAADD8F8}"/>
              </a:ext>
            </a:extLst>
          </p:cNvPr>
          <p:cNvSpPr/>
          <p:nvPr/>
        </p:nvSpPr>
        <p:spPr>
          <a:xfrm>
            <a:off x="1" y="1216618"/>
            <a:ext cx="8314006" cy="4210665"/>
          </a:xfrm>
          <a:prstGeom prst="ellipse">
            <a:avLst/>
          </a:prstGeom>
          <a:solidFill>
            <a:srgbClr val="491A6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8" name="Oval 17">
            <a:extLst>
              <a:ext uri="{FF2B5EF4-FFF2-40B4-BE49-F238E27FC236}">
                <a16:creationId xmlns:a16="http://schemas.microsoft.com/office/drawing/2014/main" id="{5D05B06A-8125-4EE7-A046-3EDCC5659E10}"/>
              </a:ext>
            </a:extLst>
          </p:cNvPr>
          <p:cNvSpPr/>
          <p:nvPr/>
        </p:nvSpPr>
        <p:spPr>
          <a:xfrm>
            <a:off x="134140" y="2038840"/>
            <a:ext cx="3287486" cy="25662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What we do: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We provide training and employment opportunities to young prisoners and ex-offenders. </a:t>
            </a:r>
          </a:p>
        </p:txBody>
      </p:sp>
      <p:sp>
        <p:nvSpPr>
          <p:cNvPr id="20" name="TextBox 19">
            <a:extLst>
              <a:ext uri="{FF2B5EF4-FFF2-40B4-BE49-F238E27FC236}">
                <a16:creationId xmlns:a16="http://schemas.microsoft.com/office/drawing/2014/main" id="{396B6CEC-70EB-47F5-9930-B6E4A31CAAC3}"/>
              </a:ext>
            </a:extLst>
          </p:cNvPr>
          <p:cNvSpPr txBox="1"/>
          <p:nvPr/>
        </p:nvSpPr>
        <p:spPr>
          <a:xfrm>
            <a:off x="3305050" y="1733964"/>
            <a:ext cx="4034637" cy="36933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What we influence: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The opportunity for skills development for young people in the prison service.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The chance to benefit from working with a commercial organisation and in a team.</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A new way for prison officers and staff to engage with young people.</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More businesses in the coffee industry consider employing ex-offenders.</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22" name="TextBox 21">
            <a:extLst>
              <a:ext uri="{FF2B5EF4-FFF2-40B4-BE49-F238E27FC236}">
                <a16:creationId xmlns:a16="http://schemas.microsoft.com/office/drawing/2014/main" id="{E85EDACB-4453-4407-A329-2EC2415FA2EE}"/>
              </a:ext>
            </a:extLst>
          </p:cNvPr>
          <p:cNvSpPr txBox="1"/>
          <p:nvPr/>
        </p:nvSpPr>
        <p:spPr>
          <a:xfrm>
            <a:off x="8131127" y="2167788"/>
            <a:ext cx="3130445" cy="286232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What we want to achieve: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Young redemption graduates enter gainful employment.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Reduced rates of reoffending for redemption graduates.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Improved well-being and conditions in prison.</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23" name="Text Placeholder 1">
            <a:extLst>
              <a:ext uri="{FF2B5EF4-FFF2-40B4-BE49-F238E27FC236}">
                <a16:creationId xmlns:a16="http://schemas.microsoft.com/office/drawing/2014/main" id="{1BC30C24-C5B8-4D33-A3E4-066041182BFC}"/>
              </a:ext>
            </a:extLst>
          </p:cNvPr>
          <p:cNvSpPr>
            <a:spLocks noGrp="1"/>
          </p:cNvSpPr>
          <p:nvPr>
            <p:ph type="body" sz="quarter" idx="13"/>
          </p:nvPr>
        </p:nvSpPr>
        <p:spPr>
          <a:xfrm>
            <a:off x="-8497" y="49140"/>
            <a:ext cx="8494575" cy="467054"/>
          </a:xfrm>
        </p:spPr>
        <p:txBody>
          <a:bodyPr>
            <a:noAutofit/>
          </a:bodyPr>
          <a:lstStyle/>
          <a:p>
            <a:r>
              <a:rPr lang="en-GB" sz="2800" dirty="0"/>
              <a:t>There are many ways to present a theory of change</a:t>
            </a:r>
          </a:p>
        </p:txBody>
      </p:sp>
      <p:pic>
        <p:nvPicPr>
          <p:cNvPr id="8" name="Picture 1">
            <a:extLst>
              <a:ext uri="{FF2B5EF4-FFF2-40B4-BE49-F238E27FC236}">
                <a16:creationId xmlns:a16="http://schemas.microsoft.com/office/drawing/2014/main" id="{38513968-8283-42D3-B070-9B421813B03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9025" y="147149"/>
            <a:ext cx="933451" cy="94456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921C8B5B-D33E-4CF9-B265-1D92B60C588C}"/>
              </a:ext>
            </a:extLst>
          </p:cNvPr>
          <p:cNvSpPr/>
          <p:nvPr/>
        </p:nvSpPr>
        <p:spPr>
          <a:xfrm>
            <a:off x="1079515" y="2167788"/>
            <a:ext cx="1280160" cy="317135"/>
          </a:xfrm>
          <a:prstGeom prst="roundRect">
            <a:avLst/>
          </a:prstGeom>
          <a:solidFill>
            <a:srgbClr val="FFFF97"/>
          </a:solidFill>
          <a:ln>
            <a:solidFill>
              <a:srgbClr val="FFFF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lumMod val="75000"/>
                  </a:schemeClr>
                </a:solidFill>
              </a:rPr>
              <a:t>G&amp;Ss</a:t>
            </a:r>
          </a:p>
        </p:txBody>
      </p:sp>
      <p:sp>
        <p:nvSpPr>
          <p:cNvPr id="10" name="Rectangle: Rounded Corners 9">
            <a:extLst>
              <a:ext uri="{FF2B5EF4-FFF2-40B4-BE49-F238E27FC236}">
                <a16:creationId xmlns:a16="http://schemas.microsoft.com/office/drawing/2014/main" id="{03B4D403-748C-4480-8727-71553B890954}"/>
              </a:ext>
            </a:extLst>
          </p:cNvPr>
          <p:cNvSpPr/>
          <p:nvPr/>
        </p:nvSpPr>
        <p:spPr>
          <a:xfrm>
            <a:off x="4599463" y="1430717"/>
            <a:ext cx="1429468" cy="373669"/>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lumMod val="75000"/>
                  </a:schemeClr>
                </a:solidFill>
              </a:rPr>
              <a:t>Outcomes</a:t>
            </a:r>
          </a:p>
        </p:txBody>
      </p:sp>
      <p:sp>
        <p:nvSpPr>
          <p:cNvPr id="11" name="Rectangle: Rounded Corners 10">
            <a:extLst>
              <a:ext uri="{FF2B5EF4-FFF2-40B4-BE49-F238E27FC236}">
                <a16:creationId xmlns:a16="http://schemas.microsoft.com/office/drawing/2014/main" id="{5FFEF524-FC60-46D9-8A17-61D4DA459BBB}"/>
              </a:ext>
            </a:extLst>
          </p:cNvPr>
          <p:cNvSpPr/>
          <p:nvPr/>
        </p:nvSpPr>
        <p:spPr>
          <a:xfrm>
            <a:off x="7743180" y="1046161"/>
            <a:ext cx="1429468" cy="394432"/>
          </a:xfrm>
          <a:prstGeom prst="round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lumMod val="75000"/>
                  </a:schemeClr>
                </a:solidFill>
              </a:rPr>
              <a:t>Impact</a:t>
            </a:r>
          </a:p>
        </p:txBody>
      </p:sp>
    </p:spTree>
    <p:extLst>
      <p:ext uri="{BB962C8B-B14F-4D97-AF65-F5344CB8AC3E}">
        <p14:creationId xmlns:p14="http://schemas.microsoft.com/office/powerpoint/2010/main" val="120484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F40A5D-1AA2-4A81-A3F9-8C0CA0B0A49D}"/>
              </a:ext>
            </a:extLst>
          </p:cNvPr>
          <p:cNvSpPr>
            <a:spLocks noGrp="1"/>
          </p:cNvSpPr>
          <p:nvPr>
            <p:ph type="body" sz="quarter" idx="13"/>
          </p:nvPr>
        </p:nvSpPr>
        <p:spPr>
          <a:xfrm>
            <a:off x="0" y="0"/>
            <a:ext cx="10644738" cy="703014"/>
          </a:xfrm>
        </p:spPr>
        <p:txBody>
          <a:bodyPr/>
          <a:lstStyle/>
          <a:p>
            <a:r>
              <a:rPr lang="en-GB" dirty="0"/>
              <a:t>TOC example: A written TOC </a:t>
            </a:r>
          </a:p>
        </p:txBody>
      </p:sp>
      <p:pic>
        <p:nvPicPr>
          <p:cNvPr id="3" name="Picture 2">
            <a:extLst>
              <a:ext uri="{FF2B5EF4-FFF2-40B4-BE49-F238E27FC236}">
                <a16:creationId xmlns:a16="http://schemas.microsoft.com/office/drawing/2014/main" id="{264BD78E-D730-43C8-BDC5-E5834B9F41D6}"/>
              </a:ext>
            </a:extLst>
          </p:cNvPr>
          <p:cNvPicPr>
            <a:picLocks noChangeAspect="1"/>
          </p:cNvPicPr>
          <p:nvPr/>
        </p:nvPicPr>
        <p:blipFill>
          <a:blip r:embed="rId3"/>
          <a:stretch>
            <a:fillRect/>
          </a:stretch>
        </p:blipFill>
        <p:spPr>
          <a:xfrm>
            <a:off x="172974" y="1335023"/>
            <a:ext cx="5750842" cy="4618101"/>
          </a:xfrm>
          <a:prstGeom prst="rect">
            <a:avLst/>
          </a:prstGeom>
        </p:spPr>
      </p:pic>
      <p:pic>
        <p:nvPicPr>
          <p:cNvPr id="4" name="Picture 3">
            <a:extLst>
              <a:ext uri="{FF2B5EF4-FFF2-40B4-BE49-F238E27FC236}">
                <a16:creationId xmlns:a16="http://schemas.microsoft.com/office/drawing/2014/main" id="{1D5B158A-ACD3-4C0D-ACB5-32C883754DA3}"/>
              </a:ext>
            </a:extLst>
          </p:cNvPr>
          <p:cNvPicPr>
            <a:picLocks noChangeAspect="1"/>
          </p:cNvPicPr>
          <p:nvPr/>
        </p:nvPicPr>
        <p:blipFill>
          <a:blip r:embed="rId4"/>
          <a:stretch>
            <a:fillRect/>
          </a:stretch>
        </p:blipFill>
        <p:spPr>
          <a:xfrm>
            <a:off x="5962650" y="1724025"/>
            <a:ext cx="6229350" cy="3409950"/>
          </a:xfrm>
          <a:prstGeom prst="rect">
            <a:avLst/>
          </a:prstGeom>
        </p:spPr>
      </p:pic>
    </p:spTree>
    <p:extLst>
      <p:ext uri="{BB962C8B-B14F-4D97-AF65-F5344CB8AC3E}">
        <p14:creationId xmlns:p14="http://schemas.microsoft.com/office/powerpoint/2010/main" val="2535068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Delay 6">
            <a:extLst>
              <a:ext uri="{FF2B5EF4-FFF2-40B4-BE49-F238E27FC236}">
                <a16:creationId xmlns:a16="http://schemas.microsoft.com/office/drawing/2014/main" id="{C29F11B4-3ABD-49F8-8F55-D118E6B690CC}"/>
              </a:ext>
            </a:extLst>
          </p:cNvPr>
          <p:cNvSpPr/>
          <p:nvPr/>
        </p:nvSpPr>
        <p:spPr>
          <a:xfrm rot="5400000">
            <a:off x="1365987" y="-1382042"/>
            <a:ext cx="6858002" cy="9622086"/>
          </a:xfrm>
          <a:prstGeom prst="flowChartDelay">
            <a:avLst/>
          </a:prstGeom>
          <a:solidFill>
            <a:srgbClr val="491A66">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dirty="0"/>
          </a:p>
        </p:txBody>
      </p:sp>
      <p:sp>
        <p:nvSpPr>
          <p:cNvPr id="26" name="Flowchart: Delay 25">
            <a:extLst>
              <a:ext uri="{FF2B5EF4-FFF2-40B4-BE49-F238E27FC236}">
                <a16:creationId xmlns:a16="http://schemas.microsoft.com/office/drawing/2014/main" id="{4F6072B7-8E05-47CB-9364-FD18BB43552F}"/>
              </a:ext>
            </a:extLst>
          </p:cNvPr>
          <p:cNvSpPr/>
          <p:nvPr/>
        </p:nvSpPr>
        <p:spPr>
          <a:xfrm rot="5400000">
            <a:off x="690976" y="-707030"/>
            <a:ext cx="6443332" cy="7857393"/>
          </a:xfrm>
          <a:prstGeom prst="flowChartDelay">
            <a:avLst/>
          </a:prstGeom>
          <a:solidFill>
            <a:srgbClr val="491A6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dirty="0"/>
          </a:p>
        </p:txBody>
      </p:sp>
      <p:sp>
        <p:nvSpPr>
          <p:cNvPr id="6" name="Flowchart: Delay 5">
            <a:extLst>
              <a:ext uri="{FF2B5EF4-FFF2-40B4-BE49-F238E27FC236}">
                <a16:creationId xmlns:a16="http://schemas.microsoft.com/office/drawing/2014/main" id="{C2C8036F-39C8-431F-B0A1-9DEDEF732495}"/>
              </a:ext>
            </a:extLst>
          </p:cNvPr>
          <p:cNvSpPr/>
          <p:nvPr/>
        </p:nvSpPr>
        <p:spPr>
          <a:xfrm rot="5400000">
            <a:off x="354421" y="-364785"/>
            <a:ext cx="5460978" cy="6189770"/>
          </a:xfrm>
          <a:prstGeom prst="flowChartDelay">
            <a:avLst/>
          </a:prstGeom>
          <a:solidFill>
            <a:srgbClr val="491A6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p>
        </p:txBody>
      </p:sp>
      <p:sp>
        <p:nvSpPr>
          <p:cNvPr id="5" name="Flowchart: Delay 4">
            <a:extLst>
              <a:ext uri="{FF2B5EF4-FFF2-40B4-BE49-F238E27FC236}">
                <a16:creationId xmlns:a16="http://schemas.microsoft.com/office/drawing/2014/main" id="{BD9121E0-570C-4047-9937-7A1A580E40F3}"/>
              </a:ext>
            </a:extLst>
          </p:cNvPr>
          <p:cNvSpPr/>
          <p:nvPr/>
        </p:nvSpPr>
        <p:spPr>
          <a:xfrm rot="5400000">
            <a:off x="284458" y="-284460"/>
            <a:ext cx="4072272" cy="4641193"/>
          </a:xfrm>
          <a:prstGeom prst="flowChartDelay">
            <a:avLst/>
          </a:prstGeom>
          <a:solidFill>
            <a:srgbClr val="491A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sz="1100"/>
          </a:p>
        </p:txBody>
      </p:sp>
      <p:sp>
        <p:nvSpPr>
          <p:cNvPr id="4" name="Flowchart: Delay 3">
            <a:extLst>
              <a:ext uri="{FF2B5EF4-FFF2-40B4-BE49-F238E27FC236}">
                <a16:creationId xmlns:a16="http://schemas.microsoft.com/office/drawing/2014/main" id="{F59D5B56-7671-436C-81BA-CD7C04B029BB}"/>
              </a:ext>
            </a:extLst>
          </p:cNvPr>
          <p:cNvSpPr/>
          <p:nvPr/>
        </p:nvSpPr>
        <p:spPr>
          <a:xfrm rot="5400000">
            <a:off x="290358" y="-318373"/>
            <a:ext cx="2444264" cy="3086105"/>
          </a:xfrm>
          <a:prstGeom prst="flowChartDelay">
            <a:avLst/>
          </a:prstGeom>
          <a:solidFill>
            <a:srgbClr val="EC66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dirty="0"/>
          </a:p>
        </p:txBody>
      </p:sp>
      <p:sp>
        <p:nvSpPr>
          <p:cNvPr id="10" name="TextBox 9">
            <a:extLst>
              <a:ext uri="{FF2B5EF4-FFF2-40B4-BE49-F238E27FC236}">
                <a16:creationId xmlns:a16="http://schemas.microsoft.com/office/drawing/2014/main" id="{B7C5A672-031B-4217-8825-362D738C76D9}"/>
              </a:ext>
            </a:extLst>
          </p:cNvPr>
          <p:cNvSpPr txBox="1">
            <a:spLocks/>
          </p:cNvSpPr>
          <p:nvPr/>
        </p:nvSpPr>
        <p:spPr>
          <a:xfrm>
            <a:off x="3165425" y="15389"/>
            <a:ext cx="1503159" cy="1015663"/>
          </a:xfrm>
          <a:prstGeom prst="rect">
            <a:avLst/>
          </a:prstGeom>
          <a:noFill/>
        </p:spPr>
        <p:txBody>
          <a:bodyPr wrap="square" rtlCol="0">
            <a:spAutoFit/>
          </a:bodyPr>
          <a:lstStyle/>
          <a:p>
            <a:pPr algn="ctr"/>
            <a:r>
              <a:rPr lang="en-GB" sz="1200" b="1" dirty="0">
                <a:solidFill>
                  <a:schemeClr val="bg1"/>
                </a:solidFill>
                <a:latin typeface="Gotham Bold" pitchFamily="50" charset="0"/>
              </a:rPr>
              <a:t>We find, fund, and support social entrepreneurs to reach their potential, including</a:t>
            </a:r>
          </a:p>
        </p:txBody>
      </p:sp>
      <p:sp>
        <p:nvSpPr>
          <p:cNvPr id="14" name="TextBox 13">
            <a:extLst>
              <a:ext uri="{FF2B5EF4-FFF2-40B4-BE49-F238E27FC236}">
                <a16:creationId xmlns:a16="http://schemas.microsoft.com/office/drawing/2014/main" id="{0FA4A0C0-6B69-4C36-8D45-F2FFBA5A78D0}"/>
              </a:ext>
            </a:extLst>
          </p:cNvPr>
          <p:cNvSpPr txBox="1">
            <a:spLocks/>
          </p:cNvSpPr>
          <p:nvPr/>
        </p:nvSpPr>
        <p:spPr>
          <a:xfrm>
            <a:off x="7839057" y="11585"/>
            <a:ext cx="1743139" cy="830997"/>
          </a:xfrm>
          <a:prstGeom prst="rect">
            <a:avLst/>
          </a:prstGeom>
          <a:noFill/>
        </p:spPr>
        <p:txBody>
          <a:bodyPr wrap="square" rtlCol="0">
            <a:spAutoFit/>
          </a:bodyPr>
          <a:lstStyle/>
          <a:p>
            <a:pPr algn="ctr"/>
            <a:r>
              <a:rPr lang="en-GB" sz="1200" b="1" dirty="0">
                <a:solidFill>
                  <a:schemeClr val="bg1"/>
                </a:solidFill>
                <a:latin typeface="Gotham Bold" pitchFamily="50" charset="0"/>
              </a:rPr>
              <a:t>And society joins in taking social entrepreneurs mainstream.</a:t>
            </a:r>
          </a:p>
        </p:txBody>
      </p:sp>
      <p:sp>
        <p:nvSpPr>
          <p:cNvPr id="15" name="TextBox 14">
            <a:extLst>
              <a:ext uri="{FF2B5EF4-FFF2-40B4-BE49-F238E27FC236}">
                <a16:creationId xmlns:a16="http://schemas.microsoft.com/office/drawing/2014/main" id="{5B865857-D754-4232-8B8A-2C874CFDF44F}"/>
              </a:ext>
            </a:extLst>
          </p:cNvPr>
          <p:cNvSpPr txBox="1">
            <a:spLocks/>
          </p:cNvSpPr>
          <p:nvPr/>
        </p:nvSpPr>
        <p:spPr>
          <a:xfrm>
            <a:off x="8043916" y="2283658"/>
            <a:ext cx="1503159" cy="1107996"/>
          </a:xfrm>
          <a:prstGeom prst="rect">
            <a:avLst/>
          </a:prstGeom>
          <a:noFill/>
        </p:spPr>
        <p:txBody>
          <a:bodyPr wrap="square" rtlCol="0">
            <a:spAutoFit/>
          </a:bodyPr>
          <a:lstStyle/>
          <a:p>
            <a:pPr algn="ctr"/>
            <a:r>
              <a:rPr lang="en-GB" sz="1100" dirty="0">
                <a:solidFill>
                  <a:schemeClr val="bg1"/>
                </a:solidFill>
                <a:latin typeface="Gotham Book" pitchFamily="50" charset="0"/>
              </a:rPr>
              <a:t>People in later life are seen as an asset  - people in later life  shape products, services, and interventions</a:t>
            </a:r>
          </a:p>
        </p:txBody>
      </p:sp>
      <p:sp>
        <p:nvSpPr>
          <p:cNvPr id="16" name="TextBox 15">
            <a:extLst>
              <a:ext uri="{FF2B5EF4-FFF2-40B4-BE49-F238E27FC236}">
                <a16:creationId xmlns:a16="http://schemas.microsoft.com/office/drawing/2014/main" id="{1271F212-F53A-4A62-8D6D-7FFB6712FD6E}"/>
              </a:ext>
            </a:extLst>
          </p:cNvPr>
          <p:cNvSpPr txBox="1">
            <a:spLocks/>
          </p:cNvSpPr>
          <p:nvPr/>
        </p:nvSpPr>
        <p:spPr>
          <a:xfrm>
            <a:off x="7989476" y="1154052"/>
            <a:ext cx="1503159" cy="769441"/>
          </a:xfrm>
          <a:prstGeom prst="rect">
            <a:avLst/>
          </a:prstGeom>
          <a:noFill/>
        </p:spPr>
        <p:txBody>
          <a:bodyPr wrap="square" rtlCol="0">
            <a:spAutoFit/>
          </a:bodyPr>
          <a:lstStyle/>
          <a:p>
            <a:pPr algn="ctr"/>
            <a:r>
              <a:rPr lang="en-GB" sz="1100" dirty="0">
                <a:solidFill>
                  <a:schemeClr val="bg1"/>
                </a:solidFill>
                <a:latin typeface="Gotham Book" pitchFamily="50" charset="0"/>
              </a:rPr>
              <a:t>Social Entrepreneurs are valued and understood for the change they create</a:t>
            </a:r>
          </a:p>
        </p:txBody>
      </p:sp>
      <p:sp>
        <p:nvSpPr>
          <p:cNvPr id="17" name="TextBox 16">
            <a:extLst>
              <a:ext uri="{FF2B5EF4-FFF2-40B4-BE49-F238E27FC236}">
                <a16:creationId xmlns:a16="http://schemas.microsoft.com/office/drawing/2014/main" id="{20B35620-5EAB-4FC4-BE80-32DBF85C24EC}"/>
              </a:ext>
            </a:extLst>
          </p:cNvPr>
          <p:cNvSpPr txBox="1">
            <a:spLocks/>
          </p:cNvSpPr>
          <p:nvPr/>
        </p:nvSpPr>
        <p:spPr>
          <a:xfrm>
            <a:off x="7723427" y="4292569"/>
            <a:ext cx="1503159" cy="600164"/>
          </a:xfrm>
          <a:prstGeom prst="rect">
            <a:avLst/>
          </a:prstGeom>
          <a:noFill/>
        </p:spPr>
        <p:txBody>
          <a:bodyPr wrap="square" rtlCol="0">
            <a:spAutoFit/>
          </a:bodyPr>
          <a:lstStyle/>
          <a:p>
            <a:pPr algn="ctr"/>
            <a:r>
              <a:rPr lang="en-GB" sz="1100" dirty="0">
                <a:solidFill>
                  <a:schemeClr val="bg1"/>
                </a:solidFill>
                <a:latin typeface="Gotham Book" pitchFamily="50" charset="0"/>
              </a:rPr>
              <a:t>Increased wellbeing and health outcomes for people in later life</a:t>
            </a:r>
          </a:p>
        </p:txBody>
      </p:sp>
      <p:sp>
        <p:nvSpPr>
          <p:cNvPr id="18" name="TextBox 17">
            <a:extLst>
              <a:ext uri="{FF2B5EF4-FFF2-40B4-BE49-F238E27FC236}">
                <a16:creationId xmlns:a16="http://schemas.microsoft.com/office/drawing/2014/main" id="{3FCB6671-A502-4F6D-863F-47199A471A4F}"/>
              </a:ext>
            </a:extLst>
          </p:cNvPr>
          <p:cNvSpPr txBox="1">
            <a:spLocks/>
          </p:cNvSpPr>
          <p:nvPr/>
        </p:nvSpPr>
        <p:spPr>
          <a:xfrm>
            <a:off x="4668584" y="15389"/>
            <a:ext cx="1547030" cy="1015663"/>
          </a:xfrm>
          <a:prstGeom prst="rect">
            <a:avLst/>
          </a:prstGeom>
          <a:noFill/>
        </p:spPr>
        <p:txBody>
          <a:bodyPr wrap="square" rtlCol="0">
            <a:spAutoFit/>
          </a:bodyPr>
          <a:lstStyle/>
          <a:p>
            <a:pPr algn="ctr"/>
            <a:r>
              <a:rPr lang="en-GB" sz="1200" b="1" dirty="0">
                <a:solidFill>
                  <a:schemeClr val="bg1"/>
                </a:solidFill>
                <a:latin typeface="Gotham Bold" pitchFamily="50" charset="0"/>
              </a:rPr>
              <a:t>And act to breakdown barriers social entrepreneurs face to maximise their impact.</a:t>
            </a:r>
          </a:p>
        </p:txBody>
      </p:sp>
      <p:sp>
        <p:nvSpPr>
          <p:cNvPr id="19" name="TextBox 18">
            <a:extLst>
              <a:ext uri="{FF2B5EF4-FFF2-40B4-BE49-F238E27FC236}">
                <a16:creationId xmlns:a16="http://schemas.microsoft.com/office/drawing/2014/main" id="{82C4AE49-7AC5-469E-8ACD-6004C2382F35}"/>
              </a:ext>
            </a:extLst>
          </p:cNvPr>
          <p:cNvSpPr txBox="1">
            <a:spLocks/>
          </p:cNvSpPr>
          <p:nvPr/>
        </p:nvSpPr>
        <p:spPr>
          <a:xfrm>
            <a:off x="2327526" y="4295332"/>
            <a:ext cx="1407087" cy="769441"/>
          </a:xfrm>
          <a:prstGeom prst="rect">
            <a:avLst/>
          </a:prstGeom>
          <a:noFill/>
        </p:spPr>
        <p:txBody>
          <a:bodyPr wrap="square" rtlCol="0">
            <a:spAutoFit/>
          </a:bodyPr>
          <a:lstStyle/>
          <a:p>
            <a:pPr algn="ctr"/>
            <a:r>
              <a:rPr lang="en-US" sz="1100" dirty="0">
                <a:solidFill>
                  <a:schemeClr val="bg1"/>
                </a:solidFill>
                <a:latin typeface="Gotham Book" pitchFamily="50" charset="0"/>
              </a:rPr>
              <a:t>SEs are more able to secure appropriate capital (</a:t>
            </a:r>
            <a:r>
              <a:rPr lang="en-GB" sz="1100" dirty="0">
                <a:solidFill>
                  <a:schemeClr val="bg1"/>
                </a:solidFill>
                <a:latin typeface="Gotham Book" pitchFamily="50" charset="0"/>
              </a:rPr>
              <a:t>quantity, timing, risk)</a:t>
            </a:r>
          </a:p>
        </p:txBody>
      </p:sp>
      <p:sp>
        <p:nvSpPr>
          <p:cNvPr id="22" name="TextBox 21">
            <a:extLst>
              <a:ext uri="{FF2B5EF4-FFF2-40B4-BE49-F238E27FC236}">
                <a16:creationId xmlns:a16="http://schemas.microsoft.com/office/drawing/2014/main" id="{95D0EC80-6671-4EF5-B3C9-8C19A7C67A0B}"/>
              </a:ext>
            </a:extLst>
          </p:cNvPr>
          <p:cNvSpPr txBox="1">
            <a:spLocks/>
          </p:cNvSpPr>
          <p:nvPr/>
        </p:nvSpPr>
        <p:spPr>
          <a:xfrm>
            <a:off x="4660811" y="1224679"/>
            <a:ext cx="1555523" cy="938719"/>
          </a:xfrm>
          <a:prstGeom prst="rect">
            <a:avLst/>
          </a:prstGeom>
          <a:noFill/>
        </p:spPr>
        <p:txBody>
          <a:bodyPr wrap="square" rtlCol="0">
            <a:spAutoFit/>
          </a:bodyPr>
          <a:lstStyle/>
          <a:p>
            <a:pPr algn="ctr"/>
            <a:r>
              <a:rPr lang="en-GB" sz="1100" dirty="0">
                <a:solidFill>
                  <a:schemeClr val="bg1"/>
                </a:solidFill>
                <a:latin typeface="Gotham Book" pitchFamily="50" charset="0"/>
              </a:rPr>
              <a:t>SEs develop more relevant products and services, products, and interventions for people in later life</a:t>
            </a:r>
          </a:p>
        </p:txBody>
      </p:sp>
      <p:sp>
        <p:nvSpPr>
          <p:cNvPr id="23" name="TextBox 22">
            <a:extLst>
              <a:ext uri="{FF2B5EF4-FFF2-40B4-BE49-F238E27FC236}">
                <a16:creationId xmlns:a16="http://schemas.microsoft.com/office/drawing/2014/main" id="{ED822B11-724F-4E75-A4D3-8AE39FFF0D98}"/>
              </a:ext>
            </a:extLst>
          </p:cNvPr>
          <p:cNvSpPr txBox="1">
            <a:spLocks/>
          </p:cNvSpPr>
          <p:nvPr/>
        </p:nvSpPr>
        <p:spPr>
          <a:xfrm>
            <a:off x="9723738" y="364066"/>
            <a:ext cx="2115426" cy="584775"/>
          </a:xfrm>
          <a:prstGeom prst="rect">
            <a:avLst/>
          </a:prstGeom>
          <a:noFill/>
        </p:spPr>
        <p:txBody>
          <a:bodyPr wrap="square" rtlCol="0">
            <a:spAutoFit/>
          </a:bodyPr>
          <a:lstStyle/>
          <a:p>
            <a:pPr algn="ctr"/>
            <a:r>
              <a:rPr lang="en-GB" sz="1600" b="1" dirty="0">
                <a:latin typeface="Gotham Book" pitchFamily="50" charset="0"/>
              </a:rPr>
              <a:t>Goal – </a:t>
            </a:r>
            <a:r>
              <a:rPr lang="en-GB" sz="1600" dirty="0">
                <a:latin typeface="Gotham Book" pitchFamily="50" charset="0"/>
              </a:rPr>
              <a:t>UK is the best place to grow old</a:t>
            </a:r>
          </a:p>
        </p:txBody>
      </p:sp>
      <p:sp>
        <p:nvSpPr>
          <p:cNvPr id="24" name="TextBox 23">
            <a:extLst>
              <a:ext uri="{FF2B5EF4-FFF2-40B4-BE49-F238E27FC236}">
                <a16:creationId xmlns:a16="http://schemas.microsoft.com/office/drawing/2014/main" id="{04241D6C-6696-4612-8958-9F431C04B0A2}"/>
              </a:ext>
            </a:extLst>
          </p:cNvPr>
          <p:cNvSpPr txBox="1"/>
          <p:nvPr/>
        </p:nvSpPr>
        <p:spPr>
          <a:xfrm>
            <a:off x="9617010" y="38270"/>
            <a:ext cx="2700611" cy="369332"/>
          </a:xfrm>
          <a:prstGeom prst="rect">
            <a:avLst/>
          </a:prstGeom>
          <a:noFill/>
        </p:spPr>
        <p:txBody>
          <a:bodyPr wrap="none" rtlCol="0">
            <a:spAutoFit/>
          </a:bodyPr>
          <a:lstStyle/>
          <a:p>
            <a:pPr algn="ctr"/>
            <a:r>
              <a:rPr lang="en-GB" dirty="0">
                <a:solidFill>
                  <a:srgbClr val="EC6608"/>
                </a:solidFill>
                <a:latin typeface="Gotham Bold" pitchFamily="50" charset="0"/>
              </a:rPr>
              <a:t>Our S4AS theory of change</a:t>
            </a:r>
          </a:p>
        </p:txBody>
      </p:sp>
      <p:sp>
        <p:nvSpPr>
          <p:cNvPr id="25" name="TextBox 24">
            <a:extLst>
              <a:ext uri="{FF2B5EF4-FFF2-40B4-BE49-F238E27FC236}">
                <a16:creationId xmlns:a16="http://schemas.microsoft.com/office/drawing/2014/main" id="{B5A49896-5CF5-4CAD-B9EA-17732672F3CA}"/>
              </a:ext>
            </a:extLst>
          </p:cNvPr>
          <p:cNvSpPr txBox="1"/>
          <p:nvPr/>
        </p:nvSpPr>
        <p:spPr>
          <a:xfrm>
            <a:off x="9666522" y="1441899"/>
            <a:ext cx="2463592" cy="4493538"/>
          </a:xfrm>
          <a:prstGeom prst="rect">
            <a:avLst/>
          </a:prstGeom>
          <a:noFill/>
        </p:spPr>
        <p:txBody>
          <a:bodyPr wrap="square" rtlCol="0">
            <a:spAutoFit/>
          </a:bodyPr>
          <a:lstStyle/>
          <a:p>
            <a:r>
              <a:rPr lang="en-GB" sz="1100" dirty="0">
                <a:solidFill>
                  <a:srgbClr val="636363"/>
                </a:solidFill>
                <a:latin typeface="Gotham Bold" pitchFamily="50" charset="0"/>
              </a:rPr>
              <a:t>Our Assumptions</a:t>
            </a:r>
          </a:p>
          <a:p>
            <a:pPr marL="228600" indent="-228600">
              <a:buAutoNum type="arabicPeriod"/>
            </a:pPr>
            <a:r>
              <a:rPr lang="en-GB" sz="1100" dirty="0">
                <a:solidFill>
                  <a:srgbClr val="636363"/>
                </a:solidFill>
                <a:latin typeface="Gotham Book" pitchFamily="50" charset="0"/>
              </a:rPr>
              <a:t>We can reach and support a diverse range of people from different backgrounds.</a:t>
            </a:r>
          </a:p>
          <a:p>
            <a:pPr marL="228600" indent="-228600">
              <a:buAutoNum type="arabicPeriod"/>
            </a:pPr>
            <a:r>
              <a:rPr lang="en-GB" sz="1100" dirty="0">
                <a:solidFill>
                  <a:srgbClr val="636363"/>
                </a:solidFill>
                <a:latin typeface="Gotham Book" pitchFamily="50" charset="0"/>
              </a:rPr>
              <a:t>People trust the products, services, and interventions offered by social entrepreneurs.</a:t>
            </a:r>
          </a:p>
          <a:p>
            <a:pPr marL="228600" indent="-228600">
              <a:buAutoNum type="arabicPeriod"/>
            </a:pPr>
            <a:r>
              <a:rPr lang="en-GB" sz="1100" dirty="0">
                <a:solidFill>
                  <a:srgbClr val="636363"/>
                </a:solidFill>
                <a:latin typeface="Gotham Book" pitchFamily="50" charset="0"/>
              </a:rPr>
              <a:t>Social ventures that can measure and evidence their impact to appropriate audiences are better able to raise investment and secure contracts.</a:t>
            </a:r>
          </a:p>
          <a:p>
            <a:pPr marL="228600" indent="-228600">
              <a:buAutoNum type="arabicPeriod"/>
            </a:pPr>
            <a:r>
              <a:rPr lang="en-GB" sz="1100" dirty="0">
                <a:solidFill>
                  <a:srgbClr val="636363"/>
                </a:solidFill>
                <a:latin typeface="Gotham Book" pitchFamily="50" charset="0"/>
              </a:rPr>
              <a:t>Investors are less risk-averse when social entrepreneurs are supported by UnLtd </a:t>
            </a:r>
          </a:p>
          <a:p>
            <a:pPr marL="228600" indent="-228600">
              <a:buAutoNum type="arabicPeriod"/>
            </a:pPr>
            <a:r>
              <a:rPr lang="en-GB" sz="1100" dirty="0">
                <a:solidFill>
                  <a:srgbClr val="636363"/>
                </a:solidFill>
                <a:latin typeface="Gotham Book" pitchFamily="50" charset="0"/>
              </a:rPr>
              <a:t>Social entrepreneurs can function in different political systems and adapt to shifts in the sector</a:t>
            </a:r>
          </a:p>
          <a:p>
            <a:pPr marL="228600" indent="-228600">
              <a:buAutoNum type="arabicPeriod"/>
            </a:pPr>
            <a:r>
              <a:rPr lang="en-GB" sz="1100" dirty="0">
                <a:solidFill>
                  <a:srgbClr val="636363"/>
                </a:solidFill>
                <a:latin typeface="Gotham Book" pitchFamily="50" charset="0"/>
              </a:rPr>
              <a:t>Stakeholders understand and buy-in to the value of social entrepreneurs and social entrepreneurship as an economic model</a:t>
            </a:r>
          </a:p>
          <a:p>
            <a:pPr marL="228600" indent="-228600">
              <a:buFontTx/>
              <a:buAutoNum type="arabicPeriod"/>
            </a:pPr>
            <a:r>
              <a:rPr lang="en-GB" sz="1100" dirty="0">
                <a:solidFill>
                  <a:srgbClr val="636363"/>
                </a:solidFill>
                <a:latin typeface="Gotham Book" pitchFamily="50" charset="0"/>
              </a:rPr>
              <a:t>Turnover of staff with key partners doesn’t hamper our work</a:t>
            </a:r>
          </a:p>
          <a:p>
            <a:pPr marL="228600" indent="-228600">
              <a:buAutoNum type="arabicPeriod"/>
            </a:pPr>
            <a:endParaRPr lang="en-GB" sz="1100" dirty="0">
              <a:solidFill>
                <a:srgbClr val="636363"/>
              </a:solidFill>
              <a:latin typeface="Gotham Book" pitchFamily="50" charset="0"/>
            </a:endParaRPr>
          </a:p>
        </p:txBody>
      </p:sp>
      <p:sp>
        <p:nvSpPr>
          <p:cNvPr id="28" name="TextBox 27">
            <a:extLst>
              <a:ext uri="{FF2B5EF4-FFF2-40B4-BE49-F238E27FC236}">
                <a16:creationId xmlns:a16="http://schemas.microsoft.com/office/drawing/2014/main" id="{3C1FF508-331C-4994-BFDF-6916246F096E}"/>
              </a:ext>
            </a:extLst>
          </p:cNvPr>
          <p:cNvSpPr txBox="1">
            <a:spLocks/>
          </p:cNvSpPr>
          <p:nvPr/>
        </p:nvSpPr>
        <p:spPr>
          <a:xfrm>
            <a:off x="6215616" y="12846"/>
            <a:ext cx="1503159" cy="830997"/>
          </a:xfrm>
          <a:prstGeom prst="rect">
            <a:avLst/>
          </a:prstGeom>
          <a:noFill/>
        </p:spPr>
        <p:txBody>
          <a:bodyPr wrap="square" rtlCol="0">
            <a:spAutoFit/>
          </a:bodyPr>
          <a:lstStyle/>
          <a:p>
            <a:pPr algn="ctr"/>
            <a:r>
              <a:rPr lang="en-GB" sz="1200" b="1" dirty="0">
                <a:solidFill>
                  <a:schemeClr val="bg1"/>
                </a:solidFill>
                <a:latin typeface="Gotham Bold" pitchFamily="50" charset="0"/>
              </a:rPr>
              <a:t>We work with innovators to transform the system, leading to:</a:t>
            </a:r>
          </a:p>
        </p:txBody>
      </p:sp>
      <p:sp>
        <p:nvSpPr>
          <p:cNvPr id="29" name="TextBox 28">
            <a:extLst>
              <a:ext uri="{FF2B5EF4-FFF2-40B4-BE49-F238E27FC236}">
                <a16:creationId xmlns:a16="http://schemas.microsoft.com/office/drawing/2014/main" id="{777B54C5-518F-4AB9-8F54-3E1F1052C4A8}"/>
              </a:ext>
            </a:extLst>
          </p:cNvPr>
          <p:cNvSpPr txBox="1">
            <a:spLocks/>
          </p:cNvSpPr>
          <p:nvPr/>
        </p:nvSpPr>
        <p:spPr>
          <a:xfrm>
            <a:off x="609039" y="3942652"/>
            <a:ext cx="1503159" cy="769441"/>
          </a:xfrm>
          <a:prstGeom prst="rect">
            <a:avLst/>
          </a:prstGeom>
          <a:noFill/>
        </p:spPr>
        <p:txBody>
          <a:bodyPr wrap="square" rtlCol="0">
            <a:spAutoFit/>
          </a:bodyPr>
          <a:lstStyle/>
          <a:p>
            <a:pPr algn="ctr"/>
            <a:r>
              <a:rPr lang="en-GB" sz="1100" dirty="0">
                <a:solidFill>
                  <a:schemeClr val="bg1"/>
                </a:solidFill>
                <a:latin typeface="Gotham Book" pitchFamily="50" charset="0"/>
              </a:rPr>
              <a:t>Social Ventures are better able to evidence and grow their social impact</a:t>
            </a:r>
          </a:p>
        </p:txBody>
      </p:sp>
      <p:sp>
        <p:nvSpPr>
          <p:cNvPr id="30" name="TextBox 29">
            <a:extLst>
              <a:ext uri="{FF2B5EF4-FFF2-40B4-BE49-F238E27FC236}">
                <a16:creationId xmlns:a16="http://schemas.microsoft.com/office/drawing/2014/main" id="{AE01EEC8-4A72-4AE7-8766-5235F39A3E0D}"/>
              </a:ext>
            </a:extLst>
          </p:cNvPr>
          <p:cNvSpPr txBox="1">
            <a:spLocks/>
          </p:cNvSpPr>
          <p:nvPr/>
        </p:nvSpPr>
        <p:spPr>
          <a:xfrm>
            <a:off x="6239936" y="2195750"/>
            <a:ext cx="1503159" cy="938719"/>
          </a:xfrm>
          <a:prstGeom prst="rect">
            <a:avLst/>
          </a:prstGeom>
          <a:noFill/>
        </p:spPr>
        <p:txBody>
          <a:bodyPr wrap="square" rtlCol="0">
            <a:spAutoFit/>
          </a:bodyPr>
          <a:lstStyle/>
          <a:p>
            <a:pPr algn="ctr"/>
            <a:r>
              <a:rPr lang="en-GB" sz="1100" dirty="0">
                <a:solidFill>
                  <a:schemeClr val="bg1"/>
                </a:solidFill>
                <a:latin typeface="Gotham Book" pitchFamily="50" charset="0"/>
              </a:rPr>
              <a:t>More people believe that SEs offer legitimate and effective solutions for people in later life</a:t>
            </a:r>
          </a:p>
        </p:txBody>
      </p:sp>
      <p:sp>
        <p:nvSpPr>
          <p:cNvPr id="31" name="TextBox 30">
            <a:extLst>
              <a:ext uri="{FF2B5EF4-FFF2-40B4-BE49-F238E27FC236}">
                <a16:creationId xmlns:a16="http://schemas.microsoft.com/office/drawing/2014/main" id="{16285AC4-2225-4981-8071-D621CED49EEF}"/>
              </a:ext>
            </a:extLst>
          </p:cNvPr>
          <p:cNvSpPr txBox="1">
            <a:spLocks/>
          </p:cNvSpPr>
          <p:nvPr/>
        </p:nvSpPr>
        <p:spPr>
          <a:xfrm>
            <a:off x="4632486" y="2657832"/>
            <a:ext cx="1342107" cy="769441"/>
          </a:xfrm>
          <a:prstGeom prst="rect">
            <a:avLst/>
          </a:prstGeom>
          <a:noFill/>
        </p:spPr>
        <p:txBody>
          <a:bodyPr wrap="square" rtlCol="0">
            <a:spAutoFit/>
          </a:bodyPr>
          <a:lstStyle/>
          <a:p>
            <a:pPr algn="ctr"/>
            <a:r>
              <a:rPr lang="en-GB" sz="1100" dirty="0">
                <a:solidFill>
                  <a:schemeClr val="bg1"/>
                </a:solidFill>
                <a:latin typeface="Gotham Book" pitchFamily="50" charset="0"/>
              </a:rPr>
              <a:t>More  SEs are connected to relevant and wider networks</a:t>
            </a:r>
          </a:p>
        </p:txBody>
      </p:sp>
      <p:sp>
        <p:nvSpPr>
          <p:cNvPr id="34" name="TextBox 33">
            <a:extLst>
              <a:ext uri="{FF2B5EF4-FFF2-40B4-BE49-F238E27FC236}">
                <a16:creationId xmlns:a16="http://schemas.microsoft.com/office/drawing/2014/main" id="{C23D2DE6-F478-4081-B264-33F532E92E58}"/>
              </a:ext>
            </a:extLst>
          </p:cNvPr>
          <p:cNvSpPr txBox="1"/>
          <p:nvPr/>
        </p:nvSpPr>
        <p:spPr>
          <a:xfrm>
            <a:off x="1525796" y="-18656"/>
            <a:ext cx="1638428" cy="900246"/>
          </a:xfrm>
          <a:prstGeom prst="rect">
            <a:avLst/>
          </a:prstGeom>
          <a:noFill/>
        </p:spPr>
        <p:txBody>
          <a:bodyPr wrap="square" rtlCol="0">
            <a:spAutoFit/>
          </a:bodyPr>
          <a:lstStyle/>
          <a:p>
            <a:pPr algn="ctr"/>
            <a:r>
              <a:rPr lang="en-GB" sz="1050" dirty="0">
                <a:solidFill>
                  <a:srgbClr val="491A66"/>
                </a:solidFill>
                <a:latin typeface="Gotham Bold" pitchFamily="50" charset="0"/>
              </a:rPr>
              <a:t>Investing in social entrepreneurs in the sector will deliver meaningful change in</a:t>
            </a:r>
          </a:p>
          <a:p>
            <a:pPr algn="ctr"/>
            <a:r>
              <a:rPr lang="en-GB" sz="1050" dirty="0">
                <a:solidFill>
                  <a:srgbClr val="491A66"/>
                </a:solidFill>
                <a:latin typeface="Gotham Bold" pitchFamily="50" charset="0"/>
              </a:rPr>
              <a:t>the long term</a:t>
            </a:r>
            <a:endParaRPr lang="en-GB" sz="1050" dirty="0">
              <a:solidFill>
                <a:schemeClr val="bg1"/>
              </a:solidFill>
              <a:latin typeface="Gotham Bold" pitchFamily="50" charset="0"/>
            </a:endParaRPr>
          </a:p>
        </p:txBody>
      </p:sp>
      <p:sp>
        <p:nvSpPr>
          <p:cNvPr id="35" name="TextBox 34">
            <a:extLst>
              <a:ext uri="{FF2B5EF4-FFF2-40B4-BE49-F238E27FC236}">
                <a16:creationId xmlns:a16="http://schemas.microsoft.com/office/drawing/2014/main" id="{5E40E70B-F183-4AC7-AFAF-6EE59C4F85AC}"/>
              </a:ext>
            </a:extLst>
          </p:cNvPr>
          <p:cNvSpPr txBox="1"/>
          <p:nvPr/>
        </p:nvSpPr>
        <p:spPr>
          <a:xfrm>
            <a:off x="1527623" y="1041257"/>
            <a:ext cx="1383953" cy="1061829"/>
          </a:xfrm>
          <a:prstGeom prst="rect">
            <a:avLst/>
          </a:prstGeom>
          <a:noFill/>
        </p:spPr>
        <p:txBody>
          <a:bodyPr wrap="square" rtlCol="0">
            <a:spAutoFit/>
          </a:bodyPr>
          <a:lstStyle/>
          <a:p>
            <a:pPr algn="ctr"/>
            <a:r>
              <a:rPr lang="en-GB" sz="1050" dirty="0">
                <a:solidFill>
                  <a:srgbClr val="491A66"/>
                </a:solidFill>
                <a:latin typeface="Gotham Bold" pitchFamily="50" charset="0"/>
              </a:rPr>
              <a:t>People and communities are best placed to design and choose the services which meet their needs</a:t>
            </a:r>
            <a:endParaRPr lang="en-GB" sz="1050" dirty="0">
              <a:solidFill>
                <a:schemeClr val="bg1"/>
              </a:solidFill>
              <a:latin typeface="Gotham Bold" pitchFamily="50" charset="0"/>
            </a:endParaRPr>
          </a:p>
        </p:txBody>
      </p:sp>
      <p:sp>
        <p:nvSpPr>
          <p:cNvPr id="36" name="TextBox 35">
            <a:extLst>
              <a:ext uri="{FF2B5EF4-FFF2-40B4-BE49-F238E27FC236}">
                <a16:creationId xmlns:a16="http://schemas.microsoft.com/office/drawing/2014/main" id="{E9ECBA30-C36A-40A9-9611-43991888EDB9}"/>
              </a:ext>
            </a:extLst>
          </p:cNvPr>
          <p:cNvSpPr txBox="1"/>
          <p:nvPr/>
        </p:nvSpPr>
        <p:spPr>
          <a:xfrm>
            <a:off x="-59585" y="-18656"/>
            <a:ext cx="1638428" cy="900246"/>
          </a:xfrm>
          <a:prstGeom prst="rect">
            <a:avLst/>
          </a:prstGeom>
          <a:noFill/>
        </p:spPr>
        <p:txBody>
          <a:bodyPr wrap="square" rtlCol="0">
            <a:spAutoFit/>
          </a:bodyPr>
          <a:lstStyle/>
          <a:p>
            <a:pPr algn="ctr"/>
            <a:r>
              <a:rPr lang="en-GB" sz="1050" dirty="0">
                <a:solidFill>
                  <a:srgbClr val="491A66"/>
                </a:solidFill>
                <a:latin typeface="Gotham Bold" pitchFamily="50" charset="0"/>
              </a:rPr>
              <a:t>A diverse market place with social entrepreneurs at its core is the best way to meet the varied challenges of later life</a:t>
            </a:r>
            <a:endParaRPr lang="en-GB" sz="1050" dirty="0">
              <a:solidFill>
                <a:schemeClr val="bg1"/>
              </a:solidFill>
              <a:latin typeface="Gotham Bold" pitchFamily="50" charset="0"/>
            </a:endParaRPr>
          </a:p>
        </p:txBody>
      </p:sp>
      <p:sp>
        <p:nvSpPr>
          <p:cNvPr id="37" name="TextBox 36">
            <a:extLst>
              <a:ext uri="{FF2B5EF4-FFF2-40B4-BE49-F238E27FC236}">
                <a16:creationId xmlns:a16="http://schemas.microsoft.com/office/drawing/2014/main" id="{519D84E4-08A0-4F4C-9673-CAF77DEEBA4E}"/>
              </a:ext>
            </a:extLst>
          </p:cNvPr>
          <p:cNvSpPr txBox="1"/>
          <p:nvPr/>
        </p:nvSpPr>
        <p:spPr>
          <a:xfrm>
            <a:off x="45998" y="1015746"/>
            <a:ext cx="1558534" cy="1061829"/>
          </a:xfrm>
          <a:prstGeom prst="rect">
            <a:avLst/>
          </a:prstGeom>
          <a:noFill/>
        </p:spPr>
        <p:txBody>
          <a:bodyPr wrap="square" rtlCol="0">
            <a:spAutoFit/>
          </a:bodyPr>
          <a:lstStyle/>
          <a:p>
            <a:pPr algn="ctr"/>
            <a:r>
              <a:rPr lang="en-GB" sz="1050" dirty="0">
                <a:solidFill>
                  <a:srgbClr val="491A66"/>
                </a:solidFill>
                <a:latin typeface="Gotham Bold" pitchFamily="50" charset="0"/>
              </a:rPr>
              <a:t>The sector works best and will have most impact when it recognises social value alongside medical and economic factors</a:t>
            </a:r>
            <a:endParaRPr lang="en-GB" sz="1050" dirty="0">
              <a:solidFill>
                <a:schemeClr val="bg1"/>
              </a:solidFill>
              <a:latin typeface="Gotham Bold" pitchFamily="50" charset="0"/>
            </a:endParaRPr>
          </a:p>
        </p:txBody>
      </p:sp>
      <p:sp>
        <p:nvSpPr>
          <p:cNvPr id="38" name="TextBox 37">
            <a:extLst>
              <a:ext uri="{FF2B5EF4-FFF2-40B4-BE49-F238E27FC236}">
                <a16:creationId xmlns:a16="http://schemas.microsoft.com/office/drawing/2014/main" id="{9F7B0874-A18B-4BD4-8186-AACC1DDFBD13}"/>
              </a:ext>
            </a:extLst>
          </p:cNvPr>
          <p:cNvSpPr txBox="1"/>
          <p:nvPr/>
        </p:nvSpPr>
        <p:spPr>
          <a:xfrm>
            <a:off x="838961" y="805848"/>
            <a:ext cx="1638428" cy="307777"/>
          </a:xfrm>
          <a:prstGeom prst="rect">
            <a:avLst/>
          </a:prstGeom>
          <a:noFill/>
        </p:spPr>
        <p:txBody>
          <a:bodyPr wrap="square" rtlCol="0">
            <a:spAutoFit/>
          </a:bodyPr>
          <a:lstStyle/>
          <a:p>
            <a:pPr algn="ctr"/>
            <a:r>
              <a:rPr lang="en-GB" sz="1400" b="1" dirty="0">
                <a:solidFill>
                  <a:srgbClr val="491A66"/>
                </a:solidFill>
                <a:latin typeface="Gotham Bold" pitchFamily="50" charset="0"/>
              </a:rPr>
              <a:t>Our Core Beliefs</a:t>
            </a:r>
            <a:endParaRPr lang="en-GB" sz="1400" b="1" dirty="0">
              <a:solidFill>
                <a:schemeClr val="bg1"/>
              </a:solidFill>
              <a:latin typeface="Gotham Bold" pitchFamily="50" charset="0"/>
            </a:endParaRPr>
          </a:p>
        </p:txBody>
      </p:sp>
      <p:sp>
        <p:nvSpPr>
          <p:cNvPr id="2" name="Rectangle 1">
            <a:extLst>
              <a:ext uri="{FF2B5EF4-FFF2-40B4-BE49-F238E27FC236}">
                <a16:creationId xmlns:a16="http://schemas.microsoft.com/office/drawing/2014/main" id="{22D36832-F174-4F24-B840-7910E0B4D164}"/>
              </a:ext>
            </a:extLst>
          </p:cNvPr>
          <p:cNvSpPr/>
          <p:nvPr/>
        </p:nvSpPr>
        <p:spPr>
          <a:xfrm>
            <a:off x="6227061" y="1206197"/>
            <a:ext cx="1655687" cy="600164"/>
          </a:xfrm>
          <a:prstGeom prst="rect">
            <a:avLst/>
          </a:prstGeom>
        </p:spPr>
        <p:txBody>
          <a:bodyPr wrap="square">
            <a:spAutoFit/>
          </a:bodyPr>
          <a:lstStyle/>
          <a:p>
            <a:pPr algn="ctr"/>
            <a:r>
              <a:rPr lang="en-US" sz="1100" dirty="0">
                <a:solidFill>
                  <a:schemeClr val="bg1"/>
                </a:solidFill>
                <a:latin typeface="Gotham Book" pitchFamily="50" charset="0"/>
              </a:rPr>
              <a:t>Increased demand for products &amp; services provided by  SEs</a:t>
            </a:r>
            <a:endParaRPr lang="en-GB" sz="1100" dirty="0">
              <a:solidFill>
                <a:schemeClr val="bg1"/>
              </a:solidFill>
              <a:latin typeface="Gotham Book" pitchFamily="50" charset="0"/>
            </a:endParaRPr>
          </a:p>
        </p:txBody>
      </p:sp>
      <p:sp>
        <p:nvSpPr>
          <p:cNvPr id="3" name="Rectangle 2">
            <a:extLst>
              <a:ext uri="{FF2B5EF4-FFF2-40B4-BE49-F238E27FC236}">
                <a16:creationId xmlns:a16="http://schemas.microsoft.com/office/drawing/2014/main" id="{1E773CE8-4DE1-4C8D-A97B-1FE376063262}"/>
              </a:ext>
            </a:extLst>
          </p:cNvPr>
          <p:cNvSpPr/>
          <p:nvPr/>
        </p:nvSpPr>
        <p:spPr>
          <a:xfrm>
            <a:off x="6856897" y="5159258"/>
            <a:ext cx="1644016" cy="769441"/>
          </a:xfrm>
          <a:prstGeom prst="rect">
            <a:avLst/>
          </a:prstGeom>
        </p:spPr>
        <p:txBody>
          <a:bodyPr wrap="square">
            <a:spAutoFit/>
          </a:bodyPr>
          <a:lstStyle/>
          <a:p>
            <a:pPr algn="ctr"/>
            <a:r>
              <a:rPr lang="en-GB" sz="1100" dirty="0">
                <a:solidFill>
                  <a:schemeClr val="bg1"/>
                </a:solidFill>
                <a:latin typeface="Gotham Book" pitchFamily="50" charset="0"/>
              </a:rPr>
              <a:t>Policy and legal context better supports and incentivises social entrepreneurship</a:t>
            </a:r>
          </a:p>
        </p:txBody>
      </p:sp>
      <p:sp>
        <p:nvSpPr>
          <p:cNvPr id="39" name="TextBox 38">
            <a:extLst>
              <a:ext uri="{FF2B5EF4-FFF2-40B4-BE49-F238E27FC236}">
                <a16:creationId xmlns:a16="http://schemas.microsoft.com/office/drawing/2014/main" id="{B3E2BE96-29FD-4C6B-B1E6-DA9C5A3BD6B7}"/>
              </a:ext>
            </a:extLst>
          </p:cNvPr>
          <p:cNvSpPr txBox="1">
            <a:spLocks/>
          </p:cNvSpPr>
          <p:nvPr/>
        </p:nvSpPr>
        <p:spPr>
          <a:xfrm>
            <a:off x="2813163" y="1825263"/>
            <a:ext cx="1842964" cy="600164"/>
          </a:xfrm>
          <a:prstGeom prst="rect">
            <a:avLst/>
          </a:prstGeom>
          <a:noFill/>
        </p:spPr>
        <p:txBody>
          <a:bodyPr wrap="square" rtlCol="0">
            <a:spAutoFit/>
          </a:bodyPr>
          <a:lstStyle/>
          <a:p>
            <a:pPr algn="ctr"/>
            <a:r>
              <a:rPr lang="en-US" sz="1100" dirty="0">
                <a:solidFill>
                  <a:schemeClr val="bg1"/>
                </a:solidFill>
                <a:latin typeface="Gotham Book" pitchFamily="50" charset="0"/>
              </a:rPr>
              <a:t>SEs have better understanding of the needs of people  in later life</a:t>
            </a:r>
            <a:endParaRPr lang="en-GB" sz="1100" dirty="0">
              <a:solidFill>
                <a:schemeClr val="bg1"/>
              </a:solidFill>
              <a:latin typeface="Gotham Book" pitchFamily="50" charset="0"/>
            </a:endParaRPr>
          </a:p>
        </p:txBody>
      </p:sp>
      <p:sp>
        <p:nvSpPr>
          <p:cNvPr id="8" name="Rectangle 7">
            <a:extLst>
              <a:ext uri="{FF2B5EF4-FFF2-40B4-BE49-F238E27FC236}">
                <a16:creationId xmlns:a16="http://schemas.microsoft.com/office/drawing/2014/main" id="{F697BB9D-D833-4C9D-B6BC-5522E29B7017}"/>
              </a:ext>
            </a:extLst>
          </p:cNvPr>
          <p:cNvSpPr/>
          <p:nvPr/>
        </p:nvSpPr>
        <p:spPr>
          <a:xfrm>
            <a:off x="1965604" y="2726143"/>
            <a:ext cx="1372035" cy="938719"/>
          </a:xfrm>
          <a:prstGeom prst="rect">
            <a:avLst/>
          </a:prstGeom>
        </p:spPr>
        <p:txBody>
          <a:bodyPr wrap="square">
            <a:spAutoFit/>
          </a:bodyPr>
          <a:lstStyle/>
          <a:p>
            <a:pPr algn="ctr"/>
            <a:r>
              <a:rPr lang="en-GB" sz="1100" dirty="0">
                <a:solidFill>
                  <a:schemeClr val="bg1"/>
                </a:solidFill>
                <a:latin typeface="Gotham Book" pitchFamily="50" charset="0"/>
              </a:rPr>
              <a:t>SEs are better able to evidence  the impact of their venture to different audiences</a:t>
            </a:r>
          </a:p>
        </p:txBody>
      </p:sp>
      <p:sp>
        <p:nvSpPr>
          <p:cNvPr id="9" name="Rectangle 8">
            <a:extLst>
              <a:ext uri="{FF2B5EF4-FFF2-40B4-BE49-F238E27FC236}">
                <a16:creationId xmlns:a16="http://schemas.microsoft.com/office/drawing/2014/main" id="{B247F730-D379-4B4C-8129-A339C0C89711}"/>
              </a:ext>
            </a:extLst>
          </p:cNvPr>
          <p:cNvSpPr/>
          <p:nvPr/>
        </p:nvSpPr>
        <p:spPr>
          <a:xfrm>
            <a:off x="3712773" y="3650195"/>
            <a:ext cx="1511766" cy="938719"/>
          </a:xfrm>
          <a:prstGeom prst="rect">
            <a:avLst/>
          </a:prstGeom>
        </p:spPr>
        <p:txBody>
          <a:bodyPr wrap="square">
            <a:spAutoFit/>
          </a:bodyPr>
          <a:lstStyle/>
          <a:p>
            <a:pPr algn="ctr"/>
            <a:r>
              <a:rPr lang="en-US" sz="1100" dirty="0">
                <a:solidFill>
                  <a:schemeClr val="bg1"/>
                </a:solidFill>
                <a:latin typeface="Gotham Book" pitchFamily="50" charset="0"/>
              </a:rPr>
              <a:t>SEs are better able to secure sustainable routes to markets with consumers and commissioners </a:t>
            </a:r>
            <a:endParaRPr lang="en-GB" sz="1100" dirty="0"/>
          </a:p>
        </p:txBody>
      </p:sp>
      <p:sp>
        <p:nvSpPr>
          <p:cNvPr id="32" name="Rectangle 31">
            <a:extLst>
              <a:ext uri="{FF2B5EF4-FFF2-40B4-BE49-F238E27FC236}">
                <a16:creationId xmlns:a16="http://schemas.microsoft.com/office/drawing/2014/main" id="{3FCD4D0E-09E9-45DD-AE8A-C54A9C783C2C}"/>
              </a:ext>
            </a:extLst>
          </p:cNvPr>
          <p:cNvSpPr/>
          <p:nvPr/>
        </p:nvSpPr>
        <p:spPr>
          <a:xfrm>
            <a:off x="6027770" y="3317569"/>
            <a:ext cx="1537272" cy="1107996"/>
          </a:xfrm>
          <a:prstGeom prst="rect">
            <a:avLst/>
          </a:prstGeom>
        </p:spPr>
        <p:txBody>
          <a:bodyPr wrap="square">
            <a:spAutoFit/>
          </a:bodyPr>
          <a:lstStyle/>
          <a:p>
            <a:pPr algn="ctr"/>
            <a:r>
              <a:rPr lang="en-US" sz="1100" dirty="0">
                <a:solidFill>
                  <a:schemeClr val="bg1"/>
                </a:solidFill>
                <a:latin typeface="Gotham Book" pitchFamily="50" charset="0"/>
              </a:rPr>
              <a:t>More evidence and learning about the quality, cost-effectiveness and impact of products and services is available</a:t>
            </a:r>
            <a:endParaRPr lang="en-GB" sz="1100" dirty="0">
              <a:solidFill>
                <a:schemeClr val="bg1"/>
              </a:solidFill>
              <a:latin typeface="Gotham Book" pitchFamily="50" charset="0"/>
            </a:endParaRPr>
          </a:p>
        </p:txBody>
      </p:sp>
      <p:sp>
        <p:nvSpPr>
          <p:cNvPr id="40" name="TextBox 39">
            <a:extLst>
              <a:ext uri="{FF2B5EF4-FFF2-40B4-BE49-F238E27FC236}">
                <a16:creationId xmlns:a16="http://schemas.microsoft.com/office/drawing/2014/main" id="{25BD4D19-3079-4D84-9A87-C941D2242541}"/>
              </a:ext>
            </a:extLst>
          </p:cNvPr>
          <p:cNvSpPr txBox="1">
            <a:spLocks/>
          </p:cNvSpPr>
          <p:nvPr/>
        </p:nvSpPr>
        <p:spPr>
          <a:xfrm>
            <a:off x="3600408" y="5342967"/>
            <a:ext cx="1503159" cy="938719"/>
          </a:xfrm>
          <a:prstGeom prst="rect">
            <a:avLst/>
          </a:prstGeom>
          <a:noFill/>
        </p:spPr>
        <p:txBody>
          <a:bodyPr wrap="square" rtlCol="0">
            <a:spAutoFit/>
          </a:bodyPr>
          <a:lstStyle/>
          <a:p>
            <a:pPr algn="ctr"/>
            <a:r>
              <a:rPr lang="en-US" sz="1100" dirty="0">
                <a:solidFill>
                  <a:schemeClr val="bg1"/>
                </a:solidFill>
                <a:latin typeface="Gotham Book" pitchFamily="50" charset="0"/>
              </a:rPr>
              <a:t>Closer relationships with key actors in the ageing sector to </a:t>
            </a:r>
            <a:r>
              <a:rPr lang="en-GB" sz="1100" dirty="0">
                <a:solidFill>
                  <a:schemeClr val="bg1"/>
                </a:solidFill>
                <a:latin typeface="Gotham Book" pitchFamily="50" charset="0"/>
              </a:rPr>
              <a:t>make it easier for SEs to operate effectively</a:t>
            </a:r>
          </a:p>
        </p:txBody>
      </p:sp>
      <p:sp>
        <p:nvSpPr>
          <p:cNvPr id="41" name="TextBox 40">
            <a:extLst>
              <a:ext uri="{FF2B5EF4-FFF2-40B4-BE49-F238E27FC236}">
                <a16:creationId xmlns:a16="http://schemas.microsoft.com/office/drawing/2014/main" id="{43AF5E65-2DE1-451D-AE12-7B4B74175192}"/>
              </a:ext>
            </a:extLst>
          </p:cNvPr>
          <p:cNvSpPr txBox="1">
            <a:spLocks/>
          </p:cNvSpPr>
          <p:nvPr/>
        </p:nvSpPr>
        <p:spPr>
          <a:xfrm>
            <a:off x="162728" y="2480368"/>
            <a:ext cx="1503159" cy="600164"/>
          </a:xfrm>
          <a:prstGeom prst="rect">
            <a:avLst/>
          </a:prstGeom>
          <a:noFill/>
        </p:spPr>
        <p:txBody>
          <a:bodyPr wrap="square" rtlCol="0">
            <a:spAutoFit/>
          </a:bodyPr>
          <a:lstStyle/>
          <a:p>
            <a:pPr algn="ctr"/>
            <a:r>
              <a:rPr lang="en-US" sz="1100" dirty="0">
                <a:solidFill>
                  <a:schemeClr val="bg1"/>
                </a:solidFill>
                <a:latin typeface="Gotham Book" pitchFamily="50" charset="0"/>
              </a:rPr>
              <a:t>Social ventures have increased operational capacity</a:t>
            </a:r>
          </a:p>
        </p:txBody>
      </p:sp>
      <p:sp>
        <p:nvSpPr>
          <p:cNvPr id="42" name="TextBox 41">
            <a:extLst>
              <a:ext uri="{FF2B5EF4-FFF2-40B4-BE49-F238E27FC236}">
                <a16:creationId xmlns:a16="http://schemas.microsoft.com/office/drawing/2014/main" id="{E3E5EA67-CA31-4842-BF0D-DC35E1DCA22B}"/>
              </a:ext>
            </a:extLst>
          </p:cNvPr>
          <p:cNvSpPr txBox="1">
            <a:spLocks/>
          </p:cNvSpPr>
          <p:nvPr/>
        </p:nvSpPr>
        <p:spPr>
          <a:xfrm>
            <a:off x="3046759" y="1134513"/>
            <a:ext cx="1670801" cy="600164"/>
          </a:xfrm>
          <a:prstGeom prst="rect">
            <a:avLst/>
          </a:prstGeom>
          <a:noFill/>
        </p:spPr>
        <p:txBody>
          <a:bodyPr wrap="square" rtlCol="0">
            <a:spAutoFit/>
          </a:bodyPr>
          <a:lstStyle/>
          <a:p>
            <a:pPr algn="ctr"/>
            <a:r>
              <a:rPr lang="en-GB" sz="1100" dirty="0">
                <a:solidFill>
                  <a:schemeClr val="bg1"/>
                </a:solidFill>
                <a:latin typeface="Gotham Book" pitchFamily="50" charset="0"/>
              </a:rPr>
              <a:t>SEs have increased knowledge, skills, and confidence</a:t>
            </a:r>
          </a:p>
        </p:txBody>
      </p:sp>
      <p:sp>
        <p:nvSpPr>
          <p:cNvPr id="43" name="TextBox 42">
            <a:extLst>
              <a:ext uri="{FF2B5EF4-FFF2-40B4-BE49-F238E27FC236}">
                <a16:creationId xmlns:a16="http://schemas.microsoft.com/office/drawing/2014/main" id="{59DA0383-4A88-4438-AE55-1D743CA21482}"/>
              </a:ext>
            </a:extLst>
          </p:cNvPr>
          <p:cNvSpPr txBox="1">
            <a:spLocks/>
          </p:cNvSpPr>
          <p:nvPr/>
        </p:nvSpPr>
        <p:spPr>
          <a:xfrm>
            <a:off x="5153513" y="4553728"/>
            <a:ext cx="1642893" cy="769441"/>
          </a:xfrm>
          <a:prstGeom prst="rect">
            <a:avLst/>
          </a:prstGeom>
          <a:noFill/>
        </p:spPr>
        <p:txBody>
          <a:bodyPr wrap="square" rtlCol="0">
            <a:spAutoFit/>
          </a:bodyPr>
          <a:lstStyle/>
          <a:p>
            <a:pPr algn="ctr"/>
            <a:r>
              <a:rPr lang="en-GB" sz="1100" dirty="0">
                <a:solidFill>
                  <a:schemeClr val="bg1"/>
                </a:solidFill>
                <a:latin typeface="Gotham Book" pitchFamily="50" charset="0"/>
              </a:rPr>
              <a:t>A better connected ecosystem of  SEs is creating solutions for and with people in later life</a:t>
            </a:r>
          </a:p>
        </p:txBody>
      </p:sp>
    </p:spTree>
    <p:extLst>
      <p:ext uri="{BB962C8B-B14F-4D97-AF65-F5344CB8AC3E}">
        <p14:creationId xmlns:p14="http://schemas.microsoft.com/office/powerpoint/2010/main" val="161238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5E7B78-173E-4916-9340-F21EBB1039AE}"/>
              </a:ext>
            </a:extLst>
          </p:cNvPr>
          <p:cNvPicPr>
            <a:picLocks noChangeAspect="1"/>
          </p:cNvPicPr>
          <p:nvPr/>
        </p:nvPicPr>
        <p:blipFill>
          <a:blip r:embed="rId2"/>
          <a:stretch>
            <a:fillRect/>
          </a:stretch>
        </p:blipFill>
        <p:spPr>
          <a:xfrm>
            <a:off x="9167991" y="-54885"/>
            <a:ext cx="3024009" cy="749685"/>
          </a:xfrm>
          <a:prstGeom prst="rect">
            <a:avLst/>
          </a:prstGeom>
        </p:spPr>
      </p:pic>
      <p:grpSp>
        <p:nvGrpSpPr>
          <p:cNvPr id="2" name="Group 1">
            <a:extLst>
              <a:ext uri="{FF2B5EF4-FFF2-40B4-BE49-F238E27FC236}">
                <a16:creationId xmlns:a16="http://schemas.microsoft.com/office/drawing/2014/main" id="{F88A8A11-3926-41B6-B47B-2BE97FF08663}"/>
              </a:ext>
            </a:extLst>
          </p:cNvPr>
          <p:cNvGrpSpPr/>
          <p:nvPr/>
        </p:nvGrpSpPr>
        <p:grpSpPr>
          <a:xfrm>
            <a:off x="-27710" y="711454"/>
            <a:ext cx="12211622" cy="5925254"/>
            <a:chOff x="-27710" y="711454"/>
            <a:chExt cx="12211622" cy="5925254"/>
          </a:xfrm>
        </p:grpSpPr>
        <p:sp>
          <p:nvSpPr>
            <p:cNvPr id="4" name="Rectangle: Rounded Corners 3">
              <a:extLst>
                <a:ext uri="{FF2B5EF4-FFF2-40B4-BE49-F238E27FC236}">
                  <a16:creationId xmlns:a16="http://schemas.microsoft.com/office/drawing/2014/main" id="{ACC6EE56-3CB0-4F53-AE6D-62E43D5E5A4A}"/>
                </a:ext>
              </a:extLst>
            </p:cNvPr>
            <p:cNvSpPr/>
            <p:nvPr/>
          </p:nvSpPr>
          <p:spPr>
            <a:xfrm>
              <a:off x="9585463" y="711454"/>
              <a:ext cx="2578828" cy="1165883"/>
            </a:xfrm>
            <a:prstGeom prst="roundRect">
              <a:avLst/>
            </a:prstGeom>
            <a:solidFill>
              <a:srgbClr val="00B050">
                <a:alpha val="52000"/>
              </a:srgbClr>
            </a:solidFill>
            <a:ln>
              <a:solidFill>
                <a:schemeClr val="accent5">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Better lives for our employees</a:t>
              </a:r>
            </a:p>
          </p:txBody>
        </p:sp>
        <p:sp>
          <p:nvSpPr>
            <p:cNvPr id="5" name="Rectangle: Rounded Corners 4">
              <a:extLst>
                <a:ext uri="{FF2B5EF4-FFF2-40B4-BE49-F238E27FC236}">
                  <a16:creationId xmlns:a16="http://schemas.microsoft.com/office/drawing/2014/main" id="{A8AB2169-ADC9-4811-8B59-CDE0410CC655}"/>
                </a:ext>
              </a:extLst>
            </p:cNvPr>
            <p:cNvSpPr/>
            <p:nvPr/>
          </p:nvSpPr>
          <p:spPr>
            <a:xfrm>
              <a:off x="3413260" y="847898"/>
              <a:ext cx="5600700" cy="4041492"/>
            </a:xfrm>
            <a:prstGeom prst="roundRect">
              <a:avLst/>
            </a:prstGeom>
            <a:solidFill>
              <a:schemeClr val="accent5">
                <a:alpha val="52000"/>
              </a:schemeClr>
            </a:solidFill>
            <a:ln>
              <a:solidFill>
                <a:schemeClr val="accent5">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a:solidFill>
                    <a:prstClr val="white"/>
                  </a:solidFill>
                  <a:latin typeface="Gotham Book"/>
                </a:rPr>
                <a:t>We provide jobs and tailored support employees to overcome their barriers to employment and to succeed in their job with radiant cleaners. We lead by example in providing professional cleaning services while being an excellent employer to those most at risk from exclusion from the jobs market. </a:t>
              </a:r>
              <a:endParaRPr kumimoji="0" lang="en-GB" sz="1600" i="0" strike="noStrike" kern="1200" cap="none" spc="0" normalizeH="0" baseline="0" noProof="0" dirty="0">
                <a:ln>
                  <a:noFill/>
                </a:ln>
                <a:solidFill>
                  <a:prstClr val="white"/>
                </a:solidFill>
                <a:effectLst/>
                <a:uLnTx/>
                <a:uFillTx/>
                <a:latin typeface="Gotham Book"/>
                <a:ea typeface="+mn-ea"/>
                <a:cs typeface="+mn-cs"/>
              </a:endParaRPr>
            </a:p>
          </p:txBody>
        </p:sp>
        <p:pic>
          <p:nvPicPr>
            <p:cNvPr id="8" name="Picture 2" descr="Image result for british pound graphic">
              <a:extLst>
                <a:ext uri="{FF2B5EF4-FFF2-40B4-BE49-F238E27FC236}">
                  <a16:creationId xmlns:a16="http://schemas.microsoft.com/office/drawing/2014/main" id="{41FB319A-B276-442D-8AD8-512FFA55E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0678" y="2555078"/>
              <a:ext cx="630011" cy="6300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ABA9212-CB3B-4868-A530-9DEADC2D25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2847" y="2394337"/>
              <a:ext cx="1998423" cy="199842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EF75C0F7-06D0-45FA-B3AA-6ED8CF36B4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4384" y="2621766"/>
              <a:ext cx="1667746" cy="166774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DA98E411-4F55-4BA6-8CD7-37CA229D5A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09128" y="847898"/>
              <a:ext cx="898687" cy="8695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07D0C94F-7C98-45FE-B516-7B6F2E761B16}"/>
                </a:ext>
              </a:extLst>
            </p:cNvPr>
            <p:cNvSpPr/>
            <p:nvPr/>
          </p:nvSpPr>
          <p:spPr>
            <a:xfrm>
              <a:off x="-27710" y="847898"/>
              <a:ext cx="2772584" cy="105032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Gotham Book"/>
                  <a:ea typeface="+mn-ea"/>
                  <a:cs typeface="+mn-cs"/>
                </a:rPr>
                <a:t>We work with people who are long term unemployed and face barriers to employment</a:t>
              </a:r>
            </a:p>
          </p:txBody>
        </p:sp>
        <p:sp>
          <p:nvSpPr>
            <p:cNvPr id="13" name="Rectangle: Rounded Corners 12">
              <a:extLst>
                <a:ext uri="{FF2B5EF4-FFF2-40B4-BE49-F238E27FC236}">
                  <a16:creationId xmlns:a16="http://schemas.microsoft.com/office/drawing/2014/main" id="{3AC82AB0-536D-48EF-BE9A-CBE1FF67FF80}"/>
                </a:ext>
              </a:extLst>
            </p:cNvPr>
            <p:cNvSpPr/>
            <p:nvPr/>
          </p:nvSpPr>
          <p:spPr>
            <a:xfrm>
              <a:off x="3780087" y="4249706"/>
              <a:ext cx="2071399" cy="536861"/>
            </a:xfrm>
            <a:prstGeom prst="roundRect">
              <a:avLst/>
            </a:prstGeom>
            <a:solidFill>
              <a:schemeClr val="accent5">
                <a:alpha val="52000"/>
              </a:schemeClr>
            </a:solidFill>
            <a:ln>
              <a:solidFill>
                <a:schemeClr val="accent5">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Personal Support</a:t>
              </a:r>
            </a:p>
          </p:txBody>
        </p:sp>
        <p:sp>
          <p:nvSpPr>
            <p:cNvPr id="14" name="Rectangle: Rounded Corners 13">
              <a:extLst>
                <a:ext uri="{FF2B5EF4-FFF2-40B4-BE49-F238E27FC236}">
                  <a16:creationId xmlns:a16="http://schemas.microsoft.com/office/drawing/2014/main" id="{F95660AD-235B-420B-BD82-FD53A3B7395E}"/>
                </a:ext>
              </a:extLst>
            </p:cNvPr>
            <p:cNvSpPr/>
            <p:nvPr/>
          </p:nvSpPr>
          <p:spPr>
            <a:xfrm>
              <a:off x="6519872" y="4249706"/>
              <a:ext cx="2071399" cy="536861"/>
            </a:xfrm>
            <a:prstGeom prst="roundRect">
              <a:avLst/>
            </a:prstGeom>
            <a:solidFill>
              <a:schemeClr val="accent5">
                <a:alpha val="52000"/>
              </a:schemeClr>
            </a:solidFill>
            <a:ln>
              <a:solidFill>
                <a:schemeClr val="accent5">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Supportive jobs</a:t>
              </a:r>
            </a:p>
          </p:txBody>
        </p:sp>
        <p:sp>
          <p:nvSpPr>
            <p:cNvPr id="15" name="Right Brace 14">
              <a:extLst>
                <a:ext uri="{FF2B5EF4-FFF2-40B4-BE49-F238E27FC236}">
                  <a16:creationId xmlns:a16="http://schemas.microsoft.com/office/drawing/2014/main" id="{9B6F46F3-FFA8-41C9-91E9-B77459F082AC}"/>
                </a:ext>
              </a:extLst>
            </p:cNvPr>
            <p:cNvSpPr/>
            <p:nvPr/>
          </p:nvSpPr>
          <p:spPr>
            <a:xfrm>
              <a:off x="2885787" y="1321263"/>
              <a:ext cx="408214" cy="3243583"/>
            </a:xfrm>
            <a:prstGeom prst="rightBrace">
              <a:avLst/>
            </a:prstGeom>
            <a:ln w="28575">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6" name="Rectangle: Rounded Corners 15">
              <a:extLst>
                <a:ext uri="{FF2B5EF4-FFF2-40B4-BE49-F238E27FC236}">
                  <a16:creationId xmlns:a16="http://schemas.microsoft.com/office/drawing/2014/main" id="{9F499139-A1F5-47D5-BFC7-24B4E58F49A5}"/>
                </a:ext>
              </a:extLst>
            </p:cNvPr>
            <p:cNvSpPr/>
            <p:nvPr/>
          </p:nvSpPr>
          <p:spPr>
            <a:xfrm>
              <a:off x="1016758" y="5347839"/>
              <a:ext cx="10499271" cy="128886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chemeClr val="accent1"/>
                  </a:solidFill>
                  <a:effectLst/>
                  <a:uLnTx/>
                  <a:uFillTx/>
                  <a:latin typeface="Gotham Book"/>
                  <a:ea typeface="+mn-ea"/>
                  <a:cs typeface="+mn-cs"/>
                </a:rPr>
                <a:t>Our Impact:</a:t>
              </a:r>
            </a:p>
            <a:p>
              <a:pPr algn="ctr"/>
              <a:r>
                <a:rPr lang="en-GB" dirty="0">
                  <a:solidFill>
                    <a:schemeClr val="accent1"/>
                  </a:solidFill>
                </a:rPr>
                <a:t>Radiant cleaners will support people in Nottingham and the UK in poverty suffering from long term unemployment to achieve a better standard of living through good employment at Radiant Cleaners and by changing the industry practice around employee support.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chemeClr val="accent1"/>
                </a:solidFill>
                <a:effectLst/>
                <a:uLnTx/>
                <a:uFillTx/>
                <a:latin typeface="Gotham Book"/>
                <a:ea typeface="+mn-ea"/>
                <a:cs typeface="+mn-cs"/>
              </a:endParaRPr>
            </a:p>
          </p:txBody>
        </p:sp>
        <p:sp>
          <p:nvSpPr>
            <p:cNvPr id="17" name="Right Brace 16">
              <a:extLst>
                <a:ext uri="{FF2B5EF4-FFF2-40B4-BE49-F238E27FC236}">
                  <a16:creationId xmlns:a16="http://schemas.microsoft.com/office/drawing/2014/main" id="{233039F8-AC7B-42EB-B1DE-B03869E6A490}"/>
                </a:ext>
              </a:extLst>
            </p:cNvPr>
            <p:cNvSpPr/>
            <p:nvPr/>
          </p:nvSpPr>
          <p:spPr>
            <a:xfrm rot="10800000">
              <a:off x="9177248" y="1321263"/>
              <a:ext cx="408214" cy="3243583"/>
            </a:xfrm>
            <a:prstGeom prst="rightBrace">
              <a:avLst/>
            </a:prstGeom>
            <a:ln w="28575">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8" name="Rectangle: Rounded Corners 17">
              <a:extLst>
                <a:ext uri="{FF2B5EF4-FFF2-40B4-BE49-F238E27FC236}">
                  <a16:creationId xmlns:a16="http://schemas.microsoft.com/office/drawing/2014/main" id="{C561B700-8728-4014-A923-F06B71F8829F}"/>
                </a:ext>
              </a:extLst>
            </p:cNvPr>
            <p:cNvSpPr/>
            <p:nvPr/>
          </p:nvSpPr>
          <p:spPr>
            <a:xfrm>
              <a:off x="9605084" y="2335576"/>
              <a:ext cx="2578828" cy="1165883"/>
            </a:xfrm>
            <a:prstGeom prst="roundRect">
              <a:avLst/>
            </a:prstGeom>
            <a:solidFill>
              <a:srgbClr val="00B050">
                <a:alpha val="52000"/>
              </a:srgbClr>
            </a:solidFill>
            <a:ln>
              <a:solidFill>
                <a:schemeClr val="accent5">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Job security and</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Good income</a:t>
              </a:r>
            </a:p>
          </p:txBody>
        </p:sp>
        <p:sp>
          <p:nvSpPr>
            <p:cNvPr id="19" name="Rectangle: Rounded Corners 18">
              <a:extLst>
                <a:ext uri="{FF2B5EF4-FFF2-40B4-BE49-F238E27FC236}">
                  <a16:creationId xmlns:a16="http://schemas.microsoft.com/office/drawing/2014/main" id="{C96913B2-89DE-4E6C-8A27-90B4D06E2A7F}"/>
                </a:ext>
              </a:extLst>
            </p:cNvPr>
            <p:cNvSpPr/>
            <p:nvPr/>
          </p:nvSpPr>
          <p:spPr>
            <a:xfrm>
              <a:off x="9585463" y="3798170"/>
              <a:ext cx="2578828" cy="1165883"/>
            </a:xfrm>
            <a:prstGeom prst="roundRect">
              <a:avLst/>
            </a:prstGeom>
            <a:solidFill>
              <a:srgbClr val="00B050">
                <a:alpha val="52000"/>
              </a:srgbClr>
            </a:solidFill>
            <a:ln>
              <a:solidFill>
                <a:schemeClr val="accent5">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dirty="0">
                  <a:solidFill>
                    <a:schemeClr val="bg1"/>
                  </a:solidFill>
                  <a:latin typeface="Gotham Book"/>
                </a:rPr>
                <a:t>Demonstrate the</a:t>
              </a:r>
            </a:p>
            <a:p>
              <a:pPr marL="0" marR="0" lvl="0" indent="0" algn="r" defTabSz="914400" rtl="0" eaLnBrk="1" fontAlgn="auto" latinLnBrk="0" hangingPunct="1">
                <a:lnSpc>
                  <a:spcPct val="100000"/>
                </a:lnSpc>
                <a:spcBef>
                  <a:spcPts val="0"/>
                </a:spcBef>
                <a:spcAft>
                  <a:spcPts val="0"/>
                </a:spcAft>
                <a:buClrTx/>
                <a:buSzTx/>
                <a:buFontTx/>
                <a:buNone/>
                <a:tabLst/>
                <a:defRPr/>
              </a:pPr>
              <a:r>
                <a:rPr lang="en-GB" dirty="0">
                  <a:solidFill>
                    <a:schemeClr val="bg1"/>
                  </a:solidFill>
                  <a:latin typeface="Gotham Book"/>
                </a:rPr>
                <a:t>value of ethical </a:t>
              </a:r>
            </a:p>
            <a:p>
              <a:pPr marL="0" marR="0" lvl="0" indent="0" algn="r" defTabSz="914400" rtl="0" eaLnBrk="1" fontAlgn="auto" latinLnBrk="0" hangingPunct="1">
                <a:lnSpc>
                  <a:spcPct val="100000"/>
                </a:lnSpc>
                <a:spcBef>
                  <a:spcPts val="0"/>
                </a:spcBef>
                <a:spcAft>
                  <a:spcPts val="0"/>
                </a:spcAft>
                <a:buClrTx/>
                <a:buSzTx/>
                <a:buFontTx/>
                <a:buNone/>
                <a:tabLst/>
                <a:defRPr/>
              </a:pPr>
              <a:r>
                <a:rPr lang="en-GB" dirty="0">
                  <a:solidFill>
                    <a:schemeClr val="bg1"/>
                  </a:solidFill>
                  <a:latin typeface="Gotham Book"/>
                </a:rPr>
                <a:t>business practices</a:t>
              </a:r>
              <a:endParaRPr kumimoji="0" lang="en-GB" sz="1800" b="0" i="0" u="none" strike="noStrike" kern="1200" cap="none" spc="0" normalizeH="0" baseline="0" noProof="0" dirty="0">
                <a:ln>
                  <a:noFill/>
                </a:ln>
                <a:solidFill>
                  <a:srgbClr val="FF0000"/>
                </a:solidFill>
                <a:effectLst/>
                <a:uLnTx/>
                <a:uFillTx/>
                <a:latin typeface="Gotham Book"/>
                <a:ea typeface="+mn-ea"/>
                <a:cs typeface="+mn-cs"/>
              </a:endParaRPr>
            </a:p>
          </p:txBody>
        </p:sp>
        <p:pic>
          <p:nvPicPr>
            <p:cNvPr id="20" name="Picture 19">
              <a:extLst>
                <a:ext uri="{FF2B5EF4-FFF2-40B4-BE49-F238E27FC236}">
                  <a16:creationId xmlns:a16="http://schemas.microsoft.com/office/drawing/2014/main" id="{317D4C0C-3C19-4DBB-97EA-72FF648D47D0}"/>
                </a:ext>
              </a:extLst>
            </p:cNvPr>
            <p:cNvPicPr>
              <a:picLocks noChangeAspect="1"/>
            </p:cNvPicPr>
            <p:nvPr/>
          </p:nvPicPr>
          <p:blipFill>
            <a:blip r:embed="rId7"/>
            <a:stretch>
              <a:fillRect/>
            </a:stretch>
          </p:blipFill>
          <p:spPr>
            <a:xfrm>
              <a:off x="129462" y="1956842"/>
              <a:ext cx="714375" cy="581025"/>
            </a:xfrm>
            <a:prstGeom prst="rect">
              <a:avLst/>
            </a:prstGeom>
          </p:spPr>
        </p:pic>
        <p:pic>
          <p:nvPicPr>
            <p:cNvPr id="21" name="Picture 20">
              <a:extLst>
                <a:ext uri="{FF2B5EF4-FFF2-40B4-BE49-F238E27FC236}">
                  <a16:creationId xmlns:a16="http://schemas.microsoft.com/office/drawing/2014/main" id="{2B978E5B-5E14-4BD8-8055-A89AAE1B5566}"/>
                </a:ext>
              </a:extLst>
            </p:cNvPr>
            <p:cNvPicPr>
              <a:picLocks noChangeAspect="1"/>
            </p:cNvPicPr>
            <p:nvPr/>
          </p:nvPicPr>
          <p:blipFill>
            <a:blip r:embed="rId7"/>
            <a:stretch>
              <a:fillRect/>
            </a:stretch>
          </p:blipFill>
          <p:spPr>
            <a:xfrm>
              <a:off x="1754595" y="3292286"/>
              <a:ext cx="714375" cy="581025"/>
            </a:xfrm>
            <a:prstGeom prst="rect">
              <a:avLst/>
            </a:prstGeom>
          </p:spPr>
        </p:pic>
        <p:sp>
          <p:nvSpPr>
            <p:cNvPr id="22" name="Rectangle: Rounded Corners 21">
              <a:extLst>
                <a:ext uri="{FF2B5EF4-FFF2-40B4-BE49-F238E27FC236}">
                  <a16:creationId xmlns:a16="http://schemas.microsoft.com/office/drawing/2014/main" id="{68762D00-C7D5-4799-938D-974F7C6E32FC}"/>
                </a:ext>
              </a:extLst>
            </p:cNvPr>
            <p:cNvSpPr/>
            <p:nvPr/>
          </p:nvSpPr>
          <p:spPr>
            <a:xfrm>
              <a:off x="-9782" y="2598008"/>
              <a:ext cx="1026540" cy="58628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Homeless</a:t>
              </a:r>
            </a:p>
          </p:txBody>
        </p:sp>
        <p:sp>
          <p:nvSpPr>
            <p:cNvPr id="23" name="Rectangle: Rounded Corners 22">
              <a:extLst>
                <a:ext uri="{FF2B5EF4-FFF2-40B4-BE49-F238E27FC236}">
                  <a16:creationId xmlns:a16="http://schemas.microsoft.com/office/drawing/2014/main" id="{8ED8693B-8780-4771-BE70-E3C0A54412E6}"/>
                </a:ext>
              </a:extLst>
            </p:cNvPr>
            <p:cNvSpPr/>
            <p:nvPr/>
          </p:nvSpPr>
          <p:spPr>
            <a:xfrm>
              <a:off x="1598512" y="3931848"/>
              <a:ext cx="1026540" cy="58628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Substance abuse</a:t>
              </a:r>
            </a:p>
          </p:txBody>
        </p:sp>
        <p:pic>
          <p:nvPicPr>
            <p:cNvPr id="24" name="Picture 23">
              <a:extLst>
                <a:ext uri="{FF2B5EF4-FFF2-40B4-BE49-F238E27FC236}">
                  <a16:creationId xmlns:a16="http://schemas.microsoft.com/office/drawing/2014/main" id="{90C6D6B5-FA23-4D68-AD16-DF0B5CDE0966}"/>
                </a:ext>
              </a:extLst>
            </p:cNvPr>
            <p:cNvPicPr>
              <a:picLocks noChangeAspect="1"/>
            </p:cNvPicPr>
            <p:nvPr/>
          </p:nvPicPr>
          <p:blipFill>
            <a:blip r:embed="rId7"/>
            <a:stretch>
              <a:fillRect/>
            </a:stretch>
          </p:blipFill>
          <p:spPr>
            <a:xfrm>
              <a:off x="199014" y="3502606"/>
              <a:ext cx="714375" cy="581025"/>
            </a:xfrm>
            <a:prstGeom prst="rect">
              <a:avLst/>
            </a:prstGeom>
          </p:spPr>
        </p:pic>
        <p:sp>
          <p:nvSpPr>
            <p:cNvPr id="25" name="Rectangle: Rounded Corners 24">
              <a:extLst>
                <a:ext uri="{FF2B5EF4-FFF2-40B4-BE49-F238E27FC236}">
                  <a16:creationId xmlns:a16="http://schemas.microsoft.com/office/drawing/2014/main" id="{8F7C562B-DF03-41F7-85DD-BFD38451E363}"/>
                </a:ext>
              </a:extLst>
            </p:cNvPr>
            <p:cNvSpPr/>
            <p:nvPr/>
          </p:nvSpPr>
          <p:spPr>
            <a:xfrm>
              <a:off x="42931" y="4142168"/>
              <a:ext cx="1026540" cy="58628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Mental health challenges</a:t>
              </a:r>
            </a:p>
          </p:txBody>
        </p:sp>
        <p:pic>
          <p:nvPicPr>
            <p:cNvPr id="26" name="Picture 25">
              <a:extLst>
                <a:ext uri="{FF2B5EF4-FFF2-40B4-BE49-F238E27FC236}">
                  <a16:creationId xmlns:a16="http://schemas.microsoft.com/office/drawing/2014/main" id="{73186CFD-8FFE-43FE-9462-DFECADBF43C2}"/>
                </a:ext>
              </a:extLst>
            </p:cNvPr>
            <p:cNvPicPr>
              <a:picLocks noChangeAspect="1"/>
            </p:cNvPicPr>
            <p:nvPr/>
          </p:nvPicPr>
          <p:blipFill>
            <a:blip r:embed="rId7"/>
            <a:stretch>
              <a:fillRect/>
            </a:stretch>
          </p:blipFill>
          <p:spPr>
            <a:xfrm>
              <a:off x="1747419" y="1910556"/>
              <a:ext cx="714375" cy="581025"/>
            </a:xfrm>
            <a:prstGeom prst="rect">
              <a:avLst/>
            </a:prstGeom>
          </p:spPr>
        </p:pic>
        <p:sp>
          <p:nvSpPr>
            <p:cNvPr id="27" name="Rectangle: Rounded Corners 26">
              <a:extLst>
                <a:ext uri="{FF2B5EF4-FFF2-40B4-BE49-F238E27FC236}">
                  <a16:creationId xmlns:a16="http://schemas.microsoft.com/office/drawing/2014/main" id="{8A52C5AF-A0D3-4BEB-A169-16BFA5A1C076}"/>
                </a:ext>
              </a:extLst>
            </p:cNvPr>
            <p:cNvSpPr/>
            <p:nvPr/>
          </p:nvSpPr>
          <p:spPr>
            <a:xfrm>
              <a:off x="1608175" y="2551722"/>
              <a:ext cx="1026540" cy="58628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Foster care leavers</a:t>
              </a:r>
            </a:p>
          </p:txBody>
        </p:sp>
        <p:pic>
          <p:nvPicPr>
            <p:cNvPr id="28" name="Picture 2">
              <a:extLst>
                <a:ext uri="{FF2B5EF4-FFF2-40B4-BE49-F238E27FC236}">
                  <a16:creationId xmlns:a16="http://schemas.microsoft.com/office/drawing/2014/main" id="{539A7310-9A33-4F25-8EAB-52B44C753DD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48545" y="3829710"/>
              <a:ext cx="1092579" cy="10925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1777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AC1D88-5D98-4761-8ED1-88D8F897CF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4540" y="804093"/>
            <a:ext cx="8122920" cy="5249813"/>
          </a:xfrm>
          <a:prstGeom prst="rect">
            <a:avLst/>
          </a:prstGeom>
        </p:spPr>
      </p:pic>
    </p:spTree>
    <p:extLst>
      <p:ext uri="{BB962C8B-B14F-4D97-AF65-F5344CB8AC3E}">
        <p14:creationId xmlns:p14="http://schemas.microsoft.com/office/powerpoint/2010/main" val="463823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AF9BBD-488D-4019-A907-06AAB5B46D55}"/>
              </a:ext>
            </a:extLst>
          </p:cNvPr>
          <p:cNvSpPr>
            <a:spLocks noGrp="1"/>
          </p:cNvSpPr>
          <p:nvPr>
            <p:ph type="title"/>
          </p:nvPr>
        </p:nvSpPr>
        <p:spPr>
          <a:xfrm>
            <a:off x="0" y="0"/>
            <a:ext cx="10515600" cy="526781"/>
          </a:xfrm>
        </p:spPr>
        <p:txBody>
          <a:bodyPr>
            <a:normAutofit fontScale="90000"/>
          </a:bodyPr>
          <a:lstStyle/>
          <a:p>
            <a:r>
              <a:rPr lang="en-GB" dirty="0"/>
              <a:t>Community Souls </a:t>
            </a:r>
          </a:p>
        </p:txBody>
      </p:sp>
      <p:sp>
        <p:nvSpPr>
          <p:cNvPr id="5" name="Rectangle: Rounded Corners 4">
            <a:extLst>
              <a:ext uri="{FF2B5EF4-FFF2-40B4-BE49-F238E27FC236}">
                <a16:creationId xmlns:a16="http://schemas.microsoft.com/office/drawing/2014/main" id="{0E71831E-F92D-44E2-8623-8AAE18E59215}"/>
              </a:ext>
            </a:extLst>
          </p:cNvPr>
          <p:cNvSpPr/>
          <p:nvPr/>
        </p:nvSpPr>
        <p:spPr>
          <a:xfrm>
            <a:off x="415634" y="634112"/>
            <a:ext cx="11305309" cy="336280"/>
          </a:xfrm>
          <a:prstGeom prst="roundRect">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636363"/>
                </a:solidFill>
                <a:effectLst/>
                <a:uLnTx/>
                <a:uFillTx/>
                <a:latin typeface="Gotham Book"/>
                <a:ea typeface="+mn-ea"/>
                <a:cs typeface="+mn-cs"/>
              </a:rPr>
              <a:t>Mission: We provide employment and create space to enable people to self-direct their own work, learning and thinking. </a:t>
            </a:r>
          </a:p>
        </p:txBody>
      </p:sp>
      <p:sp>
        <p:nvSpPr>
          <p:cNvPr id="6" name="Rectangle: Rounded Corners 5">
            <a:extLst>
              <a:ext uri="{FF2B5EF4-FFF2-40B4-BE49-F238E27FC236}">
                <a16:creationId xmlns:a16="http://schemas.microsoft.com/office/drawing/2014/main" id="{925C8417-AE3F-421E-88E7-1E162D9E8AD5}"/>
              </a:ext>
            </a:extLst>
          </p:cNvPr>
          <p:cNvSpPr/>
          <p:nvPr/>
        </p:nvSpPr>
        <p:spPr>
          <a:xfrm>
            <a:off x="415635" y="6072645"/>
            <a:ext cx="11305309" cy="6852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Gotham Book"/>
                <a:ea typeface="+mn-ea"/>
                <a:cs typeface="+mn-cs"/>
              </a:rPr>
              <a:t>Problem: </a:t>
            </a:r>
            <a:r>
              <a:rPr kumimoji="0" lang="en-GB" sz="1200" b="0" i="0" u="none" strike="noStrike" kern="1200" cap="none" spc="0" normalizeH="0" baseline="0" noProof="0" dirty="0">
                <a:ln>
                  <a:noFill/>
                </a:ln>
                <a:solidFill>
                  <a:prstClr val="white"/>
                </a:solidFill>
                <a:effectLst/>
                <a:uLnTx/>
                <a:uFillTx/>
                <a:latin typeface="Gotham Book"/>
                <a:ea typeface="+mn-ea"/>
                <a:cs typeface="+mn-cs"/>
              </a:rPr>
              <a:t>People in low/no income households in deprived areas often lack the necessary opportunities and support to thrive in good jobs. This often occurs for people with barriers to work such as single parents, ex-offenders, NEET and many others with complex barriers to work. This leads to a sense of non-agency and a lack of confidence to pursue opportunities to thrive in employment and live a good life. </a:t>
            </a:r>
            <a:endParaRPr kumimoji="0" lang="en-GB" sz="1200" b="1" i="0" u="none" strike="noStrike" kern="1200" cap="none" spc="0" normalizeH="0" baseline="0" noProof="0" dirty="0">
              <a:ln>
                <a:noFill/>
              </a:ln>
              <a:solidFill>
                <a:prstClr val="white"/>
              </a:solidFill>
              <a:effectLst/>
              <a:uLnTx/>
              <a:uFillTx/>
              <a:latin typeface="Gotham Book"/>
              <a:ea typeface="+mn-ea"/>
              <a:cs typeface="+mn-cs"/>
            </a:endParaRPr>
          </a:p>
        </p:txBody>
      </p:sp>
      <p:sp>
        <p:nvSpPr>
          <p:cNvPr id="7" name="Rectangle: Rounded Corners 6">
            <a:extLst>
              <a:ext uri="{FF2B5EF4-FFF2-40B4-BE49-F238E27FC236}">
                <a16:creationId xmlns:a16="http://schemas.microsoft.com/office/drawing/2014/main" id="{0FAA8032-AF99-49F1-992B-195F14598FD7}"/>
              </a:ext>
            </a:extLst>
          </p:cNvPr>
          <p:cNvSpPr/>
          <p:nvPr/>
        </p:nvSpPr>
        <p:spPr>
          <a:xfrm>
            <a:off x="415635" y="4545875"/>
            <a:ext cx="2580113" cy="110598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Gotham Book"/>
                <a:ea typeface="+mn-ea"/>
                <a:cs typeface="+mn-cs"/>
              </a:rPr>
              <a:t>Employment</a:t>
            </a:r>
          </a:p>
        </p:txBody>
      </p:sp>
      <p:sp>
        <p:nvSpPr>
          <p:cNvPr id="8" name="Rectangle: Rounded Corners 7">
            <a:extLst>
              <a:ext uri="{FF2B5EF4-FFF2-40B4-BE49-F238E27FC236}">
                <a16:creationId xmlns:a16="http://schemas.microsoft.com/office/drawing/2014/main" id="{FA4267BB-6035-47BA-86D4-B805F428D80B}"/>
              </a:ext>
            </a:extLst>
          </p:cNvPr>
          <p:cNvSpPr/>
          <p:nvPr/>
        </p:nvSpPr>
        <p:spPr>
          <a:xfrm>
            <a:off x="451656" y="4850674"/>
            <a:ext cx="2508069" cy="731520"/>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London living wage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Flexible hours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1 year contract </a:t>
            </a:r>
          </a:p>
        </p:txBody>
      </p:sp>
      <p:sp>
        <p:nvSpPr>
          <p:cNvPr id="9" name="Rectangle: Rounded Corners 8">
            <a:extLst>
              <a:ext uri="{FF2B5EF4-FFF2-40B4-BE49-F238E27FC236}">
                <a16:creationId xmlns:a16="http://schemas.microsoft.com/office/drawing/2014/main" id="{44CD3B28-B785-4F46-8729-5CEBC07D8F27}"/>
              </a:ext>
            </a:extLst>
          </p:cNvPr>
          <p:cNvSpPr/>
          <p:nvPr/>
        </p:nvSpPr>
        <p:spPr>
          <a:xfrm>
            <a:off x="3119646" y="4545875"/>
            <a:ext cx="2580113" cy="110598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Gotham Book"/>
                <a:ea typeface="+mn-ea"/>
                <a:cs typeface="+mn-cs"/>
              </a:rPr>
              <a:t>Mentoring </a:t>
            </a:r>
          </a:p>
        </p:txBody>
      </p:sp>
      <p:sp>
        <p:nvSpPr>
          <p:cNvPr id="10" name="Rectangle: Rounded Corners 9">
            <a:extLst>
              <a:ext uri="{FF2B5EF4-FFF2-40B4-BE49-F238E27FC236}">
                <a16:creationId xmlns:a16="http://schemas.microsoft.com/office/drawing/2014/main" id="{42B9DFD0-5560-49D6-9E0A-B4397D6828AA}"/>
              </a:ext>
            </a:extLst>
          </p:cNvPr>
          <p:cNvSpPr/>
          <p:nvPr/>
        </p:nvSpPr>
        <p:spPr>
          <a:xfrm>
            <a:off x="3155667" y="4850674"/>
            <a:ext cx="2508069" cy="731520"/>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Paid mentoring sessions designing personal goals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Flexible mentoring times</a:t>
            </a:r>
          </a:p>
        </p:txBody>
      </p:sp>
      <p:sp>
        <p:nvSpPr>
          <p:cNvPr id="11" name="Rectangle: Rounded Corners 10">
            <a:extLst>
              <a:ext uri="{FF2B5EF4-FFF2-40B4-BE49-F238E27FC236}">
                <a16:creationId xmlns:a16="http://schemas.microsoft.com/office/drawing/2014/main" id="{CBFB5F37-C02D-45E0-98EA-EC8993D80F39}"/>
              </a:ext>
            </a:extLst>
          </p:cNvPr>
          <p:cNvSpPr/>
          <p:nvPr/>
        </p:nvSpPr>
        <p:spPr>
          <a:xfrm>
            <a:off x="5823657" y="4545875"/>
            <a:ext cx="2580113" cy="110598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Gotham Book"/>
                <a:ea typeface="+mn-ea"/>
                <a:cs typeface="+mn-cs"/>
              </a:rPr>
              <a:t>Training</a:t>
            </a:r>
          </a:p>
        </p:txBody>
      </p:sp>
      <p:sp>
        <p:nvSpPr>
          <p:cNvPr id="12" name="Rectangle: Rounded Corners 11">
            <a:extLst>
              <a:ext uri="{FF2B5EF4-FFF2-40B4-BE49-F238E27FC236}">
                <a16:creationId xmlns:a16="http://schemas.microsoft.com/office/drawing/2014/main" id="{81893F3E-EF8E-450E-AE1D-2B29E76E9FEC}"/>
              </a:ext>
            </a:extLst>
          </p:cNvPr>
          <p:cNvSpPr/>
          <p:nvPr/>
        </p:nvSpPr>
        <p:spPr>
          <a:xfrm>
            <a:off x="5859678" y="4850674"/>
            <a:ext cx="2508069" cy="731520"/>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Funding of relevant training for CSCC and future jobs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Support in identifying relevant training</a:t>
            </a:r>
          </a:p>
        </p:txBody>
      </p:sp>
      <p:sp>
        <p:nvSpPr>
          <p:cNvPr id="13" name="Rectangle: Rounded Corners 12">
            <a:extLst>
              <a:ext uri="{FF2B5EF4-FFF2-40B4-BE49-F238E27FC236}">
                <a16:creationId xmlns:a16="http://schemas.microsoft.com/office/drawing/2014/main" id="{CB5605C5-3605-4185-80DB-AD3C193FCBA3}"/>
              </a:ext>
            </a:extLst>
          </p:cNvPr>
          <p:cNvSpPr/>
          <p:nvPr/>
        </p:nvSpPr>
        <p:spPr>
          <a:xfrm>
            <a:off x="8527668" y="4545875"/>
            <a:ext cx="2580113" cy="110598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Gotham Book"/>
                <a:ea typeface="+mn-ea"/>
                <a:cs typeface="+mn-cs"/>
              </a:rPr>
              <a:t>Wrap around support</a:t>
            </a:r>
          </a:p>
        </p:txBody>
      </p:sp>
      <p:sp>
        <p:nvSpPr>
          <p:cNvPr id="14" name="Rectangle: Rounded Corners 13">
            <a:extLst>
              <a:ext uri="{FF2B5EF4-FFF2-40B4-BE49-F238E27FC236}">
                <a16:creationId xmlns:a16="http://schemas.microsoft.com/office/drawing/2014/main" id="{9DAE8F6A-B4F8-4EE4-81F3-CB1B38564225}"/>
              </a:ext>
            </a:extLst>
          </p:cNvPr>
          <p:cNvSpPr/>
          <p:nvPr/>
        </p:nvSpPr>
        <p:spPr>
          <a:xfrm>
            <a:off x="8563689" y="4850674"/>
            <a:ext cx="2508069" cy="731520"/>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Direct linkage to statutory services for employee support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Embedded in local community/charities for support</a:t>
            </a:r>
          </a:p>
        </p:txBody>
      </p:sp>
      <p:cxnSp>
        <p:nvCxnSpPr>
          <p:cNvPr id="15" name="Connector: Elbow 14">
            <a:extLst>
              <a:ext uri="{FF2B5EF4-FFF2-40B4-BE49-F238E27FC236}">
                <a16:creationId xmlns:a16="http://schemas.microsoft.com/office/drawing/2014/main" id="{49B0BD4B-1AD3-449A-9C1C-DAC81F1EF3B5}"/>
              </a:ext>
            </a:extLst>
          </p:cNvPr>
          <p:cNvCxnSpPr>
            <a:stCxn id="13" idx="2"/>
            <a:endCxn id="7" idx="2"/>
          </p:cNvCxnSpPr>
          <p:nvPr/>
        </p:nvCxnSpPr>
        <p:spPr>
          <a:xfrm rot="5400000">
            <a:off x="5761709" y="1595847"/>
            <a:ext cx="12700" cy="8112033"/>
          </a:xfrm>
          <a:prstGeom prst="bentConnector3">
            <a:avLst>
              <a:gd name="adj1" fmla="val 1800000"/>
            </a:avLst>
          </a:prstGeom>
          <a:ln w="254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4465D26E-034C-4199-9F39-01C8C0C4C38D}"/>
              </a:ext>
            </a:extLst>
          </p:cNvPr>
          <p:cNvCxnSpPr>
            <a:cxnSpLocks/>
            <a:stCxn id="11" idx="2"/>
            <a:endCxn id="7" idx="2"/>
          </p:cNvCxnSpPr>
          <p:nvPr/>
        </p:nvCxnSpPr>
        <p:spPr>
          <a:xfrm rot="5400000">
            <a:off x="4409703" y="2947852"/>
            <a:ext cx="12700" cy="5408022"/>
          </a:xfrm>
          <a:prstGeom prst="bentConnector3">
            <a:avLst>
              <a:gd name="adj1" fmla="val 1800000"/>
            </a:avLst>
          </a:prstGeom>
          <a:ln w="254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A7F6AC8E-D253-4E86-918F-90131ED74526}"/>
              </a:ext>
            </a:extLst>
          </p:cNvPr>
          <p:cNvCxnSpPr>
            <a:stCxn id="9" idx="2"/>
            <a:endCxn id="7" idx="2"/>
          </p:cNvCxnSpPr>
          <p:nvPr/>
        </p:nvCxnSpPr>
        <p:spPr>
          <a:xfrm rot="5400000">
            <a:off x="3057698" y="4299858"/>
            <a:ext cx="12700" cy="2704011"/>
          </a:xfrm>
          <a:prstGeom prst="bentConnector3">
            <a:avLst>
              <a:gd name="adj1" fmla="val 1800000"/>
            </a:avLst>
          </a:prstGeom>
          <a:ln w="254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18FD1E44-6E67-46C0-9B45-8B850D09E3F6}"/>
              </a:ext>
            </a:extLst>
          </p:cNvPr>
          <p:cNvSpPr/>
          <p:nvPr/>
        </p:nvSpPr>
        <p:spPr>
          <a:xfrm>
            <a:off x="4191886" y="5780546"/>
            <a:ext cx="4978240" cy="23195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636363"/>
                </a:solidFill>
                <a:effectLst/>
                <a:uLnTx/>
                <a:uFillTx/>
                <a:latin typeface="Gotham Book"/>
                <a:ea typeface="+mn-ea"/>
                <a:cs typeface="+mn-cs"/>
              </a:rPr>
              <a:t>Mentoring, training and wrap around services to provide supported employment. </a:t>
            </a:r>
          </a:p>
        </p:txBody>
      </p:sp>
      <p:cxnSp>
        <p:nvCxnSpPr>
          <p:cNvPr id="19" name="Straight Arrow Connector 18">
            <a:extLst>
              <a:ext uri="{FF2B5EF4-FFF2-40B4-BE49-F238E27FC236}">
                <a16:creationId xmlns:a16="http://schemas.microsoft.com/office/drawing/2014/main" id="{317DCE6D-67E2-4793-8995-E7E832AE0A14}"/>
              </a:ext>
            </a:extLst>
          </p:cNvPr>
          <p:cNvCxnSpPr>
            <a:cxnSpLocks/>
            <a:stCxn id="7" idx="0"/>
            <a:endCxn id="20" idx="2"/>
          </p:cNvCxnSpPr>
          <p:nvPr/>
        </p:nvCxnSpPr>
        <p:spPr>
          <a:xfrm flipH="1" flipV="1">
            <a:off x="1705690" y="3161775"/>
            <a:ext cx="2" cy="1384100"/>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F24A39D9-C4A4-4D7B-8584-4C3A0AC82A48}"/>
              </a:ext>
            </a:extLst>
          </p:cNvPr>
          <p:cNvSpPr/>
          <p:nvPr/>
        </p:nvSpPr>
        <p:spPr>
          <a:xfrm>
            <a:off x="463643" y="2277588"/>
            <a:ext cx="2484094" cy="884187"/>
          </a:xfrm>
          <a:prstGeom prst="round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CSCC employees benefit from LLW and supported employment model and contribute to UK economy (fiscal value/economic value)</a:t>
            </a:r>
          </a:p>
        </p:txBody>
      </p:sp>
      <p:sp>
        <p:nvSpPr>
          <p:cNvPr id="21" name="Rectangle: Rounded Corners 20">
            <a:extLst>
              <a:ext uri="{FF2B5EF4-FFF2-40B4-BE49-F238E27FC236}">
                <a16:creationId xmlns:a16="http://schemas.microsoft.com/office/drawing/2014/main" id="{1649F109-2FC0-4EE0-B08C-9737B8920246}"/>
              </a:ext>
            </a:extLst>
          </p:cNvPr>
          <p:cNvSpPr/>
          <p:nvPr/>
        </p:nvSpPr>
        <p:spPr>
          <a:xfrm>
            <a:off x="416129" y="1211386"/>
            <a:ext cx="11305309" cy="475982"/>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CSCC employees and ex-employees are in jobs providing good quality of life for the (ex-)employees and their families </a:t>
            </a:r>
          </a:p>
        </p:txBody>
      </p:sp>
      <p:sp>
        <p:nvSpPr>
          <p:cNvPr id="22" name="Rectangle: Rounded Corners 21">
            <a:extLst>
              <a:ext uri="{FF2B5EF4-FFF2-40B4-BE49-F238E27FC236}">
                <a16:creationId xmlns:a16="http://schemas.microsoft.com/office/drawing/2014/main" id="{F8F58495-5946-40D8-99C8-3A43CEAD0208}"/>
              </a:ext>
            </a:extLst>
          </p:cNvPr>
          <p:cNvSpPr/>
          <p:nvPr/>
        </p:nvSpPr>
        <p:spPr>
          <a:xfrm>
            <a:off x="3532221" y="3443009"/>
            <a:ext cx="4263030" cy="626976"/>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CSCC employees complete trainings and achieve PDP aims to improve employment prospects</a:t>
            </a:r>
          </a:p>
        </p:txBody>
      </p:sp>
      <p:sp>
        <p:nvSpPr>
          <p:cNvPr id="23" name="Rectangle: Rounded Corners 22">
            <a:extLst>
              <a:ext uri="{FF2B5EF4-FFF2-40B4-BE49-F238E27FC236}">
                <a16:creationId xmlns:a16="http://schemas.microsoft.com/office/drawing/2014/main" id="{E758BF4C-EB12-4345-83EE-9473174E58FE}"/>
              </a:ext>
            </a:extLst>
          </p:cNvPr>
          <p:cNvSpPr/>
          <p:nvPr/>
        </p:nvSpPr>
        <p:spPr>
          <a:xfrm>
            <a:off x="8527668" y="3443009"/>
            <a:ext cx="2580113" cy="626976"/>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CSCC employees access additional support from 3</a:t>
            </a:r>
            <a:r>
              <a:rPr kumimoji="0" lang="en-GB" sz="1200" b="0" i="0" u="none" strike="noStrike" kern="1200" cap="none" spc="0" normalizeH="0" baseline="30000" noProof="0" dirty="0">
                <a:ln>
                  <a:noFill/>
                </a:ln>
                <a:solidFill>
                  <a:prstClr val="white"/>
                </a:solidFill>
                <a:effectLst/>
                <a:uLnTx/>
                <a:uFillTx/>
                <a:latin typeface="Gotham Book"/>
                <a:ea typeface="+mn-ea"/>
                <a:cs typeface="+mn-cs"/>
              </a:rPr>
              <a:t>rd</a:t>
            </a:r>
            <a:r>
              <a:rPr kumimoji="0" lang="en-GB" sz="1200" b="0" i="0" u="none" strike="noStrike" kern="1200" cap="none" spc="0" normalizeH="0" baseline="0" noProof="0" dirty="0">
                <a:ln>
                  <a:noFill/>
                </a:ln>
                <a:solidFill>
                  <a:prstClr val="white"/>
                </a:solidFill>
                <a:effectLst/>
                <a:uLnTx/>
                <a:uFillTx/>
                <a:latin typeface="Gotham Book"/>
                <a:ea typeface="+mn-ea"/>
                <a:cs typeface="+mn-cs"/>
              </a:rPr>
              <a:t> party providers to improve resilience. </a:t>
            </a:r>
          </a:p>
        </p:txBody>
      </p:sp>
      <p:sp>
        <p:nvSpPr>
          <p:cNvPr id="24" name="Rectangle: Rounded Corners 23">
            <a:extLst>
              <a:ext uri="{FF2B5EF4-FFF2-40B4-BE49-F238E27FC236}">
                <a16:creationId xmlns:a16="http://schemas.microsoft.com/office/drawing/2014/main" id="{B053AD76-5D4C-419F-99B2-A2F1820DCC84}"/>
              </a:ext>
            </a:extLst>
          </p:cNvPr>
          <p:cNvSpPr/>
          <p:nvPr/>
        </p:nvSpPr>
        <p:spPr>
          <a:xfrm>
            <a:off x="5743680" y="2363029"/>
            <a:ext cx="4263030" cy="626976"/>
          </a:xfrm>
          <a:prstGeom prst="round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Improvement in wellbeing and self-efficacy (e.g. capacity to make own and deliver on own decisions improves). </a:t>
            </a:r>
          </a:p>
        </p:txBody>
      </p:sp>
      <p:sp>
        <p:nvSpPr>
          <p:cNvPr id="25" name="Right Brace 24">
            <a:extLst>
              <a:ext uri="{FF2B5EF4-FFF2-40B4-BE49-F238E27FC236}">
                <a16:creationId xmlns:a16="http://schemas.microsoft.com/office/drawing/2014/main" id="{413F9502-A3E1-4621-8ECC-440A3C99FD84}"/>
              </a:ext>
            </a:extLst>
          </p:cNvPr>
          <p:cNvSpPr/>
          <p:nvPr/>
        </p:nvSpPr>
        <p:spPr>
          <a:xfrm rot="16200000">
            <a:off x="5759539" y="2576003"/>
            <a:ext cx="200279" cy="3520200"/>
          </a:xfrm>
          <a:prstGeom prst="rightBrace">
            <a:avLst/>
          </a:prstGeom>
          <a:ln w="25400">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cxnSp>
        <p:nvCxnSpPr>
          <p:cNvPr id="26" name="Straight Arrow Connector 25">
            <a:extLst>
              <a:ext uri="{FF2B5EF4-FFF2-40B4-BE49-F238E27FC236}">
                <a16:creationId xmlns:a16="http://schemas.microsoft.com/office/drawing/2014/main" id="{D875256A-AF1C-4371-A5CA-A09E6803A5C6}"/>
              </a:ext>
            </a:extLst>
          </p:cNvPr>
          <p:cNvCxnSpPr>
            <a:stCxn id="13" idx="0"/>
            <a:endCxn id="23" idx="2"/>
          </p:cNvCxnSpPr>
          <p:nvPr/>
        </p:nvCxnSpPr>
        <p:spPr>
          <a:xfrm flipV="1">
            <a:off x="9817725" y="4069985"/>
            <a:ext cx="0" cy="475890"/>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Right Brace 26">
            <a:extLst>
              <a:ext uri="{FF2B5EF4-FFF2-40B4-BE49-F238E27FC236}">
                <a16:creationId xmlns:a16="http://schemas.microsoft.com/office/drawing/2014/main" id="{ACDCC50B-6A58-4D7C-BBE5-0785B111CB30}"/>
              </a:ext>
            </a:extLst>
          </p:cNvPr>
          <p:cNvSpPr/>
          <p:nvPr/>
        </p:nvSpPr>
        <p:spPr>
          <a:xfrm rot="16200000">
            <a:off x="7775786" y="1319109"/>
            <a:ext cx="198819" cy="3897764"/>
          </a:xfrm>
          <a:prstGeom prst="rightBrace">
            <a:avLst/>
          </a:prstGeom>
          <a:ln w="25400">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cxnSp>
        <p:nvCxnSpPr>
          <p:cNvPr id="28" name="Straight Arrow Connector 27">
            <a:extLst>
              <a:ext uri="{FF2B5EF4-FFF2-40B4-BE49-F238E27FC236}">
                <a16:creationId xmlns:a16="http://schemas.microsoft.com/office/drawing/2014/main" id="{5ACAF0C4-6147-45E2-95C3-602965C6765B}"/>
              </a:ext>
            </a:extLst>
          </p:cNvPr>
          <p:cNvCxnSpPr/>
          <p:nvPr/>
        </p:nvCxnSpPr>
        <p:spPr>
          <a:xfrm flipH="1">
            <a:off x="2947737" y="2674370"/>
            <a:ext cx="2795943" cy="0"/>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Right Brace 28">
            <a:extLst>
              <a:ext uri="{FF2B5EF4-FFF2-40B4-BE49-F238E27FC236}">
                <a16:creationId xmlns:a16="http://schemas.microsoft.com/office/drawing/2014/main" id="{9D8A5FA3-D78E-43F1-819F-82F8D88DFC79}"/>
              </a:ext>
            </a:extLst>
          </p:cNvPr>
          <p:cNvSpPr/>
          <p:nvPr/>
        </p:nvSpPr>
        <p:spPr>
          <a:xfrm rot="16200000">
            <a:off x="5980224" y="-1466671"/>
            <a:ext cx="231550" cy="7049387"/>
          </a:xfrm>
          <a:prstGeom prst="rightBrace">
            <a:avLst/>
          </a:prstGeom>
          <a:ln w="25400">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Tree>
    <p:extLst>
      <p:ext uri="{BB962C8B-B14F-4D97-AF65-F5344CB8AC3E}">
        <p14:creationId xmlns:p14="http://schemas.microsoft.com/office/powerpoint/2010/main" val="3418548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9B2BE7-05F2-42FF-9C16-3C2E06155E56}"/>
              </a:ext>
            </a:extLst>
          </p:cNvPr>
          <p:cNvPicPr>
            <a:picLocks noChangeAspect="1"/>
          </p:cNvPicPr>
          <p:nvPr/>
        </p:nvPicPr>
        <p:blipFill>
          <a:blip r:embed="rId2"/>
          <a:stretch>
            <a:fillRect/>
          </a:stretch>
        </p:blipFill>
        <p:spPr>
          <a:xfrm>
            <a:off x="488843" y="0"/>
            <a:ext cx="9961245" cy="6858000"/>
          </a:xfrm>
          <a:prstGeom prst="rect">
            <a:avLst/>
          </a:prstGeom>
        </p:spPr>
      </p:pic>
    </p:spTree>
    <p:extLst>
      <p:ext uri="{BB962C8B-B14F-4D97-AF65-F5344CB8AC3E}">
        <p14:creationId xmlns:p14="http://schemas.microsoft.com/office/powerpoint/2010/main" val="287206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16768-7111-42A9-8DE0-FD16AF2C3A48}"/>
              </a:ext>
            </a:extLst>
          </p:cNvPr>
          <p:cNvSpPr>
            <a:spLocks noGrp="1"/>
          </p:cNvSpPr>
          <p:nvPr>
            <p:ph type="title"/>
          </p:nvPr>
        </p:nvSpPr>
        <p:spPr>
          <a:xfrm>
            <a:off x="273376" y="75030"/>
            <a:ext cx="11309023" cy="793114"/>
          </a:xfrm>
        </p:spPr>
        <p:txBody>
          <a:bodyPr>
            <a:noAutofit/>
          </a:bodyPr>
          <a:lstStyle/>
          <a:p>
            <a:r>
              <a:rPr lang="en-GB" sz="3000" b="1" dirty="0"/>
              <a:t>Review alignment: </a:t>
            </a:r>
            <a:r>
              <a:rPr lang="en-GB" sz="3000" dirty="0"/>
              <a:t>Do all 3 work together? </a:t>
            </a:r>
            <a:endParaRPr lang="en-GB" sz="3000" b="1" dirty="0"/>
          </a:p>
        </p:txBody>
      </p:sp>
      <p:pic>
        <p:nvPicPr>
          <p:cNvPr id="9" name="Picture 8">
            <a:extLst>
              <a:ext uri="{FF2B5EF4-FFF2-40B4-BE49-F238E27FC236}">
                <a16:creationId xmlns:a16="http://schemas.microsoft.com/office/drawing/2014/main" id="{A4490890-CE4F-4189-9918-7BC3768875F1}"/>
              </a:ext>
            </a:extLst>
          </p:cNvPr>
          <p:cNvPicPr>
            <a:picLocks noChangeAspect="1"/>
          </p:cNvPicPr>
          <p:nvPr/>
        </p:nvPicPr>
        <p:blipFill>
          <a:blip r:embed="rId3"/>
          <a:stretch>
            <a:fillRect/>
          </a:stretch>
        </p:blipFill>
        <p:spPr>
          <a:xfrm>
            <a:off x="7999030" y="3508878"/>
            <a:ext cx="3950989" cy="2082805"/>
          </a:xfrm>
          <a:prstGeom prst="rect">
            <a:avLst/>
          </a:prstGeom>
        </p:spPr>
      </p:pic>
      <p:sp>
        <p:nvSpPr>
          <p:cNvPr id="3" name="Arrow: Right 2">
            <a:extLst>
              <a:ext uri="{FF2B5EF4-FFF2-40B4-BE49-F238E27FC236}">
                <a16:creationId xmlns:a16="http://schemas.microsoft.com/office/drawing/2014/main" id="{4BCEAB00-A10D-40C9-84CC-3152F8746024}"/>
              </a:ext>
            </a:extLst>
          </p:cNvPr>
          <p:cNvSpPr/>
          <p:nvPr/>
        </p:nvSpPr>
        <p:spPr>
          <a:xfrm>
            <a:off x="3840120" y="4317804"/>
            <a:ext cx="711200" cy="279790"/>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0" name="Arrow: Right 9">
            <a:extLst>
              <a:ext uri="{FF2B5EF4-FFF2-40B4-BE49-F238E27FC236}">
                <a16:creationId xmlns:a16="http://schemas.microsoft.com/office/drawing/2014/main" id="{7C86F994-DB5A-4139-9ED8-F876AE6147A5}"/>
              </a:ext>
            </a:extLst>
          </p:cNvPr>
          <p:cNvSpPr/>
          <p:nvPr/>
        </p:nvSpPr>
        <p:spPr>
          <a:xfrm flipH="1">
            <a:off x="7265663" y="4319617"/>
            <a:ext cx="711200" cy="279790"/>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4" name="Rectangle: Rounded Corners 3">
            <a:extLst>
              <a:ext uri="{FF2B5EF4-FFF2-40B4-BE49-F238E27FC236}">
                <a16:creationId xmlns:a16="http://schemas.microsoft.com/office/drawing/2014/main" id="{4B92E0DA-2D4A-4449-B40E-064CD32435EC}"/>
              </a:ext>
            </a:extLst>
          </p:cNvPr>
          <p:cNvSpPr/>
          <p:nvPr/>
        </p:nvSpPr>
        <p:spPr>
          <a:xfrm>
            <a:off x="4551320" y="4049486"/>
            <a:ext cx="2736510" cy="827314"/>
          </a:xfrm>
          <a:prstGeom prst="roundRect">
            <a:avLst/>
          </a:prstGeom>
          <a:solidFill>
            <a:schemeClr val="bg1"/>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rPr>
              <a:t>Impact Framework</a:t>
            </a:r>
          </a:p>
        </p:txBody>
      </p:sp>
      <p:sp>
        <p:nvSpPr>
          <p:cNvPr id="8" name="TextBox 7">
            <a:extLst>
              <a:ext uri="{FF2B5EF4-FFF2-40B4-BE49-F238E27FC236}">
                <a16:creationId xmlns:a16="http://schemas.microsoft.com/office/drawing/2014/main" id="{3BC2AD29-8542-43F9-AC1E-B3C673BDD98D}"/>
              </a:ext>
            </a:extLst>
          </p:cNvPr>
          <p:cNvSpPr txBox="1"/>
          <p:nvPr/>
        </p:nvSpPr>
        <p:spPr>
          <a:xfrm>
            <a:off x="421064" y="3167406"/>
            <a:ext cx="3095134" cy="369332"/>
          </a:xfrm>
          <a:prstGeom prst="rect">
            <a:avLst/>
          </a:prstGeom>
          <a:noFill/>
        </p:spPr>
        <p:txBody>
          <a:bodyPr wrap="square" rtlCol="0">
            <a:spAutoFit/>
          </a:bodyPr>
          <a:lstStyle/>
          <a:p>
            <a:pPr algn="ctr"/>
            <a:r>
              <a:rPr lang="en-GB" b="1" dirty="0">
                <a:solidFill>
                  <a:schemeClr val="tx1">
                    <a:lumMod val="50000"/>
                  </a:schemeClr>
                </a:solidFill>
              </a:rPr>
              <a:t>Problem defined</a:t>
            </a:r>
          </a:p>
        </p:txBody>
      </p:sp>
      <p:sp>
        <p:nvSpPr>
          <p:cNvPr id="11" name="TextBox 10">
            <a:extLst>
              <a:ext uri="{FF2B5EF4-FFF2-40B4-BE49-F238E27FC236}">
                <a16:creationId xmlns:a16="http://schemas.microsoft.com/office/drawing/2014/main" id="{2116933E-F634-4924-AA0B-4666BBB3F190}"/>
              </a:ext>
            </a:extLst>
          </p:cNvPr>
          <p:cNvSpPr txBox="1"/>
          <p:nvPr/>
        </p:nvSpPr>
        <p:spPr>
          <a:xfrm>
            <a:off x="8426957" y="3164456"/>
            <a:ext cx="3095134" cy="369332"/>
          </a:xfrm>
          <a:prstGeom prst="rect">
            <a:avLst/>
          </a:prstGeom>
          <a:noFill/>
        </p:spPr>
        <p:txBody>
          <a:bodyPr wrap="square" rtlCol="0">
            <a:spAutoFit/>
          </a:bodyPr>
          <a:lstStyle/>
          <a:p>
            <a:pPr algn="ctr"/>
            <a:r>
              <a:rPr lang="en-GB" b="1" dirty="0">
                <a:solidFill>
                  <a:schemeClr val="tx1">
                    <a:lumMod val="50000"/>
                  </a:schemeClr>
                </a:solidFill>
              </a:rPr>
              <a:t>Value proposition defined</a:t>
            </a:r>
          </a:p>
        </p:txBody>
      </p:sp>
      <p:sp>
        <p:nvSpPr>
          <p:cNvPr id="12" name="TextBox 11">
            <a:extLst>
              <a:ext uri="{FF2B5EF4-FFF2-40B4-BE49-F238E27FC236}">
                <a16:creationId xmlns:a16="http://schemas.microsoft.com/office/drawing/2014/main" id="{AB5C78FE-9130-4264-9FB6-8233F516184C}"/>
              </a:ext>
            </a:extLst>
          </p:cNvPr>
          <p:cNvSpPr txBox="1"/>
          <p:nvPr/>
        </p:nvSpPr>
        <p:spPr>
          <a:xfrm>
            <a:off x="4372008" y="3164456"/>
            <a:ext cx="3095134" cy="646331"/>
          </a:xfrm>
          <a:prstGeom prst="rect">
            <a:avLst/>
          </a:prstGeom>
          <a:noFill/>
        </p:spPr>
        <p:txBody>
          <a:bodyPr wrap="square" rtlCol="0">
            <a:spAutoFit/>
          </a:bodyPr>
          <a:lstStyle/>
          <a:p>
            <a:pPr algn="ctr"/>
            <a:r>
              <a:rPr lang="en-GB" b="1" dirty="0">
                <a:solidFill>
                  <a:schemeClr val="tx1">
                    <a:lumMod val="50000"/>
                  </a:schemeClr>
                </a:solidFill>
              </a:rPr>
              <a:t>Clarity on how your solution solves the problem</a:t>
            </a:r>
          </a:p>
        </p:txBody>
      </p:sp>
      <p:pic>
        <p:nvPicPr>
          <p:cNvPr id="13" name="Picture 12">
            <a:extLst>
              <a:ext uri="{FF2B5EF4-FFF2-40B4-BE49-F238E27FC236}">
                <a16:creationId xmlns:a16="http://schemas.microsoft.com/office/drawing/2014/main" id="{809BDD0D-1909-444A-9481-A031D40318DC}"/>
              </a:ext>
            </a:extLst>
          </p:cNvPr>
          <p:cNvPicPr>
            <a:picLocks noChangeAspect="1"/>
          </p:cNvPicPr>
          <p:nvPr/>
        </p:nvPicPr>
        <p:blipFill>
          <a:blip r:embed="rId4"/>
          <a:stretch>
            <a:fillRect/>
          </a:stretch>
        </p:blipFill>
        <p:spPr>
          <a:xfrm>
            <a:off x="626377" y="3639134"/>
            <a:ext cx="3034431" cy="1916920"/>
          </a:xfrm>
          <a:prstGeom prst="rect">
            <a:avLst/>
          </a:prstGeom>
        </p:spPr>
      </p:pic>
    </p:spTree>
    <p:extLst>
      <p:ext uri="{BB962C8B-B14F-4D97-AF65-F5344CB8AC3E}">
        <p14:creationId xmlns:p14="http://schemas.microsoft.com/office/powerpoint/2010/main" val="3319150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114">
            <a:extLst>
              <a:ext uri="{FF2B5EF4-FFF2-40B4-BE49-F238E27FC236}">
                <a16:creationId xmlns:a16="http://schemas.microsoft.com/office/drawing/2014/main" id="{000810A0-4A10-4CED-89BD-225FCFC522C1}"/>
              </a:ext>
            </a:extLst>
          </p:cNvPr>
          <p:cNvGrpSpPr/>
          <p:nvPr/>
        </p:nvGrpSpPr>
        <p:grpSpPr>
          <a:xfrm>
            <a:off x="1877593" y="75264"/>
            <a:ext cx="9794491" cy="6178177"/>
            <a:chOff x="2438036" y="-42724"/>
            <a:chExt cx="9794491" cy="6178177"/>
          </a:xfrm>
        </p:grpSpPr>
        <p:sp>
          <p:nvSpPr>
            <p:cNvPr id="113" name="Rectangle: Rounded Corners 112">
              <a:extLst>
                <a:ext uri="{FF2B5EF4-FFF2-40B4-BE49-F238E27FC236}">
                  <a16:creationId xmlns:a16="http://schemas.microsoft.com/office/drawing/2014/main" id="{0FC68556-119B-4A24-9BC2-B15A411E8CE2}"/>
                </a:ext>
              </a:extLst>
            </p:cNvPr>
            <p:cNvSpPr/>
            <p:nvPr/>
          </p:nvSpPr>
          <p:spPr>
            <a:xfrm rot="1155032">
              <a:off x="2958711" y="2687319"/>
              <a:ext cx="6259165" cy="2504922"/>
            </a:xfrm>
            <a:prstGeom prst="round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12" name="Rectangle: Rounded Corners 111">
              <a:extLst>
                <a:ext uri="{FF2B5EF4-FFF2-40B4-BE49-F238E27FC236}">
                  <a16:creationId xmlns:a16="http://schemas.microsoft.com/office/drawing/2014/main" id="{ECB041FF-47EF-48CB-ADC0-F2CDB5A4D230}"/>
                </a:ext>
              </a:extLst>
            </p:cNvPr>
            <p:cNvSpPr/>
            <p:nvPr/>
          </p:nvSpPr>
          <p:spPr>
            <a:xfrm rot="20341697">
              <a:off x="2960766" y="962587"/>
              <a:ext cx="6356985" cy="2564842"/>
            </a:xfrm>
            <a:prstGeom prst="round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11" name="Oval 110">
              <a:extLst>
                <a:ext uri="{FF2B5EF4-FFF2-40B4-BE49-F238E27FC236}">
                  <a16:creationId xmlns:a16="http://schemas.microsoft.com/office/drawing/2014/main" id="{B88C38E9-2370-4862-A85C-D792365A68A9}"/>
                </a:ext>
              </a:extLst>
            </p:cNvPr>
            <p:cNvSpPr/>
            <p:nvPr/>
          </p:nvSpPr>
          <p:spPr>
            <a:xfrm>
              <a:off x="5988926" y="-42724"/>
              <a:ext cx="6243601" cy="6178177"/>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9">
              <a:extLst>
                <a:ext uri="{FF2B5EF4-FFF2-40B4-BE49-F238E27FC236}">
                  <a16:creationId xmlns:a16="http://schemas.microsoft.com/office/drawing/2014/main" id="{FD1851A0-7043-4A7F-91CE-7CF0FDFA5F75}"/>
                </a:ext>
              </a:extLst>
            </p:cNvPr>
            <p:cNvSpPr/>
            <p:nvPr/>
          </p:nvSpPr>
          <p:spPr>
            <a:xfrm>
              <a:off x="2438036" y="1806512"/>
              <a:ext cx="2967759" cy="2627938"/>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 Placeholder 1">
            <a:extLst>
              <a:ext uri="{FF2B5EF4-FFF2-40B4-BE49-F238E27FC236}">
                <a16:creationId xmlns:a16="http://schemas.microsoft.com/office/drawing/2014/main" id="{106C3AD1-82AF-455B-BD97-81BC4EDEC97D}"/>
              </a:ext>
            </a:extLst>
          </p:cNvPr>
          <p:cNvSpPr>
            <a:spLocks noGrp="1"/>
          </p:cNvSpPr>
          <p:nvPr>
            <p:ph type="body" sz="quarter" idx="13"/>
          </p:nvPr>
        </p:nvSpPr>
        <p:spPr>
          <a:xfrm>
            <a:off x="141251" y="91028"/>
            <a:ext cx="5419970" cy="605862"/>
          </a:xfrm>
          <a:ln>
            <a:noFill/>
          </a:ln>
        </p:spPr>
        <p:txBody>
          <a:bodyPr>
            <a:normAutofit fontScale="85000" lnSpcReduction="10000"/>
          </a:bodyPr>
          <a:lstStyle/>
          <a:p>
            <a:r>
              <a:rPr lang="en-GB" dirty="0"/>
              <a:t>Social Impact Management</a:t>
            </a:r>
          </a:p>
        </p:txBody>
      </p:sp>
      <p:sp>
        <p:nvSpPr>
          <p:cNvPr id="3" name="Rectangle: Rounded Corners 2">
            <a:extLst>
              <a:ext uri="{FF2B5EF4-FFF2-40B4-BE49-F238E27FC236}">
                <a16:creationId xmlns:a16="http://schemas.microsoft.com/office/drawing/2014/main" id="{3CC4F000-5CAA-441D-876B-EFDC08546086}"/>
              </a:ext>
            </a:extLst>
          </p:cNvPr>
          <p:cNvSpPr/>
          <p:nvPr/>
        </p:nvSpPr>
        <p:spPr>
          <a:xfrm>
            <a:off x="0" y="6419850"/>
            <a:ext cx="9363075" cy="43815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Additional - </a:t>
            </a:r>
            <a:r>
              <a:rPr lang="en-GB" dirty="0">
                <a:hlinkClick r:id="rId3"/>
              </a:rPr>
              <a:t>https://www.goodfinance.org.uk/measuring-social-impact/social-impact-guidance</a:t>
            </a:r>
            <a:r>
              <a:rPr lang="en-GB" dirty="0"/>
              <a:t> </a:t>
            </a:r>
          </a:p>
        </p:txBody>
      </p:sp>
      <p:grpSp>
        <p:nvGrpSpPr>
          <p:cNvPr id="56" name="Group 55">
            <a:extLst>
              <a:ext uri="{FF2B5EF4-FFF2-40B4-BE49-F238E27FC236}">
                <a16:creationId xmlns:a16="http://schemas.microsoft.com/office/drawing/2014/main" id="{0AC8F96B-943B-45F2-9029-88A58A186939}"/>
              </a:ext>
            </a:extLst>
          </p:cNvPr>
          <p:cNvGrpSpPr/>
          <p:nvPr/>
        </p:nvGrpSpPr>
        <p:grpSpPr>
          <a:xfrm rot="17697111">
            <a:off x="5362026" y="18331"/>
            <a:ext cx="6215632" cy="6212466"/>
            <a:chOff x="5885468" y="-76064"/>
            <a:chExt cx="6215632" cy="6212466"/>
          </a:xfrm>
        </p:grpSpPr>
        <p:sp>
          <p:nvSpPr>
            <p:cNvPr id="57" name="Freeform: Shape 56">
              <a:extLst>
                <a:ext uri="{FF2B5EF4-FFF2-40B4-BE49-F238E27FC236}">
                  <a16:creationId xmlns:a16="http://schemas.microsoft.com/office/drawing/2014/main" id="{2B5FE096-DD98-49E3-8CC2-8BB3F8D5CF50}"/>
                </a:ext>
              </a:extLst>
            </p:cNvPr>
            <p:cNvSpPr/>
            <p:nvPr/>
          </p:nvSpPr>
          <p:spPr>
            <a:xfrm rot="3902889">
              <a:off x="10834324" y="1232916"/>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dirty="0"/>
                <a:t>Problem Definition</a:t>
              </a:r>
            </a:p>
          </p:txBody>
        </p:sp>
        <p:sp>
          <p:nvSpPr>
            <p:cNvPr id="58" name="Arrow: Circular 57">
              <a:extLst>
                <a:ext uri="{FF2B5EF4-FFF2-40B4-BE49-F238E27FC236}">
                  <a16:creationId xmlns:a16="http://schemas.microsoft.com/office/drawing/2014/main" id="{2B6938A5-9A78-47C4-A130-19798CFFBA35}"/>
                </a:ext>
              </a:extLst>
            </p:cNvPr>
            <p:cNvSpPr/>
            <p:nvPr/>
          </p:nvSpPr>
          <p:spPr>
            <a:xfrm>
              <a:off x="6096447" y="90542"/>
              <a:ext cx="5793674" cy="5793674"/>
            </a:xfrm>
            <a:prstGeom prst="circularArrow">
              <a:avLst>
                <a:gd name="adj1" fmla="val 2940"/>
                <a:gd name="adj2" fmla="val 179900"/>
                <a:gd name="adj3" fmla="val 18937533"/>
                <a:gd name="adj4" fmla="val 18011997"/>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59" name="Freeform: Shape 58">
              <a:extLst>
                <a:ext uri="{FF2B5EF4-FFF2-40B4-BE49-F238E27FC236}">
                  <a16:creationId xmlns:a16="http://schemas.microsoft.com/office/drawing/2014/main" id="{830B18E5-2E4E-4D7D-9A10-A9D2D50989FE}"/>
                </a:ext>
              </a:extLst>
            </p:cNvPr>
            <p:cNvSpPr/>
            <p:nvPr/>
          </p:nvSpPr>
          <p:spPr>
            <a:xfrm rot="3902889">
              <a:off x="9426934" y="-20464"/>
              <a:ext cx="984567" cy="873367"/>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dirty="0"/>
                <a:t>Stakeholder Identification</a:t>
              </a:r>
            </a:p>
          </p:txBody>
        </p:sp>
        <p:sp>
          <p:nvSpPr>
            <p:cNvPr id="60" name="Arrow: Circular 59">
              <a:extLst>
                <a:ext uri="{FF2B5EF4-FFF2-40B4-BE49-F238E27FC236}">
                  <a16:creationId xmlns:a16="http://schemas.microsoft.com/office/drawing/2014/main" id="{D1EE1693-F86C-45FE-8AB3-E21AB193867D}"/>
                </a:ext>
              </a:extLst>
            </p:cNvPr>
            <p:cNvSpPr/>
            <p:nvPr/>
          </p:nvSpPr>
          <p:spPr>
            <a:xfrm>
              <a:off x="6096447" y="90542"/>
              <a:ext cx="5793674" cy="5793674"/>
            </a:xfrm>
            <a:prstGeom prst="circularArrow">
              <a:avLst>
                <a:gd name="adj1" fmla="val 2940"/>
                <a:gd name="adj2" fmla="val 179900"/>
                <a:gd name="adj3" fmla="val 21463586"/>
                <a:gd name="adj4" fmla="val 20411039"/>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1" name="Freeform: Shape 60">
              <a:extLst>
                <a:ext uri="{FF2B5EF4-FFF2-40B4-BE49-F238E27FC236}">
                  <a16:creationId xmlns:a16="http://schemas.microsoft.com/office/drawing/2014/main" id="{684F84A7-D46A-4E54-99E9-39E69519F0B7}"/>
                </a:ext>
              </a:extLst>
            </p:cNvPr>
            <p:cNvSpPr/>
            <p:nvPr/>
          </p:nvSpPr>
          <p:spPr>
            <a:xfrm rot="3902889">
              <a:off x="11227732" y="3021688"/>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dirty="0"/>
                <a:t>Impact Framework</a:t>
              </a:r>
            </a:p>
          </p:txBody>
        </p:sp>
        <p:sp>
          <p:nvSpPr>
            <p:cNvPr id="62" name="Arrow: Circular 61">
              <a:extLst>
                <a:ext uri="{FF2B5EF4-FFF2-40B4-BE49-F238E27FC236}">
                  <a16:creationId xmlns:a16="http://schemas.microsoft.com/office/drawing/2014/main" id="{54D14219-38B7-416F-8DB0-686A8EB6463F}"/>
                </a:ext>
              </a:extLst>
            </p:cNvPr>
            <p:cNvSpPr/>
            <p:nvPr/>
          </p:nvSpPr>
          <p:spPr>
            <a:xfrm>
              <a:off x="6096447" y="90542"/>
              <a:ext cx="5793674" cy="5793674"/>
            </a:xfrm>
            <a:prstGeom prst="circularArrow">
              <a:avLst>
                <a:gd name="adj1" fmla="val 2940"/>
                <a:gd name="adj2" fmla="val 179900"/>
                <a:gd name="adj3" fmla="val 2054027"/>
                <a:gd name="adj4" fmla="val 1173065"/>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3" name="Freeform: Shape 62">
              <a:extLst>
                <a:ext uri="{FF2B5EF4-FFF2-40B4-BE49-F238E27FC236}">
                  <a16:creationId xmlns:a16="http://schemas.microsoft.com/office/drawing/2014/main" id="{7C2FDF10-DCDA-48F7-A202-002871420DF7}"/>
                </a:ext>
              </a:extLst>
            </p:cNvPr>
            <p:cNvSpPr/>
            <p:nvPr/>
          </p:nvSpPr>
          <p:spPr>
            <a:xfrm rot="3902889">
              <a:off x="10300057" y="4628467"/>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dirty="0"/>
                <a:t>KPIs </a:t>
              </a:r>
            </a:p>
          </p:txBody>
        </p:sp>
        <p:sp>
          <p:nvSpPr>
            <p:cNvPr id="64" name="Arrow: Circular 63">
              <a:extLst>
                <a:ext uri="{FF2B5EF4-FFF2-40B4-BE49-F238E27FC236}">
                  <a16:creationId xmlns:a16="http://schemas.microsoft.com/office/drawing/2014/main" id="{71BC7D7E-52CD-4BCE-8D38-E61426A2B4CB}"/>
                </a:ext>
              </a:extLst>
            </p:cNvPr>
            <p:cNvSpPr/>
            <p:nvPr/>
          </p:nvSpPr>
          <p:spPr>
            <a:xfrm>
              <a:off x="6096447" y="90542"/>
              <a:ext cx="5793674" cy="5793674"/>
            </a:xfrm>
            <a:prstGeom prst="circularArrow">
              <a:avLst>
                <a:gd name="adj1" fmla="val 2940"/>
                <a:gd name="adj2" fmla="val 179900"/>
                <a:gd name="adj3" fmla="val 4664207"/>
                <a:gd name="adj4" fmla="val 3671863"/>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5" name="Freeform: Shape 64">
              <a:extLst>
                <a:ext uri="{FF2B5EF4-FFF2-40B4-BE49-F238E27FC236}">
                  <a16:creationId xmlns:a16="http://schemas.microsoft.com/office/drawing/2014/main" id="{D9F0CF3A-1961-4147-B931-E4AF532D0B5F}"/>
                </a:ext>
              </a:extLst>
            </p:cNvPr>
            <p:cNvSpPr/>
            <p:nvPr/>
          </p:nvSpPr>
          <p:spPr>
            <a:xfrm rot="3902889">
              <a:off x="8556600" y="5263034"/>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dirty="0"/>
                <a:t>Choosing Approaches &amp; Tools</a:t>
              </a:r>
              <a:endParaRPr lang="en-GB" sz="1200" b="1" kern="1200" dirty="0"/>
            </a:p>
          </p:txBody>
        </p:sp>
        <p:sp>
          <p:nvSpPr>
            <p:cNvPr id="66" name="Arrow: Circular 65">
              <a:extLst>
                <a:ext uri="{FF2B5EF4-FFF2-40B4-BE49-F238E27FC236}">
                  <a16:creationId xmlns:a16="http://schemas.microsoft.com/office/drawing/2014/main" id="{9CAFB3A2-85C4-48B7-ADBA-EF490032CFDA}"/>
                </a:ext>
              </a:extLst>
            </p:cNvPr>
            <p:cNvSpPr/>
            <p:nvPr/>
          </p:nvSpPr>
          <p:spPr>
            <a:xfrm>
              <a:off x="6096447" y="90542"/>
              <a:ext cx="5793674" cy="5793674"/>
            </a:xfrm>
            <a:prstGeom prst="circularArrow">
              <a:avLst>
                <a:gd name="adj1" fmla="val 2940"/>
                <a:gd name="adj2" fmla="val 179900"/>
                <a:gd name="adj3" fmla="val 6948237"/>
                <a:gd name="adj4" fmla="val 5955894"/>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7" name="Freeform: Shape 66">
              <a:extLst>
                <a:ext uri="{FF2B5EF4-FFF2-40B4-BE49-F238E27FC236}">
                  <a16:creationId xmlns:a16="http://schemas.microsoft.com/office/drawing/2014/main" id="{70CF4E6C-906C-4B6C-8E70-FCC0BCD3A7EA}"/>
                </a:ext>
              </a:extLst>
            </p:cNvPr>
            <p:cNvSpPr/>
            <p:nvPr/>
          </p:nvSpPr>
          <p:spPr>
            <a:xfrm rot="3902889">
              <a:off x="6813143" y="4628467"/>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dirty="0"/>
                <a:t>Data Collection</a:t>
              </a:r>
            </a:p>
          </p:txBody>
        </p:sp>
        <p:sp>
          <p:nvSpPr>
            <p:cNvPr id="68" name="Arrow: Circular 67">
              <a:extLst>
                <a:ext uri="{FF2B5EF4-FFF2-40B4-BE49-F238E27FC236}">
                  <a16:creationId xmlns:a16="http://schemas.microsoft.com/office/drawing/2014/main" id="{E4CF1F48-2E53-4A82-9F08-B9151A4455E8}"/>
                </a:ext>
              </a:extLst>
            </p:cNvPr>
            <p:cNvSpPr/>
            <p:nvPr/>
          </p:nvSpPr>
          <p:spPr>
            <a:xfrm>
              <a:off x="6096447" y="90542"/>
              <a:ext cx="5793674" cy="5793674"/>
            </a:xfrm>
            <a:prstGeom prst="circularArrow">
              <a:avLst>
                <a:gd name="adj1" fmla="val 2940"/>
                <a:gd name="adj2" fmla="val 179900"/>
                <a:gd name="adj3" fmla="val 9447035"/>
                <a:gd name="adj4" fmla="val 8566074"/>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9" name="Freeform: Shape 68">
              <a:extLst>
                <a:ext uri="{FF2B5EF4-FFF2-40B4-BE49-F238E27FC236}">
                  <a16:creationId xmlns:a16="http://schemas.microsoft.com/office/drawing/2014/main" id="{CBDE1510-449B-4B7E-A1ED-AF59BBF6A654}"/>
                </a:ext>
              </a:extLst>
            </p:cNvPr>
            <p:cNvSpPr/>
            <p:nvPr/>
          </p:nvSpPr>
          <p:spPr>
            <a:xfrm rot="3902889">
              <a:off x="5885468" y="3021688"/>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dirty="0"/>
                <a:t>Analysis &amp; Insights</a:t>
              </a:r>
            </a:p>
          </p:txBody>
        </p:sp>
        <p:sp>
          <p:nvSpPr>
            <p:cNvPr id="70" name="Arrow: Circular 69">
              <a:extLst>
                <a:ext uri="{FF2B5EF4-FFF2-40B4-BE49-F238E27FC236}">
                  <a16:creationId xmlns:a16="http://schemas.microsoft.com/office/drawing/2014/main" id="{490D0009-DCFE-4CD3-A121-D24D5DB06E2F}"/>
                </a:ext>
              </a:extLst>
            </p:cNvPr>
            <p:cNvSpPr/>
            <p:nvPr/>
          </p:nvSpPr>
          <p:spPr>
            <a:xfrm>
              <a:off x="6096447" y="90542"/>
              <a:ext cx="5793674" cy="5793674"/>
            </a:xfrm>
            <a:prstGeom prst="circularArrow">
              <a:avLst>
                <a:gd name="adj1" fmla="val 2940"/>
                <a:gd name="adj2" fmla="val 179900"/>
                <a:gd name="adj3" fmla="val 11809061"/>
                <a:gd name="adj4" fmla="val 10756515"/>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1" name="Freeform: Shape 70">
              <a:extLst>
                <a:ext uri="{FF2B5EF4-FFF2-40B4-BE49-F238E27FC236}">
                  <a16:creationId xmlns:a16="http://schemas.microsoft.com/office/drawing/2014/main" id="{C31F3C77-C823-4228-BDE8-0C503363B907}"/>
                </a:ext>
              </a:extLst>
            </p:cNvPr>
            <p:cNvSpPr/>
            <p:nvPr/>
          </p:nvSpPr>
          <p:spPr>
            <a:xfrm rot="3902889">
              <a:off x="6207647" y="1194526"/>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dirty="0"/>
                <a:t>Learning</a:t>
              </a:r>
            </a:p>
          </p:txBody>
        </p:sp>
        <p:sp>
          <p:nvSpPr>
            <p:cNvPr id="72" name="Arrow: Circular 71">
              <a:extLst>
                <a:ext uri="{FF2B5EF4-FFF2-40B4-BE49-F238E27FC236}">
                  <a16:creationId xmlns:a16="http://schemas.microsoft.com/office/drawing/2014/main" id="{81371CED-B2EE-4F4D-B3F7-0C99B43CFBC3}"/>
                </a:ext>
              </a:extLst>
            </p:cNvPr>
            <p:cNvSpPr/>
            <p:nvPr/>
          </p:nvSpPr>
          <p:spPr>
            <a:xfrm>
              <a:off x="6096447" y="90542"/>
              <a:ext cx="5793674" cy="5793674"/>
            </a:xfrm>
            <a:prstGeom prst="circularArrow">
              <a:avLst>
                <a:gd name="adj1" fmla="val 2940"/>
                <a:gd name="adj2" fmla="val 179900"/>
                <a:gd name="adj3" fmla="val 14208103"/>
                <a:gd name="adj4" fmla="val 13282567"/>
                <a:gd name="adj5" fmla="val 3429"/>
              </a:avLst>
            </a:pr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3" name="Freeform: Shape 72">
              <a:extLst>
                <a:ext uri="{FF2B5EF4-FFF2-40B4-BE49-F238E27FC236}">
                  <a16:creationId xmlns:a16="http://schemas.microsoft.com/office/drawing/2014/main" id="{4971B152-3243-4CC3-9797-785CB00F2D10}"/>
                </a:ext>
              </a:extLst>
            </p:cNvPr>
            <p:cNvSpPr/>
            <p:nvPr/>
          </p:nvSpPr>
          <p:spPr>
            <a:xfrm rot="3902889">
              <a:off x="7518941" y="-113694"/>
              <a:ext cx="963109" cy="1192595"/>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dirty="0" err="1"/>
                <a:t>Comms</a:t>
              </a:r>
              <a:r>
                <a:rPr lang="en-GB" sz="1200" b="1" kern="1200" dirty="0"/>
                <a:t> </a:t>
              </a:r>
            </a:p>
            <a:p>
              <a:pPr marL="0" lvl="0" indent="0" algn="ctr" defTabSz="533400">
                <a:lnSpc>
                  <a:spcPct val="90000"/>
                </a:lnSpc>
                <a:spcBef>
                  <a:spcPct val="0"/>
                </a:spcBef>
                <a:spcAft>
                  <a:spcPct val="35000"/>
                </a:spcAft>
                <a:buNone/>
              </a:pPr>
              <a:r>
                <a:rPr lang="en-GB" sz="1200" b="1" kern="1200" dirty="0"/>
                <a:t>(</a:t>
              </a:r>
              <a:r>
                <a:rPr lang="en-GB" sz="1200" b="1" kern="1200" dirty="0" err="1"/>
                <a:t>int</a:t>
              </a:r>
              <a:r>
                <a:rPr lang="en-GB" sz="1200" b="1" kern="1200" dirty="0"/>
                <a:t> &amp; </a:t>
              </a:r>
              <a:r>
                <a:rPr lang="en-GB" sz="1200" b="1" kern="1200" dirty="0" err="1"/>
                <a:t>ext</a:t>
              </a:r>
              <a:r>
                <a:rPr lang="en-GB" sz="1200" b="1" kern="1200" dirty="0"/>
                <a:t>)</a:t>
              </a:r>
            </a:p>
          </p:txBody>
        </p:sp>
        <p:sp>
          <p:nvSpPr>
            <p:cNvPr id="74" name="Arrow: Circular 73">
              <a:extLst>
                <a:ext uri="{FF2B5EF4-FFF2-40B4-BE49-F238E27FC236}">
                  <a16:creationId xmlns:a16="http://schemas.microsoft.com/office/drawing/2014/main" id="{0DB0E987-C5C5-43EE-9C0F-88CEE8CDE4DB}"/>
                </a:ext>
              </a:extLst>
            </p:cNvPr>
            <p:cNvSpPr/>
            <p:nvPr/>
          </p:nvSpPr>
          <p:spPr>
            <a:xfrm>
              <a:off x="6096447" y="90542"/>
              <a:ext cx="5793674" cy="5793674"/>
            </a:xfrm>
            <a:prstGeom prst="circularArrow">
              <a:avLst>
                <a:gd name="adj1" fmla="val 2940"/>
                <a:gd name="adj2" fmla="val 179900"/>
                <a:gd name="adj3" fmla="val 16645855"/>
                <a:gd name="adj4" fmla="val 15574246"/>
                <a:gd name="adj5" fmla="val 3429"/>
              </a:avLst>
            </a:pr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sp>
        <p:nvSpPr>
          <p:cNvPr id="76" name="Block Arc 75">
            <a:extLst>
              <a:ext uri="{FF2B5EF4-FFF2-40B4-BE49-F238E27FC236}">
                <a16:creationId xmlns:a16="http://schemas.microsoft.com/office/drawing/2014/main" id="{6DDEF3FE-5ACF-41C9-AD6C-D4837D38CF3E}"/>
              </a:ext>
            </a:extLst>
          </p:cNvPr>
          <p:cNvSpPr/>
          <p:nvPr/>
        </p:nvSpPr>
        <p:spPr>
          <a:xfrm rot="20495650">
            <a:off x="5986367" y="890273"/>
            <a:ext cx="4745245" cy="4539528"/>
          </a:xfrm>
          <a:prstGeom prst="blockArc">
            <a:avLst>
              <a:gd name="adj1" fmla="val 14307505"/>
              <a:gd name="adj2" fmla="val 729615"/>
              <a:gd name="adj3" fmla="val 58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77" name="Block Arc 76">
            <a:extLst>
              <a:ext uri="{FF2B5EF4-FFF2-40B4-BE49-F238E27FC236}">
                <a16:creationId xmlns:a16="http://schemas.microsoft.com/office/drawing/2014/main" id="{F800A673-2C32-47FA-8175-EA11C30CE685}"/>
              </a:ext>
            </a:extLst>
          </p:cNvPr>
          <p:cNvSpPr/>
          <p:nvPr/>
        </p:nvSpPr>
        <p:spPr>
          <a:xfrm rot="8538096">
            <a:off x="6339317" y="1081459"/>
            <a:ext cx="4367639" cy="4336055"/>
          </a:xfrm>
          <a:prstGeom prst="blockArc">
            <a:avLst>
              <a:gd name="adj1" fmla="val 12837860"/>
              <a:gd name="adj2" fmla="val 20882524"/>
              <a:gd name="adj3" fmla="val 577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78" name="Block Arc 77">
            <a:extLst>
              <a:ext uri="{FF2B5EF4-FFF2-40B4-BE49-F238E27FC236}">
                <a16:creationId xmlns:a16="http://schemas.microsoft.com/office/drawing/2014/main" id="{0690729D-34DF-4D47-B5BF-3DC77AA807C5}"/>
              </a:ext>
            </a:extLst>
          </p:cNvPr>
          <p:cNvSpPr/>
          <p:nvPr/>
        </p:nvSpPr>
        <p:spPr>
          <a:xfrm rot="16976356">
            <a:off x="6256884" y="774878"/>
            <a:ext cx="4490510" cy="4765022"/>
          </a:xfrm>
          <a:prstGeom prst="blockArc">
            <a:avLst>
              <a:gd name="adj1" fmla="val 12837860"/>
              <a:gd name="adj2" fmla="val 17482697"/>
              <a:gd name="adj3" fmla="val 576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79" name="Oval 78">
            <a:extLst>
              <a:ext uri="{FF2B5EF4-FFF2-40B4-BE49-F238E27FC236}">
                <a16:creationId xmlns:a16="http://schemas.microsoft.com/office/drawing/2014/main" id="{95BBB272-EAAC-4F1D-B37F-488248B18740}"/>
              </a:ext>
            </a:extLst>
          </p:cNvPr>
          <p:cNvSpPr/>
          <p:nvPr/>
        </p:nvSpPr>
        <p:spPr>
          <a:xfrm>
            <a:off x="6976515" y="1672832"/>
            <a:ext cx="2909062" cy="2879606"/>
          </a:xfrm>
          <a:prstGeom prst="ellipse">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accent6">
                    <a:lumMod val="75000"/>
                  </a:schemeClr>
                </a:solidFill>
              </a:rPr>
              <a:t>Social Impact Management Cycle (SIM-C)</a:t>
            </a:r>
          </a:p>
        </p:txBody>
      </p:sp>
      <p:sp>
        <p:nvSpPr>
          <p:cNvPr id="80" name="Rectangle: Rounded Corners 79">
            <a:extLst>
              <a:ext uri="{FF2B5EF4-FFF2-40B4-BE49-F238E27FC236}">
                <a16:creationId xmlns:a16="http://schemas.microsoft.com/office/drawing/2014/main" id="{D057672F-54F6-41B8-9175-22B60FA61E5E}"/>
              </a:ext>
            </a:extLst>
          </p:cNvPr>
          <p:cNvSpPr/>
          <p:nvPr/>
        </p:nvSpPr>
        <p:spPr>
          <a:xfrm>
            <a:off x="83027" y="5744198"/>
            <a:ext cx="1662953" cy="438150"/>
          </a:xfrm>
          <a:prstGeom prst="round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Design</a:t>
            </a:r>
          </a:p>
        </p:txBody>
      </p:sp>
      <p:sp>
        <p:nvSpPr>
          <p:cNvPr id="81" name="Rectangle: Rounded Corners 80">
            <a:extLst>
              <a:ext uri="{FF2B5EF4-FFF2-40B4-BE49-F238E27FC236}">
                <a16:creationId xmlns:a16="http://schemas.microsoft.com/office/drawing/2014/main" id="{DECD62C7-C8C6-483D-971F-327CCDA798F5}"/>
              </a:ext>
            </a:extLst>
          </p:cNvPr>
          <p:cNvSpPr/>
          <p:nvPr/>
        </p:nvSpPr>
        <p:spPr>
          <a:xfrm>
            <a:off x="1908136" y="5744198"/>
            <a:ext cx="1662953" cy="438150"/>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a:t>
            </a:r>
          </a:p>
        </p:txBody>
      </p:sp>
      <p:sp>
        <p:nvSpPr>
          <p:cNvPr id="82" name="Rectangle: Rounded Corners 81">
            <a:extLst>
              <a:ext uri="{FF2B5EF4-FFF2-40B4-BE49-F238E27FC236}">
                <a16:creationId xmlns:a16="http://schemas.microsoft.com/office/drawing/2014/main" id="{3CAB09EF-0913-45DC-8C08-1CDAC4334211}"/>
              </a:ext>
            </a:extLst>
          </p:cNvPr>
          <p:cNvSpPr/>
          <p:nvPr/>
        </p:nvSpPr>
        <p:spPr>
          <a:xfrm>
            <a:off x="3733245" y="5744198"/>
            <a:ext cx="1693067" cy="438150"/>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Learn &amp; Adapt</a:t>
            </a:r>
          </a:p>
        </p:txBody>
      </p:sp>
      <p:sp>
        <p:nvSpPr>
          <p:cNvPr id="83" name="Oval 82">
            <a:extLst>
              <a:ext uri="{FF2B5EF4-FFF2-40B4-BE49-F238E27FC236}">
                <a16:creationId xmlns:a16="http://schemas.microsoft.com/office/drawing/2014/main" id="{79BB5309-2219-4A1E-87ED-72FC2A010795}"/>
              </a:ext>
            </a:extLst>
          </p:cNvPr>
          <p:cNvSpPr/>
          <p:nvPr/>
        </p:nvSpPr>
        <p:spPr>
          <a:xfrm>
            <a:off x="2051086" y="2131360"/>
            <a:ext cx="2298367" cy="2087439"/>
          </a:xfrm>
          <a:prstGeom prst="ellipse">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accent6">
                    <a:lumMod val="75000"/>
                  </a:schemeClr>
                </a:solidFill>
              </a:rPr>
              <a:t>Core Business Activities &amp; Strategy </a:t>
            </a:r>
            <a:r>
              <a:rPr lang="en-GB" sz="1400" dirty="0">
                <a:solidFill>
                  <a:schemeClr val="accent6">
                    <a:lumMod val="75000"/>
                  </a:schemeClr>
                </a:solidFill>
              </a:rPr>
              <a:t>(e.g. investment, sales, marketing, training etc.)</a:t>
            </a:r>
          </a:p>
        </p:txBody>
      </p:sp>
      <p:sp>
        <p:nvSpPr>
          <p:cNvPr id="108" name="Arrow: Left 107">
            <a:extLst>
              <a:ext uri="{FF2B5EF4-FFF2-40B4-BE49-F238E27FC236}">
                <a16:creationId xmlns:a16="http://schemas.microsoft.com/office/drawing/2014/main" id="{FCD9E9AE-1F43-4A54-8130-C066E393C1D6}"/>
              </a:ext>
            </a:extLst>
          </p:cNvPr>
          <p:cNvSpPr/>
          <p:nvPr/>
        </p:nvSpPr>
        <p:spPr>
          <a:xfrm rot="697916">
            <a:off x="3625144" y="4301153"/>
            <a:ext cx="2214447" cy="49931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Arrow: Left 108">
            <a:extLst>
              <a:ext uri="{FF2B5EF4-FFF2-40B4-BE49-F238E27FC236}">
                <a16:creationId xmlns:a16="http://schemas.microsoft.com/office/drawing/2014/main" id="{3686C534-7B55-4976-BF94-65379A714240}"/>
              </a:ext>
            </a:extLst>
          </p:cNvPr>
          <p:cNvSpPr/>
          <p:nvPr/>
        </p:nvSpPr>
        <p:spPr>
          <a:xfrm rot="20470368" flipH="1">
            <a:off x="3686159" y="1341722"/>
            <a:ext cx="2125772" cy="49931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Oval 3">
            <a:extLst>
              <a:ext uri="{FF2B5EF4-FFF2-40B4-BE49-F238E27FC236}">
                <a16:creationId xmlns:a16="http://schemas.microsoft.com/office/drawing/2014/main" id="{635C47D7-1235-4FAC-B24D-F4F614BF54DB}"/>
              </a:ext>
            </a:extLst>
          </p:cNvPr>
          <p:cNvSpPr/>
          <p:nvPr/>
        </p:nvSpPr>
        <p:spPr>
          <a:xfrm>
            <a:off x="4435865" y="1031962"/>
            <a:ext cx="1169229" cy="734948"/>
          </a:xfrm>
          <a:prstGeom prst="ellipse">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ysClr val="windowText" lastClr="000000"/>
                </a:solidFill>
              </a:rPr>
              <a:t>Start here</a:t>
            </a:r>
          </a:p>
        </p:txBody>
      </p:sp>
      <p:cxnSp>
        <p:nvCxnSpPr>
          <p:cNvPr id="10" name="Connector: Curved 9">
            <a:extLst>
              <a:ext uri="{FF2B5EF4-FFF2-40B4-BE49-F238E27FC236}">
                <a16:creationId xmlns:a16="http://schemas.microsoft.com/office/drawing/2014/main" id="{181BF894-F2CE-4CC9-876B-F4A29488B636}"/>
              </a:ext>
            </a:extLst>
          </p:cNvPr>
          <p:cNvCxnSpPr>
            <a:cxnSpLocks/>
            <a:stCxn id="4" idx="6"/>
            <a:endCxn id="51" idx="0"/>
          </p:cNvCxnSpPr>
          <p:nvPr/>
        </p:nvCxnSpPr>
        <p:spPr>
          <a:xfrm flipV="1">
            <a:off x="5605094" y="795166"/>
            <a:ext cx="854545" cy="604270"/>
          </a:xfrm>
          <a:prstGeom prst="curvedConnector4">
            <a:avLst>
              <a:gd name="adj1" fmla="val 21196"/>
              <a:gd name="adj2" fmla="val 13783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A4443B1C-9598-4F00-A7C1-449487FB0A19}"/>
              </a:ext>
            </a:extLst>
          </p:cNvPr>
          <p:cNvSpPr/>
          <p:nvPr/>
        </p:nvSpPr>
        <p:spPr>
          <a:xfrm>
            <a:off x="5967355" y="795166"/>
            <a:ext cx="984567" cy="75570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ysClr val="windowText" lastClr="000000"/>
              </a:solidFill>
            </a:endParaRPr>
          </a:p>
        </p:txBody>
      </p:sp>
      <p:sp>
        <p:nvSpPr>
          <p:cNvPr id="19" name="Rectangle: Rounded Corners 18">
            <a:extLst>
              <a:ext uri="{FF2B5EF4-FFF2-40B4-BE49-F238E27FC236}">
                <a16:creationId xmlns:a16="http://schemas.microsoft.com/office/drawing/2014/main" id="{53448268-0415-4E9B-9D78-B936216445C6}"/>
              </a:ext>
            </a:extLst>
          </p:cNvPr>
          <p:cNvSpPr/>
          <p:nvPr/>
        </p:nvSpPr>
        <p:spPr>
          <a:xfrm>
            <a:off x="83026" y="615333"/>
            <a:ext cx="5185307" cy="5031847"/>
          </a:xfrm>
          <a:prstGeom prst="roundRect">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dirty="0">
              <a:solidFill>
                <a:schemeClr val="tx1">
                  <a:lumMod val="75000"/>
                </a:schemeClr>
              </a:solidFill>
            </a:endParaRPr>
          </a:p>
          <a:p>
            <a:endParaRPr lang="en-GB" dirty="0">
              <a:solidFill>
                <a:schemeClr val="tx1">
                  <a:lumMod val="75000"/>
                </a:schemeClr>
              </a:solidFill>
            </a:endParaRPr>
          </a:p>
          <a:p>
            <a:endParaRPr lang="en-GB" dirty="0">
              <a:solidFill>
                <a:schemeClr val="tx1">
                  <a:lumMod val="75000"/>
                </a:schemeClr>
              </a:solidFill>
            </a:endParaRPr>
          </a:p>
          <a:p>
            <a:r>
              <a:rPr lang="en-GB" dirty="0">
                <a:solidFill>
                  <a:schemeClr val="tx1">
                    <a:lumMod val="75000"/>
                  </a:schemeClr>
                </a:solidFill>
              </a:rPr>
              <a:t>The ‘</a:t>
            </a:r>
            <a:r>
              <a:rPr lang="en-GB" b="1" dirty="0">
                <a:solidFill>
                  <a:schemeClr val="tx1">
                    <a:lumMod val="75000"/>
                  </a:schemeClr>
                </a:solidFill>
              </a:rPr>
              <a:t>Design</a:t>
            </a:r>
            <a:r>
              <a:rPr lang="en-GB" dirty="0">
                <a:solidFill>
                  <a:schemeClr val="tx1">
                    <a:lumMod val="75000"/>
                  </a:schemeClr>
                </a:solidFill>
              </a:rPr>
              <a:t>’ stage sets up the what you will measure. </a:t>
            </a:r>
          </a:p>
          <a:p>
            <a:endParaRPr lang="en-GB" dirty="0">
              <a:solidFill>
                <a:schemeClr val="tx1">
                  <a:lumMod val="75000"/>
                </a:schemeClr>
              </a:solidFill>
            </a:endParaRPr>
          </a:p>
          <a:p>
            <a:r>
              <a:rPr lang="en-GB" dirty="0">
                <a:solidFill>
                  <a:schemeClr val="tx1">
                    <a:lumMod val="75000"/>
                  </a:schemeClr>
                </a:solidFill>
              </a:rPr>
              <a:t>The </a:t>
            </a:r>
            <a:r>
              <a:rPr lang="en-GB" b="1" dirty="0">
                <a:solidFill>
                  <a:schemeClr val="tx1">
                    <a:lumMod val="75000"/>
                  </a:schemeClr>
                </a:solidFill>
              </a:rPr>
              <a:t>‘Do’ </a:t>
            </a:r>
            <a:r>
              <a:rPr lang="en-GB" dirty="0">
                <a:solidFill>
                  <a:schemeClr val="tx1">
                    <a:lumMod val="75000"/>
                  </a:schemeClr>
                </a:solidFill>
              </a:rPr>
              <a:t>is the actions you will take to measure the impact you achieve. </a:t>
            </a:r>
          </a:p>
          <a:p>
            <a:endParaRPr lang="en-GB" dirty="0">
              <a:solidFill>
                <a:schemeClr val="tx1">
                  <a:lumMod val="75000"/>
                </a:schemeClr>
              </a:solidFill>
            </a:endParaRPr>
          </a:p>
          <a:p>
            <a:r>
              <a:rPr lang="en-GB" dirty="0">
                <a:solidFill>
                  <a:schemeClr val="tx1">
                    <a:lumMod val="75000"/>
                  </a:schemeClr>
                </a:solidFill>
              </a:rPr>
              <a:t>To </a:t>
            </a:r>
            <a:r>
              <a:rPr lang="en-GB" b="1" dirty="0">
                <a:solidFill>
                  <a:schemeClr val="tx1">
                    <a:lumMod val="75000"/>
                  </a:schemeClr>
                </a:solidFill>
              </a:rPr>
              <a:t>‘Learn &amp; Adapt’ </a:t>
            </a:r>
            <a:r>
              <a:rPr lang="en-GB" dirty="0">
                <a:solidFill>
                  <a:schemeClr val="tx1">
                    <a:lumMod val="75000"/>
                  </a:schemeClr>
                </a:solidFill>
              </a:rPr>
              <a:t>is the hardest but most important part of SIM-C.   It relies on your leadership, organisational culture and ability to adapt your ways of working. </a:t>
            </a:r>
          </a:p>
        </p:txBody>
      </p:sp>
    </p:spTree>
    <p:extLst>
      <p:ext uri="{BB962C8B-B14F-4D97-AF65-F5344CB8AC3E}">
        <p14:creationId xmlns:p14="http://schemas.microsoft.com/office/powerpoint/2010/main" val="420163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1"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par>
                                <p:cTn id="16" presetID="22" presetClass="entr" presetSubtype="4"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down)">
                                      <p:cBhvr>
                                        <p:cTn id="18" dur="500"/>
                                        <p:tgtEl>
                                          <p:spTgt spid="10"/>
                                        </p:tgtEl>
                                      </p:cBhvr>
                                    </p:animEffect>
                                  </p:childTnLst>
                                </p:cTn>
                              </p:par>
                              <p:par>
                                <p:cTn id="19" presetID="22" presetClass="entr" presetSubtype="4" fill="hold" grpId="1" nodeType="with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wipe(down)">
                                      <p:cBhvr>
                                        <p:cTn id="21" dur="500"/>
                                        <p:tgtEl>
                                          <p:spTgt spid="5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 presetClass="exit" presetSubtype="0" fill="hold" grpId="0" nodeType="withEffect">
                                  <p:stCondLst>
                                    <p:cond delay="0"/>
                                  </p:stCondLst>
                                  <p:childTnLst>
                                    <p:set>
                                      <p:cBhvr>
                                        <p:cTn id="29" dur="1" fill="hold">
                                          <p:stCondLst>
                                            <p:cond delay="0"/>
                                          </p:stCondLst>
                                        </p:cTn>
                                        <p:tgtEl>
                                          <p:spTgt spid="5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0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09"/>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108" grpId="0" animBg="1"/>
      <p:bldP spid="109" grpId="0" animBg="1"/>
      <p:bldP spid="4" grpId="0" animBg="1"/>
      <p:bldP spid="4" grpId="1" animBg="1"/>
      <p:bldP spid="51" grpId="0" animBg="1"/>
      <p:bldP spid="51" grpId="1" animBg="1"/>
      <p:bldP spid="19" grpId="0" animBg="1"/>
      <p:bldP spid="19"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15A06-857D-4E20-A326-F69B5376D618}"/>
              </a:ext>
            </a:extLst>
          </p:cNvPr>
          <p:cNvSpPr>
            <a:spLocks noGrp="1"/>
          </p:cNvSpPr>
          <p:nvPr>
            <p:ph type="body" sz="quarter" idx="10"/>
          </p:nvPr>
        </p:nvSpPr>
        <p:spPr/>
        <p:txBody>
          <a:bodyPr>
            <a:normAutofit fontScale="70000" lnSpcReduction="20000"/>
          </a:bodyPr>
          <a:lstStyle/>
          <a:p>
            <a:r>
              <a:rPr lang="en-GB" b="1" dirty="0"/>
              <a:t>Session 3: </a:t>
            </a:r>
            <a:r>
              <a:rPr lang="en-GB" dirty="0"/>
              <a:t>Key concepts for measuring impact</a:t>
            </a:r>
          </a:p>
        </p:txBody>
      </p:sp>
    </p:spTree>
    <p:extLst>
      <p:ext uri="{BB962C8B-B14F-4D97-AF65-F5344CB8AC3E}">
        <p14:creationId xmlns:p14="http://schemas.microsoft.com/office/powerpoint/2010/main" val="3074810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FA1647-B57D-4BAF-B416-4B4DB7CD0A42}"/>
              </a:ext>
            </a:extLst>
          </p:cNvPr>
          <p:cNvSpPr>
            <a:spLocks noGrp="1"/>
          </p:cNvSpPr>
          <p:nvPr>
            <p:ph type="title"/>
          </p:nvPr>
        </p:nvSpPr>
        <p:spPr/>
        <p:txBody>
          <a:bodyPr/>
          <a:lstStyle/>
          <a:p>
            <a:r>
              <a:rPr lang="en-GB" dirty="0"/>
              <a:t>3 key concepts to keep in mind</a:t>
            </a:r>
            <a:br>
              <a:rPr lang="en-GB" dirty="0"/>
            </a:br>
            <a:endParaRPr lang="en-GB" dirty="0"/>
          </a:p>
        </p:txBody>
      </p:sp>
      <p:sp>
        <p:nvSpPr>
          <p:cNvPr id="2" name="Text Placeholder 1">
            <a:extLst>
              <a:ext uri="{FF2B5EF4-FFF2-40B4-BE49-F238E27FC236}">
                <a16:creationId xmlns:a16="http://schemas.microsoft.com/office/drawing/2014/main" id="{0EA99168-1709-4524-A687-B2D80C0C9A92}"/>
              </a:ext>
            </a:extLst>
          </p:cNvPr>
          <p:cNvSpPr>
            <a:spLocks noGrp="1"/>
          </p:cNvSpPr>
          <p:nvPr>
            <p:ph type="body" sz="quarter" idx="10"/>
          </p:nvPr>
        </p:nvSpPr>
        <p:spPr/>
        <p:txBody>
          <a:bodyPr>
            <a:normAutofit/>
          </a:bodyPr>
          <a:lstStyle/>
          <a:p>
            <a:r>
              <a:rPr lang="en-GB" dirty="0"/>
              <a:t>Deadweight</a:t>
            </a:r>
          </a:p>
        </p:txBody>
      </p:sp>
      <p:sp>
        <p:nvSpPr>
          <p:cNvPr id="4" name="Text Placeholder 3">
            <a:extLst>
              <a:ext uri="{FF2B5EF4-FFF2-40B4-BE49-F238E27FC236}">
                <a16:creationId xmlns:a16="http://schemas.microsoft.com/office/drawing/2014/main" id="{7A16D668-CB67-4B8F-ACEB-E175224372F6}"/>
              </a:ext>
            </a:extLst>
          </p:cNvPr>
          <p:cNvSpPr>
            <a:spLocks noGrp="1"/>
          </p:cNvSpPr>
          <p:nvPr>
            <p:ph type="body" sz="quarter" idx="11"/>
          </p:nvPr>
        </p:nvSpPr>
        <p:spPr>
          <a:xfrm>
            <a:off x="456094" y="2742552"/>
            <a:ext cx="2990140" cy="2296684"/>
          </a:xfrm>
        </p:spPr>
        <p:txBody>
          <a:bodyPr/>
          <a:lstStyle/>
          <a:p>
            <a:r>
              <a:rPr lang="en-GB" dirty="0"/>
              <a:t>Is what would have happened anyway without your intervention. </a:t>
            </a:r>
          </a:p>
          <a:p>
            <a:r>
              <a:rPr lang="en-GB" dirty="0"/>
              <a:t>This can be slower growth,         stagnation or decline. </a:t>
            </a:r>
          </a:p>
        </p:txBody>
      </p:sp>
      <p:sp>
        <p:nvSpPr>
          <p:cNvPr id="5" name="Text Placeholder 4">
            <a:extLst>
              <a:ext uri="{FF2B5EF4-FFF2-40B4-BE49-F238E27FC236}">
                <a16:creationId xmlns:a16="http://schemas.microsoft.com/office/drawing/2014/main" id="{F0DD04D2-42FA-4A47-B48D-2CFB3E0A6BC7}"/>
              </a:ext>
            </a:extLst>
          </p:cNvPr>
          <p:cNvSpPr>
            <a:spLocks noGrp="1"/>
          </p:cNvSpPr>
          <p:nvPr>
            <p:ph type="body" sz="quarter" idx="12"/>
          </p:nvPr>
        </p:nvSpPr>
        <p:spPr/>
        <p:txBody>
          <a:bodyPr/>
          <a:lstStyle/>
          <a:p>
            <a:r>
              <a:rPr lang="en-GB" dirty="0"/>
              <a:t>Attribution</a:t>
            </a:r>
          </a:p>
        </p:txBody>
      </p:sp>
      <p:sp>
        <p:nvSpPr>
          <p:cNvPr id="6" name="Text Placeholder 5">
            <a:extLst>
              <a:ext uri="{FF2B5EF4-FFF2-40B4-BE49-F238E27FC236}">
                <a16:creationId xmlns:a16="http://schemas.microsoft.com/office/drawing/2014/main" id="{CBFB8764-7D76-4F16-8957-E6EB49A24BE0}"/>
              </a:ext>
            </a:extLst>
          </p:cNvPr>
          <p:cNvSpPr>
            <a:spLocks noGrp="1"/>
          </p:cNvSpPr>
          <p:nvPr>
            <p:ph type="body" sz="quarter" idx="13"/>
          </p:nvPr>
        </p:nvSpPr>
        <p:spPr/>
        <p:txBody>
          <a:bodyPr/>
          <a:lstStyle/>
          <a:p>
            <a:r>
              <a:rPr lang="en-GB" dirty="0"/>
              <a:t>Is a review of who else or what else may have generated a benefit (or pain) for your target beneficiary. </a:t>
            </a:r>
          </a:p>
          <a:p>
            <a:endParaRPr lang="en-GB" dirty="0"/>
          </a:p>
        </p:txBody>
      </p:sp>
      <p:sp>
        <p:nvSpPr>
          <p:cNvPr id="7" name="Text Placeholder 6">
            <a:extLst>
              <a:ext uri="{FF2B5EF4-FFF2-40B4-BE49-F238E27FC236}">
                <a16:creationId xmlns:a16="http://schemas.microsoft.com/office/drawing/2014/main" id="{E70A2F2E-74A1-4F4F-A929-775689C4192E}"/>
              </a:ext>
            </a:extLst>
          </p:cNvPr>
          <p:cNvSpPr>
            <a:spLocks noGrp="1"/>
          </p:cNvSpPr>
          <p:nvPr>
            <p:ph type="body" sz="quarter" idx="14"/>
          </p:nvPr>
        </p:nvSpPr>
        <p:spPr/>
        <p:txBody>
          <a:bodyPr/>
          <a:lstStyle/>
          <a:p>
            <a:r>
              <a:rPr lang="en-GB" dirty="0"/>
              <a:t>Benefit Period</a:t>
            </a:r>
          </a:p>
        </p:txBody>
      </p:sp>
      <p:sp>
        <p:nvSpPr>
          <p:cNvPr id="8" name="Text Placeholder 7">
            <a:extLst>
              <a:ext uri="{FF2B5EF4-FFF2-40B4-BE49-F238E27FC236}">
                <a16:creationId xmlns:a16="http://schemas.microsoft.com/office/drawing/2014/main" id="{4626F2B1-A67F-4C5A-B681-EE5C93D31319}"/>
              </a:ext>
            </a:extLst>
          </p:cNvPr>
          <p:cNvSpPr>
            <a:spLocks noGrp="1"/>
          </p:cNvSpPr>
          <p:nvPr>
            <p:ph type="body" sz="quarter" idx="15"/>
          </p:nvPr>
        </p:nvSpPr>
        <p:spPr/>
        <p:txBody>
          <a:bodyPr/>
          <a:lstStyle/>
          <a:p>
            <a:r>
              <a:rPr lang="en-GB" dirty="0"/>
              <a:t>Is how long the benefit of your intervention lasts for the beneficiary. </a:t>
            </a:r>
          </a:p>
          <a:p>
            <a:r>
              <a:rPr lang="en-GB" dirty="0"/>
              <a:t>Different interventions have different benefit periods. </a:t>
            </a:r>
          </a:p>
        </p:txBody>
      </p:sp>
    </p:spTree>
    <p:extLst>
      <p:ext uri="{BB962C8B-B14F-4D97-AF65-F5344CB8AC3E}">
        <p14:creationId xmlns:p14="http://schemas.microsoft.com/office/powerpoint/2010/main" val="1747384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FEEF63-8756-4D12-8998-68A3F0394F12}"/>
              </a:ext>
            </a:extLst>
          </p:cNvPr>
          <p:cNvSpPr>
            <a:spLocks noGrp="1"/>
          </p:cNvSpPr>
          <p:nvPr>
            <p:ph type="body" sz="quarter" idx="13"/>
          </p:nvPr>
        </p:nvSpPr>
        <p:spPr>
          <a:xfrm>
            <a:off x="0" y="95534"/>
            <a:ext cx="10644738" cy="687729"/>
          </a:xfrm>
        </p:spPr>
        <p:txBody>
          <a:bodyPr>
            <a:normAutofit fontScale="92500"/>
          </a:bodyPr>
          <a:lstStyle/>
          <a:p>
            <a:r>
              <a:rPr lang="en-GB" dirty="0"/>
              <a:t>Demonstrating </a:t>
            </a:r>
            <a:r>
              <a:rPr lang="en-GB" u="sng" dirty="0"/>
              <a:t>your</a:t>
            </a:r>
            <a:r>
              <a:rPr lang="en-GB" dirty="0"/>
              <a:t> social impact: Deadweight</a:t>
            </a:r>
          </a:p>
        </p:txBody>
      </p:sp>
      <p:pic>
        <p:nvPicPr>
          <p:cNvPr id="3" name="Picture 2">
            <a:extLst>
              <a:ext uri="{FF2B5EF4-FFF2-40B4-BE49-F238E27FC236}">
                <a16:creationId xmlns:a16="http://schemas.microsoft.com/office/drawing/2014/main" id="{A13F559A-2FA1-406D-83EE-D1F0924335A5}"/>
              </a:ext>
            </a:extLst>
          </p:cNvPr>
          <p:cNvPicPr>
            <a:picLocks noChangeAspect="1"/>
          </p:cNvPicPr>
          <p:nvPr/>
        </p:nvPicPr>
        <p:blipFill>
          <a:blip r:embed="rId3"/>
          <a:stretch>
            <a:fillRect/>
          </a:stretch>
        </p:blipFill>
        <p:spPr>
          <a:xfrm>
            <a:off x="422655" y="833990"/>
            <a:ext cx="3676650" cy="2305050"/>
          </a:xfrm>
          <a:prstGeom prst="rect">
            <a:avLst/>
          </a:prstGeom>
        </p:spPr>
      </p:pic>
      <p:sp>
        <p:nvSpPr>
          <p:cNvPr id="4" name="Left Brace 3">
            <a:extLst>
              <a:ext uri="{FF2B5EF4-FFF2-40B4-BE49-F238E27FC236}">
                <a16:creationId xmlns:a16="http://schemas.microsoft.com/office/drawing/2014/main" id="{94D7C491-E80E-4D84-8982-B9E5A4BF1D21}"/>
              </a:ext>
            </a:extLst>
          </p:cNvPr>
          <p:cNvSpPr/>
          <p:nvPr/>
        </p:nvSpPr>
        <p:spPr>
          <a:xfrm rot="16200000">
            <a:off x="2127044" y="1521842"/>
            <a:ext cx="267874" cy="3234395"/>
          </a:xfrm>
          <a:prstGeom prst="leftBrace">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5" name="TextBox 4">
            <a:extLst>
              <a:ext uri="{FF2B5EF4-FFF2-40B4-BE49-F238E27FC236}">
                <a16:creationId xmlns:a16="http://schemas.microsoft.com/office/drawing/2014/main" id="{F207A1CA-1B4B-4BB8-8CFC-9C9FC3D5469F}"/>
              </a:ext>
            </a:extLst>
          </p:cNvPr>
          <p:cNvSpPr txBox="1"/>
          <p:nvPr/>
        </p:nvSpPr>
        <p:spPr>
          <a:xfrm>
            <a:off x="1326108" y="3525300"/>
            <a:ext cx="18697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1 acre</a:t>
            </a:r>
          </a:p>
        </p:txBody>
      </p:sp>
      <p:pic>
        <p:nvPicPr>
          <p:cNvPr id="9" name="Picture 8">
            <a:extLst>
              <a:ext uri="{FF2B5EF4-FFF2-40B4-BE49-F238E27FC236}">
                <a16:creationId xmlns:a16="http://schemas.microsoft.com/office/drawing/2014/main" id="{86E0F294-0270-4E86-8B53-CE720BA2FB42}"/>
              </a:ext>
            </a:extLst>
          </p:cNvPr>
          <p:cNvPicPr>
            <a:picLocks noChangeAspect="1"/>
          </p:cNvPicPr>
          <p:nvPr/>
        </p:nvPicPr>
        <p:blipFill>
          <a:blip r:embed="rId4"/>
          <a:stretch>
            <a:fillRect/>
          </a:stretch>
        </p:blipFill>
        <p:spPr>
          <a:xfrm>
            <a:off x="3920320" y="1093705"/>
            <a:ext cx="3505200" cy="1819275"/>
          </a:xfrm>
          <a:prstGeom prst="rect">
            <a:avLst/>
          </a:prstGeom>
        </p:spPr>
      </p:pic>
      <p:sp>
        <p:nvSpPr>
          <p:cNvPr id="10" name="Left Brace 9">
            <a:extLst>
              <a:ext uri="{FF2B5EF4-FFF2-40B4-BE49-F238E27FC236}">
                <a16:creationId xmlns:a16="http://schemas.microsoft.com/office/drawing/2014/main" id="{D3011C7D-AC9F-4EBF-9CD4-305E12922F65}"/>
              </a:ext>
            </a:extLst>
          </p:cNvPr>
          <p:cNvSpPr/>
          <p:nvPr/>
        </p:nvSpPr>
        <p:spPr>
          <a:xfrm rot="16200000">
            <a:off x="5582566" y="1521843"/>
            <a:ext cx="267874" cy="3234395"/>
          </a:xfrm>
          <a:prstGeom prst="leftBrace">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1" name="TextBox 10">
            <a:extLst>
              <a:ext uri="{FF2B5EF4-FFF2-40B4-BE49-F238E27FC236}">
                <a16:creationId xmlns:a16="http://schemas.microsoft.com/office/drawing/2014/main" id="{9B4088F2-CDDE-4496-8C68-D0F18CE59328}"/>
              </a:ext>
            </a:extLst>
          </p:cNvPr>
          <p:cNvSpPr txBox="1"/>
          <p:nvPr/>
        </p:nvSpPr>
        <p:spPr>
          <a:xfrm>
            <a:off x="4781630" y="3525301"/>
            <a:ext cx="18697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1 acre</a:t>
            </a:r>
          </a:p>
        </p:txBody>
      </p:sp>
      <p:sp>
        <p:nvSpPr>
          <p:cNvPr id="12" name="Left Brace 11">
            <a:extLst>
              <a:ext uri="{FF2B5EF4-FFF2-40B4-BE49-F238E27FC236}">
                <a16:creationId xmlns:a16="http://schemas.microsoft.com/office/drawing/2014/main" id="{19B57B19-22C5-4C7D-879E-E8E385545CA1}"/>
              </a:ext>
            </a:extLst>
          </p:cNvPr>
          <p:cNvSpPr/>
          <p:nvPr/>
        </p:nvSpPr>
        <p:spPr>
          <a:xfrm rot="16200000">
            <a:off x="3900717" y="756086"/>
            <a:ext cx="267874" cy="6781737"/>
          </a:xfrm>
          <a:prstGeom prst="leftBrace">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3" name="TextBox 12">
            <a:extLst>
              <a:ext uri="{FF2B5EF4-FFF2-40B4-BE49-F238E27FC236}">
                <a16:creationId xmlns:a16="http://schemas.microsoft.com/office/drawing/2014/main" id="{D518D9E6-6DF2-4A53-B6DD-CC8265A57E64}"/>
              </a:ext>
            </a:extLst>
          </p:cNvPr>
          <p:cNvSpPr txBox="1"/>
          <p:nvPr/>
        </p:nvSpPr>
        <p:spPr>
          <a:xfrm>
            <a:off x="3099782" y="4409321"/>
            <a:ext cx="18697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2 acre</a:t>
            </a:r>
          </a:p>
        </p:txBody>
      </p:sp>
      <p:pic>
        <p:nvPicPr>
          <p:cNvPr id="14" name="Picture 13">
            <a:extLst>
              <a:ext uri="{FF2B5EF4-FFF2-40B4-BE49-F238E27FC236}">
                <a16:creationId xmlns:a16="http://schemas.microsoft.com/office/drawing/2014/main" id="{8F987E09-AAA8-406A-B78E-B129D6529BAE}"/>
              </a:ext>
            </a:extLst>
          </p:cNvPr>
          <p:cNvPicPr>
            <a:picLocks noChangeAspect="1"/>
          </p:cNvPicPr>
          <p:nvPr/>
        </p:nvPicPr>
        <p:blipFill>
          <a:blip r:embed="rId3"/>
          <a:stretch>
            <a:fillRect/>
          </a:stretch>
        </p:blipFill>
        <p:spPr>
          <a:xfrm>
            <a:off x="3920320" y="783263"/>
            <a:ext cx="3676650" cy="2305050"/>
          </a:xfrm>
          <a:prstGeom prst="rect">
            <a:avLst/>
          </a:prstGeom>
        </p:spPr>
      </p:pic>
      <p:sp>
        <p:nvSpPr>
          <p:cNvPr id="17" name="Equals 16">
            <a:extLst>
              <a:ext uri="{FF2B5EF4-FFF2-40B4-BE49-F238E27FC236}">
                <a16:creationId xmlns:a16="http://schemas.microsoft.com/office/drawing/2014/main" id="{71A54690-0DC6-4FA8-AA66-A01343D94AB5}"/>
              </a:ext>
            </a:extLst>
          </p:cNvPr>
          <p:cNvSpPr/>
          <p:nvPr/>
        </p:nvSpPr>
        <p:spPr>
          <a:xfrm>
            <a:off x="2906551" y="5466617"/>
            <a:ext cx="1173708" cy="687729"/>
          </a:xfrm>
          <a:prstGeom prst="mathEqual">
            <a:avLst>
              <a:gd name="adj1" fmla="val 13598"/>
              <a:gd name="adj2" fmla="val 11760"/>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8" name="TextBox 17">
            <a:extLst>
              <a:ext uri="{FF2B5EF4-FFF2-40B4-BE49-F238E27FC236}">
                <a16:creationId xmlns:a16="http://schemas.microsoft.com/office/drawing/2014/main" id="{7E1837BC-82EE-4F1F-9384-367336FEFA50}"/>
              </a:ext>
            </a:extLst>
          </p:cNvPr>
          <p:cNvSpPr txBox="1"/>
          <p:nvPr/>
        </p:nvSpPr>
        <p:spPr>
          <a:xfrm>
            <a:off x="4080259" y="5444089"/>
            <a:ext cx="186974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1 acre regeneration</a:t>
            </a:r>
          </a:p>
        </p:txBody>
      </p:sp>
      <p:sp>
        <p:nvSpPr>
          <p:cNvPr id="23" name="Oval 22">
            <a:extLst>
              <a:ext uri="{FF2B5EF4-FFF2-40B4-BE49-F238E27FC236}">
                <a16:creationId xmlns:a16="http://schemas.microsoft.com/office/drawing/2014/main" id="{55BBEF67-9E79-4A5B-B5E7-14AD34B9088A}"/>
              </a:ext>
            </a:extLst>
          </p:cNvPr>
          <p:cNvSpPr/>
          <p:nvPr/>
        </p:nvSpPr>
        <p:spPr>
          <a:xfrm>
            <a:off x="4228979" y="5348816"/>
            <a:ext cx="1476233" cy="92333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24" name="Oval 23">
            <a:extLst>
              <a:ext uri="{FF2B5EF4-FFF2-40B4-BE49-F238E27FC236}">
                <a16:creationId xmlns:a16="http://schemas.microsoft.com/office/drawing/2014/main" id="{452785DC-F996-448C-B247-3454F3EC7B42}"/>
              </a:ext>
            </a:extLst>
          </p:cNvPr>
          <p:cNvSpPr/>
          <p:nvPr/>
        </p:nvSpPr>
        <p:spPr>
          <a:xfrm>
            <a:off x="3921893" y="783263"/>
            <a:ext cx="3806926" cy="2461598"/>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27" name="Rectangle: Rounded Corners 26">
            <a:extLst>
              <a:ext uri="{FF2B5EF4-FFF2-40B4-BE49-F238E27FC236}">
                <a16:creationId xmlns:a16="http://schemas.microsoft.com/office/drawing/2014/main" id="{7440CB40-32D3-4AC5-A90A-41B3B4612D07}"/>
              </a:ext>
            </a:extLst>
          </p:cNvPr>
          <p:cNvSpPr/>
          <p:nvPr/>
        </p:nvSpPr>
        <p:spPr>
          <a:xfrm>
            <a:off x="8175009" y="1201003"/>
            <a:ext cx="3806926" cy="4265614"/>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rPr>
              <a:t>Your social impact is the change that </a:t>
            </a:r>
            <a:r>
              <a:rPr kumimoji="0" lang="en-GB" sz="2400" b="1" i="0" u="sng" strike="noStrike" kern="1200" cap="none" spc="0" normalizeH="0" baseline="0" noProof="0" dirty="0">
                <a:ln>
                  <a:noFill/>
                </a:ln>
                <a:solidFill>
                  <a:srgbClr val="636363">
                    <a:lumMod val="75000"/>
                  </a:srgbClr>
                </a:solidFill>
                <a:effectLst/>
                <a:uLnTx/>
                <a:uFillTx/>
                <a:latin typeface="Gotham Book"/>
                <a:ea typeface="+mn-ea"/>
                <a:cs typeface="+mn-cs"/>
              </a:rPr>
              <a:t>wouldn’t have happened </a:t>
            </a: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rPr>
              <a:t>without your intervention. </a:t>
            </a:r>
          </a:p>
        </p:txBody>
      </p:sp>
    </p:spTree>
    <p:extLst>
      <p:ext uri="{BB962C8B-B14F-4D97-AF65-F5344CB8AC3E}">
        <p14:creationId xmlns:p14="http://schemas.microsoft.com/office/powerpoint/2010/main" val="201467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23" grpId="0" animBg="1"/>
      <p:bldP spid="24" grpId="0" animBg="1"/>
      <p:bldP spid="2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26">
            <a:extLst>
              <a:ext uri="{FF2B5EF4-FFF2-40B4-BE49-F238E27FC236}">
                <a16:creationId xmlns:a16="http://schemas.microsoft.com/office/drawing/2014/main" id="{8CDE0AD7-C0BA-4585-884F-23BC783E51E9}"/>
              </a:ext>
            </a:extLst>
          </p:cNvPr>
          <p:cNvSpPr/>
          <p:nvPr/>
        </p:nvSpPr>
        <p:spPr>
          <a:xfrm>
            <a:off x="2254985" y="102357"/>
            <a:ext cx="7776121" cy="7049070"/>
          </a:xfrm>
          <a:prstGeom prst="ellipse">
            <a:avLst/>
          </a:prstGeom>
          <a:solidFill>
            <a:schemeClr val="tx1">
              <a:lumMod val="40000"/>
              <a:lumOff val="60000"/>
              <a:alpha val="66000"/>
            </a:schemeClr>
          </a:solidFill>
          <a:ln>
            <a:solidFill>
              <a:schemeClr val="tx1">
                <a:lumMod val="40000"/>
                <a:lumOff val="6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Support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Network</a:t>
            </a:r>
          </a:p>
        </p:txBody>
      </p:sp>
      <p:sp>
        <p:nvSpPr>
          <p:cNvPr id="9" name="Rectangle: Rounded Corners 8">
            <a:extLst>
              <a:ext uri="{FF2B5EF4-FFF2-40B4-BE49-F238E27FC236}">
                <a16:creationId xmlns:a16="http://schemas.microsoft.com/office/drawing/2014/main" id="{89B5D6E0-5AA6-45F5-B4A5-5EF1A38A4591}"/>
              </a:ext>
            </a:extLst>
          </p:cNvPr>
          <p:cNvSpPr/>
          <p:nvPr/>
        </p:nvSpPr>
        <p:spPr>
          <a:xfrm>
            <a:off x="204717" y="2200949"/>
            <a:ext cx="11395880" cy="2519047"/>
          </a:xfrm>
          <a:prstGeom prst="roundRect">
            <a:avLst/>
          </a:prstGeom>
          <a:solidFill>
            <a:schemeClr val="accent4">
              <a:alpha val="36000"/>
            </a:schemeClr>
          </a:solidFill>
          <a:ln>
            <a:solidFill>
              <a:schemeClr val="accent4">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Youth Journey to Employment</a:t>
            </a:r>
          </a:p>
        </p:txBody>
      </p:sp>
      <p:sp>
        <p:nvSpPr>
          <p:cNvPr id="3" name="Text Placeholder 1">
            <a:extLst>
              <a:ext uri="{FF2B5EF4-FFF2-40B4-BE49-F238E27FC236}">
                <a16:creationId xmlns:a16="http://schemas.microsoft.com/office/drawing/2014/main" id="{E34906A6-B3A9-4FF4-8B73-B5004598DAAC}"/>
              </a:ext>
            </a:extLst>
          </p:cNvPr>
          <p:cNvSpPr txBox="1">
            <a:spLocks/>
          </p:cNvSpPr>
          <p:nvPr/>
        </p:nvSpPr>
        <p:spPr>
          <a:xfrm>
            <a:off x="0" y="95534"/>
            <a:ext cx="12010030" cy="896876"/>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90000"/>
              </a:lnSpc>
              <a:spcBef>
                <a:spcPts val="1000"/>
              </a:spcBef>
              <a:buFont typeface="Arial"/>
              <a:buNone/>
              <a:defRPr sz="4400" kern="1200">
                <a:solidFill>
                  <a:srgbClr val="491A66"/>
                </a:solidFill>
                <a:latin typeface="+mj-lt"/>
                <a:ea typeface="+mn-ea"/>
                <a:cs typeface="+mn-cs"/>
              </a:defRPr>
            </a:lvl1pPr>
            <a:lvl2pPr marL="457200" indent="0" algn="l" defTabSz="914400" rtl="0" eaLnBrk="1" latinLnBrk="0" hangingPunct="1">
              <a:lnSpc>
                <a:spcPct val="90000"/>
              </a:lnSpc>
              <a:spcBef>
                <a:spcPts val="500"/>
              </a:spcBef>
              <a:buFont typeface="Arial"/>
              <a:buNone/>
              <a:defRPr sz="4400" kern="1200">
                <a:solidFill>
                  <a:srgbClr val="F37023"/>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kumimoji="0" lang="en-GB" sz="4400" b="0" i="0" u="none" strike="noStrike" kern="1200" cap="none" spc="0" normalizeH="0" baseline="0" noProof="0" dirty="0">
                <a:ln>
                  <a:noFill/>
                </a:ln>
                <a:solidFill>
                  <a:srgbClr val="491A66"/>
                </a:solidFill>
                <a:effectLst/>
                <a:uLnTx/>
                <a:uFillTx/>
                <a:latin typeface="Gotham Bold"/>
                <a:ea typeface="+mn-ea"/>
                <a:cs typeface="+mn-cs"/>
              </a:rPr>
              <a:t>Demonstrating </a:t>
            </a:r>
            <a:r>
              <a:rPr kumimoji="0" lang="en-GB" sz="4400" b="0" i="0" u="sng" strike="noStrike" kern="1200" cap="none" spc="0" normalizeH="0" baseline="0" noProof="0" dirty="0">
                <a:ln>
                  <a:noFill/>
                </a:ln>
                <a:solidFill>
                  <a:srgbClr val="491A66"/>
                </a:solidFill>
                <a:effectLst/>
                <a:uLnTx/>
                <a:uFillTx/>
                <a:latin typeface="Gotham Bold"/>
                <a:ea typeface="+mn-ea"/>
                <a:cs typeface="+mn-cs"/>
              </a:rPr>
              <a:t>your</a:t>
            </a:r>
            <a:r>
              <a:rPr kumimoji="0" lang="en-GB" sz="4400" b="0" i="0" u="none" strike="noStrike" kern="1200" cap="none" spc="0" normalizeH="0" baseline="0" noProof="0" dirty="0">
                <a:ln>
                  <a:noFill/>
                </a:ln>
                <a:solidFill>
                  <a:srgbClr val="491A66"/>
                </a:solidFill>
                <a:effectLst/>
                <a:uLnTx/>
                <a:uFillTx/>
                <a:latin typeface="Gotham Bold"/>
                <a:ea typeface="+mn-ea"/>
                <a:cs typeface="+mn-cs"/>
              </a:rPr>
              <a:t> social impact: Attribution &amp; Benefit Period</a:t>
            </a:r>
          </a:p>
        </p:txBody>
      </p:sp>
      <p:pic>
        <p:nvPicPr>
          <p:cNvPr id="4" name="Picture 3">
            <a:extLst>
              <a:ext uri="{FF2B5EF4-FFF2-40B4-BE49-F238E27FC236}">
                <a16:creationId xmlns:a16="http://schemas.microsoft.com/office/drawing/2014/main" id="{0717A315-B09D-46C3-B83B-9A43030783A8}"/>
              </a:ext>
            </a:extLst>
          </p:cNvPr>
          <p:cNvPicPr>
            <a:picLocks noChangeAspect="1"/>
          </p:cNvPicPr>
          <p:nvPr/>
        </p:nvPicPr>
        <p:blipFill>
          <a:blip r:embed="rId3"/>
          <a:stretch>
            <a:fillRect/>
          </a:stretch>
        </p:blipFill>
        <p:spPr>
          <a:xfrm>
            <a:off x="8931218" y="2314309"/>
            <a:ext cx="2362923" cy="2292326"/>
          </a:xfrm>
          <a:prstGeom prst="roundRect">
            <a:avLst>
              <a:gd name="adj" fmla="val 8594"/>
            </a:avLst>
          </a:prstGeom>
          <a:solidFill>
            <a:srgbClr val="FFFFFF">
              <a:shade val="85000"/>
            </a:srgbClr>
          </a:solidFill>
          <a:ln>
            <a:noFill/>
          </a:ln>
          <a:effectLst/>
        </p:spPr>
      </p:pic>
      <p:pic>
        <p:nvPicPr>
          <p:cNvPr id="5" name="Picture 4">
            <a:extLst>
              <a:ext uri="{FF2B5EF4-FFF2-40B4-BE49-F238E27FC236}">
                <a16:creationId xmlns:a16="http://schemas.microsoft.com/office/drawing/2014/main" id="{3011E778-09EE-4678-85A6-40AE6CE22B09}"/>
              </a:ext>
            </a:extLst>
          </p:cNvPr>
          <p:cNvPicPr>
            <a:picLocks noChangeAspect="1"/>
          </p:cNvPicPr>
          <p:nvPr/>
        </p:nvPicPr>
        <p:blipFill>
          <a:blip r:embed="rId4"/>
          <a:stretch>
            <a:fillRect/>
          </a:stretch>
        </p:blipFill>
        <p:spPr>
          <a:xfrm>
            <a:off x="5080630" y="2282837"/>
            <a:ext cx="2030739" cy="2292326"/>
          </a:xfrm>
          <a:prstGeom prst="roundRect">
            <a:avLst>
              <a:gd name="adj" fmla="val 8594"/>
            </a:avLst>
          </a:prstGeom>
          <a:solidFill>
            <a:srgbClr val="FFFFFF">
              <a:shade val="85000"/>
            </a:srgbClr>
          </a:solidFill>
          <a:ln>
            <a:noFill/>
          </a:ln>
          <a:effectLst/>
        </p:spPr>
      </p:pic>
      <p:pic>
        <p:nvPicPr>
          <p:cNvPr id="6" name="Picture 5">
            <a:extLst>
              <a:ext uri="{FF2B5EF4-FFF2-40B4-BE49-F238E27FC236}">
                <a16:creationId xmlns:a16="http://schemas.microsoft.com/office/drawing/2014/main" id="{6D18A25B-1CCC-45AB-AF73-84A41209B689}"/>
              </a:ext>
            </a:extLst>
          </p:cNvPr>
          <p:cNvPicPr>
            <a:picLocks noChangeAspect="1"/>
          </p:cNvPicPr>
          <p:nvPr/>
        </p:nvPicPr>
        <p:blipFill>
          <a:blip r:embed="rId5"/>
          <a:stretch>
            <a:fillRect/>
          </a:stretch>
        </p:blipFill>
        <p:spPr>
          <a:xfrm>
            <a:off x="5063092" y="2200949"/>
            <a:ext cx="2047619" cy="2519047"/>
          </a:xfrm>
          <a:prstGeom prst="roundRect">
            <a:avLst>
              <a:gd name="adj" fmla="val 8594"/>
            </a:avLst>
          </a:prstGeom>
          <a:solidFill>
            <a:srgbClr val="FFFFFF">
              <a:shade val="85000"/>
            </a:srgbClr>
          </a:solidFill>
          <a:ln>
            <a:noFill/>
          </a:ln>
          <a:effectLst/>
        </p:spPr>
      </p:pic>
      <p:sp>
        <p:nvSpPr>
          <p:cNvPr id="7" name="Arrow: Chevron 6">
            <a:extLst>
              <a:ext uri="{FF2B5EF4-FFF2-40B4-BE49-F238E27FC236}">
                <a16:creationId xmlns:a16="http://schemas.microsoft.com/office/drawing/2014/main" id="{D4AC2830-2BDF-4073-8279-E7B08EB63CFC}"/>
              </a:ext>
            </a:extLst>
          </p:cNvPr>
          <p:cNvSpPr/>
          <p:nvPr/>
        </p:nvSpPr>
        <p:spPr>
          <a:xfrm>
            <a:off x="3924238" y="3260447"/>
            <a:ext cx="457200" cy="400050"/>
          </a:xfrm>
          <a:prstGeom prst="chevron">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8" name="Arrow: Chevron 7">
            <a:extLst>
              <a:ext uri="{FF2B5EF4-FFF2-40B4-BE49-F238E27FC236}">
                <a16:creationId xmlns:a16="http://schemas.microsoft.com/office/drawing/2014/main" id="{0DE95926-C93B-4BFF-93AA-AD810E373D48}"/>
              </a:ext>
            </a:extLst>
          </p:cNvPr>
          <p:cNvSpPr/>
          <p:nvPr/>
        </p:nvSpPr>
        <p:spPr>
          <a:xfrm>
            <a:off x="7792364" y="3260447"/>
            <a:ext cx="457200" cy="400050"/>
          </a:xfrm>
          <a:prstGeom prst="chevron">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0" name="Arrow: Right 9">
            <a:extLst>
              <a:ext uri="{FF2B5EF4-FFF2-40B4-BE49-F238E27FC236}">
                <a16:creationId xmlns:a16="http://schemas.microsoft.com/office/drawing/2014/main" id="{9790F1F6-7B29-4BBA-8668-2DA642AB2F66}"/>
              </a:ext>
            </a:extLst>
          </p:cNvPr>
          <p:cNvSpPr/>
          <p:nvPr/>
        </p:nvSpPr>
        <p:spPr>
          <a:xfrm rot="18383985">
            <a:off x="4310288" y="4848514"/>
            <a:ext cx="1173708" cy="388962"/>
          </a:xfrm>
          <a:prstGeom prst="rightArrow">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2" name="Arrow: Right 11">
            <a:extLst>
              <a:ext uri="{FF2B5EF4-FFF2-40B4-BE49-F238E27FC236}">
                <a16:creationId xmlns:a16="http://schemas.microsoft.com/office/drawing/2014/main" id="{BA4C821E-74FD-4E2D-A490-5B46813AA497}"/>
              </a:ext>
            </a:extLst>
          </p:cNvPr>
          <p:cNvSpPr/>
          <p:nvPr/>
        </p:nvSpPr>
        <p:spPr>
          <a:xfrm rot="13946349">
            <a:off x="6745100" y="4844510"/>
            <a:ext cx="1173708" cy="388962"/>
          </a:xfrm>
          <a:prstGeom prst="rightArrow">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3" name="Rectangle: Rounded Corners 12">
            <a:extLst>
              <a:ext uri="{FF2B5EF4-FFF2-40B4-BE49-F238E27FC236}">
                <a16:creationId xmlns:a16="http://schemas.microsoft.com/office/drawing/2014/main" id="{36C08B38-CC1B-4B12-98BE-0827DAEA531F}"/>
              </a:ext>
            </a:extLst>
          </p:cNvPr>
          <p:cNvSpPr/>
          <p:nvPr/>
        </p:nvSpPr>
        <p:spPr>
          <a:xfrm>
            <a:off x="3643952" y="5630760"/>
            <a:ext cx="1592757" cy="506922"/>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School</a:t>
            </a:r>
          </a:p>
        </p:txBody>
      </p:sp>
      <p:sp>
        <p:nvSpPr>
          <p:cNvPr id="14" name="Rectangle: Rounded Corners 13">
            <a:extLst>
              <a:ext uri="{FF2B5EF4-FFF2-40B4-BE49-F238E27FC236}">
                <a16:creationId xmlns:a16="http://schemas.microsoft.com/office/drawing/2014/main" id="{2C017269-9754-4415-BB21-ABB0EBB80461}"/>
              </a:ext>
            </a:extLst>
          </p:cNvPr>
          <p:cNvSpPr/>
          <p:nvPr/>
        </p:nvSpPr>
        <p:spPr>
          <a:xfrm>
            <a:off x="7006217" y="5630760"/>
            <a:ext cx="1592757" cy="506922"/>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Sports team</a:t>
            </a:r>
          </a:p>
        </p:txBody>
      </p:sp>
      <p:sp>
        <p:nvSpPr>
          <p:cNvPr id="15" name="Rectangle: Rounded Corners 14">
            <a:extLst>
              <a:ext uri="{FF2B5EF4-FFF2-40B4-BE49-F238E27FC236}">
                <a16:creationId xmlns:a16="http://schemas.microsoft.com/office/drawing/2014/main" id="{3E66A01E-F8DF-4D00-B8C7-7843E8139E75}"/>
              </a:ext>
            </a:extLst>
          </p:cNvPr>
          <p:cNvSpPr/>
          <p:nvPr/>
        </p:nvSpPr>
        <p:spPr>
          <a:xfrm>
            <a:off x="3643952" y="992410"/>
            <a:ext cx="1592757" cy="506922"/>
          </a:xfrm>
          <a:prstGeom prst="round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Your Enterprise</a:t>
            </a:r>
          </a:p>
        </p:txBody>
      </p:sp>
      <p:sp>
        <p:nvSpPr>
          <p:cNvPr id="16" name="Rectangle: Rounded Corners 15">
            <a:extLst>
              <a:ext uri="{FF2B5EF4-FFF2-40B4-BE49-F238E27FC236}">
                <a16:creationId xmlns:a16="http://schemas.microsoft.com/office/drawing/2014/main" id="{2FA35669-CD9C-4818-A7E0-00EE0F4BA8D8}"/>
              </a:ext>
            </a:extLst>
          </p:cNvPr>
          <p:cNvSpPr/>
          <p:nvPr/>
        </p:nvSpPr>
        <p:spPr>
          <a:xfrm>
            <a:off x="7006217" y="992410"/>
            <a:ext cx="1592757" cy="506922"/>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Family</a:t>
            </a:r>
          </a:p>
        </p:txBody>
      </p:sp>
      <p:sp>
        <p:nvSpPr>
          <p:cNvPr id="17" name="Arrow: Right 16">
            <a:extLst>
              <a:ext uri="{FF2B5EF4-FFF2-40B4-BE49-F238E27FC236}">
                <a16:creationId xmlns:a16="http://schemas.microsoft.com/office/drawing/2014/main" id="{66D5304E-BE85-45B4-A0AF-7A3529A5D769}"/>
              </a:ext>
            </a:extLst>
          </p:cNvPr>
          <p:cNvSpPr/>
          <p:nvPr/>
        </p:nvSpPr>
        <p:spPr>
          <a:xfrm rot="2183985">
            <a:off x="4184922" y="1733696"/>
            <a:ext cx="1173708" cy="388962"/>
          </a:xfrm>
          <a:prstGeom prst="rightArrow">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8" name="Arrow: Right 17">
            <a:extLst>
              <a:ext uri="{FF2B5EF4-FFF2-40B4-BE49-F238E27FC236}">
                <a16:creationId xmlns:a16="http://schemas.microsoft.com/office/drawing/2014/main" id="{5DF4AB79-F0D2-4271-8E60-433F14F3603D}"/>
              </a:ext>
            </a:extLst>
          </p:cNvPr>
          <p:cNvSpPr/>
          <p:nvPr/>
        </p:nvSpPr>
        <p:spPr>
          <a:xfrm rot="19353795" flipH="1" flipV="1">
            <a:off x="6817704" y="1732547"/>
            <a:ext cx="1173708" cy="388962"/>
          </a:xfrm>
          <a:prstGeom prst="rightArrow">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9" name="Rectangle: Rounded Corners 18">
            <a:extLst>
              <a:ext uri="{FF2B5EF4-FFF2-40B4-BE49-F238E27FC236}">
                <a16:creationId xmlns:a16="http://schemas.microsoft.com/office/drawing/2014/main" id="{05CC1EA8-14AD-4E1A-9241-8C74855AFAA2}"/>
              </a:ext>
            </a:extLst>
          </p:cNvPr>
          <p:cNvSpPr/>
          <p:nvPr/>
        </p:nvSpPr>
        <p:spPr>
          <a:xfrm>
            <a:off x="1725530" y="4819716"/>
            <a:ext cx="1795589" cy="351657"/>
          </a:xfrm>
          <a:prstGeom prst="round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Your Enterprise</a:t>
            </a:r>
          </a:p>
        </p:txBody>
      </p:sp>
      <p:sp>
        <p:nvSpPr>
          <p:cNvPr id="20" name="Rectangle: Rounded Corners 19">
            <a:extLst>
              <a:ext uri="{FF2B5EF4-FFF2-40B4-BE49-F238E27FC236}">
                <a16:creationId xmlns:a16="http://schemas.microsoft.com/office/drawing/2014/main" id="{D50949AF-A837-46D5-8CA2-075CDAFEF20F}"/>
              </a:ext>
            </a:extLst>
          </p:cNvPr>
          <p:cNvSpPr/>
          <p:nvPr/>
        </p:nvSpPr>
        <p:spPr>
          <a:xfrm>
            <a:off x="1725528" y="5720334"/>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Family</a:t>
            </a:r>
          </a:p>
        </p:txBody>
      </p:sp>
      <p:sp>
        <p:nvSpPr>
          <p:cNvPr id="21" name="Rectangle: Rounded Corners 20">
            <a:extLst>
              <a:ext uri="{FF2B5EF4-FFF2-40B4-BE49-F238E27FC236}">
                <a16:creationId xmlns:a16="http://schemas.microsoft.com/office/drawing/2014/main" id="{BC34E2F7-169F-4450-834F-D48FBE093E1D}"/>
              </a:ext>
            </a:extLst>
          </p:cNvPr>
          <p:cNvSpPr/>
          <p:nvPr/>
        </p:nvSpPr>
        <p:spPr>
          <a:xfrm>
            <a:off x="1725529" y="5272768"/>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School</a:t>
            </a:r>
          </a:p>
        </p:txBody>
      </p:sp>
      <p:sp>
        <p:nvSpPr>
          <p:cNvPr id="22" name="Rectangle: Rounded Corners 21">
            <a:extLst>
              <a:ext uri="{FF2B5EF4-FFF2-40B4-BE49-F238E27FC236}">
                <a16:creationId xmlns:a16="http://schemas.microsoft.com/office/drawing/2014/main" id="{A747EF81-8FB3-487C-B0E2-724981830DAE}"/>
              </a:ext>
            </a:extLst>
          </p:cNvPr>
          <p:cNvSpPr/>
          <p:nvPr/>
        </p:nvSpPr>
        <p:spPr>
          <a:xfrm>
            <a:off x="1725528" y="6177197"/>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Sports team</a:t>
            </a:r>
          </a:p>
        </p:txBody>
      </p:sp>
      <p:sp>
        <p:nvSpPr>
          <p:cNvPr id="23" name="Rectangle: Rounded Corners 22">
            <a:extLst>
              <a:ext uri="{FF2B5EF4-FFF2-40B4-BE49-F238E27FC236}">
                <a16:creationId xmlns:a16="http://schemas.microsoft.com/office/drawing/2014/main" id="{FE29C132-EA73-4A91-BF67-E9ECF03DBA26}"/>
              </a:ext>
            </a:extLst>
          </p:cNvPr>
          <p:cNvSpPr/>
          <p:nvPr/>
        </p:nvSpPr>
        <p:spPr>
          <a:xfrm>
            <a:off x="5198204" y="4819716"/>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Family</a:t>
            </a:r>
          </a:p>
        </p:txBody>
      </p:sp>
      <p:sp>
        <p:nvSpPr>
          <p:cNvPr id="24" name="Rectangle: Rounded Corners 23">
            <a:extLst>
              <a:ext uri="{FF2B5EF4-FFF2-40B4-BE49-F238E27FC236}">
                <a16:creationId xmlns:a16="http://schemas.microsoft.com/office/drawing/2014/main" id="{71090149-2A0E-4B7B-82BE-0749D0D92798}"/>
              </a:ext>
            </a:extLst>
          </p:cNvPr>
          <p:cNvSpPr/>
          <p:nvPr/>
        </p:nvSpPr>
        <p:spPr>
          <a:xfrm>
            <a:off x="5202474" y="5272767"/>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College</a:t>
            </a:r>
          </a:p>
        </p:txBody>
      </p:sp>
      <p:sp>
        <p:nvSpPr>
          <p:cNvPr id="25" name="Rectangle: Rounded Corners 24">
            <a:extLst>
              <a:ext uri="{FF2B5EF4-FFF2-40B4-BE49-F238E27FC236}">
                <a16:creationId xmlns:a16="http://schemas.microsoft.com/office/drawing/2014/main" id="{37C5BD61-32F0-42F6-90EE-66BA80E01444}"/>
              </a:ext>
            </a:extLst>
          </p:cNvPr>
          <p:cNvSpPr/>
          <p:nvPr/>
        </p:nvSpPr>
        <p:spPr>
          <a:xfrm>
            <a:off x="9214884" y="4833356"/>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Family</a:t>
            </a:r>
          </a:p>
        </p:txBody>
      </p:sp>
      <p:sp>
        <p:nvSpPr>
          <p:cNvPr id="26" name="Rectangle: Rounded Corners 25">
            <a:extLst>
              <a:ext uri="{FF2B5EF4-FFF2-40B4-BE49-F238E27FC236}">
                <a16:creationId xmlns:a16="http://schemas.microsoft.com/office/drawing/2014/main" id="{37CD8D8E-31FC-4536-B7D4-F5681581B6A3}"/>
              </a:ext>
            </a:extLst>
          </p:cNvPr>
          <p:cNvSpPr/>
          <p:nvPr/>
        </p:nvSpPr>
        <p:spPr>
          <a:xfrm>
            <a:off x="9073049" y="926429"/>
            <a:ext cx="2079257" cy="1022326"/>
          </a:xfrm>
          <a:prstGeom prst="roundRect">
            <a:avLst/>
          </a:prstGeom>
          <a:solidFill>
            <a:srgbClr val="00B050"/>
          </a:solid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How much of this achievement is because of your work?</a:t>
            </a:r>
          </a:p>
        </p:txBody>
      </p:sp>
    </p:spTree>
    <p:extLst>
      <p:ext uri="{BB962C8B-B14F-4D97-AF65-F5344CB8AC3E}">
        <p14:creationId xmlns:p14="http://schemas.microsoft.com/office/powerpoint/2010/main" val="317603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0 L -0.2918 0.00347 " pathEditMode="relative" rAng="0" ptsTypes="AA">
                                      <p:cBhvr>
                                        <p:cTn id="6" dur="2000" fill="hold"/>
                                        <p:tgtEl>
                                          <p:spTgt spid="5"/>
                                        </p:tgtEl>
                                        <p:attrNameLst>
                                          <p:attrName>ppt_x</p:attrName>
                                          <p:attrName>ppt_y</p:attrName>
                                        </p:attrNameLst>
                                      </p:cBhvr>
                                      <p:rCtr x="-14596" y="162"/>
                                    </p:animMotion>
                                  </p:childTnLst>
                                </p:cTn>
                              </p:par>
                              <p:par>
                                <p:cTn id="7" presetID="10" presetClass="exit" presetSubtype="0" fill="hold" grpId="0" nodeType="withEffect">
                                  <p:stCondLst>
                                    <p:cond delay="0"/>
                                  </p:stCondLst>
                                  <p:childTnLst>
                                    <p:animEffect transition="out" filter="fade">
                                      <p:cBhvr>
                                        <p:cTn id="8" dur="500"/>
                                        <p:tgtEl>
                                          <p:spTgt spid="27"/>
                                        </p:tgtEl>
                                      </p:cBhvr>
                                    </p:animEffect>
                                    <p:set>
                                      <p:cBhvr>
                                        <p:cTn id="9" dur="1" fill="hold">
                                          <p:stCondLst>
                                            <p:cond delay="499"/>
                                          </p:stCondLst>
                                        </p:cTn>
                                        <p:tgtEl>
                                          <p:spTgt spid="27"/>
                                        </p:tgtEl>
                                        <p:attrNameLst>
                                          <p:attrName>style.visibility</p:attrName>
                                        </p:attrNameLst>
                                      </p:cBhvr>
                                      <p:to>
                                        <p:strVal val="hidden"/>
                                      </p:to>
                                    </p:set>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 presetClass="exit"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9" grpId="0" animBg="1"/>
      <p:bldP spid="7" grpId="0" animBg="1"/>
      <p:bldP spid="8" grpId="0" animBg="1"/>
      <p:bldP spid="10"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FA1647-B57D-4BAF-B416-4B4DB7CD0A42}"/>
              </a:ext>
            </a:extLst>
          </p:cNvPr>
          <p:cNvSpPr>
            <a:spLocks noGrp="1"/>
          </p:cNvSpPr>
          <p:nvPr>
            <p:ph type="title"/>
          </p:nvPr>
        </p:nvSpPr>
        <p:spPr/>
        <p:txBody>
          <a:bodyPr/>
          <a:lstStyle/>
          <a:p>
            <a:r>
              <a:rPr lang="en-GB" dirty="0"/>
              <a:t>3 key concepts to keep in mind</a:t>
            </a:r>
            <a:br>
              <a:rPr lang="en-GB" dirty="0"/>
            </a:br>
            <a:endParaRPr lang="en-GB" dirty="0"/>
          </a:p>
        </p:txBody>
      </p:sp>
      <p:sp>
        <p:nvSpPr>
          <p:cNvPr id="2" name="Text Placeholder 1">
            <a:extLst>
              <a:ext uri="{FF2B5EF4-FFF2-40B4-BE49-F238E27FC236}">
                <a16:creationId xmlns:a16="http://schemas.microsoft.com/office/drawing/2014/main" id="{0EA99168-1709-4524-A687-B2D80C0C9A92}"/>
              </a:ext>
            </a:extLst>
          </p:cNvPr>
          <p:cNvSpPr>
            <a:spLocks noGrp="1"/>
          </p:cNvSpPr>
          <p:nvPr>
            <p:ph type="body" sz="quarter" idx="10"/>
          </p:nvPr>
        </p:nvSpPr>
        <p:spPr/>
        <p:txBody>
          <a:bodyPr>
            <a:normAutofit/>
          </a:bodyPr>
          <a:lstStyle/>
          <a:p>
            <a:r>
              <a:rPr lang="en-GB" dirty="0"/>
              <a:t>Deadweight</a:t>
            </a:r>
          </a:p>
        </p:txBody>
      </p:sp>
      <p:sp>
        <p:nvSpPr>
          <p:cNvPr id="4" name="Text Placeholder 3">
            <a:extLst>
              <a:ext uri="{FF2B5EF4-FFF2-40B4-BE49-F238E27FC236}">
                <a16:creationId xmlns:a16="http://schemas.microsoft.com/office/drawing/2014/main" id="{7A16D668-CB67-4B8F-ACEB-E175224372F6}"/>
              </a:ext>
            </a:extLst>
          </p:cNvPr>
          <p:cNvSpPr>
            <a:spLocks noGrp="1"/>
          </p:cNvSpPr>
          <p:nvPr>
            <p:ph type="body" sz="quarter" idx="11"/>
          </p:nvPr>
        </p:nvSpPr>
        <p:spPr>
          <a:xfrm>
            <a:off x="456094" y="2742552"/>
            <a:ext cx="2990140" cy="2296684"/>
          </a:xfrm>
        </p:spPr>
        <p:txBody>
          <a:bodyPr/>
          <a:lstStyle/>
          <a:p>
            <a:r>
              <a:rPr lang="en-GB" dirty="0"/>
              <a:t>Is what would have happened anyway without your intervention. </a:t>
            </a:r>
          </a:p>
          <a:p>
            <a:r>
              <a:rPr lang="en-GB" dirty="0"/>
              <a:t>This can be slower growth,         stagnation or decline. </a:t>
            </a:r>
          </a:p>
        </p:txBody>
      </p:sp>
      <p:sp>
        <p:nvSpPr>
          <p:cNvPr id="5" name="Text Placeholder 4">
            <a:extLst>
              <a:ext uri="{FF2B5EF4-FFF2-40B4-BE49-F238E27FC236}">
                <a16:creationId xmlns:a16="http://schemas.microsoft.com/office/drawing/2014/main" id="{F0DD04D2-42FA-4A47-B48D-2CFB3E0A6BC7}"/>
              </a:ext>
            </a:extLst>
          </p:cNvPr>
          <p:cNvSpPr>
            <a:spLocks noGrp="1"/>
          </p:cNvSpPr>
          <p:nvPr>
            <p:ph type="body" sz="quarter" idx="12"/>
          </p:nvPr>
        </p:nvSpPr>
        <p:spPr/>
        <p:txBody>
          <a:bodyPr/>
          <a:lstStyle/>
          <a:p>
            <a:r>
              <a:rPr lang="en-GB" dirty="0"/>
              <a:t>Attribution</a:t>
            </a:r>
          </a:p>
        </p:txBody>
      </p:sp>
      <p:sp>
        <p:nvSpPr>
          <p:cNvPr id="6" name="Text Placeholder 5">
            <a:extLst>
              <a:ext uri="{FF2B5EF4-FFF2-40B4-BE49-F238E27FC236}">
                <a16:creationId xmlns:a16="http://schemas.microsoft.com/office/drawing/2014/main" id="{CBFB8764-7D76-4F16-8957-E6EB49A24BE0}"/>
              </a:ext>
            </a:extLst>
          </p:cNvPr>
          <p:cNvSpPr>
            <a:spLocks noGrp="1"/>
          </p:cNvSpPr>
          <p:nvPr>
            <p:ph type="body" sz="quarter" idx="13"/>
          </p:nvPr>
        </p:nvSpPr>
        <p:spPr/>
        <p:txBody>
          <a:bodyPr/>
          <a:lstStyle/>
          <a:p>
            <a:r>
              <a:rPr lang="en-GB" dirty="0"/>
              <a:t>Is a review of who else or what else may have generated a benefit (or pain) for your target beneficiary. </a:t>
            </a:r>
          </a:p>
          <a:p>
            <a:endParaRPr lang="en-GB" dirty="0"/>
          </a:p>
        </p:txBody>
      </p:sp>
      <p:sp>
        <p:nvSpPr>
          <p:cNvPr id="7" name="Text Placeholder 6">
            <a:extLst>
              <a:ext uri="{FF2B5EF4-FFF2-40B4-BE49-F238E27FC236}">
                <a16:creationId xmlns:a16="http://schemas.microsoft.com/office/drawing/2014/main" id="{E70A2F2E-74A1-4F4F-A929-775689C4192E}"/>
              </a:ext>
            </a:extLst>
          </p:cNvPr>
          <p:cNvSpPr>
            <a:spLocks noGrp="1"/>
          </p:cNvSpPr>
          <p:nvPr>
            <p:ph type="body" sz="quarter" idx="14"/>
          </p:nvPr>
        </p:nvSpPr>
        <p:spPr/>
        <p:txBody>
          <a:bodyPr/>
          <a:lstStyle/>
          <a:p>
            <a:r>
              <a:rPr lang="en-GB" dirty="0"/>
              <a:t>Benefit Period</a:t>
            </a:r>
          </a:p>
        </p:txBody>
      </p:sp>
      <p:sp>
        <p:nvSpPr>
          <p:cNvPr id="8" name="Text Placeholder 7">
            <a:extLst>
              <a:ext uri="{FF2B5EF4-FFF2-40B4-BE49-F238E27FC236}">
                <a16:creationId xmlns:a16="http://schemas.microsoft.com/office/drawing/2014/main" id="{4626F2B1-A67F-4C5A-B681-EE5C93D31319}"/>
              </a:ext>
            </a:extLst>
          </p:cNvPr>
          <p:cNvSpPr>
            <a:spLocks noGrp="1"/>
          </p:cNvSpPr>
          <p:nvPr>
            <p:ph type="body" sz="quarter" idx="15"/>
          </p:nvPr>
        </p:nvSpPr>
        <p:spPr/>
        <p:txBody>
          <a:bodyPr/>
          <a:lstStyle/>
          <a:p>
            <a:r>
              <a:rPr lang="en-GB" dirty="0"/>
              <a:t>Is how long the benefit of your intervention lasts for the beneficiary. </a:t>
            </a:r>
          </a:p>
          <a:p>
            <a:r>
              <a:rPr lang="en-GB" dirty="0"/>
              <a:t>Different interventions have different benefit periods. </a:t>
            </a:r>
          </a:p>
        </p:txBody>
      </p:sp>
    </p:spTree>
    <p:extLst>
      <p:ext uri="{BB962C8B-B14F-4D97-AF65-F5344CB8AC3E}">
        <p14:creationId xmlns:p14="http://schemas.microsoft.com/office/powerpoint/2010/main" val="595617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15A06-857D-4E20-A326-F69B5376D618}"/>
              </a:ext>
            </a:extLst>
          </p:cNvPr>
          <p:cNvSpPr>
            <a:spLocks noGrp="1"/>
          </p:cNvSpPr>
          <p:nvPr>
            <p:ph type="body" sz="quarter" idx="10"/>
          </p:nvPr>
        </p:nvSpPr>
        <p:spPr/>
        <p:txBody>
          <a:bodyPr>
            <a:normAutofit fontScale="70000" lnSpcReduction="20000"/>
          </a:bodyPr>
          <a:lstStyle/>
          <a:p>
            <a:r>
              <a:rPr lang="en-GB" b="1" dirty="0"/>
              <a:t>Session 4: </a:t>
            </a:r>
            <a:r>
              <a:rPr lang="en-GB" dirty="0"/>
              <a:t>Establishing the key indicators</a:t>
            </a:r>
          </a:p>
        </p:txBody>
      </p:sp>
    </p:spTree>
    <p:extLst>
      <p:ext uri="{BB962C8B-B14F-4D97-AF65-F5344CB8AC3E}">
        <p14:creationId xmlns:p14="http://schemas.microsoft.com/office/powerpoint/2010/main" val="1689919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22F20-D8AA-4F58-93C8-1386C1EBEE7E}"/>
              </a:ext>
            </a:extLst>
          </p:cNvPr>
          <p:cNvSpPr>
            <a:spLocks noGrp="1"/>
          </p:cNvSpPr>
          <p:nvPr>
            <p:ph type="title"/>
          </p:nvPr>
        </p:nvSpPr>
        <p:spPr>
          <a:xfrm>
            <a:off x="233358" y="53166"/>
            <a:ext cx="10515600" cy="821289"/>
          </a:xfrm>
        </p:spPr>
        <p:txBody>
          <a:bodyPr/>
          <a:lstStyle/>
          <a:p>
            <a:r>
              <a:rPr lang="en-GB" dirty="0"/>
              <a:t>Key data sources and indexes </a:t>
            </a:r>
          </a:p>
        </p:txBody>
      </p:sp>
      <p:sp>
        <p:nvSpPr>
          <p:cNvPr id="4" name="Rectangle 3">
            <a:extLst>
              <a:ext uri="{FF2B5EF4-FFF2-40B4-BE49-F238E27FC236}">
                <a16:creationId xmlns:a16="http://schemas.microsoft.com/office/drawing/2014/main" id="{038CB96E-D349-4153-8ABA-6245E94D1B34}"/>
              </a:ext>
            </a:extLst>
          </p:cNvPr>
          <p:cNvSpPr/>
          <p:nvPr/>
        </p:nvSpPr>
        <p:spPr>
          <a:xfrm>
            <a:off x="569976" y="874455"/>
            <a:ext cx="10374923" cy="5693866"/>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err="1">
                <a:ln>
                  <a:noFill/>
                </a:ln>
                <a:solidFill>
                  <a:srgbClr val="636363"/>
                </a:solidFill>
                <a:effectLst/>
                <a:uLnTx/>
                <a:uFillTx/>
                <a:latin typeface="Gotham Book"/>
                <a:ea typeface="+mn-ea"/>
                <a:cs typeface="+mn-cs"/>
              </a:rPr>
              <a:t>Nomis</a:t>
            </a:r>
            <a:r>
              <a:rPr kumimoji="0" lang="en-GB" sz="2600" b="1" i="0" u="none" strike="noStrike" kern="1200" cap="none" spc="0" normalizeH="0" baseline="0" noProof="0" dirty="0">
                <a:ln>
                  <a:noFill/>
                </a:ln>
                <a:solidFill>
                  <a:srgbClr val="636363"/>
                </a:solidFill>
                <a:effectLst/>
                <a:uLnTx/>
                <a:uFillTx/>
                <a:latin typeface="Gotham Book"/>
                <a:ea typeface="+mn-ea"/>
                <a:cs typeface="+mn-cs"/>
              </a:rPr>
              <a:t>- </a:t>
            </a:r>
            <a:r>
              <a:rPr kumimoji="0" lang="en-GB" sz="2600" i="0" u="none" strike="noStrike" kern="1200" cap="none" spc="0" normalizeH="0" baseline="0" noProof="0" dirty="0">
                <a:ln>
                  <a:noFill/>
                </a:ln>
                <a:solidFill>
                  <a:srgbClr val="636363"/>
                </a:solidFill>
                <a:effectLst/>
                <a:uLnTx/>
                <a:uFillTx/>
                <a:latin typeface="Gotham Book"/>
                <a:ea typeface="+mn-ea"/>
                <a:cs typeface="+mn-cs"/>
              </a:rPr>
              <a:t>for labour market and socio-economic data. </a:t>
            </a:r>
          </a:p>
          <a:p>
            <a:pPr marR="0" lvl="0" algn="l" defTabSz="914400" rtl="0" eaLnBrk="1" fontAlgn="auto" latinLnBrk="0" hangingPunct="1">
              <a:lnSpc>
                <a:spcPct val="100000"/>
              </a:lnSpc>
              <a:spcBef>
                <a:spcPts val="0"/>
              </a:spcBef>
              <a:spcAft>
                <a:spcPts val="0"/>
              </a:spcAft>
              <a:buClrTx/>
              <a:buSzTx/>
              <a:tabLst/>
              <a:defRPr/>
            </a:pPr>
            <a:endParaRPr kumimoji="0" lang="en-GB" sz="2600" i="0" u="none" strike="noStrike" kern="1200" cap="none" spc="0" normalizeH="0" baseline="0" noProof="0" dirty="0">
              <a:ln>
                <a:noFill/>
              </a:ln>
              <a:solidFill>
                <a:srgbClr val="636363"/>
              </a:solidFill>
              <a:effectLst/>
              <a:uLnTx/>
              <a:uFillTx/>
              <a:latin typeface="Gotham Book"/>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IMD (Index of multiple deprivation) – </a:t>
            </a:r>
            <a:r>
              <a:rPr kumimoji="0" lang="en-GB" sz="2600" i="0" u="none" strike="noStrike" kern="1200" cap="none" spc="0" normalizeH="0" baseline="0" noProof="0" dirty="0">
                <a:ln>
                  <a:noFill/>
                </a:ln>
                <a:solidFill>
                  <a:srgbClr val="636363"/>
                </a:solidFill>
                <a:effectLst/>
                <a:uLnTx/>
                <a:uFillTx/>
                <a:latin typeface="Gotham Book"/>
                <a:ea typeface="+mn-ea"/>
                <a:cs typeface="+mn-cs"/>
              </a:rPr>
              <a:t>for  postcode based indexes of deprivation. </a:t>
            </a:r>
          </a:p>
          <a:p>
            <a:pPr marR="0" lvl="0" algn="l" defTabSz="914400" rtl="0" eaLnBrk="1" fontAlgn="auto" latinLnBrk="0" hangingPunct="1">
              <a:lnSpc>
                <a:spcPct val="100000"/>
              </a:lnSpc>
              <a:spcBef>
                <a:spcPts val="0"/>
              </a:spcBef>
              <a:spcAft>
                <a:spcPts val="0"/>
              </a:spcAft>
              <a:buClrTx/>
              <a:buSzTx/>
              <a:tabLst/>
              <a:defRPr/>
            </a:pPr>
            <a:endParaRPr kumimoji="0" lang="en-GB" sz="2600" i="0" u="none" strike="noStrike" kern="1200" cap="none" spc="0" normalizeH="0" baseline="0" noProof="0" dirty="0">
              <a:ln>
                <a:noFill/>
              </a:ln>
              <a:solidFill>
                <a:srgbClr val="636363"/>
              </a:solidFill>
              <a:effectLst/>
              <a:uLnTx/>
              <a:uFillTx/>
              <a:latin typeface="Gotham Book"/>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Labour market survey (A01 and A08 (disability) – </a:t>
            </a:r>
            <a:r>
              <a:rPr kumimoji="0" lang="en-GB" sz="2600" i="0" u="none" strike="noStrike" kern="1200" cap="none" spc="0" normalizeH="0" baseline="0" noProof="0" dirty="0">
                <a:ln>
                  <a:noFill/>
                </a:ln>
                <a:solidFill>
                  <a:srgbClr val="636363"/>
                </a:solidFill>
                <a:effectLst/>
                <a:uLnTx/>
                <a:uFillTx/>
                <a:latin typeface="Gotham Book"/>
                <a:ea typeface="+mn-ea"/>
                <a:cs typeface="+mn-cs"/>
              </a:rPr>
              <a:t>For up to date data on employment rates.</a:t>
            </a:r>
          </a:p>
          <a:p>
            <a:pPr marR="0" lvl="0" algn="l" defTabSz="914400" rtl="0" eaLnBrk="1" fontAlgn="auto" latinLnBrk="0" hangingPunct="1">
              <a:lnSpc>
                <a:spcPct val="100000"/>
              </a:lnSpc>
              <a:spcBef>
                <a:spcPts val="0"/>
              </a:spcBef>
              <a:spcAft>
                <a:spcPts val="0"/>
              </a:spcAft>
              <a:buClrTx/>
              <a:buSzTx/>
              <a:tabLst/>
              <a:defRPr/>
            </a:pPr>
            <a:endParaRPr kumimoji="0" lang="en-GB" sz="2600" i="0" u="none" strike="noStrike" kern="1200" cap="none" spc="0" normalizeH="0" baseline="0" noProof="0" dirty="0">
              <a:ln>
                <a:noFill/>
              </a:ln>
              <a:solidFill>
                <a:srgbClr val="636363"/>
              </a:solidFill>
              <a:effectLst/>
              <a:uLnTx/>
              <a:uFillTx/>
              <a:latin typeface="Gotham Book"/>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600" b="1" dirty="0">
                <a:solidFill>
                  <a:srgbClr val="636363"/>
                </a:solidFill>
                <a:latin typeface="Gotham Book"/>
              </a:rPr>
              <a:t>Impetus youth employment gap (upcoming) – </a:t>
            </a:r>
            <a:r>
              <a:rPr lang="en-GB" sz="2600" dirty="0">
                <a:solidFill>
                  <a:srgbClr val="636363"/>
                </a:solidFill>
                <a:latin typeface="Gotham Book"/>
              </a:rPr>
              <a:t>for youth employment performance across UK</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600" b="1" dirty="0">
                <a:solidFill>
                  <a:srgbClr val="636363"/>
                </a:solidFill>
                <a:latin typeface="Gotham Book"/>
              </a:rPr>
              <a:t>Thriving Places Index – </a:t>
            </a:r>
            <a:r>
              <a:rPr lang="en-GB" sz="2600" dirty="0">
                <a:solidFill>
                  <a:srgbClr val="636363"/>
                </a:solidFill>
                <a:latin typeface="Gotham Book"/>
              </a:rPr>
              <a:t>For a holistic view of local authority performance. </a:t>
            </a:r>
          </a:p>
          <a:p>
            <a:pPr marR="0" lvl="0" algn="l" defTabSz="914400" rtl="0" eaLnBrk="1" fontAlgn="auto" latinLnBrk="0" hangingPunct="1">
              <a:lnSpc>
                <a:spcPct val="100000"/>
              </a:lnSpc>
              <a:spcBef>
                <a:spcPts val="0"/>
              </a:spcBef>
              <a:spcAft>
                <a:spcPts val="0"/>
              </a:spcAft>
              <a:buClrTx/>
              <a:buSzTx/>
              <a:tabLst/>
              <a:defRPr/>
            </a:pPr>
            <a:endParaRPr lang="en-GB" sz="2600" dirty="0">
              <a:solidFill>
                <a:srgbClr val="636363"/>
              </a:solidFill>
              <a:latin typeface="Gotham Book"/>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ONS wellbeing – </a:t>
            </a:r>
            <a:r>
              <a:rPr kumimoji="0" lang="en-GB" sz="2600" i="0" u="none" strike="noStrike" kern="1200" cap="none" spc="0" normalizeH="0" baseline="0" noProof="0" dirty="0">
                <a:ln>
                  <a:noFill/>
                </a:ln>
                <a:solidFill>
                  <a:srgbClr val="636363"/>
                </a:solidFill>
                <a:effectLst/>
                <a:uLnTx/>
                <a:uFillTx/>
                <a:latin typeface="Gotham Book"/>
                <a:ea typeface="+mn-ea"/>
                <a:cs typeface="+mn-cs"/>
              </a:rPr>
              <a:t>For national performance of wellbeing in UK. </a:t>
            </a:r>
            <a:endParaRPr kumimoji="0" lang="en-GB" sz="2600" b="1" i="0" u="none" strike="noStrike" kern="1200" cap="none" spc="0" normalizeH="0" baseline="0" noProof="0" dirty="0">
              <a:ln>
                <a:noFill/>
              </a:ln>
              <a:solidFill>
                <a:srgbClr val="636363"/>
              </a:solidFill>
              <a:effectLst/>
              <a:uLnTx/>
              <a:uFillTx/>
              <a:latin typeface="Gotham Book"/>
              <a:ea typeface="+mn-ea"/>
              <a:cs typeface="+mn-cs"/>
            </a:endParaRPr>
          </a:p>
        </p:txBody>
      </p:sp>
    </p:spTree>
    <p:extLst>
      <p:ext uri="{BB962C8B-B14F-4D97-AF65-F5344CB8AC3E}">
        <p14:creationId xmlns:p14="http://schemas.microsoft.com/office/powerpoint/2010/main" val="27203467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FC4BCD7-73AA-48B7-B024-BCF90B418D1D}"/>
              </a:ext>
            </a:extLst>
          </p:cNvPr>
          <p:cNvSpPr>
            <a:spLocks noGrp="1"/>
          </p:cNvSpPr>
          <p:nvPr>
            <p:ph type="title"/>
          </p:nvPr>
        </p:nvSpPr>
        <p:spPr>
          <a:xfrm>
            <a:off x="233358" y="53166"/>
            <a:ext cx="10515600" cy="821289"/>
          </a:xfrm>
        </p:spPr>
        <p:txBody>
          <a:bodyPr/>
          <a:lstStyle/>
          <a:p>
            <a:r>
              <a:rPr lang="en-GB" dirty="0"/>
              <a:t>Key data sources and indexes </a:t>
            </a:r>
          </a:p>
        </p:txBody>
      </p:sp>
      <p:sp>
        <p:nvSpPr>
          <p:cNvPr id="5" name="Rectangle 4">
            <a:extLst>
              <a:ext uri="{FF2B5EF4-FFF2-40B4-BE49-F238E27FC236}">
                <a16:creationId xmlns:a16="http://schemas.microsoft.com/office/drawing/2014/main" id="{367FBDAB-3A6D-49AE-85AA-70DB658D76B9}"/>
              </a:ext>
            </a:extLst>
          </p:cNvPr>
          <p:cNvSpPr/>
          <p:nvPr/>
        </p:nvSpPr>
        <p:spPr>
          <a:xfrm>
            <a:off x="121919" y="3873303"/>
            <a:ext cx="10374923" cy="2893100"/>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600" b="1" dirty="0">
                <a:solidFill>
                  <a:srgbClr val="636363"/>
                </a:solidFill>
                <a:latin typeface="Gotham Book"/>
              </a:rPr>
              <a:t>SWEMWBS wellbeing – </a:t>
            </a:r>
            <a:r>
              <a:rPr lang="en-GB" sz="2600" dirty="0">
                <a:solidFill>
                  <a:srgbClr val="636363"/>
                </a:solidFill>
                <a:latin typeface="Gotham Book"/>
              </a:rPr>
              <a:t>7 questions on wellbeing that can be used for SCBA. </a:t>
            </a:r>
          </a:p>
          <a:p>
            <a:pPr marR="0" lvl="0" algn="l" defTabSz="914400" rtl="0" eaLnBrk="1" fontAlgn="auto" latinLnBrk="0" hangingPunct="1">
              <a:lnSpc>
                <a:spcPct val="100000"/>
              </a:lnSpc>
              <a:spcBef>
                <a:spcPts val="0"/>
              </a:spcBef>
              <a:spcAft>
                <a:spcPts val="0"/>
              </a:spcAft>
              <a:buClrTx/>
              <a:buSzTx/>
              <a:tabLst/>
              <a:defRPr/>
            </a:pPr>
            <a:endParaRPr lang="en-GB" sz="2600" dirty="0">
              <a:solidFill>
                <a:srgbClr val="636363"/>
              </a:solidFill>
              <a:latin typeface="Gotham Book"/>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ONS wellbeing – </a:t>
            </a:r>
            <a:r>
              <a:rPr kumimoji="0" lang="en-GB" sz="2600" i="0" u="none" strike="noStrike" kern="1200" cap="none" spc="0" normalizeH="0" baseline="0" noProof="0" dirty="0">
                <a:ln>
                  <a:noFill/>
                </a:ln>
                <a:solidFill>
                  <a:srgbClr val="636363"/>
                </a:solidFill>
                <a:effectLst/>
                <a:uLnTx/>
                <a:uFillTx/>
                <a:latin typeface="Gotham Book"/>
                <a:ea typeface="+mn-ea"/>
                <a:cs typeface="+mn-cs"/>
              </a:rPr>
              <a:t>4 questions on wellbeing to compare to national average. </a:t>
            </a:r>
          </a:p>
          <a:p>
            <a:pPr marR="0" lvl="0" algn="l" defTabSz="914400" rtl="0" eaLnBrk="1" fontAlgn="auto" latinLnBrk="0" hangingPunct="1">
              <a:lnSpc>
                <a:spcPct val="100000"/>
              </a:lnSpc>
              <a:spcBef>
                <a:spcPts val="0"/>
              </a:spcBef>
              <a:spcAft>
                <a:spcPts val="0"/>
              </a:spcAft>
              <a:buClrTx/>
              <a:buSzTx/>
              <a:tabLst/>
              <a:defRPr/>
            </a:pPr>
            <a:endParaRPr kumimoji="0" lang="en-GB" sz="2600" i="0" u="none" strike="noStrike" kern="1200" cap="none" spc="0" normalizeH="0" baseline="0" noProof="0" dirty="0">
              <a:ln>
                <a:noFill/>
              </a:ln>
              <a:solidFill>
                <a:srgbClr val="636363"/>
              </a:solidFill>
              <a:effectLst/>
              <a:uLnTx/>
              <a:uFillTx/>
              <a:latin typeface="Gotham Book"/>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General self-efficacy – </a:t>
            </a:r>
            <a:r>
              <a:rPr kumimoji="0" lang="en-GB" sz="2600" i="0" u="none" strike="noStrike" kern="1200" cap="none" spc="0" normalizeH="0" baseline="0" noProof="0" dirty="0">
                <a:ln>
                  <a:noFill/>
                </a:ln>
                <a:solidFill>
                  <a:srgbClr val="636363"/>
                </a:solidFill>
                <a:effectLst/>
                <a:uLnTx/>
                <a:uFillTx/>
                <a:latin typeface="Gotham Book"/>
                <a:ea typeface="+mn-ea"/>
                <a:cs typeface="+mn-cs"/>
              </a:rPr>
              <a:t>general questionnaire for independence</a:t>
            </a:r>
          </a:p>
        </p:txBody>
      </p:sp>
      <p:sp>
        <p:nvSpPr>
          <p:cNvPr id="6" name="Content Placeholder 2">
            <a:extLst>
              <a:ext uri="{FF2B5EF4-FFF2-40B4-BE49-F238E27FC236}">
                <a16:creationId xmlns:a16="http://schemas.microsoft.com/office/drawing/2014/main" id="{135FB49A-9D90-4E07-B466-89874419A0D4}"/>
              </a:ext>
            </a:extLst>
          </p:cNvPr>
          <p:cNvSpPr>
            <a:spLocks noGrp="1"/>
          </p:cNvSpPr>
          <p:nvPr>
            <p:ph sz="quarter" idx="10"/>
          </p:nvPr>
        </p:nvSpPr>
        <p:spPr>
          <a:xfrm>
            <a:off x="796546" y="727549"/>
            <a:ext cx="10515600" cy="522380"/>
          </a:xfrm>
        </p:spPr>
        <p:txBody>
          <a:bodyPr/>
          <a:lstStyle/>
          <a:p>
            <a:r>
              <a:rPr lang="en-GB" dirty="0"/>
              <a:t>Net Promoter Score (use Survey Monkey): </a:t>
            </a:r>
          </a:p>
          <a:p>
            <a:endParaRPr lang="en-GB" dirty="0"/>
          </a:p>
          <a:p>
            <a:endParaRPr lang="en-GB" dirty="0"/>
          </a:p>
        </p:txBody>
      </p:sp>
      <p:grpSp>
        <p:nvGrpSpPr>
          <p:cNvPr id="7" name="Group 6">
            <a:extLst>
              <a:ext uri="{FF2B5EF4-FFF2-40B4-BE49-F238E27FC236}">
                <a16:creationId xmlns:a16="http://schemas.microsoft.com/office/drawing/2014/main" id="{3C303436-7729-442C-838F-4CD1EA0F601B}"/>
              </a:ext>
            </a:extLst>
          </p:cNvPr>
          <p:cNvGrpSpPr/>
          <p:nvPr/>
        </p:nvGrpSpPr>
        <p:grpSpPr>
          <a:xfrm>
            <a:off x="121919" y="1249929"/>
            <a:ext cx="6877050" cy="2247900"/>
            <a:chOff x="2657475" y="1442179"/>
            <a:chExt cx="6877050" cy="2247900"/>
          </a:xfrm>
        </p:grpSpPr>
        <p:pic>
          <p:nvPicPr>
            <p:cNvPr id="8" name="Picture 7">
              <a:extLst>
                <a:ext uri="{FF2B5EF4-FFF2-40B4-BE49-F238E27FC236}">
                  <a16:creationId xmlns:a16="http://schemas.microsoft.com/office/drawing/2014/main" id="{F7536A00-E849-42F8-A79E-CD4EC2BFD4AD}"/>
                </a:ext>
              </a:extLst>
            </p:cNvPr>
            <p:cNvPicPr>
              <a:picLocks noChangeAspect="1"/>
            </p:cNvPicPr>
            <p:nvPr/>
          </p:nvPicPr>
          <p:blipFill>
            <a:blip r:embed="rId2"/>
            <a:stretch>
              <a:fillRect/>
            </a:stretch>
          </p:blipFill>
          <p:spPr>
            <a:xfrm>
              <a:off x="2657475" y="1442179"/>
              <a:ext cx="6877050" cy="2247900"/>
            </a:xfrm>
            <a:prstGeom prst="rect">
              <a:avLst/>
            </a:prstGeom>
          </p:spPr>
        </p:pic>
        <p:sp>
          <p:nvSpPr>
            <p:cNvPr id="9" name="Rectangle 8">
              <a:extLst>
                <a:ext uri="{FF2B5EF4-FFF2-40B4-BE49-F238E27FC236}">
                  <a16:creationId xmlns:a16="http://schemas.microsoft.com/office/drawing/2014/main" id="{5D00118D-70A3-48D4-84AE-1597FBC4DE14}"/>
                </a:ext>
              </a:extLst>
            </p:cNvPr>
            <p:cNvSpPr/>
            <p:nvPr/>
          </p:nvSpPr>
          <p:spPr>
            <a:xfrm>
              <a:off x="4666785" y="1884202"/>
              <a:ext cx="1182029" cy="3683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XYZ</a:t>
              </a:r>
            </a:p>
          </p:txBody>
        </p:sp>
      </p:grpSp>
      <p:pic>
        <p:nvPicPr>
          <p:cNvPr id="10" name="Picture 9">
            <a:extLst>
              <a:ext uri="{FF2B5EF4-FFF2-40B4-BE49-F238E27FC236}">
                <a16:creationId xmlns:a16="http://schemas.microsoft.com/office/drawing/2014/main" id="{150EA9A1-5A61-42A5-B5CF-DCF9DA9A61BA}"/>
              </a:ext>
            </a:extLst>
          </p:cNvPr>
          <p:cNvPicPr>
            <a:picLocks noChangeAspect="1"/>
          </p:cNvPicPr>
          <p:nvPr/>
        </p:nvPicPr>
        <p:blipFill>
          <a:blip r:embed="rId3"/>
          <a:stretch>
            <a:fillRect/>
          </a:stretch>
        </p:blipFill>
        <p:spPr>
          <a:xfrm>
            <a:off x="7379087" y="2014575"/>
            <a:ext cx="4812913" cy="592793"/>
          </a:xfrm>
          <a:prstGeom prst="rect">
            <a:avLst/>
          </a:prstGeom>
        </p:spPr>
      </p:pic>
      <p:sp>
        <p:nvSpPr>
          <p:cNvPr id="11" name="Right Brace 10">
            <a:extLst>
              <a:ext uri="{FF2B5EF4-FFF2-40B4-BE49-F238E27FC236}">
                <a16:creationId xmlns:a16="http://schemas.microsoft.com/office/drawing/2014/main" id="{1B4C3D5F-E9A0-4153-8847-E301C75A1CC3}"/>
              </a:ext>
            </a:extLst>
          </p:cNvPr>
          <p:cNvSpPr/>
          <p:nvPr/>
        </p:nvSpPr>
        <p:spPr>
          <a:xfrm>
            <a:off x="7120448" y="1249929"/>
            <a:ext cx="137160" cy="2011680"/>
          </a:xfrm>
          <a:prstGeom prst="rightBrace">
            <a:avLst/>
          </a:prstGeom>
          <a:ln w="34925">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Tree>
    <p:extLst>
      <p:ext uri="{BB962C8B-B14F-4D97-AF65-F5344CB8AC3E}">
        <p14:creationId xmlns:p14="http://schemas.microsoft.com/office/powerpoint/2010/main" val="1510696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1C7DC-A28B-41A4-A80C-26A2139BC0A2}"/>
              </a:ext>
            </a:extLst>
          </p:cNvPr>
          <p:cNvSpPr>
            <a:spLocks noGrp="1"/>
          </p:cNvSpPr>
          <p:nvPr>
            <p:ph type="title"/>
          </p:nvPr>
        </p:nvSpPr>
        <p:spPr>
          <a:xfrm>
            <a:off x="0" y="100361"/>
            <a:ext cx="10515600" cy="522380"/>
          </a:xfrm>
        </p:spPr>
        <p:txBody>
          <a:bodyPr>
            <a:normAutofit fontScale="90000"/>
          </a:bodyPr>
          <a:lstStyle/>
          <a:p>
            <a:r>
              <a:rPr lang="en-GB" dirty="0"/>
              <a:t>Types of KPIs</a:t>
            </a:r>
          </a:p>
        </p:txBody>
      </p:sp>
      <p:cxnSp>
        <p:nvCxnSpPr>
          <p:cNvPr id="5" name="Straight Connector 4">
            <a:extLst>
              <a:ext uri="{FF2B5EF4-FFF2-40B4-BE49-F238E27FC236}">
                <a16:creationId xmlns:a16="http://schemas.microsoft.com/office/drawing/2014/main" id="{C03B8FC1-11C5-4B70-845E-155F5D9681E8}"/>
              </a:ext>
            </a:extLst>
          </p:cNvPr>
          <p:cNvCxnSpPr/>
          <p:nvPr/>
        </p:nvCxnSpPr>
        <p:spPr>
          <a:xfrm>
            <a:off x="6096000" y="847493"/>
            <a:ext cx="0" cy="6010507"/>
          </a:xfrm>
          <a:prstGeom prst="line">
            <a:avLst/>
          </a:prstGeom>
          <a:ln w="3492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71B890F1-22E2-47F3-8664-0C26D6E1BC70}"/>
              </a:ext>
            </a:extLst>
          </p:cNvPr>
          <p:cNvSpPr/>
          <p:nvPr/>
        </p:nvSpPr>
        <p:spPr>
          <a:xfrm>
            <a:off x="1103971" y="847493"/>
            <a:ext cx="4003288" cy="4125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Quantitative</a:t>
            </a:r>
          </a:p>
        </p:txBody>
      </p:sp>
      <p:sp>
        <p:nvSpPr>
          <p:cNvPr id="7" name="Rectangle: Rounded Corners 6">
            <a:extLst>
              <a:ext uri="{FF2B5EF4-FFF2-40B4-BE49-F238E27FC236}">
                <a16:creationId xmlns:a16="http://schemas.microsoft.com/office/drawing/2014/main" id="{886DC30F-5283-4B7E-BD00-B042EFC1674B}"/>
              </a:ext>
            </a:extLst>
          </p:cNvPr>
          <p:cNvSpPr/>
          <p:nvPr/>
        </p:nvSpPr>
        <p:spPr>
          <a:xfrm>
            <a:off x="7084741" y="847492"/>
            <a:ext cx="4003288" cy="4125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Qualitative</a:t>
            </a:r>
          </a:p>
        </p:txBody>
      </p:sp>
      <p:sp>
        <p:nvSpPr>
          <p:cNvPr id="8" name="TextBox 7">
            <a:extLst>
              <a:ext uri="{FF2B5EF4-FFF2-40B4-BE49-F238E27FC236}">
                <a16:creationId xmlns:a16="http://schemas.microsoft.com/office/drawing/2014/main" id="{5D9F4668-6AA6-4DDB-9A9A-18AEB33E65C6}"/>
              </a:ext>
            </a:extLst>
          </p:cNvPr>
          <p:cNvSpPr txBox="1"/>
          <p:nvPr/>
        </p:nvSpPr>
        <p:spPr>
          <a:xfrm>
            <a:off x="438932" y="3701473"/>
            <a:ext cx="428546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No. of customers reporting increased income as a result of our training. </a:t>
            </a:r>
          </a:p>
        </p:txBody>
      </p:sp>
      <p:sp>
        <p:nvSpPr>
          <p:cNvPr id="13" name="Rectangle: Rounded Corners 12">
            <a:extLst>
              <a:ext uri="{FF2B5EF4-FFF2-40B4-BE49-F238E27FC236}">
                <a16:creationId xmlns:a16="http://schemas.microsoft.com/office/drawing/2014/main" id="{56453240-597C-4A43-880D-839B04405814}"/>
              </a:ext>
            </a:extLst>
          </p:cNvPr>
          <p:cNvSpPr/>
          <p:nvPr/>
        </p:nvSpPr>
        <p:spPr>
          <a:xfrm>
            <a:off x="7084741" y="1349737"/>
            <a:ext cx="4003288" cy="412595"/>
          </a:xfrm>
          <a:prstGeom prst="roundRect">
            <a:avLst/>
          </a:prstGeom>
          <a:solidFill>
            <a:schemeClr val="tx1">
              <a:lumMod val="75000"/>
            </a:schemeClr>
          </a:solid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Judgement, perception, emotion etc.</a:t>
            </a:r>
          </a:p>
        </p:txBody>
      </p:sp>
      <p:sp>
        <p:nvSpPr>
          <p:cNvPr id="14" name="Rectangle: Rounded Corners 13">
            <a:extLst>
              <a:ext uri="{FF2B5EF4-FFF2-40B4-BE49-F238E27FC236}">
                <a16:creationId xmlns:a16="http://schemas.microsoft.com/office/drawing/2014/main" id="{7B38D03E-A04F-4757-9AB3-DB3A45E91BB3}"/>
              </a:ext>
            </a:extLst>
          </p:cNvPr>
          <p:cNvSpPr/>
          <p:nvPr/>
        </p:nvSpPr>
        <p:spPr>
          <a:xfrm>
            <a:off x="1103971" y="1355678"/>
            <a:ext cx="4003288" cy="412595"/>
          </a:xfrm>
          <a:prstGeom prst="roundRect">
            <a:avLst/>
          </a:prstGeom>
          <a:solidFill>
            <a:schemeClr val="tx1">
              <a:lumMod val="75000"/>
            </a:schemeClr>
          </a:solid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Quantities and amounts</a:t>
            </a:r>
          </a:p>
        </p:txBody>
      </p:sp>
      <p:sp>
        <p:nvSpPr>
          <p:cNvPr id="19" name="Arrow: Left-Right 18">
            <a:extLst>
              <a:ext uri="{FF2B5EF4-FFF2-40B4-BE49-F238E27FC236}">
                <a16:creationId xmlns:a16="http://schemas.microsoft.com/office/drawing/2014/main" id="{1DD2E3A0-EC7F-4C89-AF64-AF89B99AE3C0}"/>
              </a:ext>
            </a:extLst>
          </p:cNvPr>
          <p:cNvSpPr/>
          <p:nvPr/>
        </p:nvSpPr>
        <p:spPr>
          <a:xfrm>
            <a:off x="5244794" y="3428999"/>
            <a:ext cx="1689406" cy="116205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Cross reference</a:t>
            </a:r>
          </a:p>
        </p:txBody>
      </p:sp>
      <p:sp>
        <p:nvSpPr>
          <p:cNvPr id="20" name="TextBox 19">
            <a:extLst>
              <a:ext uri="{FF2B5EF4-FFF2-40B4-BE49-F238E27FC236}">
                <a16:creationId xmlns:a16="http://schemas.microsoft.com/office/drawing/2014/main" id="{5457B324-9DED-4151-AE25-5D53DACD06FC}"/>
              </a:ext>
            </a:extLst>
          </p:cNvPr>
          <p:cNvSpPr txBox="1"/>
          <p:nvPr/>
        </p:nvSpPr>
        <p:spPr>
          <a:xfrm>
            <a:off x="7779362" y="3776544"/>
            <a:ext cx="397370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Evidence that beneficiaries wellbeing has increased as a result of our support</a:t>
            </a:r>
          </a:p>
        </p:txBody>
      </p:sp>
    </p:spTree>
    <p:extLst>
      <p:ext uri="{BB962C8B-B14F-4D97-AF65-F5344CB8AC3E}">
        <p14:creationId xmlns:p14="http://schemas.microsoft.com/office/powerpoint/2010/main" val="17233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animBg="1"/>
      <p:bldP spid="14" grpId="0" animBg="1"/>
      <p:bldP spid="19" grpId="0" animBg="1"/>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4F57-0989-4FDC-BBEF-29AFE3F5EE51}"/>
              </a:ext>
            </a:extLst>
          </p:cNvPr>
          <p:cNvSpPr>
            <a:spLocks noGrp="1"/>
          </p:cNvSpPr>
          <p:nvPr>
            <p:ph type="title"/>
          </p:nvPr>
        </p:nvSpPr>
        <p:spPr>
          <a:xfrm>
            <a:off x="-20946" y="0"/>
            <a:ext cx="10515600" cy="605752"/>
          </a:xfrm>
        </p:spPr>
        <p:txBody>
          <a:bodyPr>
            <a:normAutofit fontScale="90000"/>
          </a:bodyPr>
          <a:lstStyle/>
          <a:p>
            <a:r>
              <a:rPr lang="en-GB" dirty="0"/>
              <a:t>Choosing Approaches and Tools</a:t>
            </a:r>
          </a:p>
        </p:txBody>
      </p:sp>
      <p:sp>
        <p:nvSpPr>
          <p:cNvPr id="5" name="TextBox 4">
            <a:extLst>
              <a:ext uri="{FF2B5EF4-FFF2-40B4-BE49-F238E27FC236}">
                <a16:creationId xmlns:a16="http://schemas.microsoft.com/office/drawing/2014/main" id="{B21CD5E1-3FBD-4A7D-B152-96D157B5C12C}"/>
              </a:ext>
            </a:extLst>
          </p:cNvPr>
          <p:cNvSpPr txBox="1"/>
          <p:nvPr/>
        </p:nvSpPr>
        <p:spPr>
          <a:xfrm>
            <a:off x="2710825" y="2636785"/>
            <a:ext cx="214964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Interviews</a:t>
            </a: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pic>
        <p:nvPicPr>
          <p:cNvPr id="6" name="Picture 5">
            <a:extLst>
              <a:ext uri="{FF2B5EF4-FFF2-40B4-BE49-F238E27FC236}">
                <a16:creationId xmlns:a16="http://schemas.microsoft.com/office/drawing/2014/main" id="{83BF4FFF-9F1F-4025-98CF-49B4BBC71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125" y="954460"/>
            <a:ext cx="1818789" cy="1488767"/>
          </a:xfrm>
          <a:prstGeom prst="rect">
            <a:avLst/>
          </a:prstGeom>
        </p:spPr>
      </p:pic>
      <p:sp>
        <p:nvSpPr>
          <p:cNvPr id="7" name="TextBox 6">
            <a:extLst>
              <a:ext uri="{FF2B5EF4-FFF2-40B4-BE49-F238E27FC236}">
                <a16:creationId xmlns:a16="http://schemas.microsoft.com/office/drawing/2014/main" id="{F0FBB5A2-D544-44A2-AE19-EE40B5745C6B}"/>
              </a:ext>
            </a:extLst>
          </p:cNvPr>
          <p:cNvSpPr txBox="1"/>
          <p:nvPr/>
        </p:nvSpPr>
        <p:spPr>
          <a:xfrm>
            <a:off x="238800" y="2625440"/>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Forms, surveys</a:t>
            </a:r>
          </a:p>
        </p:txBody>
      </p:sp>
      <p:pic>
        <p:nvPicPr>
          <p:cNvPr id="8" name="Picture 7">
            <a:extLst>
              <a:ext uri="{FF2B5EF4-FFF2-40B4-BE49-F238E27FC236}">
                <a16:creationId xmlns:a16="http://schemas.microsoft.com/office/drawing/2014/main" id="{876AEB11-DDF6-4EFD-BCB7-80470E9E6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1199" y="962987"/>
            <a:ext cx="1848124" cy="1466765"/>
          </a:xfrm>
          <a:prstGeom prst="rect">
            <a:avLst/>
          </a:prstGeom>
        </p:spPr>
      </p:pic>
      <p:sp>
        <p:nvSpPr>
          <p:cNvPr id="9" name="TextBox 8">
            <a:extLst>
              <a:ext uri="{FF2B5EF4-FFF2-40B4-BE49-F238E27FC236}">
                <a16:creationId xmlns:a16="http://schemas.microsoft.com/office/drawing/2014/main" id="{796326BF-273E-4D36-847A-463A4466C8A7}"/>
              </a:ext>
            </a:extLst>
          </p:cNvPr>
          <p:cNvSpPr txBox="1"/>
          <p:nvPr/>
        </p:nvSpPr>
        <p:spPr>
          <a:xfrm>
            <a:off x="4729696" y="2585984"/>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Focus groups</a:t>
            </a:r>
          </a:p>
        </p:txBody>
      </p:sp>
      <p:pic>
        <p:nvPicPr>
          <p:cNvPr id="10" name="Picture 9">
            <a:extLst>
              <a:ext uri="{FF2B5EF4-FFF2-40B4-BE49-F238E27FC236}">
                <a16:creationId xmlns:a16="http://schemas.microsoft.com/office/drawing/2014/main" id="{DD4C3731-2DFF-405F-BDAF-EBF3BEE6F4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5190" y="615755"/>
            <a:ext cx="1342090" cy="2016802"/>
          </a:xfrm>
          <a:prstGeom prst="rect">
            <a:avLst/>
          </a:prstGeom>
        </p:spPr>
      </p:pic>
      <p:sp>
        <p:nvSpPr>
          <p:cNvPr id="11" name="TextBox 10">
            <a:extLst>
              <a:ext uri="{FF2B5EF4-FFF2-40B4-BE49-F238E27FC236}">
                <a16:creationId xmlns:a16="http://schemas.microsoft.com/office/drawing/2014/main" id="{D328CCE2-8C3E-42D9-8569-8C6398C7990C}"/>
              </a:ext>
            </a:extLst>
          </p:cNvPr>
          <p:cNvSpPr txBox="1"/>
          <p:nvPr/>
        </p:nvSpPr>
        <p:spPr>
          <a:xfrm>
            <a:off x="6581763" y="2495962"/>
            <a:ext cx="214964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Secondary information</a:t>
            </a:r>
          </a:p>
        </p:txBody>
      </p:sp>
      <p:pic>
        <p:nvPicPr>
          <p:cNvPr id="12" name="Picture 11">
            <a:extLst>
              <a:ext uri="{FF2B5EF4-FFF2-40B4-BE49-F238E27FC236}">
                <a16:creationId xmlns:a16="http://schemas.microsoft.com/office/drawing/2014/main" id="{5273B7DE-A969-4191-8BAC-B7062D7BE6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47853" y="985091"/>
            <a:ext cx="1958131" cy="1378759"/>
          </a:xfrm>
          <a:prstGeom prst="rect">
            <a:avLst/>
          </a:prstGeom>
        </p:spPr>
      </p:pic>
      <p:pic>
        <p:nvPicPr>
          <p:cNvPr id="13" name="Picture 12">
            <a:extLst>
              <a:ext uri="{FF2B5EF4-FFF2-40B4-BE49-F238E27FC236}">
                <a16:creationId xmlns:a16="http://schemas.microsoft.com/office/drawing/2014/main" id="{F95A2DAE-C835-48B8-B18B-AA4C0A717C5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0954" y="4290093"/>
            <a:ext cx="1245843" cy="1010684"/>
          </a:xfrm>
          <a:prstGeom prst="rect">
            <a:avLst/>
          </a:prstGeom>
        </p:spPr>
      </p:pic>
      <p:pic>
        <p:nvPicPr>
          <p:cNvPr id="14" name="Picture 13">
            <a:extLst>
              <a:ext uri="{FF2B5EF4-FFF2-40B4-BE49-F238E27FC236}">
                <a16:creationId xmlns:a16="http://schemas.microsoft.com/office/drawing/2014/main" id="{898E5D52-EF2B-43DA-95DC-4CAFF5B1354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92480" y="4234871"/>
            <a:ext cx="1929641" cy="1084213"/>
          </a:xfrm>
          <a:prstGeom prst="rect">
            <a:avLst/>
          </a:prstGeom>
        </p:spPr>
      </p:pic>
      <p:sp>
        <p:nvSpPr>
          <p:cNvPr id="15" name="TextBox 14">
            <a:extLst>
              <a:ext uri="{FF2B5EF4-FFF2-40B4-BE49-F238E27FC236}">
                <a16:creationId xmlns:a16="http://schemas.microsoft.com/office/drawing/2014/main" id="{BAEF3430-A058-463A-AB96-7C07E7123073}"/>
              </a:ext>
            </a:extLst>
          </p:cNvPr>
          <p:cNvSpPr txBox="1"/>
          <p:nvPr/>
        </p:nvSpPr>
        <p:spPr>
          <a:xfrm>
            <a:off x="-20946" y="5300777"/>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Diaries</a:t>
            </a:r>
          </a:p>
        </p:txBody>
      </p:sp>
      <p:sp>
        <p:nvSpPr>
          <p:cNvPr id="16" name="TextBox 15">
            <a:extLst>
              <a:ext uri="{FF2B5EF4-FFF2-40B4-BE49-F238E27FC236}">
                <a16:creationId xmlns:a16="http://schemas.microsoft.com/office/drawing/2014/main" id="{26AE9E38-CC14-4787-85D6-70B8F6AF59FF}"/>
              </a:ext>
            </a:extLst>
          </p:cNvPr>
          <p:cNvSpPr txBox="1"/>
          <p:nvPr/>
        </p:nvSpPr>
        <p:spPr>
          <a:xfrm>
            <a:off x="2282479" y="5343666"/>
            <a:ext cx="214964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Beneficiary photography</a:t>
            </a:r>
          </a:p>
        </p:txBody>
      </p:sp>
      <p:pic>
        <p:nvPicPr>
          <p:cNvPr id="1026" name="Picture 2" descr="Image result for social media">
            <a:extLst>
              <a:ext uri="{FF2B5EF4-FFF2-40B4-BE49-F238E27FC236}">
                <a16:creationId xmlns:a16="http://schemas.microsoft.com/office/drawing/2014/main" id="{D7240A7D-5E3C-4157-8D0F-0E7CF311C4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72879" y="4216090"/>
            <a:ext cx="2188267" cy="1234407"/>
          </a:xfrm>
          <a:prstGeom prst="roundRect">
            <a:avLst>
              <a:gd name="adj" fmla="val 8594"/>
            </a:avLst>
          </a:prstGeom>
          <a:solidFill>
            <a:srgbClr val="FFFFFF">
              <a:shade val="85000"/>
            </a:srgbClr>
          </a:solidFill>
          <a:ln>
            <a:noFill/>
          </a:ln>
          <a:effectLst/>
        </p:spPr>
      </p:pic>
      <p:sp>
        <p:nvSpPr>
          <p:cNvPr id="17" name="TextBox 16">
            <a:extLst>
              <a:ext uri="{FF2B5EF4-FFF2-40B4-BE49-F238E27FC236}">
                <a16:creationId xmlns:a16="http://schemas.microsoft.com/office/drawing/2014/main" id="{16714D70-269C-4154-B840-E254C25CF9DB}"/>
              </a:ext>
            </a:extLst>
          </p:cNvPr>
          <p:cNvSpPr txBox="1"/>
          <p:nvPr/>
        </p:nvSpPr>
        <p:spPr>
          <a:xfrm>
            <a:off x="4432121" y="5423827"/>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Social media</a:t>
            </a:r>
          </a:p>
        </p:txBody>
      </p:sp>
      <p:pic>
        <p:nvPicPr>
          <p:cNvPr id="1028" name="Picture 4" descr="https://media-public-2.canva.com/MAAgcPqvICk/1/screen.jpg">
            <a:extLst>
              <a:ext uri="{FF2B5EF4-FFF2-40B4-BE49-F238E27FC236}">
                <a16:creationId xmlns:a16="http://schemas.microsoft.com/office/drawing/2014/main" id="{049C8498-5531-4AE4-A99E-A77F419B84C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36088" y="3885779"/>
            <a:ext cx="1391192" cy="206883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8FD7AA17-80D4-42E6-B47A-A99E87FC8CC8}"/>
              </a:ext>
            </a:extLst>
          </p:cNvPr>
          <p:cNvSpPr txBox="1"/>
          <p:nvPr/>
        </p:nvSpPr>
        <p:spPr>
          <a:xfrm>
            <a:off x="6275250" y="5965653"/>
            <a:ext cx="2712867"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Art and creative approaches</a:t>
            </a:r>
          </a:p>
        </p:txBody>
      </p:sp>
      <p:sp>
        <p:nvSpPr>
          <p:cNvPr id="3" name="Right Brace 2">
            <a:extLst>
              <a:ext uri="{FF2B5EF4-FFF2-40B4-BE49-F238E27FC236}">
                <a16:creationId xmlns:a16="http://schemas.microsoft.com/office/drawing/2014/main" id="{8C0DC9DB-A41C-4AD0-B55F-1E8CF170DE2E}"/>
              </a:ext>
            </a:extLst>
          </p:cNvPr>
          <p:cNvSpPr/>
          <p:nvPr/>
        </p:nvSpPr>
        <p:spPr>
          <a:xfrm>
            <a:off x="8651927" y="774474"/>
            <a:ext cx="382859" cy="5900646"/>
          </a:xfrm>
          <a:prstGeom prst="rightBrace">
            <a:avLst/>
          </a:prstGeom>
          <a:ln w="25400">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cxnSp>
        <p:nvCxnSpPr>
          <p:cNvPr id="19" name="Straight Connector 18">
            <a:extLst>
              <a:ext uri="{FF2B5EF4-FFF2-40B4-BE49-F238E27FC236}">
                <a16:creationId xmlns:a16="http://schemas.microsoft.com/office/drawing/2014/main" id="{4B6CD34C-3DF3-48B7-862A-FA27A99F805C}"/>
              </a:ext>
            </a:extLst>
          </p:cNvPr>
          <p:cNvCxnSpPr/>
          <p:nvPr/>
        </p:nvCxnSpPr>
        <p:spPr>
          <a:xfrm>
            <a:off x="9377686" y="3724797"/>
            <a:ext cx="2606040" cy="0"/>
          </a:xfrm>
          <a:prstGeom prst="line">
            <a:avLst/>
          </a:prstGeom>
          <a:ln w="2222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9802835-3FD4-4E77-9298-3A0AB32849A2}"/>
              </a:ext>
            </a:extLst>
          </p:cNvPr>
          <p:cNvSpPr/>
          <p:nvPr/>
        </p:nvSpPr>
        <p:spPr>
          <a:xfrm>
            <a:off x="9305791" y="1248153"/>
            <a:ext cx="2606040" cy="223139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Pre-existing tools, data and methodologies (e.g. Lean Data Acumen, Most Significant Change, Wellbeing Index)</a:t>
            </a:r>
          </a:p>
        </p:txBody>
      </p:sp>
      <p:sp>
        <p:nvSpPr>
          <p:cNvPr id="23" name="Rectangle: Rounded Corners 22">
            <a:extLst>
              <a:ext uri="{FF2B5EF4-FFF2-40B4-BE49-F238E27FC236}">
                <a16:creationId xmlns:a16="http://schemas.microsoft.com/office/drawing/2014/main" id="{94CBC552-CD05-40A2-A6C6-B685B53AA37D}"/>
              </a:ext>
            </a:extLst>
          </p:cNvPr>
          <p:cNvSpPr/>
          <p:nvPr/>
        </p:nvSpPr>
        <p:spPr>
          <a:xfrm>
            <a:off x="9377686" y="3804497"/>
            <a:ext cx="2606040" cy="223139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Bespoke self-developed tools and methodologies</a:t>
            </a:r>
          </a:p>
        </p:txBody>
      </p:sp>
    </p:spTree>
    <p:extLst>
      <p:ext uri="{BB962C8B-B14F-4D97-AF65-F5344CB8AC3E}">
        <p14:creationId xmlns:p14="http://schemas.microsoft.com/office/powerpoint/2010/main" val="109524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5" grpId="0"/>
      <p:bldP spid="16" grpId="0"/>
      <p:bldP spid="17" grpId="0"/>
      <p:bldP spid="18" grpId="0"/>
      <p:bldP spid="20" grpId="0" animBg="1"/>
      <p:bldP spid="2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A6E9-BE11-4351-BD13-AAD090759DF9}"/>
              </a:ext>
            </a:extLst>
          </p:cNvPr>
          <p:cNvSpPr>
            <a:spLocks noGrp="1"/>
          </p:cNvSpPr>
          <p:nvPr>
            <p:ph type="title"/>
          </p:nvPr>
        </p:nvSpPr>
        <p:spPr>
          <a:xfrm>
            <a:off x="0" y="0"/>
            <a:ext cx="10515600" cy="638091"/>
          </a:xfrm>
        </p:spPr>
        <p:txBody>
          <a:bodyPr>
            <a:normAutofit fontScale="90000"/>
          </a:bodyPr>
          <a:lstStyle/>
          <a:p>
            <a:r>
              <a:rPr lang="en-GB" dirty="0"/>
              <a:t>Data Collection &amp; Analysis- It’s all about planning  </a:t>
            </a:r>
          </a:p>
        </p:txBody>
      </p:sp>
      <p:sp>
        <p:nvSpPr>
          <p:cNvPr id="3" name="Content Placeholder 2">
            <a:extLst>
              <a:ext uri="{FF2B5EF4-FFF2-40B4-BE49-F238E27FC236}">
                <a16:creationId xmlns:a16="http://schemas.microsoft.com/office/drawing/2014/main" id="{C4309F23-BC74-46E9-B3E7-D7A235CB836E}"/>
              </a:ext>
            </a:extLst>
          </p:cNvPr>
          <p:cNvSpPr>
            <a:spLocks noGrp="1"/>
          </p:cNvSpPr>
          <p:nvPr>
            <p:ph sz="quarter" idx="10"/>
          </p:nvPr>
        </p:nvSpPr>
        <p:spPr>
          <a:xfrm>
            <a:off x="451602" y="841741"/>
            <a:ext cx="10515600" cy="1020513"/>
          </a:xfrm>
        </p:spPr>
        <p:txBody>
          <a:bodyPr>
            <a:normAutofit/>
          </a:bodyPr>
          <a:lstStyle/>
          <a:p>
            <a:r>
              <a:rPr lang="en-GB" dirty="0"/>
              <a:t>Be proportional. </a:t>
            </a:r>
          </a:p>
          <a:p>
            <a:r>
              <a:rPr lang="en-GB" dirty="0"/>
              <a:t>Have a reason for data collection and have an ‘end goal’.</a:t>
            </a:r>
          </a:p>
          <a:p>
            <a:pPr marL="0" indent="0">
              <a:buNone/>
            </a:pPr>
            <a:endParaRPr lang="en-GB" dirty="0"/>
          </a:p>
        </p:txBody>
      </p:sp>
      <p:sp>
        <p:nvSpPr>
          <p:cNvPr id="6" name="Rectangle: Rounded Corners 5">
            <a:extLst>
              <a:ext uri="{FF2B5EF4-FFF2-40B4-BE49-F238E27FC236}">
                <a16:creationId xmlns:a16="http://schemas.microsoft.com/office/drawing/2014/main" id="{980D6EE2-F645-4AEB-A90D-4D2FF716A42F}"/>
              </a:ext>
            </a:extLst>
          </p:cNvPr>
          <p:cNvSpPr/>
          <p:nvPr/>
        </p:nvSpPr>
        <p:spPr>
          <a:xfrm>
            <a:off x="390778" y="4681176"/>
            <a:ext cx="5907152" cy="16202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The </a:t>
            </a:r>
            <a:r>
              <a:rPr kumimoji="0" lang="en-GB" sz="1800" b="0" i="0" u="none" strike="noStrike" kern="1200" cap="none" spc="0" normalizeH="0" baseline="0" noProof="0" dirty="0" err="1">
                <a:ln>
                  <a:noFill/>
                </a:ln>
                <a:solidFill>
                  <a:prstClr val="white"/>
                </a:solidFill>
                <a:effectLst/>
                <a:uLnTx/>
                <a:uFillTx/>
                <a:latin typeface="Gotham Book"/>
                <a:ea typeface="+mn-ea"/>
                <a:cs typeface="+mn-cs"/>
              </a:rPr>
              <a:t>UnLtd</a:t>
            </a:r>
            <a:r>
              <a:rPr kumimoji="0" lang="en-GB" sz="1800" b="0" i="0" u="none" strike="noStrike" kern="1200" cap="none" spc="0" normalizeH="0" baseline="0" noProof="0" dirty="0">
                <a:ln>
                  <a:noFill/>
                </a:ln>
                <a:solidFill>
                  <a:prstClr val="white"/>
                </a:solidFill>
                <a:effectLst/>
                <a:uLnTx/>
                <a:uFillTx/>
                <a:latin typeface="Gotham Book"/>
                <a:ea typeface="+mn-ea"/>
                <a:cs typeface="+mn-cs"/>
              </a:rPr>
              <a:t> Data Collection Planning Tool gives a step by step exercise of how to plan your data collection activities and to think about your analysis. </a:t>
            </a:r>
          </a:p>
        </p:txBody>
      </p:sp>
      <p:pic>
        <p:nvPicPr>
          <p:cNvPr id="10" name="Picture 9">
            <a:extLst>
              <a:ext uri="{FF2B5EF4-FFF2-40B4-BE49-F238E27FC236}">
                <a16:creationId xmlns:a16="http://schemas.microsoft.com/office/drawing/2014/main" id="{6569EAD6-93A8-4F39-80A0-CDDF7CA39591}"/>
              </a:ext>
            </a:extLst>
          </p:cNvPr>
          <p:cNvPicPr>
            <a:picLocks noChangeAspect="1"/>
          </p:cNvPicPr>
          <p:nvPr/>
        </p:nvPicPr>
        <p:blipFill>
          <a:blip r:embed="rId3"/>
          <a:stretch>
            <a:fillRect/>
          </a:stretch>
        </p:blipFill>
        <p:spPr>
          <a:xfrm>
            <a:off x="382435" y="2011129"/>
            <a:ext cx="11427129" cy="2521172"/>
          </a:xfrm>
          <a:prstGeom prst="rect">
            <a:avLst/>
          </a:prstGeom>
        </p:spPr>
      </p:pic>
    </p:spTree>
    <p:extLst>
      <p:ext uri="{BB962C8B-B14F-4D97-AF65-F5344CB8AC3E}">
        <p14:creationId xmlns:p14="http://schemas.microsoft.com/office/powerpoint/2010/main" val="29414293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0551520-768D-4971-B2E3-A4E20639C8CD}"/>
              </a:ext>
            </a:extLst>
          </p:cNvPr>
          <p:cNvSpPr>
            <a:spLocks noGrp="1"/>
          </p:cNvSpPr>
          <p:nvPr>
            <p:ph type="title"/>
          </p:nvPr>
        </p:nvSpPr>
        <p:spPr>
          <a:xfrm>
            <a:off x="294852" y="242075"/>
            <a:ext cx="11602296" cy="807682"/>
          </a:xfrm>
        </p:spPr>
        <p:txBody>
          <a:bodyPr>
            <a:normAutofit/>
          </a:bodyPr>
          <a:lstStyle/>
          <a:p>
            <a:r>
              <a:rPr lang="en-GB" dirty="0"/>
              <a:t>Exercise: KPI setting for your Theory of Change</a:t>
            </a:r>
            <a:endParaRPr lang="en-GB" dirty="0">
              <a:highlight>
                <a:srgbClr val="FFFF00"/>
              </a:highlight>
            </a:endParaRPr>
          </a:p>
        </p:txBody>
      </p:sp>
      <p:sp>
        <p:nvSpPr>
          <p:cNvPr id="4" name="Rectangle: Rounded Corners 3">
            <a:extLst>
              <a:ext uri="{FF2B5EF4-FFF2-40B4-BE49-F238E27FC236}">
                <a16:creationId xmlns:a16="http://schemas.microsoft.com/office/drawing/2014/main" id="{1D2BFE79-B85C-437F-BDFE-FD2802EC4D30}"/>
              </a:ext>
            </a:extLst>
          </p:cNvPr>
          <p:cNvSpPr/>
          <p:nvPr/>
        </p:nvSpPr>
        <p:spPr>
          <a:xfrm>
            <a:off x="609600" y="1716507"/>
            <a:ext cx="10972800" cy="678933"/>
          </a:xfrm>
          <a:prstGeom prst="roundRect">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Impact Framework development </a:t>
            </a:r>
          </a:p>
        </p:txBody>
      </p:sp>
      <p:sp>
        <p:nvSpPr>
          <p:cNvPr id="13" name="Content Placeholder 12">
            <a:extLst>
              <a:ext uri="{FF2B5EF4-FFF2-40B4-BE49-F238E27FC236}">
                <a16:creationId xmlns:a16="http://schemas.microsoft.com/office/drawing/2014/main" id="{CA6BA755-9CD6-42C1-A46A-339BD1296577}"/>
              </a:ext>
            </a:extLst>
          </p:cNvPr>
          <p:cNvSpPr>
            <a:spLocks noGrp="1"/>
          </p:cNvSpPr>
          <p:nvPr>
            <p:ph sz="quarter" idx="10"/>
          </p:nvPr>
        </p:nvSpPr>
        <p:spPr>
          <a:xfrm>
            <a:off x="609600" y="1129967"/>
            <a:ext cx="10972800" cy="506328"/>
          </a:xfrm>
          <a:prstGeom prst="roundRect">
            <a:avLst/>
          </a:prstGeom>
          <a:solidFill>
            <a:schemeClr val="bg1"/>
          </a:solidFill>
        </p:spPr>
        <p:txBody>
          <a:bodyPr>
            <a:normAutofit lnSpcReduction="10000"/>
          </a:bodyPr>
          <a:lstStyle/>
          <a:p>
            <a:r>
              <a:rPr lang="en-GB" dirty="0">
                <a:solidFill>
                  <a:schemeClr val="tx1">
                    <a:lumMod val="75000"/>
                  </a:schemeClr>
                </a:solidFill>
              </a:rPr>
              <a:t>Time: 15 minutes</a:t>
            </a:r>
          </a:p>
        </p:txBody>
      </p:sp>
      <p:sp>
        <p:nvSpPr>
          <p:cNvPr id="7" name="Rectangle: Rounded Corners 6">
            <a:extLst>
              <a:ext uri="{FF2B5EF4-FFF2-40B4-BE49-F238E27FC236}">
                <a16:creationId xmlns:a16="http://schemas.microsoft.com/office/drawing/2014/main" id="{E43F7640-837E-44B1-8724-C19B214CF8A7}"/>
              </a:ext>
            </a:extLst>
          </p:cNvPr>
          <p:cNvSpPr/>
          <p:nvPr/>
        </p:nvSpPr>
        <p:spPr>
          <a:xfrm>
            <a:off x="609600" y="2475651"/>
            <a:ext cx="10972800" cy="3547777"/>
          </a:xfrm>
          <a:prstGeom prst="roundRect">
            <a:avLst/>
          </a:prstGeom>
          <a:solidFill>
            <a:schemeClr val="bg1">
              <a:lumMod val="95000"/>
            </a:schemeClr>
          </a:solidFill>
          <a:ln w="28575">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Get into pairs. </a:t>
            </a:r>
            <a:b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b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Using your Theory of Change and thinking about the assumption you want to test. Decide 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 </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1 KPIs for your outputs</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1 KPIs for your outcomes</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1 KPI for your overall impact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srgbClr val="636363">
                    <a:lumMod val="75000"/>
                  </a:srgbClr>
                </a:solidFill>
                <a:effectLst/>
                <a:uLnTx/>
                <a:uFillTx/>
                <a:latin typeface="Gotham Book"/>
                <a:ea typeface="+mn-ea"/>
                <a:cs typeface="+mn-cs"/>
              </a:rPr>
              <a:t>Will your KPIs tell you if you have solved the problem for your customers/beneficiaries as you defined it?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endParaRPr>
          </a:p>
        </p:txBody>
      </p:sp>
    </p:spTree>
    <p:extLst>
      <p:ext uri="{BB962C8B-B14F-4D97-AF65-F5344CB8AC3E}">
        <p14:creationId xmlns:p14="http://schemas.microsoft.com/office/powerpoint/2010/main" val="19030590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10DC-E87A-434B-8FCC-FAF2D8AA4F99}"/>
              </a:ext>
            </a:extLst>
          </p:cNvPr>
          <p:cNvSpPr>
            <a:spLocks noGrp="1"/>
          </p:cNvSpPr>
          <p:nvPr>
            <p:ph type="title"/>
          </p:nvPr>
        </p:nvSpPr>
        <p:spPr>
          <a:xfrm>
            <a:off x="0" y="0"/>
            <a:ext cx="10515600" cy="1325563"/>
          </a:xfrm>
        </p:spPr>
        <p:txBody>
          <a:bodyPr/>
          <a:lstStyle/>
          <a:p>
            <a:r>
              <a:rPr lang="en-GB" dirty="0"/>
              <a:t>Recommended follow up </a:t>
            </a:r>
          </a:p>
        </p:txBody>
      </p:sp>
      <p:sp>
        <p:nvSpPr>
          <p:cNvPr id="3" name="Content Placeholder 2">
            <a:extLst>
              <a:ext uri="{FF2B5EF4-FFF2-40B4-BE49-F238E27FC236}">
                <a16:creationId xmlns:a16="http://schemas.microsoft.com/office/drawing/2014/main" id="{1174297E-25B7-4441-9A04-3E8D0A0F5032}"/>
              </a:ext>
            </a:extLst>
          </p:cNvPr>
          <p:cNvSpPr>
            <a:spLocks noGrp="1"/>
          </p:cNvSpPr>
          <p:nvPr>
            <p:ph sz="quarter" idx="10"/>
          </p:nvPr>
        </p:nvSpPr>
        <p:spPr>
          <a:xfrm>
            <a:off x="338864" y="1422381"/>
            <a:ext cx="10515600" cy="4707114"/>
          </a:xfrm>
        </p:spPr>
        <p:txBody>
          <a:bodyPr>
            <a:normAutofit/>
          </a:bodyPr>
          <a:lstStyle/>
          <a:p>
            <a:r>
              <a:rPr lang="en-GB" dirty="0"/>
              <a:t>Based on your work book, work with your VM to refine and build up your Theory of Change. </a:t>
            </a:r>
          </a:p>
          <a:p>
            <a:pPr marL="0" indent="0">
              <a:buNone/>
            </a:pPr>
            <a:endParaRPr lang="en-GB" dirty="0"/>
          </a:p>
          <a:p>
            <a:r>
              <a:rPr lang="en-GB" dirty="0"/>
              <a:t>Put in place the KPIs you’d like to collect.</a:t>
            </a:r>
          </a:p>
          <a:p>
            <a:pPr marL="0" indent="0">
              <a:buNone/>
            </a:pPr>
            <a:endParaRPr lang="en-GB" dirty="0"/>
          </a:p>
          <a:p>
            <a:r>
              <a:rPr lang="en-GB" dirty="0"/>
              <a:t>Identify whether you will use any external data to validate results. </a:t>
            </a:r>
          </a:p>
          <a:p>
            <a:pPr marL="0" indent="0">
              <a:buNone/>
            </a:pPr>
            <a:endParaRPr lang="en-GB" dirty="0"/>
          </a:p>
          <a:p>
            <a:r>
              <a:rPr lang="en-GB" b="1" dirty="0"/>
              <a:t>Target: </a:t>
            </a:r>
            <a:r>
              <a:rPr lang="en-GB" dirty="0"/>
              <a:t>Share a soft copy of this with your Venture Manger by end </a:t>
            </a:r>
            <a:r>
              <a:rPr lang="en-GB"/>
              <a:t>of August. </a:t>
            </a:r>
            <a:endParaRPr lang="en-GB" dirty="0"/>
          </a:p>
        </p:txBody>
      </p:sp>
    </p:spTree>
    <p:extLst>
      <p:ext uri="{BB962C8B-B14F-4D97-AF65-F5344CB8AC3E}">
        <p14:creationId xmlns:p14="http://schemas.microsoft.com/office/powerpoint/2010/main" val="32914716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99A8CFB-E75A-47D6-B537-88CBECE3102D}"/>
              </a:ext>
            </a:extLst>
          </p:cNvPr>
          <p:cNvSpPr>
            <a:spLocks noGrp="1"/>
          </p:cNvSpPr>
          <p:nvPr>
            <p:ph type="body" sz="quarter" idx="10"/>
          </p:nvPr>
        </p:nvSpPr>
        <p:spPr>
          <a:xfrm>
            <a:off x="1911350" y="1683390"/>
            <a:ext cx="8369300" cy="2871787"/>
          </a:xfrm>
        </p:spPr>
        <p:txBody>
          <a:bodyPr>
            <a:noAutofit/>
          </a:bodyPr>
          <a:lstStyle/>
          <a:p>
            <a:pPr algn="ctr"/>
            <a:r>
              <a:rPr lang="en-GB" sz="2200" dirty="0"/>
              <a:t>Thank you. </a:t>
            </a:r>
          </a:p>
          <a:p>
            <a:pPr algn="ctr"/>
            <a:endParaRPr lang="en-GB" sz="2200" dirty="0"/>
          </a:p>
          <a:p>
            <a:pPr algn="ctr"/>
            <a:r>
              <a:rPr lang="en-GB" sz="2200" dirty="0"/>
              <a:t>For any questions contact </a:t>
            </a:r>
            <a:r>
              <a:rPr lang="en-GB" sz="2200" dirty="0">
                <a:hlinkClick r:id="rId3"/>
              </a:rPr>
              <a:t>joshmeek@unltd.org.uk</a:t>
            </a:r>
            <a:r>
              <a:rPr lang="en-GB" sz="2200" dirty="0"/>
              <a:t> and </a:t>
            </a:r>
            <a:r>
              <a:rPr lang="en-GB" sz="2200" dirty="0">
                <a:hlinkClick r:id="rId4"/>
              </a:rPr>
              <a:t>jamidixon@unltd.org.uk</a:t>
            </a:r>
            <a:r>
              <a:rPr lang="en-GB" sz="2200" dirty="0"/>
              <a:t> </a:t>
            </a:r>
          </a:p>
        </p:txBody>
      </p:sp>
    </p:spTree>
    <p:extLst>
      <p:ext uri="{BB962C8B-B14F-4D97-AF65-F5344CB8AC3E}">
        <p14:creationId xmlns:p14="http://schemas.microsoft.com/office/powerpoint/2010/main" val="2086425199"/>
      </p:ext>
    </p:extLst>
  </p:cSld>
  <p:clrMapOvr>
    <a:masterClrMapping/>
  </p:clrMapOvr>
</p:sld>
</file>

<file path=ppt/theme/theme1.xml><?xml version="1.0" encoding="utf-8"?>
<a:theme xmlns:a="http://schemas.openxmlformats.org/drawingml/2006/main" name="UnLtd">
  <a:themeElements>
    <a:clrScheme name="UnLtd colours">
      <a:dk1>
        <a:srgbClr val="636363"/>
      </a:dk1>
      <a:lt1>
        <a:sysClr val="window" lastClr="FFFFFF"/>
      </a:lt1>
      <a:dk2>
        <a:srgbClr val="606A79"/>
      </a:dk2>
      <a:lt2>
        <a:srgbClr val="E7E6E6"/>
      </a:lt2>
      <a:accent1>
        <a:srgbClr val="EC6608"/>
      </a:accent1>
      <a:accent2>
        <a:srgbClr val="491A66"/>
      </a:accent2>
      <a:accent3>
        <a:srgbClr val="00A1A4"/>
      </a:accent3>
      <a:accent4>
        <a:srgbClr val="0084A5"/>
      </a:accent4>
      <a:accent5>
        <a:srgbClr val="4472C4"/>
      </a:accent5>
      <a:accent6>
        <a:srgbClr val="829AA4"/>
      </a:accent6>
      <a:hlink>
        <a:srgbClr val="EC6608"/>
      </a:hlink>
      <a:folHlink>
        <a:srgbClr val="491A66"/>
      </a:folHlink>
    </a:clrScheme>
    <a:fontScheme name="UnLtd fonts">
      <a:majorFont>
        <a:latin typeface="Gotham Bold"/>
        <a:ea typeface=""/>
        <a:cs typeface=""/>
      </a:majorFont>
      <a:minorFont>
        <a:latin typeface="Gotham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Ltd temp.pptx" id="{301E8BD0-0D07-426A-81D2-03F3BCC8BD7F}" vid="{17E8085A-E865-47A8-94B5-31FAA855A605}"/>
    </a:ext>
  </a:extLst>
</a:theme>
</file>

<file path=ppt/theme/theme2.xml><?xml version="1.0" encoding="utf-8"?>
<a:theme xmlns:a="http://schemas.openxmlformats.org/drawingml/2006/main" name="1_UnLtd">
  <a:themeElements>
    <a:clrScheme name="UnLtd colours">
      <a:dk1>
        <a:srgbClr val="636363"/>
      </a:dk1>
      <a:lt1>
        <a:sysClr val="window" lastClr="FFFFFF"/>
      </a:lt1>
      <a:dk2>
        <a:srgbClr val="606A79"/>
      </a:dk2>
      <a:lt2>
        <a:srgbClr val="E7E6E6"/>
      </a:lt2>
      <a:accent1>
        <a:srgbClr val="EC6608"/>
      </a:accent1>
      <a:accent2>
        <a:srgbClr val="491A66"/>
      </a:accent2>
      <a:accent3>
        <a:srgbClr val="00A1A4"/>
      </a:accent3>
      <a:accent4>
        <a:srgbClr val="0084A5"/>
      </a:accent4>
      <a:accent5>
        <a:srgbClr val="4472C4"/>
      </a:accent5>
      <a:accent6>
        <a:srgbClr val="829AA4"/>
      </a:accent6>
      <a:hlink>
        <a:srgbClr val="EC6608"/>
      </a:hlink>
      <a:folHlink>
        <a:srgbClr val="491A66"/>
      </a:folHlink>
    </a:clrScheme>
    <a:fontScheme name="UnLtd fonts">
      <a:majorFont>
        <a:latin typeface="Gotham Bold"/>
        <a:ea typeface=""/>
        <a:cs typeface=""/>
      </a:majorFont>
      <a:minorFont>
        <a:latin typeface="Gotham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Ltd temp.pptx" id="{301E8BD0-0D07-426A-81D2-03F3BCC8BD7F}" vid="{17E8085A-E865-47A8-94B5-31FAA855A60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EFC839748A7184CBA2ACA72755B4713" ma:contentTypeVersion="8" ma:contentTypeDescription="Create a new document." ma:contentTypeScope="" ma:versionID="3f135f3c8c7cf0bec270d293f1bb50a9">
  <xsd:schema xmlns:xsd="http://www.w3.org/2001/XMLSchema" xmlns:xs="http://www.w3.org/2001/XMLSchema" xmlns:p="http://schemas.microsoft.com/office/2006/metadata/properties" xmlns:ns2="4328425d-6754-49ea-b816-1ebde083baab" targetNamespace="http://schemas.microsoft.com/office/2006/metadata/properties" ma:root="true" ma:fieldsID="8f8c8c71ce339bed8205f138ce5cb7f3" ns2:_="">
    <xsd:import namespace="4328425d-6754-49ea-b816-1ebde083baa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28425d-6754-49ea-b816-1ebde083ba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957462-C405-465A-80B1-A62A0C5A87AA}">
  <ds:schemaRefs>
    <ds:schemaRef ds:uri="http://schemas.microsoft.com/sharepoint/v3/contenttype/forms"/>
  </ds:schemaRefs>
</ds:datastoreItem>
</file>

<file path=customXml/itemProps2.xml><?xml version="1.0" encoding="utf-8"?>
<ds:datastoreItem xmlns:ds="http://schemas.openxmlformats.org/officeDocument/2006/customXml" ds:itemID="{E59C8A0D-A3FB-4B2D-863A-D930C3C2D845}">
  <ds:schemaRefs>
    <ds:schemaRef ds:uri="http://purl.org/dc/elements/1.1/"/>
    <ds:schemaRef ds:uri="http://schemas.microsoft.com/office/2006/metadata/properties"/>
    <ds:schemaRef ds:uri="http://purl.org/dc/terms/"/>
    <ds:schemaRef ds:uri="http://schemas.microsoft.com/office/2006/documentManagement/types"/>
    <ds:schemaRef ds:uri="http://purl.org/dc/dcmitype/"/>
    <ds:schemaRef ds:uri="http://schemas.microsoft.com/office/infopath/2007/PartnerControls"/>
    <ds:schemaRef ds:uri="4328425d-6754-49ea-b816-1ebde083baab"/>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6CDCE04-5DF6-4DA9-9B2A-576918EBB9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28425d-6754-49ea-b816-1ebde083ba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UnLtd temp</Template>
  <TotalTime>42513</TotalTime>
  <Words>4399</Words>
  <Application>Microsoft Office PowerPoint</Application>
  <PresentationFormat>Widescreen</PresentationFormat>
  <Paragraphs>574</Paragraphs>
  <Slides>42</Slides>
  <Notes>32</Notes>
  <HiddenSlides>0</HiddenSlides>
  <MMClips>1</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42</vt:i4>
      </vt:variant>
    </vt:vector>
  </HeadingPairs>
  <TitlesOfParts>
    <vt:vector size="51" baseType="lpstr">
      <vt:lpstr>Arial</vt:lpstr>
      <vt:lpstr>Calibri</vt:lpstr>
      <vt:lpstr>Georgia</vt:lpstr>
      <vt:lpstr>Gotham Black</vt:lpstr>
      <vt:lpstr>Gotham Bold</vt:lpstr>
      <vt:lpstr>Gotham Book</vt:lpstr>
      <vt:lpstr>Trebuchet MS</vt:lpstr>
      <vt:lpstr>UnLtd</vt:lpstr>
      <vt:lpstr>1_UnLtd</vt:lpstr>
      <vt:lpstr>PowerPoint Presentation</vt:lpstr>
      <vt:lpstr>Aim for this session </vt:lpstr>
      <vt:lpstr>PowerPoint Presentation</vt:lpstr>
      <vt:lpstr>PowerPoint Presentation</vt:lpstr>
      <vt:lpstr>PowerPoint Presentation</vt:lpstr>
      <vt:lpstr>PowerPoint Presentation</vt:lpstr>
      <vt:lpstr>PowerPoint Presentation</vt:lpstr>
      <vt:lpstr>Mapping key stakeholders </vt:lpstr>
      <vt:lpstr>Exercise: Stakeholder prioritisation </vt:lpstr>
      <vt:lpstr>PowerPoint Presentation</vt:lpstr>
      <vt:lpstr>Defining the problem</vt:lpstr>
      <vt:lpstr>Social Value Proposition</vt:lpstr>
      <vt:lpstr>Social Value Proposition</vt:lpstr>
      <vt:lpstr>Exercise: Develop your problem statement &amp; Value Proposition</vt:lpstr>
      <vt:lpstr>Impact Framework</vt:lpstr>
      <vt:lpstr>Theory of Change explained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Community Souls </vt:lpstr>
      <vt:lpstr>PowerPoint Presentation</vt:lpstr>
      <vt:lpstr>Review alignment: Do all 3 work together? </vt:lpstr>
      <vt:lpstr>PowerPoint Presentation</vt:lpstr>
      <vt:lpstr>PowerPoint Presentation</vt:lpstr>
      <vt:lpstr>3 key concepts to keep in mind </vt:lpstr>
      <vt:lpstr>PowerPoint Presentation</vt:lpstr>
      <vt:lpstr>PowerPoint Presentation</vt:lpstr>
      <vt:lpstr>3 key concepts to keep in mind </vt:lpstr>
      <vt:lpstr>PowerPoint Presentation</vt:lpstr>
      <vt:lpstr>Key data sources and indexes </vt:lpstr>
      <vt:lpstr>Key data sources and indexes </vt:lpstr>
      <vt:lpstr>Types of KPIs</vt:lpstr>
      <vt:lpstr>Choosing Approaches and Tools</vt:lpstr>
      <vt:lpstr>Data Collection &amp; Analysis- It’s all about planning  </vt:lpstr>
      <vt:lpstr>Exercise: KPI setting for your Theory of Change</vt:lpstr>
      <vt:lpstr>Recommended follow up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Flynn Butterworth</dc:creator>
  <cp:lastModifiedBy>Laura Marney</cp:lastModifiedBy>
  <cp:revision>403</cp:revision>
  <cp:lastPrinted>2019-02-13T11:37:07Z</cp:lastPrinted>
  <dcterms:created xsi:type="dcterms:W3CDTF">2018-05-10T13:11:05Z</dcterms:created>
  <dcterms:modified xsi:type="dcterms:W3CDTF">2020-05-15T08:33:30Z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0x0101009EFC839748A7184CBA2ACA72755B4713</vt:lpwstr>
  </property>
</Properties>
</file>
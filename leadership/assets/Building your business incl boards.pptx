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2"/>
  </p:notesMasterIdLst>
  <p:sldIdLst>
    <p:sldId id="256" r:id="rId5"/>
    <p:sldId id="257" r:id="rId6"/>
    <p:sldId id="262" r:id="rId7"/>
    <p:sldId id="259" r:id="rId8"/>
    <p:sldId id="260" r:id="rId9"/>
    <p:sldId id="267" r:id="rId10"/>
    <p:sldId id="261" r:id="rId11"/>
    <p:sldId id="265" r:id="rId12"/>
    <p:sldId id="263" r:id="rId13"/>
    <p:sldId id="266" r:id="rId14"/>
    <p:sldId id="498" r:id="rId15"/>
    <p:sldId id="268" r:id="rId16"/>
    <p:sldId id="269" r:id="rId17"/>
    <p:sldId id="378" r:id="rId18"/>
    <p:sldId id="298" r:id="rId19"/>
    <p:sldId id="377" r:id="rId20"/>
    <p:sldId id="342" r:id="rId21"/>
    <p:sldId id="280" r:id="rId22"/>
    <p:sldId id="294" r:id="rId23"/>
    <p:sldId id="295" r:id="rId24"/>
    <p:sldId id="296" r:id="rId25"/>
    <p:sldId id="499" r:id="rId26"/>
    <p:sldId id="500" r:id="rId27"/>
    <p:sldId id="503" r:id="rId28"/>
    <p:sldId id="512" r:id="rId29"/>
    <p:sldId id="513" r:id="rId30"/>
    <p:sldId id="514" r:id="rId31"/>
    <p:sldId id="502" r:id="rId32"/>
    <p:sldId id="501" r:id="rId33"/>
    <p:sldId id="504" r:id="rId34"/>
    <p:sldId id="505" r:id="rId35"/>
    <p:sldId id="507" r:id="rId36"/>
    <p:sldId id="506" r:id="rId37"/>
    <p:sldId id="509" r:id="rId38"/>
    <p:sldId id="508" r:id="rId39"/>
    <p:sldId id="510" r:id="rId40"/>
    <p:sldId id="511"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a Hall" userId="400e0897-61dc-442d-8d8c-72b2d9801ed1" providerId="ADAL" clId="{288316FC-3B88-4D9E-A571-C68D8F455047}"/>
    <pc:docChg chg="modSld">
      <pc:chgData name="Kyla Hall" userId="400e0897-61dc-442d-8d8c-72b2d9801ed1" providerId="ADAL" clId="{288316FC-3B88-4D9E-A571-C68D8F455047}" dt="2022-02-25T16:22:58.449" v="0" actId="1076"/>
      <pc:docMkLst>
        <pc:docMk/>
      </pc:docMkLst>
      <pc:sldChg chg="modSp mod">
        <pc:chgData name="Kyla Hall" userId="400e0897-61dc-442d-8d8c-72b2d9801ed1" providerId="ADAL" clId="{288316FC-3B88-4D9E-A571-C68D8F455047}" dt="2022-02-25T16:22:58.449" v="0" actId="1076"/>
        <pc:sldMkLst>
          <pc:docMk/>
          <pc:sldMk cId="4156049600" sldId="256"/>
        </pc:sldMkLst>
        <pc:spChg chg="mod">
          <ac:chgData name="Kyla Hall" userId="400e0897-61dc-442d-8d8c-72b2d9801ed1" providerId="ADAL" clId="{288316FC-3B88-4D9E-A571-C68D8F455047}" dt="2022-02-25T16:22:58.449" v="0" actId="1076"/>
          <ac:spMkLst>
            <pc:docMk/>
            <pc:sldMk cId="4156049600" sldId="256"/>
            <ac:spMk id="3" creationId="{689A0116-0CE2-48AE-8F4A-E4954D96658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7-23T21:13:27.294"/>
    </inkml:context>
    <inkml:brush xml:id="br0">
      <inkml:brushProperty name="width" value="0.175" units="cm"/>
      <inkml:brushProperty name="height" value="0.175" units="cm"/>
      <inkml:brushProperty name="color" value="#E71224"/>
    </inkml:brush>
  </inkml:definitions>
  <inkml:trace contextRef="#ctx0" brushRef="#br0">0 2129 4480,'0'0'1760,"0"0"-960,0 0-736,0 0 448,0 0-320,0 0 256,15-15 0,-15 1-224,14 14 32,1 0 64,-1-15-64,1 0 96,14-14-64,0 15 0,0-1-96,14-14 32,1 15-64,-1-15 64,15-14 0,15 0 32,-16-1-64,15-14-32,1 29-32,14 0 64,-14-14-96,28 28 0,-14-14-96,14 0-32,0 0 96,1 0 96,-15 29-128,29-15-32,0 1-64,-1 14 0,1 0 0,1 0 0,-1 14 64,0-14 64,-16 15-96,16-1 0,-14 1 32,0 0 64,-1-1-96,0 1 0,0-1 96,-14 15 32,15 15-128,-15 14-32,0-15 32,-1 15 0,1 0-64,0-15 64,0 15 160,0-15 160,0 1-320,1 0-96,-17-1 64,16 1 0,-14 14 128,14 0 96,-15 0-224,1 0 0,-1-1 0,1 1 32,-16 0-64,1-14 64,-14 14-32,-1-15 0,1 15 64,-15 0 64,14 0-32,-14 0 64,15-14 0,-15 13 32,0 1-64,-15-15 32,15 16-64,-14-30 64,-1 14-64,1 1 64,14-15-64,-29 0 64,14 0-64,0-15-32,1 15 32,-15 0-32,14-14 64,-14 14-32,15-15-32,-15 15 32,14-15 32,-14 0-32,0 1 64,16-1-928,-16 1-288,0-15-2496</inkml:trace>
  <inkml:trace contextRef="#ctx0" brushRef="#br0" timeOffset="846">5389 3447 4480,'15'-14'1760,"-15"14"-960,0 0-928,0 0 256,0 0 224,0 0 224,0 0 128,0 0 64,0 0-416,0 0 64,0 0 32,0 0-96,0 0-32,0 0-128,0 0 32,0 0-64,0 0 64,0 0 0,0 14 32,0-14 64,0 15 32,0-1-32,0-14-32,0 15-96,0 14-32,0 14-96,14 1 32,-14-15-64,0 14 64,0 1-64,0-1-32,0 1 32,16-1-32,-16-14 0,0 1 64,-16-2 32,16-14-32,0 1 32,-14-1-64,-1 1-32,1-1 32,-1-14 32,-13 0-96,-1 0 0,0 0 32,-14-14 64,-1 14-32,1-15 64,-1 1-64,0-15-32,1 14 32,-1 2-32,1-2 64,14 0 32,0 1 32,0-1 0,0 1 0,14-1 0,1 1 0,-1-1 0,15 15-64,-14 0-64,14-14-192,0 14-32,0 0-1120,0 14-384,-15-14-2208</inkml:trace>
  <inkml:trace contextRef="#ctx0" brushRef="#br0" timeOffset="1678">5954 666 4992,'-58'-58'1824,"58"58"-960,0 0-1024,0 0 384,0 0 160,0 0 128</inkml:trace>
  <inkml:trace contextRef="#ctx0" brushRef="#br0" timeOffset="2132">5911 623 9408,'14'15'640,"-14"-1"-64,15 15-256,-1-14-128,1 28 32,-1-14 0,1 15-96,-1-15-96,1 0 0,-1 14-32,15-14 0,-14-14 0,-1 14 0,15-29 64,0 0 32,0 0 32,0 0-64,14-15-64,-14-14 32,0-14 32,0 14-96,0-15-64,-14 1 128,-1-15 32,15 0-96,-29 14 32,15 1 0,-15 13 0,15 1 0,-15 0 0,0 15-96,0 14 64,-15 0 32,15 29 64,-15 14 96,15 1 128,-14 0-64,14 14 32,-15 14-160,15-14 0,-14 15-96,-1 14-32,15-1-32,-14 1 0,14-14 0,-15-1 0,15-14 128,0 0 96,-14 0-64,14-14-64,-15-1-160,15-14-64,0-14-960,0 14-384,0-29-1664</inkml:trace>
  <inkml:trace contextRef="#ctx0" brushRef="#br0" timeOffset="3013">6837 1014 4736,'-14'0'1760,"14"0"-960,-29 0-800,29 0 416,0 14 64,-15-14 96,15 15-32,-14-1 64,14-14-320,-15 44 32,15-15 32,-14 0-128,14 15-64,-15-15 0,15 14-32,-14-14 0,14-1 0,14 16-64,-14-15-64,15 0 96,-15 0 0,43-15 96,-14 1-96,0-1-64,15-14 192,-15-14 96,0-1-384,0-14-96,0 15 64,0-30 96,-14 1-32,-1-14 0,-14-1 32,15 14 0,-15-14 0,-15 14 0,1 1 0,-1-1 0,1 15 64,-15 0 32,0 15-128,-15-1 32,15 15-512,-15 0-128,15 15-960,15-1-384,-15 1-736</inkml:trace>
  <inkml:trace contextRef="#ctx0" brushRef="#br0" timeOffset="3782">7330 768 3584,'0'15'1408,"0"-15"-768,0 0-64,14 0 576,-14 14-160,0 1 64,0-1-192,0 15-64,0-14-416,-14-1-96,14 15-64,-15-14-96,15 14-96,0 0 0,0 0-32,0-1 0,15 15 64,-1-13-32,1-1-32,-1-15 96,15-14 0,0 0-128,0 0 32,-14-14 0,14-15 0,0 14-160,-15-14 32,16 0-96,-16 1 64,1-1 96,-1-15 32,-14 1 32,15 14 64,-15-15-32,0 15-32,0 15 96,-15-15 64,15 14-128,0 1-32,0 14 0,-14 14 0,14 1 0,0-1 0,0 15 0,14 0 64,-14 0-32,15 0-32,-1 0 32,0 0-32,0 0-96,15 15 64,0-16 32,0 1 64,0-15-32,0 1 64,0 0-288,-14-30-32,-1 15-2272,2-15-1824,-16 1 1440</inkml:trace>
  <inkml:trace contextRef="#ctx0" brushRef="#br0" timeOffset="4245">7881 29 5888,'-14'-14'2176,"14"14"-1152,-15-15-1056,15 15 384,0 0-160,0 0 32,0 15 0,-14-15 32,-1 14 224,1 1 64,-1-1 96,-14 30 0,15-1-448,-15-14-160,14 15-32,1-15-32,14 0 32,-15 0 0,15 0-992,15-15-448,-1 1-1824</inkml:trace>
  <inkml:trace contextRef="#ctx0" brushRef="#br0" timeOffset="5237">8170 450 5120,'0'0'1920,"15"14"-1024,-15-14-768,0 15 480,15-1-224,-15 15-64,14 0-160,-14 0-64,15 0-32,-15 0-64,14 0 32,1 1-32,-15 13 64,0 0-96,0-14 0,14 0 160,-14-15 160,0 1-32,0-1 96,0 1-192,0-1-32,0-14 0,0 0 0,0 0-64,0 0-64,0-14 32,-14-15 32,14 0-96,-15 0 0,1 0 32,14-28 0,0-2 0,-15 16 64,15-1 32,0 1 32,-14-1 64,14 15 32,0 0-192,0 15-64,14-1 0,-14 15 0,15-14-64,-1 14 64,1 14 32,-1-14 64,1 29-32,14-14-32,14 28 32,1-14 32,-15 0-96,14-14 0,-14-1 32,14 1 64,0-1-32,-14 1 64,15-15-64,-15-15-32,0-14 32,0 0 32,0 0-32,-15 0 64,15 0-64,-15 0 64,1 0-64,-15 0-32,0 0 160,0 0 32,0 15-160,0-15 0,-15 14-96,1 1 0,-15 28 0,0-14-64,15 15 96,-15-1 64,14 15-64,1-14 0,-1 14 32,15 29 64,-14-15-96,14 1 0,14-1 32,15 1 64,0-1-32,0-14-32,0 1 96,0-1 64,14-1-128,1 1-96,-1 0-128,-14-15-32,15 1-672,-15-15-192,0 0-2144</inkml:trace>
  <inkml:trace contextRef="#ctx0" brushRef="#br0" timeOffset="5929">8083 1666 5888,'-14'-15'2272,"-15"1"-1216,14 14-1152,1-15 416,14 15-160,-15 0 0,1-14 96,-1-1 160,15 15-224,-28-14-96,14-1 0,-1 15 64,-14 0 64,0 0-32,0 0 32,0 15 0,0-1 32,0 15-64,0 30-32,15-1 96,-1 0 96,15 0-64,0 13 64,0-13-192,0 15-32,15 14-64,14 0-64,0 0-64,-15 15 32,15-31 32,0 2 0,-14 14 0,-1-15 64,1 16 32,-15-30 32,14 14-160,-14-28 32,0-1-64,0-15-64,0 1-480,0-14-224,0-1-736,-14-14-192,-1 0-1248</inkml:trace>
  <inkml:trace contextRef="#ctx0" brushRef="#br0" timeOffset="6215">7344 2565 7552,'0'-15'2816,"0"30"-1536,29-15-1568,-14 0 448,14 0-160,14 0 64,-14 0 32,15 0 96,0-15-96,14 15-64,-16-14 0,2 14-32,-1-15 64,1 1-192,-15 14-32,-15-15-864,16 15-352,-30 0-1568</inkml:trace>
  <inkml:trace contextRef="#ctx0" brushRef="#br0" timeOffset="6551">8272 2246 8320,'-14'0'3072,"14"0"-1664,-15 29-1792,15 0 480,0 0-96,15 14 64,-15 15 0,14-29-64,1 29 32,-15-14-32,29-1 0,-15 1 0,1-15 64,14-15-256,0 15-32,-15-14-640,1-1-256,14 0-2048</inkml:trace>
  <inkml:trace contextRef="#ctx0" brushRef="#br0" timeOffset="6812">8243 1665 8320,'-29'-29'3072,"29"1"-1664,-29 28-1792,29 0 480,0 0-672,29 0-160,-29 0-896,29 0-384,0 0-576,-1 0-224</inkml:trace>
  <inkml:trace contextRef="#ctx0" brushRef="#br0" timeOffset="7660">8619 2173 7168,'0'14'2720,"0"-14"-1472,0 29-1536,0-29 448,0 30-160,0-1 64,15 14-96,-15 1 0,14 14 32,-14-15 0,29 1 64,-29-1 32,29 1 32,-14-1-64,-1-14-64,1-14 96,-1 14 0,1-29-32,-1-15-64,-14 1 96,0-15-128,14 0-64,-14 0-224,0-29-64,0 0 160,0 0 96,0 0 32,0 0 32,0 0 128,0 14 96,0 0 0,0 1 64,0 14-64,0 0 64,0 14-192,0 1-32,0 14 0,0 0 64,0 14-96,15-14 0,-1 29 96,1-14 32,-1-1-32,15 1-64,-14-1 32,14-14 32,14 15-96,-14-15 0,0 0 32,0 0 64,0 0-32,0-15 64,0-14-128,-14 15 0,-1-15 32,1 0 64,-1 0-32,-14-15-32,0 1 32,0 0-32,-14 14 192,-1 0 128,1 15-160,-15 14-32,0 14 64,14 1 32,-14 14-192,15 14-64,-1-15-96,1 16 96,28-1 0,1 1 96,-1 14 32,15-15 32,15 15-160,-1 1 32,15-16-288,-14 1-128,14-1-832,-1-14-320,1 0-1536</inkml:trace>
  <inkml:trace contextRef="#ctx0" brushRef="#br0" timeOffset="8442">10111 2058 7296,'0'-29'2720,"0"29"-1472,-14 14-1472,14-14 448,0 0-224,0 0 0,0-14 0,0 14 0,-15-15 0,1 15 128,-15-14 160,0-1-96,0 15 64,-14-14-32,14 14 32,-15 0 64,15 0 32,-14 0-160,-1 14-64,15 15-128,0 0-32,15 0 32,-1 0 64,30 0-32,-15 0 64,29 0-64,-15-1-32,15-13 32,15 0 32,-15-1-96,14 1 0,1-15 32,-1 0 0,-14-15-352,14 1-96,-14-1 224,-14 0 96,14-27-160,-15-2-64,1-14-96,-15-14 32,14-1 160,-14 1 64,-14-1 192,14 1 64,0 13 0,-15 2-64,1-1 32,14 0-32,-15 15 128,1 14 64,-1 0 0,1 0-32,-1 14-32,1 1 0,14-1-64,-15 15 32,1 15 64,-1-1 128,15 15 64,-14 15 32,28-1-128,-14 1 0,15 14-160,-1 13-64,1 2 0,14 0 32,-15-1-32,15-14-32,-14 0 96,14-14 0,0-1-128,-15 1 32,1-1 0,-1-14 64,1 0-448,0-15-160,-15 0-768,0 1-352,-15-15-1600</inkml:trace>
  <inkml:trace contextRef="#ctx0" brushRef="#br0" timeOffset="9095">10227 174 11168,'0'29'480,"15"-14"-224,-15 14 128,0-15 96,0 15-224,13 0-64,2 0-128,-15 29-64,14 0 32,1 0 32,-1 0-32,1-14-32,-1-1 96,1 16 64,-1-17 0,1-13 0,-15 15-96,14-15-64,-14 0 32,15-15-32,-15 15 0,14-14 64,1 14-96,-15-29 0,0 29 32,14-29 64,-14 14-544,0 0-192,0 0-384,-14-14-96,14 15-2112</inkml:trace>
  <inkml:trace contextRef="#ctx0" brushRef="#br0" timeOffset="9478">10677 2100 9472,'0'-29'3584,"0"29"-1920,0 29-1856,0-29 608,0 0-256,29 29 64,0-29-544,-29 0-192,29 0-3616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7-23T21:13:42.430"/>
    </inkml:context>
    <inkml:brush xml:id="br0">
      <inkml:brushProperty name="width" value="0.175" units="cm"/>
      <inkml:brushProperty name="height" value="0.175" units="cm"/>
      <inkml:brushProperty name="color" value="#E71224"/>
    </inkml:brush>
  </inkml:definitions>
  <inkml:trace contextRef="#ctx0" brushRef="#br0">16775 7667 3712,'0'-29'1472,"15"29"-768,-15 0-480,0 0 416,0 0 32,0 0 128,0 0 64,0 0 32,0 0-128,0 15-448,0-1 32,0 1 0,0-1 64,-15 15 160,15-14-192,-28 14 32,-1 0-128,-14 0 0,14 14-160,-15-14-32,1 15-32,-1-30 32,1 15 0,-15 0 32,14-14 0,1-1 0,14 1-160,-15-1 32,15 1-288,14-15-64,-14 14-448,15-14-128</inkml:trace>
  <inkml:trace contextRef="#ctx0" brushRef="#br0" timeOffset="611">14863 8001 4736,'14'0'1760,"-14"0"-960,0 0-512,0 0 448,0 0 192,0 0 160,0 0-224,0 0-64,0 0-448,0 0 64,0 14 96,0-14 96,0 0 32,-14 15-160,-1-15-32,-28 0-192,-1 14 0,-13-14 32,14 0 159,-30 0-191,15 0 0,-14 0-64,14-14 32,0 14-128,0 0 0,0 0-32,15-15-64,-1 15 32,15 0-32,15 0-704,-1 0-319,0 0-2401,1-14-864</inkml:trace>
  <inkml:trace contextRef="#ctx0" brushRef="#br0" timeOffset="1188">12271 7732 6912,'0'-14'2624,"-15"28"-1408,15-14-1280,0 0 544,0 0 0,-14 0 160,-1 0-192,-14 0-32,0-14-224,1 14 96,14 0 32,-30-15-32,0-14 0,-14 0-32,0 0 64,0 0 32,0 15 96,-14-1-160,-1-13-33,2 14-127,-2-1-96,0 1 0,15-1-32,0 1 0,0-1 0,15 1 0,14 14 0,0-15-703,14 15-321,15 0-544,0 0-224,0 0-1856</inkml:trace>
  <inkml:trace contextRef="#ctx0" brushRef="#br0" timeOffset="1844">9488 7212 5120,'15'-14'1920,"-15"14"-1024,0 0-704,0 0 480,0 0 0,0 0 128,0 0-224,0 0 0,0-15-352,0 15 64,-15-14 128,15 14-160,-14-15 0,-15 0-64,0 1 32,-15-15-64,1 14 0,0-28-32,-29 14 0,13 0-64,-13 1 32,-14-16-64,-1 15-32,0 0 32,0 0 32,-1 0-32,1 0-32,15-14 32,-1 14 32,15 0-32,0 0 64,0 0-128,15 14-64,14-14-512,0 15-224,15-1-928,-1 1-384</inkml:trace>
  <inkml:trace contextRef="#ctx0" brushRef="#br0" timeOffset="2445">6722 6242 5504,'15'0'2112,"-15"0"-1152,-15-14-480,15 14 640,0 0-256,-14 0-32,0 0-288,0-15 0,-15 15-320,-15-14-64,0 14-32,-14-15 0,0 1 64,-14 14 32,-1-15 32,-14-14-64,-13 15-32,-2-15 96,-14 0 160,14-15-160,-14 15-64,0-15-32,1-28-32,13 28 0,-14-14 64,0 0-97,29 15 1,-28-1 32,28 1 0,14 0-160,1 0 32,14 14 0,14 0 64,1 0-256,14 0-95,0 0-641,14 14-256,-14 1-1088,29-1-480,0 1-512</inkml:trace>
  <inkml:trace contextRef="#ctx0" brushRef="#br0" timeOffset="3074">3217 4779 5120,'0'0'1920,"0"0"-1024,0 0-288,0 0 672,0 15-224,0-15-64,0 0-288,-15 0-96,15-15-352,-14 15-32,-1 0 0,1-15 32,-1 1 0,-14-1-128,-14-14-32,-1 0-32,1 1-64,0-30 96,-15 15 64,0-1-64,-15 1-64,15-1 0,-14-14 32,14 0-32,-15 0 64,1 15 0,15-30 32,-1 2-64,-15 13 32,29 0-64,1 14-32,-1 1 32,15-1-32,0 1-96,0 14 64,15-15-320,-1 15-96,1 0-416,-1 0-160,15 0-864,-14 14-416,-1 15-672</inkml:trace>
  <inkml:trace contextRef="#ctx0" brushRef="#br0" timeOffset="3725">1028 3028 7296,'-14'0'2816,"14"0"-1536,0 0-1440,0 0 544,-15-16 64,15 2 96,-14-1-256,-1 1-96,1-14-128,-1 13-128,-13-14-32,-1 15 128,-14-30 96,14 1 32,0-15 64,-15 0 0,15 14 32,0-14-64,0 0-32,0-14 96,0 14 96,15-14-128,-15-15 32,14 14-160,-14 1-64,14-1 128,1 1 32,14 14-160,-15 0 0,15 15 32,0-15 32,-14 15-32,14-1-64,0-14 32,0 15 32,0-1-32,0 1 63,0 14-222,0 0 31,0 0-608,0 14-256,0 1-1536,0-1-704,0 15-96</inkml:trace>
  <inkml:trace contextRef="#ctx0" brushRef="#br0" timeOffset="4670">0 1173 5120,'0'0'1920,"0"0"-1024,0 0-1056,0 0 320,0 0 192,0 0 224,0 0-160,0 0 0,0 0-224,0 0-128,0 0 32,0-15 64,15 15 128,-15-14 64,0 14 32,0-15 0,14 1 0,-14-1-64,0 1 32,15-15-192,-1 14-32,1-14 0,14-14 64,0 0 32,0-15 32,14 15-224,-14-15 0,29 0 32,0 0 96,-1 0 0,16-15 64,0-14-64,-1 15 64,14 0-128,-13 0 0,-15 28-32,14 1-64,-28-1-64,14 15 32,-15 15 32,1-15 64,-15 29-96,0-15 0,0 15-32,-14 0-64,14 15 96,-15-1 0,1 30 32,-1-1 0,1 15 0,-1 0 0,1 15 0,-1-16 0,-14 1 0,15 0 0,14 0 0,-15 14 0,1 1-96,14-15 64,-15-15 32,1 15 0,-1-14 0,-14-15 0,15-1 0,-15 1 64,14-15-32,-14 1-32,0-1-544,0-14-288,0 15-1184,0-15-480</inkml:trace>
  <inkml:trace contextRef="#ctx0" brushRef="#br0" timeOffset="5438">1043 594 5248,'0'0'2016,"0"0"-1088,0 0-1088,0 0 320,0 0 96,0 0 224,0 0-224,0 0-64,0-15-128,0 15-64,0 0 32,0-14 32,-15 14 32,15 0 32,-14 0 64,14 0-160,-15 0-96,1 0 32,-1 0 0,1 14 32,-14 1 0,13-1-96,1 1 0,-15 13 64,0 15 0,14 1 32,-14-1 0,15 1-96,-1-1 64,1-14 32,-1 0 64,1 0-32,-1 15-32,1-15 32,-1 0-32,1 0 0,14 0 64,-15 0 32,15-15 32,-14 15-64,14-14-64,0 14 32,0-14-32,-15-1 0,15 1 64,0-1-32,0 1 64,0-1-128,0 1 0,0-15 160,0 14 160,0 1 192,0-15-256,0 14-32,0 1-288,0-15-352,0-15-128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5FB33F-A75A-405D-BEA8-169AB5D9E73A}" type="datetimeFigureOut">
              <a:rPr lang="en-GB" smtClean="0"/>
              <a:t>25/02/2022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50DEDF-C309-416E-9A69-749AF2BCD5ED}" type="slidenum">
              <a:rPr lang="en-GB" smtClean="0"/>
              <a:t>‹#›</a:t>
            </a:fld>
            <a:endParaRPr lang="en-GB"/>
          </a:p>
        </p:txBody>
      </p:sp>
    </p:spTree>
    <p:extLst>
      <p:ext uri="{BB962C8B-B14F-4D97-AF65-F5344CB8AC3E}">
        <p14:creationId xmlns:p14="http://schemas.microsoft.com/office/powerpoint/2010/main" val="1605616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dirty="0"/>
            </a:br>
            <a:r>
              <a:rPr lang="en-US" dirty="0"/>
              <a:t>Edit this slide to reflect how you want to use the time and insert any breaks you are planning.</a:t>
            </a:r>
            <a:endParaRPr lang="en-GB"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2</a:t>
            </a:fld>
            <a:endParaRPr lang="en-US"/>
          </a:p>
        </p:txBody>
      </p:sp>
    </p:spTree>
    <p:extLst>
      <p:ext uri="{BB962C8B-B14F-4D97-AF65-F5344CB8AC3E}">
        <p14:creationId xmlns:p14="http://schemas.microsoft.com/office/powerpoint/2010/main" val="1960288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keep this part of the workshop brief. It is a useful tool to write on a board/flipchart the key questions to be reviewed at the end of the day to ensure they are covered or a resource is suggested to help answer them.</a:t>
            </a:r>
            <a:endParaRPr lang="en-GB"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3</a:t>
            </a:fld>
            <a:endParaRPr lang="en-US"/>
          </a:p>
        </p:txBody>
      </p:sp>
    </p:spTree>
    <p:extLst>
      <p:ext uri="{BB962C8B-B14F-4D97-AF65-F5344CB8AC3E}">
        <p14:creationId xmlns:p14="http://schemas.microsoft.com/office/powerpoint/2010/main" val="3630393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0588" y="158750"/>
            <a:ext cx="2170112" cy="1220788"/>
          </a:xfrm>
        </p:spPr>
      </p:sp>
      <p:sp>
        <p:nvSpPr>
          <p:cNvPr id="3" name="Notes Placeholder 2"/>
          <p:cNvSpPr>
            <a:spLocks noGrp="1"/>
          </p:cNvSpPr>
          <p:nvPr>
            <p:ph type="body" idx="1"/>
          </p:nvPr>
        </p:nvSpPr>
        <p:spPr>
          <a:xfrm>
            <a:off x="116175" y="1395847"/>
            <a:ext cx="6511637" cy="4114800"/>
          </a:xfrm>
        </p:spPr>
        <p:txBody>
          <a:bodyPr/>
          <a:lstStyle/>
          <a:p>
            <a:r>
              <a:rPr lang="en-US" sz="1000" dirty="0"/>
              <a:t>This slide can easily be </a:t>
            </a:r>
            <a:r>
              <a:rPr lang="en-GB" sz="1000" dirty="0"/>
              <a:t>personalized </a:t>
            </a:r>
            <a:r>
              <a:rPr lang="en-US" sz="1000" dirty="0"/>
              <a:t>but it was inserted to help facilitators remember key points for the workshop.</a:t>
            </a:r>
            <a:endParaRPr lang="en-GB" sz="1000" dirty="0"/>
          </a:p>
          <a:p>
            <a:pPr lvl="0"/>
            <a:r>
              <a:rPr lang="en-US" sz="1000" b="1" i="1" dirty="0"/>
              <a:t>Fire escapes, alarms, loos, breaks</a:t>
            </a:r>
            <a:endParaRPr lang="en-GB" sz="1000" b="1" i="1" dirty="0"/>
          </a:p>
          <a:p>
            <a:r>
              <a:rPr lang="en-US" sz="1000" dirty="0"/>
              <a:t>This bullet point is a reminder to the facilitator to cover the usual housekeeping issues. It is good to know where the fire escapes are and if any fire alarms are planned; as well as where to find the facilities. At this point you can also indicate that people are welcome to pop in and out for urgent breaks but that you will be stopping every 60 to 90 minutes (or however you wish to manage the time with the participants). You can edit </a:t>
            </a:r>
            <a:r>
              <a:rPr lang="en-US" sz="1000" b="1" dirty="0"/>
              <a:t>The Plan</a:t>
            </a:r>
            <a:r>
              <a:rPr lang="en-US" sz="1000" dirty="0"/>
              <a:t> slide to reflect timings and breaks and mention you will share this next.</a:t>
            </a:r>
            <a:endParaRPr lang="en-GB" sz="1000" dirty="0"/>
          </a:p>
          <a:p>
            <a:pPr lvl="0"/>
            <a:r>
              <a:rPr lang="en-US" sz="1000" b="1" i="1" dirty="0"/>
              <a:t>Chatham House Rule</a:t>
            </a:r>
            <a:endParaRPr lang="en-GB" sz="1000" b="1" i="1" dirty="0"/>
          </a:p>
          <a:p>
            <a:r>
              <a:rPr lang="en-US" sz="1000" dirty="0"/>
              <a:t>If you want to click on the link on the slide it will take you to the </a:t>
            </a:r>
            <a:r>
              <a:rPr lang="en-US" sz="1000" b="1" dirty="0"/>
              <a:t>Chatham House Rule</a:t>
            </a:r>
            <a:r>
              <a:rPr lang="en-US" sz="1000" dirty="0"/>
              <a:t> slide which defines the rule as: </a:t>
            </a:r>
            <a:endParaRPr lang="en-GB" sz="1000" dirty="0"/>
          </a:p>
          <a:p>
            <a:r>
              <a:rPr lang="en-US" sz="1000" dirty="0"/>
              <a:t>“</a:t>
            </a:r>
            <a:r>
              <a:rPr lang="en-GB" sz="1000" dirty="0"/>
              <a:t>When a meeting, or part thereof, is held under the Chatham House Rule, participants are free to use the information received, but neither the identity nor the affiliation of the speaker(s), nor that of any other participant, may be revealed.”</a:t>
            </a:r>
          </a:p>
          <a:p>
            <a:r>
              <a:rPr lang="en-GB" sz="1000" dirty="0"/>
              <a:t>At this point emphasise that this is a safe space for everyone to learn and ask whatever questions they have. This then sets the scene for the “don’t record request” and the Social Media rules.</a:t>
            </a:r>
          </a:p>
          <a:p>
            <a:r>
              <a:rPr lang="en-GB" sz="1000" dirty="0"/>
              <a:t>The </a:t>
            </a:r>
            <a:r>
              <a:rPr lang="en-GB" sz="1000" b="1" dirty="0"/>
              <a:t>Chatham House Rule </a:t>
            </a:r>
            <a:r>
              <a:rPr lang="en-GB" sz="1000" dirty="0"/>
              <a:t>slide has a back button to easily skip back to the </a:t>
            </a:r>
            <a:r>
              <a:rPr lang="en-GB" sz="1000" b="1" dirty="0"/>
              <a:t>Housekeeping </a:t>
            </a:r>
            <a:r>
              <a:rPr lang="en-GB" sz="1000" dirty="0"/>
              <a:t>slide, which has a button to move to </a:t>
            </a:r>
            <a:r>
              <a:rPr lang="en-GB" sz="1000" b="1" dirty="0"/>
              <a:t>The Plan </a:t>
            </a:r>
            <a:r>
              <a:rPr lang="en-GB" sz="1000" dirty="0"/>
              <a:t>skipping the </a:t>
            </a:r>
            <a:r>
              <a:rPr lang="en-GB" sz="1000" b="1" dirty="0"/>
              <a:t>Chatham House Rules.</a:t>
            </a:r>
            <a:endParaRPr lang="en-GB" sz="1000" dirty="0"/>
          </a:p>
          <a:p>
            <a:pPr lvl="0"/>
            <a:r>
              <a:rPr lang="en-US" sz="1000" b="1" i="1" dirty="0"/>
              <a:t>No recording</a:t>
            </a:r>
            <a:endParaRPr lang="en-GB" sz="1000" b="1" i="1" dirty="0"/>
          </a:p>
          <a:p>
            <a:r>
              <a:rPr lang="en-US" sz="1000" dirty="0"/>
              <a:t>This is where the request not to record the workshop is </a:t>
            </a:r>
            <a:r>
              <a:rPr lang="en-GB" sz="1000" dirty="0"/>
              <a:t>emphasised</a:t>
            </a:r>
            <a:r>
              <a:rPr lang="en-US" sz="1000" dirty="0"/>
              <a:t>. In a workshop where we want people to ask questions and share their concerns it is inappropriate for them to be recorded. </a:t>
            </a:r>
            <a:endParaRPr lang="en-GB" sz="1000" dirty="0"/>
          </a:p>
          <a:p>
            <a:r>
              <a:rPr lang="en-US" sz="1000" dirty="0"/>
              <a:t>This request should be unnecessary with the </a:t>
            </a:r>
            <a:r>
              <a:rPr lang="en-US" sz="1000" b="1" dirty="0"/>
              <a:t>Chatham House Rule</a:t>
            </a:r>
            <a:r>
              <a:rPr lang="en-US" sz="1000" dirty="0"/>
              <a:t> note however it has been inserted because of a recent stealth recording of an UnLtd workshop by a delegate who did it saying it helped her to remember the learning but then she offered the recording to delegates as well as people who did not attend. It is prevailing culture to record and share everything. </a:t>
            </a:r>
            <a:endParaRPr lang="en-GB" sz="1000" dirty="0"/>
          </a:p>
          <a:p>
            <a:r>
              <a:rPr lang="en-US" sz="1000" dirty="0"/>
              <a:t>It is not okay to get everyone at this point to agree to be recorded since it has just been emphasized that delegates are being encouraged to participate and share on the basis that they are in a safe space. </a:t>
            </a:r>
            <a:endParaRPr lang="en-GB" sz="1000" dirty="0"/>
          </a:p>
          <a:p>
            <a:pPr lvl="0"/>
            <a:r>
              <a:rPr lang="en-US" sz="1000" b="1" i="1" dirty="0"/>
              <a:t>Mobiles phones – mute or get ready to boogie</a:t>
            </a:r>
            <a:endParaRPr lang="en-GB" sz="1000" b="1" i="1" dirty="0"/>
          </a:p>
          <a:p>
            <a:r>
              <a:rPr lang="en-US" sz="1000" dirty="0"/>
              <a:t>Depending on your preference for Social Media (next point), indicate whether phones should be mute or off. The Boogie reference is a great idea I saw at a workshop recently: if someone’s phone rings or beeps then they are invited to come to the front and dance to the tune saved as their ring tone. It makes this request a bit entertaining even if you end up with no dancing during the workshop.</a:t>
            </a:r>
            <a:endParaRPr lang="en-GB" sz="1000" dirty="0"/>
          </a:p>
          <a:p>
            <a:pPr lvl="0"/>
            <a:r>
              <a:rPr lang="en-US" sz="1000" b="1" i="1" dirty="0"/>
              <a:t>Rules for social media</a:t>
            </a:r>
            <a:endParaRPr lang="en-GB" sz="1000" b="1" i="1" dirty="0"/>
          </a:p>
          <a:p>
            <a:r>
              <a:rPr lang="en-US" sz="1000" dirty="0"/>
              <a:t>If you are happy for slides to be photographed and tweeted, or pictures of yourself to be shared in social media indicate the hashtags that are preferred somewhere obvious – like a white board where any </a:t>
            </a:r>
            <a:r>
              <a:rPr lang="en-US" sz="1000" dirty="0" err="1"/>
              <a:t>wifi</a:t>
            </a:r>
            <a:r>
              <a:rPr lang="en-US" sz="1000" dirty="0"/>
              <a:t> access has been noted. </a:t>
            </a:r>
            <a:endParaRPr lang="en-GB" sz="1000" dirty="0"/>
          </a:p>
          <a:p>
            <a:r>
              <a:rPr lang="en-US" sz="1000" dirty="0"/>
              <a:t>Ask the group whether they are happy to be photographed or tweeted about – agree the rules by referring the </a:t>
            </a:r>
            <a:r>
              <a:rPr lang="en-US" sz="1000" b="1" dirty="0"/>
              <a:t>Chatham House Rule</a:t>
            </a:r>
            <a:r>
              <a:rPr lang="en-US" sz="1000" dirty="0"/>
              <a:t>. Perhaps get some photographs taken of the workshop at this stage that can be used for social media about the workshop.</a:t>
            </a:r>
            <a:endParaRPr lang="en-GB" sz="1000" dirty="0"/>
          </a:p>
          <a:p>
            <a:pPr lvl="0"/>
            <a:r>
              <a:rPr lang="en-US" sz="1000" b="1" i="1" dirty="0"/>
              <a:t>No stupid questions</a:t>
            </a:r>
            <a:endParaRPr lang="en-GB" sz="1000" b="1" i="1" dirty="0"/>
          </a:p>
          <a:p>
            <a:r>
              <a:rPr lang="en-US" sz="1000" dirty="0"/>
              <a:t>This point is animated so you can </a:t>
            </a:r>
            <a:r>
              <a:rPr lang="en-US" sz="1000" dirty="0" err="1"/>
              <a:t>emphasise</a:t>
            </a:r>
            <a:r>
              <a:rPr lang="en-US" sz="1000" dirty="0"/>
              <a:t> it. The emphasis is that no question is stupid and if people do not understand anything they should keep asking for clarification until it makes sense. The workshop starts with basic terms to ensure all participants have the same knowledge to form the foundation of the issues as they are discussed.</a:t>
            </a:r>
            <a:endParaRPr lang="en-GB" sz="1000" dirty="0"/>
          </a:p>
          <a:p>
            <a:r>
              <a:rPr lang="en-US" sz="1000" dirty="0"/>
              <a:t>It is worth suggesting at this point that it is the responsibility of everyone in the room to help each other and themselves to learn, so if a fellow delegate can ask a question or illustrate a point they are welcome to do so – if you as facilitator have permission to pop items on a flipchart for “parking for over tea discussions” where you think this is helpful.</a:t>
            </a:r>
            <a:endParaRPr lang="en-GB" sz="1000" dirty="0"/>
          </a:p>
          <a:p>
            <a:pPr lvl="0"/>
            <a:r>
              <a:rPr lang="en-US" sz="1000" b="1" i="1" dirty="0"/>
              <a:t>Quick Assessment</a:t>
            </a:r>
            <a:endParaRPr lang="en-GB" sz="1000" b="1" i="1" dirty="0"/>
          </a:p>
          <a:p>
            <a:r>
              <a:rPr lang="en-US" sz="1000" dirty="0"/>
              <a:t>At this point please ask all delegates to complete the multiple choice assessment sheet called “Initial Delegate Knowledge about </a:t>
            </a:r>
            <a:r>
              <a:rPr lang="en-US" sz="1000" b="1" dirty="0"/>
              <a:t>Legal Structures</a:t>
            </a:r>
            <a:r>
              <a:rPr lang="en-US" sz="1000" dirty="0"/>
              <a:t> &amp; </a:t>
            </a:r>
            <a:r>
              <a:rPr lang="en-US" sz="1000" b="1" dirty="0"/>
              <a:t>Governance</a:t>
            </a:r>
            <a:r>
              <a:rPr lang="en-US" sz="1000" dirty="0"/>
              <a:t> Assessment”. Reassure delegates that their results are for themselves, you and their Award Manager to review – give up to 10 minutes for the completion of the assessment and collect the results checking that everyone has put their name on the sheets.</a:t>
            </a:r>
            <a:endParaRPr lang="en-GB" sz="1000" dirty="0"/>
          </a:p>
          <a:p>
            <a:r>
              <a:rPr lang="en-GB" sz="1000" dirty="0"/>
              <a:t>If a delegate requests to record for their private benefit because they find it difficult to learn and take in information in a workshop, perhaps offer them a space to review the slides with you at another time or maybe offer them this guide for reference? </a:t>
            </a:r>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4</a:t>
            </a:fld>
            <a:endParaRPr lang="en-US"/>
          </a:p>
        </p:txBody>
      </p:sp>
    </p:spTree>
    <p:extLst>
      <p:ext uri="{BB962C8B-B14F-4D97-AF65-F5344CB8AC3E}">
        <p14:creationId xmlns:p14="http://schemas.microsoft.com/office/powerpoint/2010/main" val="2047774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can be skipped by clicking on the little button on the </a:t>
            </a:r>
            <a:r>
              <a:rPr lang="en-US" b="1" dirty="0"/>
              <a:t>Housekeeping </a:t>
            </a:r>
            <a:r>
              <a:rPr lang="en-US" dirty="0"/>
              <a:t>slide, or used to explain Chatham House Rule.</a:t>
            </a:r>
            <a:endParaRPr lang="en-GB"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5</a:t>
            </a:fld>
            <a:endParaRPr lang="en-US"/>
          </a:p>
        </p:txBody>
      </p:sp>
    </p:spTree>
    <p:extLst>
      <p:ext uri="{BB962C8B-B14F-4D97-AF65-F5344CB8AC3E}">
        <p14:creationId xmlns:p14="http://schemas.microsoft.com/office/powerpoint/2010/main" val="988435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01750" y="214313"/>
            <a:ext cx="4254500" cy="2393950"/>
          </a:xfrm>
        </p:spPr>
      </p:sp>
      <p:sp>
        <p:nvSpPr>
          <p:cNvPr id="3" name="Notes Placeholder 2"/>
          <p:cNvSpPr>
            <a:spLocks noGrp="1"/>
          </p:cNvSpPr>
          <p:nvPr>
            <p:ph type="body" idx="1"/>
          </p:nvPr>
        </p:nvSpPr>
        <p:spPr>
          <a:xfrm>
            <a:off x="685800" y="2685111"/>
            <a:ext cx="5486400" cy="4114800"/>
          </a:xfrm>
        </p:spPr>
        <p:txBody>
          <a:bodyPr/>
          <a:lstStyle/>
          <a:p>
            <a:r>
              <a:rPr lang="en-US" dirty="0"/>
              <a:t>This slide might appear obvious to you as a facilitator but I have learnt that entrepreneurs often do not understand how their various roles fit different legal responsibilities and are thus key to understanding how their business works and the corollary of how to engage with other people within the business. The slide builds through animation each bullet at a time and then the final “You do it all!”. </a:t>
            </a:r>
            <a:endParaRPr lang="en-GB" dirty="0"/>
          </a:p>
          <a:p>
            <a:r>
              <a:rPr lang="en-US" dirty="0"/>
              <a:t>It connects closely with the following slide so you might choose to move onto the next slide earlier than my notes indicate.</a:t>
            </a:r>
            <a:endParaRPr lang="en-GB" dirty="0"/>
          </a:p>
          <a:p>
            <a:r>
              <a:rPr lang="en-US" dirty="0"/>
              <a:t>Here follows a suggested text for this slide:</a:t>
            </a:r>
            <a:endParaRPr lang="en-GB" dirty="0"/>
          </a:p>
          <a:p>
            <a:r>
              <a:rPr lang="en-US" dirty="0"/>
              <a:t>As entrepreneurs you might not be aware of the various legal roles you play in your </a:t>
            </a:r>
            <a:r>
              <a:rPr lang="en-US" dirty="0" err="1"/>
              <a:t>organisation</a:t>
            </a:r>
            <a:r>
              <a:rPr lang="en-US" dirty="0"/>
              <a:t> </a:t>
            </a:r>
            <a:r>
              <a:rPr lang="en-GB" dirty="0"/>
              <a:t>because they are all within you as one person. However, you are:</a:t>
            </a:r>
          </a:p>
          <a:p>
            <a:pPr lvl="0"/>
            <a:r>
              <a:rPr lang="en-GB" dirty="0"/>
              <a:t>the </a:t>
            </a:r>
            <a:r>
              <a:rPr lang="en-GB" b="1" dirty="0"/>
              <a:t>company owner</a:t>
            </a:r>
            <a:r>
              <a:rPr lang="en-GB" dirty="0"/>
              <a:t> if you are a </a:t>
            </a:r>
            <a:r>
              <a:rPr lang="en-GB" b="1" dirty="0"/>
              <a:t>shareholder </a:t>
            </a:r>
            <a:r>
              <a:rPr lang="en-GB" dirty="0"/>
              <a:t>or </a:t>
            </a:r>
            <a:r>
              <a:rPr lang="en-GB" b="1" dirty="0"/>
              <a:t>member</a:t>
            </a:r>
            <a:r>
              <a:rPr lang="en-GB" dirty="0"/>
              <a:t> of the company when incorporated;</a:t>
            </a:r>
          </a:p>
          <a:p>
            <a:pPr lvl="0"/>
            <a:r>
              <a:rPr lang="en-GB" dirty="0"/>
              <a:t>a company </a:t>
            </a:r>
            <a:r>
              <a:rPr lang="en-GB" b="1" dirty="0"/>
              <a:t>director</a:t>
            </a:r>
            <a:r>
              <a:rPr lang="en-GB" dirty="0"/>
              <a:t> if the company has been set up appropriately because the founder-entrepreneur should be a director;</a:t>
            </a:r>
          </a:p>
          <a:p>
            <a:pPr lvl="0"/>
            <a:r>
              <a:rPr lang="en-GB" dirty="0"/>
              <a:t>an </a:t>
            </a:r>
            <a:r>
              <a:rPr lang="en-GB" b="1" dirty="0"/>
              <a:t>employee</a:t>
            </a:r>
            <a:r>
              <a:rPr lang="en-GB" dirty="0"/>
              <a:t> in as much as you are the </a:t>
            </a:r>
            <a:r>
              <a:rPr lang="en-GB" b="1" dirty="0"/>
              <a:t>managing director</a:t>
            </a:r>
            <a:r>
              <a:rPr lang="en-GB" dirty="0"/>
              <a:t> or </a:t>
            </a:r>
            <a:r>
              <a:rPr lang="en-GB" b="1" dirty="0"/>
              <a:t>chief executive officer</a:t>
            </a:r>
            <a:r>
              <a:rPr lang="en-GB" dirty="0"/>
              <a:t> (you might not currently have an </a:t>
            </a:r>
            <a:r>
              <a:rPr lang="en-GB" b="1" dirty="0"/>
              <a:t>employment contract</a:t>
            </a:r>
            <a:r>
              <a:rPr lang="en-GB" dirty="0"/>
              <a:t> for this but in time this will probably change);</a:t>
            </a:r>
          </a:p>
          <a:p>
            <a:pPr lvl="0"/>
            <a:r>
              <a:rPr lang="en-GB" dirty="0"/>
              <a:t>a </a:t>
            </a:r>
            <a:r>
              <a:rPr lang="en-GB" b="1" dirty="0"/>
              <a:t>volunteer</a:t>
            </a:r>
            <a:r>
              <a:rPr lang="en-GB" dirty="0"/>
              <a:t> if you participate without pay in events (however this is expected of most </a:t>
            </a:r>
            <a:r>
              <a:rPr lang="en-GB" b="1" dirty="0"/>
              <a:t>founders</a:t>
            </a:r>
            <a:r>
              <a:rPr lang="en-GB" dirty="0"/>
              <a:t>);</a:t>
            </a:r>
          </a:p>
          <a:p>
            <a:pPr lvl="0"/>
            <a:r>
              <a:rPr lang="en-GB" dirty="0"/>
              <a:t>a</a:t>
            </a:r>
            <a:r>
              <a:rPr lang="en-GB" b="1" dirty="0"/>
              <a:t> beneficiary</a:t>
            </a:r>
            <a:r>
              <a:rPr lang="en-GB" dirty="0"/>
              <a:t> if your social enterprise helps you as it achieves its </a:t>
            </a:r>
            <a:r>
              <a:rPr lang="en-GB" b="1" dirty="0"/>
              <a:t>social mission</a:t>
            </a:r>
            <a:r>
              <a:rPr lang="en-GB" dirty="0"/>
              <a:t> (if you run a </a:t>
            </a:r>
            <a:r>
              <a:rPr lang="en-GB" b="1" dirty="0"/>
              <a:t>social firm </a:t>
            </a:r>
            <a:r>
              <a:rPr lang="en-GB" dirty="0"/>
              <a:t>which aims to provide employment for a certain group of people which you are part of) </a:t>
            </a:r>
          </a:p>
          <a:p>
            <a:pPr lvl="0"/>
            <a:r>
              <a:rPr lang="en-GB" dirty="0"/>
              <a:t>a </a:t>
            </a:r>
            <a:r>
              <a:rPr lang="en-GB" b="1" dirty="0"/>
              <a:t>funder </a:t>
            </a:r>
            <a:r>
              <a:rPr lang="en-GB" dirty="0"/>
              <a:t>or </a:t>
            </a:r>
            <a:r>
              <a:rPr lang="en-GB" b="1" dirty="0"/>
              <a:t>investor</a:t>
            </a:r>
            <a:r>
              <a:rPr lang="en-GB" dirty="0"/>
              <a:t> since most entrepreneurs put their own money and time into their ventures.</a:t>
            </a:r>
          </a:p>
          <a:p>
            <a:r>
              <a:rPr lang="en-GB" dirty="0"/>
              <a:t>It important that you consider yourself separately in these various roles because different aspects of law control the different roles. This is important when reviewing your engagement with your venture and important when considering how other people engage with your organisation. Other people hold these roles each in isolation or in a different mix for example: some people are only employees; some people are only volunteers; but some people can be volunteers and employees; or even investors (funders), owners (shareholders) and directors as well as employees.</a:t>
            </a:r>
          </a:p>
          <a:p>
            <a:r>
              <a:rPr lang="en-GB" dirty="0"/>
              <a:t>Knowing where your various responsibilities sit legally helps you to start understanding and managing your organisation as a separate legal entity from yourself. This is important to ensure it become a sustainable business. </a:t>
            </a:r>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7</a:t>
            </a:fld>
            <a:endParaRPr lang="en-US"/>
          </a:p>
        </p:txBody>
      </p:sp>
    </p:spTree>
    <p:extLst>
      <p:ext uri="{BB962C8B-B14F-4D97-AF65-F5344CB8AC3E}">
        <p14:creationId xmlns:p14="http://schemas.microsoft.com/office/powerpoint/2010/main" val="4153572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8375" y="201613"/>
            <a:ext cx="4622800" cy="2601912"/>
          </a:xfrm>
        </p:spPr>
      </p:sp>
      <p:sp>
        <p:nvSpPr>
          <p:cNvPr id="3" name="Notes Placeholder 2"/>
          <p:cNvSpPr>
            <a:spLocks noGrp="1"/>
          </p:cNvSpPr>
          <p:nvPr>
            <p:ph type="body" idx="1"/>
          </p:nvPr>
        </p:nvSpPr>
        <p:spPr>
          <a:xfrm>
            <a:off x="536864" y="3179618"/>
            <a:ext cx="5486400" cy="4114800"/>
          </a:xfrm>
        </p:spPr>
        <p:txBody>
          <a:bodyPr/>
          <a:lstStyle/>
          <a:p>
            <a:r>
              <a:rPr lang="en-GB" dirty="0"/>
              <a:t>Suggested slide notes:</a:t>
            </a:r>
          </a:p>
          <a:p>
            <a:r>
              <a:rPr lang="en-GB" dirty="0"/>
              <a:t>These roles fall into four key areas:</a:t>
            </a:r>
          </a:p>
          <a:p>
            <a:pPr lvl="0"/>
            <a:r>
              <a:rPr lang="en-GB" dirty="0"/>
              <a:t>Ownership including owners and some investors (if they happen to buy shares with their investment)</a:t>
            </a:r>
          </a:p>
          <a:p>
            <a:pPr lvl="0"/>
            <a:r>
              <a:rPr lang="en-GB" dirty="0"/>
              <a:t>Strategic direction is given by directors</a:t>
            </a:r>
          </a:p>
          <a:p>
            <a:pPr lvl="0"/>
            <a:r>
              <a:rPr lang="en-GB" dirty="0"/>
              <a:t>Operations – this is where the business of the organisation happens delivered by employees, volunteers, funders, consultants, contractors and anyone else who makes stuff happen in the business. (Funders do this by providing money for the operations)</a:t>
            </a:r>
          </a:p>
          <a:p>
            <a:pPr lvl="0"/>
            <a:r>
              <a:rPr lang="en-GB" dirty="0"/>
              <a:t>Impact – this is the result of the operations and is why social enterprises are created.</a:t>
            </a:r>
          </a:p>
          <a:p>
            <a:r>
              <a:rPr lang="en-GB" dirty="0"/>
              <a:t>This understanding also helps you to interact more efficiently and effectively with all those people who rush up to you and say “I love what you’re doing and want to help/be involved!”. If you are able to step back and consider where they fit:</a:t>
            </a:r>
          </a:p>
          <a:p>
            <a:pPr lvl="0"/>
            <a:r>
              <a:rPr lang="en-GB" dirty="0"/>
              <a:t>Do they mean they want to own the organisation and be a member or shareholder?</a:t>
            </a:r>
          </a:p>
          <a:p>
            <a:pPr lvl="0"/>
            <a:r>
              <a:rPr lang="en-GB" dirty="0"/>
              <a:t>Do they mean they want to be a director? Or just an ad hoc advisor sometimes who may or may not be paid for strategic guidance?</a:t>
            </a:r>
          </a:p>
          <a:p>
            <a:pPr lvl="0"/>
            <a:r>
              <a:rPr lang="en-GB" dirty="0"/>
              <a:t>Do they want to be busy doing the operations as an employee, consultant, volunteer or contractor?</a:t>
            </a:r>
          </a:p>
          <a:p>
            <a:pPr lvl="0"/>
            <a:r>
              <a:rPr lang="en-GB" dirty="0"/>
              <a:t>Do they need your services or know someone who does?</a:t>
            </a:r>
          </a:p>
          <a:p>
            <a:r>
              <a:rPr lang="en-GB" dirty="0"/>
              <a:t>Before we even cover the various definitions these areas cover, you can see that understanding how you are involved can help you engage better with other people. This separation becomes even more important when dealing with many unpaid volunteers because suddenly people start asking for shares or “sweat equity”, advisors offer to be on the board and beneficiaries want to be employed. All of these individuals could have started working with you as unpaid volunteers and untangling the relationships is key to building a sustainable business. </a:t>
            </a:r>
          </a:p>
          <a:p>
            <a:r>
              <a:rPr lang="en-GB" dirty="0"/>
              <a:t>Let us unravel each term and phrase and issue more carefully.</a:t>
            </a:r>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8</a:t>
            </a:fld>
            <a:endParaRPr lang="en-US"/>
          </a:p>
        </p:txBody>
      </p:sp>
    </p:spTree>
    <p:extLst>
      <p:ext uri="{BB962C8B-B14F-4D97-AF65-F5344CB8AC3E}">
        <p14:creationId xmlns:p14="http://schemas.microsoft.com/office/powerpoint/2010/main" val="3977245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3950" y="173038"/>
            <a:ext cx="4568825" cy="2570162"/>
          </a:xfrm>
        </p:spPr>
      </p:sp>
      <p:sp>
        <p:nvSpPr>
          <p:cNvPr id="3" name="Notes Placeholder 2"/>
          <p:cNvSpPr>
            <a:spLocks noGrp="1"/>
          </p:cNvSpPr>
          <p:nvPr>
            <p:ph type="body" idx="1"/>
          </p:nvPr>
        </p:nvSpPr>
        <p:spPr>
          <a:xfrm>
            <a:off x="277091" y="2902528"/>
            <a:ext cx="6262254" cy="4287982"/>
          </a:xfrm>
        </p:spPr>
        <p:txBody>
          <a:bodyPr/>
          <a:lstStyle/>
          <a:p>
            <a:r>
              <a:rPr lang="en-US" dirty="0"/>
              <a:t>This slides grows in three separate animated sections under ownership, strategic direction and operations. Each appears in a mouse click and it is suggested that as each section is described the mouse click brings the section on.</a:t>
            </a:r>
            <a:endParaRPr lang="en-GB" dirty="0"/>
          </a:p>
          <a:p>
            <a:r>
              <a:rPr lang="en-US" dirty="0"/>
              <a:t>Suggested slide notes:</a:t>
            </a:r>
            <a:endParaRPr lang="en-GB" dirty="0"/>
          </a:p>
          <a:p>
            <a:r>
              <a:rPr lang="en-US" dirty="0"/>
              <a:t>To simplify matters we are going to focus on the three areas of ownership, strategic direction and operations as impact is a by-product of operations and the ways to manage and measure operations can (and should be) implemented on impact.</a:t>
            </a:r>
            <a:endParaRPr lang="en-GB" dirty="0"/>
          </a:p>
          <a:p>
            <a:r>
              <a:rPr lang="en-US" b="1" dirty="0"/>
              <a:t>Ownership</a:t>
            </a:r>
            <a:r>
              <a:rPr lang="en-US" dirty="0"/>
              <a:t> – this is the power of the organization. </a:t>
            </a:r>
            <a:r>
              <a:rPr lang="en-US" dirty="0" err="1"/>
              <a:t>Organisations</a:t>
            </a:r>
            <a:r>
              <a:rPr lang="en-US" dirty="0"/>
              <a:t> are either owned by members or shareholders. Various different legal structures allow for shareholders or members – the most commonly known structures related to these are </a:t>
            </a:r>
            <a:r>
              <a:rPr lang="en-US" b="1" dirty="0"/>
              <a:t>Company limited </a:t>
            </a:r>
            <a:r>
              <a:rPr lang="en-US" b="1" i="1" dirty="0"/>
              <a:t>by shares</a:t>
            </a:r>
            <a:r>
              <a:rPr lang="en-US" dirty="0"/>
              <a:t> and </a:t>
            </a:r>
            <a:r>
              <a:rPr lang="en-US" b="1" dirty="0"/>
              <a:t>Company limited </a:t>
            </a:r>
            <a:r>
              <a:rPr lang="en-US" b="1" i="1" dirty="0"/>
              <a:t>by guarantee</a:t>
            </a:r>
            <a:r>
              <a:rPr lang="en-US" dirty="0"/>
              <a:t>, where ownership is through shareholders and members respectively.</a:t>
            </a:r>
            <a:endParaRPr lang="en-GB" dirty="0"/>
          </a:p>
          <a:p>
            <a:r>
              <a:rPr lang="en-US" dirty="0"/>
              <a:t>The owners confirm the company law which runs the organization in terms of the Company Articles (discussed shortly) and through the powers in these they also appoint most board directors.</a:t>
            </a:r>
            <a:endParaRPr lang="en-GB" dirty="0"/>
          </a:p>
          <a:p>
            <a:r>
              <a:rPr lang="en-US" b="1" dirty="0"/>
              <a:t>Strategic direction</a:t>
            </a:r>
            <a:r>
              <a:rPr lang="en-US" dirty="0"/>
              <a:t> – the board of directors (or</a:t>
            </a:r>
            <a:r>
              <a:rPr lang="en-US" b="1" dirty="0"/>
              <a:t> trustees</a:t>
            </a:r>
            <a:r>
              <a:rPr lang="en-US" dirty="0"/>
              <a:t> as called in some charitable </a:t>
            </a:r>
            <a:r>
              <a:rPr lang="en-US" dirty="0" err="1"/>
              <a:t>organisations</a:t>
            </a:r>
            <a:r>
              <a:rPr lang="en-US" dirty="0"/>
              <a:t>) are appointed by the owners according to the Articles and they are responsible and liable for the company being sustainable in every sense as measured by law and the Articles.</a:t>
            </a:r>
            <a:endParaRPr lang="en-GB" dirty="0"/>
          </a:p>
          <a:p>
            <a:r>
              <a:rPr lang="en-US" dirty="0"/>
              <a:t>The board is responsible for managing the company through the </a:t>
            </a:r>
            <a:r>
              <a:rPr lang="en-US" b="1" dirty="0"/>
              <a:t>managing director</a:t>
            </a:r>
            <a:r>
              <a:rPr lang="en-US" dirty="0"/>
              <a:t> or </a:t>
            </a:r>
            <a:r>
              <a:rPr lang="en-US" b="1" dirty="0"/>
              <a:t>chief executive officer </a:t>
            </a:r>
            <a:r>
              <a:rPr lang="en-US" dirty="0"/>
              <a:t>(who they appoint and can fire). There are decisions which can be reserved through law, the Articles or </a:t>
            </a:r>
            <a:r>
              <a:rPr lang="en-US" b="1" dirty="0"/>
              <a:t>company policy</a:t>
            </a:r>
            <a:r>
              <a:rPr lang="en-US" dirty="0"/>
              <a:t> for the board’s decision. Investment is usually one of these decisions.</a:t>
            </a:r>
            <a:endParaRPr lang="en-GB" dirty="0"/>
          </a:p>
          <a:p>
            <a:r>
              <a:rPr lang="en-US" dirty="0"/>
              <a:t>Company policies should be drawn up for board approval and contribute to clarifying the boundaries between board responsibilities and operational staff ones. For example, certain amounts of </a:t>
            </a:r>
            <a:r>
              <a:rPr lang="en-US" b="1" dirty="0"/>
              <a:t>expenditure</a:t>
            </a:r>
            <a:r>
              <a:rPr lang="en-US" dirty="0"/>
              <a:t> will be signed off by people within the company with increasing value corresponding to increasing seniority but there is always an amount that defines where directors must make an expenditure decision.</a:t>
            </a:r>
            <a:endParaRPr lang="en-GB" dirty="0"/>
          </a:p>
          <a:p>
            <a:r>
              <a:rPr lang="en-US" b="1" dirty="0"/>
              <a:t>Operations – </a:t>
            </a:r>
            <a:r>
              <a:rPr lang="en-US" dirty="0"/>
              <a:t>under the board’s strategic direction the managing director / chief executive officer hires staff, runs the business and delivers the social impact. </a:t>
            </a:r>
            <a:endParaRPr lang="en-GB" dirty="0"/>
          </a:p>
          <a:p>
            <a:r>
              <a:rPr lang="en-US" dirty="0"/>
              <a:t>Yes, technically the board could fire an owner who was also a managing director and board director. However, that person would be fired in their operational role and could revert to their role as owner and call a </a:t>
            </a:r>
            <a:r>
              <a:rPr lang="en-US" b="1" dirty="0"/>
              <a:t>special general meeting</a:t>
            </a:r>
            <a:r>
              <a:rPr lang="en-US" dirty="0"/>
              <a:t> to reconsider the situation. If they owned enough shares the owner could remove all the other directors and reinstate new ones and carry on… but it is a bit more complex than this example illustrates.</a:t>
            </a:r>
            <a:endParaRPr lang="en-GB"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9</a:t>
            </a:fld>
            <a:endParaRPr lang="en-US"/>
          </a:p>
        </p:txBody>
      </p:sp>
    </p:spTree>
    <p:extLst>
      <p:ext uri="{BB962C8B-B14F-4D97-AF65-F5344CB8AC3E}">
        <p14:creationId xmlns:p14="http://schemas.microsoft.com/office/powerpoint/2010/main" val="1330161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3950" y="173038"/>
            <a:ext cx="4568825" cy="2570162"/>
          </a:xfrm>
        </p:spPr>
      </p:sp>
      <p:sp>
        <p:nvSpPr>
          <p:cNvPr id="3" name="Notes Placeholder 2"/>
          <p:cNvSpPr>
            <a:spLocks noGrp="1"/>
          </p:cNvSpPr>
          <p:nvPr>
            <p:ph type="body" idx="1"/>
          </p:nvPr>
        </p:nvSpPr>
        <p:spPr>
          <a:xfrm>
            <a:off x="277091" y="2902528"/>
            <a:ext cx="6262254" cy="4287982"/>
          </a:xfrm>
        </p:spPr>
        <p:txBody>
          <a:bodyPr/>
          <a:lstStyle/>
          <a:p>
            <a:r>
              <a:rPr lang="en-US" dirty="0"/>
              <a:t>This slides grows in three separate animated sections under ownership, strategic direction and operations. Each appears in a mouse click and it is suggested that as each section is described the mouse click brings the section on.</a:t>
            </a:r>
            <a:endParaRPr lang="en-GB" dirty="0"/>
          </a:p>
          <a:p>
            <a:r>
              <a:rPr lang="en-US" dirty="0"/>
              <a:t>Suggested slide notes:</a:t>
            </a:r>
            <a:endParaRPr lang="en-GB" dirty="0"/>
          </a:p>
          <a:p>
            <a:r>
              <a:rPr lang="en-US" dirty="0"/>
              <a:t>To simplify matters we are going to focus on the three areas of ownership, strategic direction and operations as impact is a by-product of operations and the ways to manage and measure operations can (and should be) implemented on impact.</a:t>
            </a:r>
            <a:endParaRPr lang="en-GB" dirty="0"/>
          </a:p>
          <a:p>
            <a:r>
              <a:rPr lang="en-US" b="1" dirty="0"/>
              <a:t>Ownership</a:t>
            </a:r>
            <a:r>
              <a:rPr lang="en-US" dirty="0"/>
              <a:t> – this is the power of the organization. </a:t>
            </a:r>
            <a:r>
              <a:rPr lang="en-US" dirty="0" err="1"/>
              <a:t>Organisations</a:t>
            </a:r>
            <a:r>
              <a:rPr lang="en-US" dirty="0"/>
              <a:t> are either owned by members or shareholders. Various different legal structures allow for shareholders or members – the most commonly known structures related to these are </a:t>
            </a:r>
            <a:r>
              <a:rPr lang="en-US" b="1" dirty="0"/>
              <a:t>Company limited </a:t>
            </a:r>
            <a:r>
              <a:rPr lang="en-US" b="1" i="1" dirty="0"/>
              <a:t>by shares</a:t>
            </a:r>
            <a:r>
              <a:rPr lang="en-US" dirty="0"/>
              <a:t> and </a:t>
            </a:r>
            <a:r>
              <a:rPr lang="en-US" b="1" dirty="0"/>
              <a:t>Company limited </a:t>
            </a:r>
            <a:r>
              <a:rPr lang="en-US" b="1" i="1" dirty="0"/>
              <a:t>by guarantee</a:t>
            </a:r>
            <a:r>
              <a:rPr lang="en-US" dirty="0"/>
              <a:t>, where ownership is through shareholders and members respectively.</a:t>
            </a:r>
            <a:endParaRPr lang="en-GB" dirty="0"/>
          </a:p>
          <a:p>
            <a:r>
              <a:rPr lang="en-US" dirty="0"/>
              <a:t>The owners confirm the company law which runs the organization in terms of the Company Articles (discussed shortly) and through the powers in these they also appoint most board directors.</a:t>
            </a:r>
            <a:endParaRPr lang="en-GB" dirty="0"/>
          </a:p>
          <a:p>
            <a:r>
              <a:rPr lang="en-US" b="1" dirty="0"/>
              <a:t>Strategic direction</a:t>
            </a:r>
            <a:r>
              <a:rPr lang="en-US" dirty="0"/>
              <a:t> – the board of directors (or</a:t>
            </a:r>
            <a:r>
              <a:rPr lang="en-US" b="1" dirty="0"/>
              <a:t> trustees</a:t>
            </a:r>
            <a:r>
              <a:rPr lang="en-US" dirty="0"/>
              <a:t> as called in some charitable </a:t>
            </a:r>
            <a:r>
              <a:rPr lang="en-US" dirty="0" err="1"/>
              <a:t>organisations</a:t>
            </a:r>
            <a:r>
              <a:rPr lang="en-US" dirty="0"/>
              <a:t>) are appointed by the owners according to the Articles and they are responsible and liable for the company being sustainable in every sense as measured by law and the Articles.</a:t>
            </a:r>
            <a:endParaRPr lang="en-GB" dirty="0"/>
          </a:p>
          <a:p>
            <a:r>
              <a:rPr lang="en-US" dirty="0"/>
              <a:t>The board is responsible for managing the company through the </a:t>
            </a:r>
            <a:r>
              <a:rPr lang="en-US" b="1" dirty="0"/>
              <a:t>managing director</a:t>
            </a:r>
            <a:r>
              <a:rPr lang="en-US" dirty="0"/>
              <a:t> or </a:t>
            </a:r>
            <a:r>
              <a:rPr lang="en-US" b="1" dirty="0"/>
              <a:t>chief executive officer </a:t>
            </a:r>
            <a:r>
              <a:rPr lang="en-US" dirty="0"/>
              <a:t>(who they appoint and can fire). There are decisions which can be reserved through law, the Articles or </a:t>
            </a:r>
            <a:r>
              <a:rPr lang="en-US" b="1" dirty="0"/>
              <a:t>company policy</a:t>
            </a:r>
            <a:r>
              <a:rPr lang="en-US" dirty="0"/>
              <a:t> for the board’s decision. Investment is usually one of these decisions.</a:t>
            </a:r>
            <a:endParaRPr lang="en-GB" dirty="0"/>
          </a:p>
          <a:p>
            <a:r>
              <a:rPr lang="en-US" dirty="0"/>
              <a:t>Company policies should be drawn up for board approval and contribute to clarifying the boundaries between board responsibilities and operational staff ones. For example, certain amounts of </a:t>
            </a:r>
            <a:r>
              <a:rPr lang="en-US" b="1" dirty="0"/>
              <a:t>expenditure</a:t>
            </a:r>
            <a:r>
              <a:rPr lang="en-US" dirty="0"/>
              <a:t> will be signed off by people within the company with increasing value corresponding to increasing seniority but there is always an amount that defines where directors must make an expenditure decision.</a:t>
            </a:r>
            <a:endParaRPr lang="en-GB" dirty="0"/>
          </a:p>
          <a:p>
            <a:r>
              <a:rPr lang="en-US" b="1" dirty="0"/>
              <a:t>Operations – </a:t>
            </a:r>
            <a:r>
              <a:rPr lang="en-US" dirty="0"/>
              <a:t>under the board’s strategic direction the managing director / chief executive officer hires staff, runs the business and delivers the social impact. </a:t>
            </a:r>
            <a:endParaRPr lang="en-GB" dirty="0"/>
          </a:p>
          <a:p>
            <a:r>
              <a:rPr lang="en-US" dirty="0"/>
              <a:t>Yes, technically the board could fire an owner who was also a managing director and board director. However, that person would be fired in their operational role and could revert to their role as owner and call a </a:t>
            </a:r>
            <a:r>
              <a:rPr lang="en-US" b="1" dirty="0"/>
              <a:t>special general meeting</a:t>
            </a:r>
            <a:r>
              <a:rPr lang="en-US" dirty="0"/>
              <a:t> to reconsider the situation. If they owned enough shares the owner could remove all the other directors and reinstate new ones and carry on… but it is a bit more complex than this example illustrates.</a:t>
            </a:r>
            <a:endParaRPr lang="en-GB"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10</a:t>
            </a:fld>
            <a:endParaRPr lang="en-US"/>
          </a:p>
        </p:txBody>
      </p:sp>
    </p:spTree>
    <p:extLst>
      <p:ext uri="{BB962C8B-B14F-4D97-AF65-F5344CB8AC3E}">
        <p14:creationId xmlns:p14="http://schemas.microsoft.com/office/powerpoint/2010/main" val="41927202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9900" y="228600"/>
            <a:ext cx="3378200" cy="1900238"/>
          </a:xfrm>
        </p:spPr>
      </p:sp>
      <p:sp>
        <p:nvSpPr>
          <p:cNvPr id="3" name="Notes Placeholder 2"/>
          <p:cNvSpPr>
            <a:spLocks noGrp="1"/>
          </p:cNvSpPr>
          <p:nvPr>
            <p:ph type="body" idx="1"/>
          </p:nvPr>
        </p:nvSpPr>
        <p:spPr/>
        <p:txBody>
          <a:bodyPr/>
          <a:lstStyle/>
          <a:p>
            <a:r>
              <a:rPr lang="en-GB" dirty="0"/>
              <a:t>This is where my governance dance is useful. In each position the entrepreneur has different capacities and responsibilities. As an owner they appoint the board, as a director they give strategic direction to the CEO who is appointed by the board. As the CEO they are responsible for operations including staff and impact delivery. Key to understanding the separation of the roles is understanding the Fire the CEO dance move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2C06E8-48A6-4E03-8711-C45C0018F498}" type="slidenum">
              <a:rPr kumimoji="0" lang="en-GB" sz="11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2109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This image builds gradually to try and explain all the social terms and connect them to this legal structures discussion.</a:t>
            </a:r>
            <a:endParaRPr lang="en-GB" dirty="0"/>
          </a:p>
          <a:p>
            <a:r>
              <a:rPr lang="en-US" dirty="0"/>
              <a:t>[FIRST CLICK] </a:t>
            </a:r>
            <a:r>
              <a:rPr lang="en-US" i="1" dirty="0"/>
              <a:t>Everyone in this room is a social entrepreneur. Some of us focus on starting new ventures, some of us work away on our own, some create systems for social change (sometimes called social </a:t>
            </a:r>
            <a:r>
              <a:rPr lang="en-US" i="1" dirty="0" err="1"/>
              <a:t>extrapreneurs</a:t>
            </a:r>
            <a:r>
              <a:rPr lang="en-US" i="1" dirty="0"/>
              <a:t> and some work within </a:t>
            </a:r>
            <a:r>
              <a:rPr lang="en-US" i="1" dirty="0" err="1"/>
              <a:t>organisations</a:t>
            </a:r>
            <a:r>
              <a:rPr lang="en-US" i="1" dirty="0"/>
              <a:t> driving social change (sometimes called social intrapreneurs).</a:t>
            </a:r>
            <a:endParaRPr lang="en-GB" dirty="0"/>
          </a:p>
          <a:p>
            <a:r>
              <a:rPr lang="en-US" dirty="0"/>
              <a:t>[SECOND CLICK]</a:t>
            </a:r>
            <a:r>
              <a:rPr lang="en-US" i="1" dirty="0"/>
              <a:t> But some social entrepreneurs create businesses to deliver social change. A Social Business does not have social impact imperatives in its articles of association but it is social due in part to the founder and team but also it delivers social change operationally.</a:t>
            </a:r>
            <a:endParaRPr lang="en-GB" dirty="0"/>
          </a:p>
          <a:p>
            <a:r>
              <a:rPr lang="en-US" dirty="0"/>
              <a:t>[THIRD CLICK] </a:t>
            </a:r>
            <a:r>
              <a:rPr lang="en-US" i="1" dirty="0"/>
              <a:t>A subset of this have decided they want to be social businesses and express this as a social mission usually in their articles of association. It is just a clause saying what social change the organization is aiming to achieve.</a:t>
            </a:r>
            <a:endParaRPr lang="en-GB" dirty="0"/>
          </a:p>
          <a:p>
            <a:r>
              <a:rPr lang="en-US" dirty="0"/>
              <a:t>[FOURTH CLICK] </a:t>
            </a:r>
            <a:r>
              <a:rPr lang="en-US" i="1" dirty="0"/>
              <a:t>Some social ventures want to entrench their social mission by including a commitment of resources to the social change; usually this is a commitment to reinvest more than 51% of profits into the business and its social change; and sometimes it also includes a percentage of profits allocated to the social mission. These are inserted into the articles of the company. This definition of social enterprises is the one used by Social Enterprise UK for membership and for the Social Enterprise Mark to be awarded. An organization can be a social enterprise without these badges. Deciding whether they are helpful is a business decision. </a:t>
            </a:r>
            <a:endParaRPr lang="en-GB" dirty="0"/>
          </a:p>
          <a:p>
            <a:r>
              <a:rPr lang="en-US" dirty="0"/>
              <a:t>[FIFTH CLICK] </a:t>
            </a:r>
            <a:r>
              <a:rPr lang="en-US" i="1" dirty="0"/>
              <a:t>A further subset is Community Interest Companies (both limited by shares and by guarantee) – they are by nature social enterprises.</a:t>
            </a:r>
            <a:endParaRPr lang="en-GB" dirty="0"/>
          </a:p>
          <a:p>
            <a:r>
              <a:rPr lang="en-US" dirty="0"/>
              <a:t>[SIXTH CLICK] </a:t>
            </a:r>
            <a:r>
              <a:rPr lang="en-US" i="1" dirty="0"/>
              <a:t>A badge which is considered social is the </a:t>
            </a:r>
            <a:r>
              <a:rPr lang="en-US" i="1" dirty="0" err="1"/>
              <a:t>BCorp</a:t>
            </a:r>
            <a:r>
              <a:rPr lang="en-US" i="1" dirty="0"/>
              <a:t> one which will be discussed in detail shortly. However please note that not all </a:t>
            </a:r>
            <a:r>
              <a:rPr lang="en-US" i="1" dirty="0" err="1"/>
              <a:t>BCorps</a:t>
            </a:r>
            <a:r>
              <a:rPr lang="en-US" i="1" dirty="0"/>
              <a:t> are social enterprises or even run by social entrepreneurs</a:t>
            </a:r>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14</a:t>
            </a:fld>
            <a:endParaRPr lang="en-US"/>
          </a:p>
        </p:txBody>
      </p:sp>
    </p:spTree>
    <p:extLst>
      <p:ext uri="{BB962C8B-B14F-4D97-AF65-F5344CB8AC3E}">
        <p14:creationId xmlns:p14="http://schemas.microsoft.com/office/powerpoint/2010/main" val="3903836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9900" y="228600"/>
            <a:ext cx="3378200" cy="1900238"/>
          </a:xfrm>
        </p:spPr>
      </p:sp>
      <p:sp>
        <p:nvSpPr>
          <p:cNvPr id="3" name="Notes Placeholder 2"/>
          <p:cNvSpPr>
            <a:spLocks noGrp="1"/>
          </p:cNvSpPr>
          <p:nvPr>
            <p:ph type="body" idx="1"/>
          </p:nvPr>
        </p:nvSpPr>
        <p:spPr/>
        <p:txBody>
          <a:bodyPr/>
          <a:lstStyle/>
          <a:p>
            <a:r>
              <a:rPr lang="en-US" b="1" dirty="0"/>
              <a:t>Since often we are talking social investment via shares into companies limited by shares it is worth covering the main issues that arise with social mission in this legal structure.</a:t>
            </a:r>
            <a:endParaRPr lang="en-GB" b="1" dirty="0"/>
          </a:p>
          <a:p>
            <a:r>
              <a:rPr lang="en-US" b="1" dirty="0"/>
              <a:t>As you might have noticed, CLSs are not by default social enterprises. A CLS which has a social mission is called a social business – the Body Shop was a social business. It was setup before the definitions became so specific and social clauses and CICs were not around.</a:t>
            </a:r>
            <a:endParaRPr lang="en-GB" b="1" dirty="0"/>
          </a:p>
          <a:p>
            <a:r>
              <a:rPr lang="en-US" b="1" dirty="0"/>
              <a:t>CIC CLSs have a permanent social lock created by the CIC regulator’s requirements of CICs (we go into more detail shortly). CICs are social enterprises whether CLGs or CLSs.</a:t>
            </a:r>
            <a:endParaRPr lang="en-GB" b="1" dirty="0"/>
          </a:p>
          <a:p>
            <a:r>
              <a:rPr lang="en-US" b="1" dirty="0"/>
              <a:t>A CLS can become social enterprise by having a social clause reflecting their chosen social mission and a social asset lock which allocates a percentage of assets or certain assets to their chosen social good. This clause can be inserted into a standard CLS set of Articles with the usual 75% majority of shareholders required and the organisation would be recognised as a social enterprise. The clauses can be further locked by an increased majority of shareholders for amending clauses or a Golden Share.</a:t>
            </a:r>
            <a:endParaRPr lang="en-GB" b="1" dirty="0"/>
          </a:p>
          <a:p>
            <a:r>
              <a:rPr lang="en-US" b="1" dirty="0"/>
              <a:t>There are also “badges” of social enterprise which all require at least these clauses to be inserted.</a:t>
            </a:r>
            <a:endParaRPr lang="en-GB" b="1" dirty="0"/>
          </a:p>
          <a:p>
            <a:r>
              <a:rPr lang="en-US" b="1" dirty="0"/>
              <a:t>Funders/Investors and stakeholders including commissioners often request that an organisation is a social enterprise, or a not for profit (not a UK legal term), or a CIC, or proof their social status through having a social badge (the main ones being the Social Enterprise Mark, membership of Social Enterprise UK or more recently the </a:t>
            </a:r>
            <a:r>
              <a:rPr lang="en-US" b="1" dirty="0" err="1"/>
              <a:t>BCorp</a:t>
            </a:r>
            <a:r>
              <a:rPr lang="en-US" b="1" dirty="0"/>
              <a:t>).</a:t>
            </a:r>
            <a:endParaRPr lang="en-GB" b="1" dirty="0"/>
          </a:p>
          <a:p>
            <a:r>
              <a:rPr lang="en-US" b="1" dirty="0"/>
              <a:t>Choosing your legal structure for a funder or stakeholder is not appropriate. Finding a structure that allows you to achieve the social mission you want and to both express and protect that legacy is most important. Then deciding which badge or structure best reflects your organisation is best.</a:t>
            </a:r>
            <a:endParaRPr lang="en-GB" b="1"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15</a:t>
            </a:fld>
            <a:endParaRPr lang="en-US"/>
          </a:p>
        </p:txBody>
      </p:sp>
    </p:spTree>
    <p:extLst>
      <p:ext uri="{BB962C8B-B14F-4D97-AF65-F5344CB8AC3E}">
        <p14:creationId xmlns:p14="http://schemas.microsoft.com/office/powerpoint/2010/main" val="3731501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This is a graphical image of the options for </a:t>
            </a:r>
            <a:r>
              <a:rPr lang="en-US" i="1" dirty="0" err="1"/>
              <a:t>organisations</a:t>
            </a:r>
            <a:r>
              <a:rPr lang="en-US" i="1" dirty="0"/>
              <a:t> to demonstrate their social mission. This is important for two reasons:</a:t>
            </a:r>
            <a:endParaRPr lang="en-GB" dirty="0"/>
          </a:p>
          <a:p>
            <a:pPr lvl="0"/>
            <a:r>
              <a:rPr lang="en-US" i="1" dirty="0"/>
              <a:t>the intention to be a social enterprise needs to be articulated in a social clause even though it might remain an internal communication tool;</a:t>
            </a:r>
            <a:endParaRPr lang="en-GB" dirty="0"/>
          </a:p>
          <a:p>
            <a:pPr lvl="0"/>
            <a:r>
              <a:rPr lang="en-US" i="1" dirty="0"/>
              <a:t>the perception of being a social enterprise can be why </a:t>
            </a:r>
            <a:r>
              <a:rPr lang="en-US" i="1" dirty="0" err="1"/>
              <a:t>organisations</a:t>
            </a:r>
            <a:r>
              <a:rPr lang="en-US" i="1" dirty="0"/>
              <a:t> choose to get social badges like the Social Enterprise Mark; </a:t>
            </a:r>
            <a:r>
              <a:rPr lang="en-US" i="1" dirty="0" err="1"/>
              <a:t>BCorp</a:t>
            </a:r>
            <a:r>
              <a:rPr lang="en-US" i="1" dirty="0"/>
              <a:t> or Social Enterprise UK or become a CIC.</a:t>
            </a:r>
            <a:endParaRPr lang="en-GB" dirty="0"/>
          </a:p>
          <a:p>
            <a:r>
              <a:rPr lang="en-US" i="1" dirty="0"/>
              <a:t> </a:t>
            </a:r>
            <a:endParaRPr lang="en-GB" dirty="0"/>
          </a:p>
          <a:p>
            <a:r>
              <a:rPr lang="en-US" i="1" dirty="0"/>
              <a:t>We will now move on to review the social badges in more detail.</a:t>
            </a:r>
            <a:endParaRPr lang="en-GB"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16</a:t>
            </a:fld>
            <a:endParaRPr lang="en-US"/>
          </a:p>
        </p:txBody>
      </p:sp>
    </p:spTree>
    <p:extLst>
      <p:ext uri="{BB962C8B-B14F-4D97-AF65-F5344CB8AC3E}">
        <p14:creationId xmlns:p14="http://schemas.microsoft.com/office/powerpoint/2010/main" val="4168804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1963" y="101600"/>
            <a:ext cx="3378200" cy="1900238"/>
          </a:xfrm>
        </p:spPr>
      </p:sp>
      <p:sp>
        <p:nvSpPr>
          <p:cNvPr id="3" name="Notes Placeholder 2"/>
          <p:cNvSpPr>
            <a:spLocks noGrp="1"/>
          </p:cNvSpPr>
          <p:nvPr>
            <p:ph type="body" idx="1"/>
          </p:nvPr>
        </p:nvSpPr>
        <p:spPr>
          <a:xfrm>
            <a:off x="92597" y="2183817"/>
            <a:ext cx="6655444" cy="6100762"/>
          </a:xfrm>
        </p:spPr>
        <p:txBody>
          <a:bodyPr/>
          <a:lstStyle/>
          <a:p>
            <a:r>
              <a:rPr lang="en-US" b="1" dirty="0"/>
              <a:t>Social badges or methods to communicate the fact that an organisation is a social enterprise have been developed because there is no legal structure called “social enterprise”. There is however now the phrase “regulated social enterprise” which HMRC uses to describe social enterprises who are eligible for investment through the Social Investment Tax Relief scheme (which you will hear all about shortly because it is very useful for angel investors). Regulated social enterprises are charities, CIOs, SCIOs, </a:t>
            </a:r>
            <a:r>
              <a:rPr lang="en-US" b="1" dirty="0" err="1"/>
              <a:t>BenComs</a:t>
            </a:r>
            <a:r>
              <a:rPr lang="en-US" b="1" dirty="0"/>
              <a:t> and CICs.</a:t>
            </a:r>
            <a:endParaRPr lang="en-GB" b="1" dirty="0"/>
          </a:p>
          <a:p>
            <a:r>
              <a:rPr lang="en-US" b="1" dirty="0"/>
              <a:t>We have a separate slide on CICs to help you understand this permanent lock into a social mission for an organisation. Many social entrepreneurs like CICs because it means their organisation will be a legacy focused on the particular social aim they set them up to focus on regardless of who owns them.</a:t>
            </a:r>
            <a:endParaRPr lang="en-GB" b="1" dirty="0"/>
          </a:p>
          <a:p>
            <a:r>
              <a:rPr lang="en-GB" b="1" dirty="0"/>
              <a:t>The Social Enterprise Mark was developed a bit like the Fair Trade Mark allows bearers to communicate to all stakeholders that they were committed to being social enterprises. The minimum requirement is that the organisation’s articles include a social clause and asset lock. There is a certification process that decides whether the asset lock is appropriate. Organisations pay for the mark based on turnover and size, the cheapest fee is £350 per annum. The Mark has patchy take up across the UK. Sometimes stakeholders recognise it and state it as a preferred requirement for public procurement.</a:t>
            </a:r>
          </a:p>
          <a:p>
            <a:r>
              <a:rPr lang="en-GB" b="1" dirty="0"/>
              <a:t>This is not a permanent social badge because the social enterprise could (with the required co-operation of shareholders) remove the social clause and then when the Mark came for renewal the organisation would be denied the Mark. </a:t>
            </a:r>
          </a:p>
          <a:p>
            <a:r>
              <a:rPr lang="en-GB" b="1" dirty="0"/>
              <a:t>Social Enterprise UK membership is a useful badge for social enterprises. The organisation has raised its profile and is currently focusing on connecting social enterprises with corporates and multi-nationals. Once again the minimum requirement is that the organisation’s articles include a social clause and asset lock. There is a certification process that decides whether the asset lock is appropriate. Organisations pay for annual membership based on turnover and size, the cheapest fee is £75 per annum.</a:t>
            </a:r>
          </a:p>
          <a:p>
            <a:r>
              <a:rPr lang="en-GB" b="1" dirty="0"/>
              <a:t>This is not a permanent social badge because the social enterprise can (with the required co-operation of shareholders) remove the social clause and then when membership came for renewal the organisation would be denied membership. </a:t>
            </a:r>
          </a:p>
          <a:p>
            <a:r>
              <a:rPr lang="en-GB" b="1" dirty="0"/>
              <a:t>More recently the </a:t>
            </a:r>
            <a:r>
              <a:rPr lang="en-GB" b="1" dirty="0" err="1"/>
              <a:t>BCorp</a:t>
            </a:r>
            <a:r>
              <a:rPr lang="en-GB" b="1" dirty="0"/>
              <a:t> has been marketed as a “tripe bottom line” badge for organisations reflecting a commitment to do business for people, planet and profit. It is based on a legal badge used in the United States that is a temporary legal structure. An organisation becomes the legal entity of the </a:t>
            </a:r>
            <a:r>
              <a:rPr lang="en-GB" b="1" dirty="0" err="1"/>
              <a:t>BCorp</a:t>
            </a:r>
            <a:r>
              <a:rPr lang="en-GB" b="1" dirty="0"/>
              <a:t> but depending on the various states’ requirements, a certain majority of shareholders can “</a:t>
            </a:r>
            <a:r>
              <a:rPr lang="en-GB" b="1" dirty="0" err="1"/>
              <a:t>unBCorp</a:t>
            </a:r>
            <a:r>
              <a:rPr lang="en-GB" b="1" dirty="0"/>
              <a:t>” the organisation.</a:t>
            </a:r>
          </a:p>
          <a:p>
            <a:r>
              <a:rPr lang="en-GB" b="1" dirty="0"/>
              <a:t>Outside of the USA, there is a certification process allowing organisations to receive the </a:t>
            </a:r>
            <a:r>
              <a:rPr lang="en-GB" b="1" dirty="0" err="1"/>
              <a:t>BCorp</a:t>
            </a:r>
            <a:r>
              <a:rPr lang="en-GB" b="1" dirty="0"/>
              <a:t> certificate (or badge). It was launched recently in the UK. Once again the minimum requirement is that the organisation’s articles include a social clause and asset lock. There is a certification process that decides whether the asset lock is appropriate. Organisations pay for annual membership based on turnover and size, the cheapest fee is £250 per annum.</a:t>
            </a:r>
          </a:p>
          <a:p>
            <a:r>
              <a:rPr lang="en-GB" b="1" dirty="0"/>
              <a:t>This is not a permanent social badge because the social enterprise can (with the required co-operation of shareholders) remove the social clause and then when certification comes for renewal the organisation would be denied certification.</a:t>
            </a:r>
          </a:p>
          <a:p>
            <a:r>
              <a:rPr lang="en-GB" b="1" dirty="0" err="1"/>
              <a:t>BCorp</a:t>
            </a:r>
            <a:r>
              <a:rPr lang="en-GB" b="1" dirty="0"/>
              <a:t> is a useful certification for organisations seeking international recognition of “socialness” as the </a:t>
            </a:r>
            <a:r>
              <a:rPr lang="en-GB" b="1" dirty="0" err="1"/>
              <a:t>BCorp</a:t>
            </a:r>
            <a:r>
              <a:rPr lang="en-GB" b="1" dirty="0"/>
              <a:t> brand has had a high profile. Some CICs have even sought </a:t>
            </a:r>
            <a:r>
              <a:rPr lang="en-GB" b="1" dirty="0" err="1"/>
              <a:t>BCorp</a:t>
            </a:r>
            <a:r>
              <a:rPr lang="en-GB" b="1" dirty="0"/>
              <a:t> status. CICs also need to pay for membership of Social Enterprise UK if they wanted to be members but their lock passes the test. It is unusual for a CIC to also apply for the Social Enterprise Mark but some do.</a:t>
            </a:r>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17</a:t>
            </a:fld>
            <a:endParaRPr lang="en-US"/>
          </a:p>
        </p:txBody>
      </p:sp>
    </p:spTree>
    <p:extLst>
      <p:ext uri="{BB962C8B-B14F-4D97-AF65-F5344CB8AC3E}">
        <p14:creationId xmlns:p14="http://schemas.microsoft.com/office/powerpoint/2010/main" val="2671392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9900" y="228600"/>
            <a:ext cx="3378200" cy="1900238"/>
          </a:xfrm>
        </p:spPr>
      </p:sp>
      <p:sp>
        <p:nvSpPr>
          <p:cNvPr id="3" name="Notes Placeholder 2"/>
          <p:cNvSpPr>
            <a:spLocks noGrp="1"/>
          </p:cNvSpPr>
          <p:nvPr>
            <p:ph type="body" idx="1"/>
          </p:nvPr>
        </p:nvSpPr>
        <p:spPr>
          <a:xfrm>
            <a:off x="300943" y="2357438"/>
            <a:ext cx="6354500" cy="6100762"/>
          </a:xfrm>
        </p:spPr>
        <p:txBody>
          <a:bodyPr/>
          <a:lstStyle/>
          <a:p>
            <a:r>
              <a:rPr lang="en-US" b="1" dirty="0"/>
              <a:t>Shares are the mechanism for owning Companies limited by Shares and Community Benefit Societies (</a:t>
            </a:r>
            <a:r>
              <a:rPr lang="en-US" b="1" dirty="0" err="1"/>
              <a:t>BenComs</a:t>
            </a:r>
            <a:r>
              <a:rPr lang="en-US" b="1" dirty="0"/>
              <a:t>). </a:t>
            </a:r>
            <a:r>
              <a:rPr lang="en-US" b="1" dirty="0" err="1"/>
              <a:t>BenCom</a:t>
            </a:r>
            <a:r>
              <a:rPr lang="en-US" b="1" dirty="0"/>
              <a:t> shares are often called Community Shares. In CLSs people or organisations can own shares, but in </a:t>
            </a:r>
            <a:r>
              <a:rPr lang="en-US" b="1" dirty="0" err="1"/>
              <a:t>BenComs</a:t>
            </a:r>
            <a:r>
              <a:rPr lang="en-US" b="1" dirty="0"/>
              <a:t> only people can do so.</a:t>
            </a:r>
          </a:p>
          <a:p>
            <a:r>
              <a:rPr lang="en-US" i="1" dirty="0"/>
              <a:t> </a:t>
            </a:r>
            <a:r>
              <a:rPr lang="en-US" b="1" dirty="0"/>
              <a:t>Shareholders elect the directors and create the boards of the companies they own a share in.</a:t>
            </a:r>
            <a:endParaRPr lang="en-GB" b="1" dirty="0"/>
          </a:p>
          <a:p>
            <a:r>
              <a:rPr lang="en-US" b="1" dirty="0"/>
              <a:t>Shareholders own shares. In some legal documents, including the Memorandum of Understanding to set the company up, shareholders are called subscribers. In </a:t>
            </a:r>
            <a:r>
              <a:rPr lang="en-US" b="1" dirty="0" err="1"/>
              <a:t>BenComs</a:t>
            </a:r>
            <a:r>
              <a:rPr lang="en-US" b="1" dirty="0"/>
              <a:t>, shareholders are sometimes called members.</a:t>
            </a:r>
            <a:endParaRPr lang="en-GB" b="1" dirty="0"/>
          </a:p>
          <a:p>
            <a:r>
              <a:rPr lang="en-US" b="1" dirty="0"/>
              <a:t>Shares are created in company articles. Usually shares have the right to dividends, vote for directors and vote at general meetings on company business. However some shares have none of these rights, some have certain of them and some have other rights. We have already mentioned Golden Shares which could only allocate ownership of the social clause and the asset lock clause in a set of articles to an external charity or CIC; these shares seldom have any other rights.</a:t>
            </a:r>
            <a:endParaRPr lang="en-GB" b="1" dirty="0"/>
          </a:p>
          <a:p>
            <a:r>
              <a:rPr lang="en-US" b="1" dirty="0"/>
              <a:t>Dividends are a share of company profits which shareholders receive in proportion to their percentage of shareholding. Dividends are decided by the board of directors after the company accounts show profit for a year and profit has been used for other appropriate purposes (reserves, reinvestment </a:t>
            </a:r>
            <a:r>
              <a:rPr lang="en-US" b="1" dirty="0" err="1"/>
              <a:t>etc</a:t>
            </a:r>
            <a:r>
              <a:rPr lang="en-US" b="1" dirty="0"/>
              <a:t>). In CIC CLSs the dividends shared between shareholders can never be more than 35% of profits. This is called a dividend cap, but any investor in a start-up company or relatively new company would not be wanting an organization to be sustainable if they took more than 35% from the company profits. </a:t>
            </a:r>
            <a:endParaRPr lang="en-GB" b="1" dirty="0"/>
          </a:p>
          <a:p>
            <a:r>
              <a:rPr lang="en-US" b="1" dirty="0"/>
              <a:t>Shares can even dissolve. One CIC was setup by a charity, a city college and a local authority. Since the aim was to create a separate legal entity but it needed funding and </a:t>
            </a:r>
            <a:r>
              <a:rPr lang="en-US" b="1" dirty="0" err="1"/>
              <a:t>secondments</a:t>
            </a:r>
            <a:r>
              <a:rPr lang="en-US" b="1" dirty="0"/>
              <a:t> in the startup phase the lawyers suggested dissolving founders shares. Founders’ shares often have special rights but these ones had an additional characteristic after receiving dividends, voting for directors and voting at general meetings – these shares ceased to exist or have any value after the organization reached a degree of profitability or was a certain number of years past start-up.</a:t>
            </a:r>
            <a:endParaRPr lang="en-GB" b="1" dirty="0"/>
          </a:p>
          <a:p>
            <a:r>
              <a:rPr lang="en-US" b="1" dirty="0"/>
              <a:t>Shares have a value and can be bought and sold. </a:t>
            </a:r>
            <a:r>
              <a:rPr lang="en-US" b="1" dirty="0" err="1"/>
              <a:t>BenCom</a:t>
            </a:r>
            <a:r>
              <a:rPr lang="en-US" b="1" dirty="0"/>
              <a:t> shares can only ever be sold for the face value which is the price they were purchased for originally. Therefore investors do not make a capital gain on selling community shares; they may or may not get dividends on community shares (depending on the </a:t>
            </a:r>
            <a:r>
              <a:rPr lang="en-US" b="1" dirty="0" err="1"/>
              <a:t>organisation’s</a:t>
            </a:r>
            <a:r>
              <a:rPr lang="en-US" b="1" dirty="0"/>
              <a:t> articles). Shares in CLSs can be sold for more than the original price and they can be bought from other shareholders (if the company articles and shareholders’ agreements allow this) or from the company itself. Shares in CIC CLGs can also be sold for a profit although there are often limits on who the shares in a CIC can be sold to – usually the board has to agree the sale.</a:t>
            </a:r>
            <a:endParaRPr lang="en-GB" b="1" dirty="0"/>
          </a:p>
          <a:p>
            <a:r>
              <a:rPr lang="en-US" b="1" dirty="0"/>
              <a:t>It became fashionable during the dotcom boom for employees to earn shares through working for free or at a reduced salary. This is known as sweat equity. Sometimes the shares are not allocated immediately the hours are done. The shares can accumulate against an agreement that then also allows for the shares to “vest”. This usually means that a person has options to buy a certain number of shares at a certain price based on their work, and they can only exercise the right to buy the shares after the vesting period is over. The vesting period means that the potential shareholder must stay working at the company for that period before completely earning the right to buy them (usually at a reduced price but sometimes for free). The period is often 3 to 5 years.</a:t>
            </a:r>
            <a:endParaRPr lang="en-GB" b="1"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19</a:t>
            </a:fld>
            <a:endParaRPr lang="en-US"/>
          </a:p>
        </p:txBody>
      </p:sp>
    </p:spTree>
    <p:extLst>
      <p:ext uri="{BB962C8B-B14F-4D97-AF65-F5344CB8AC3E}">
        <p14:creationId xmlns:p14="http://schemas.microsoft.com/office/powerpoint/2010/main" val="2252373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9900" y="228600"/>
            <a:ext cx="3378200" cy="1900238"/>
          </a:xfrm>
        </p:spPr>
      </p:sp>
      <p:sp>
        <p:nvSpPr>
          <p:cNvPr id="3" name="Notes Placeholder 2"/>
          <p:cNvSpPr>
            <a:spLocks noGrp="1"/>
          </p:cNvSpPr>
          <p:nvPr>
            <p:ph type="body" idx="1"/>
          </p:nvPr>
        </p:nvSpPr>
        <p:spPr/>
        <p:txBody>
          <a:bodyPr/>
          <a:lstStyle/>
          <a:p>
            <a:r>
              <a:rPr lang="en-US" b="1" dirty="0"/>
              <a:t>Companies limited by Guarantee (CLGs) and Charitable Incorporated Organisations (CIOs or SCIOs) are owned through membership.</a:t>
            </a:r>
            <a:endParaRPr lang="en-GB" b="1" dirty="0"/>
          </a:p>
          <a:p>
            <a:r>
              <a:rPr lang="en-US" b="1" dirty="0"/>
              <a:t>Members can be either people or organisations. Membership of the company or CIO does not always equate to membership of the group the organisation is managing. It can be the same but is not always.</a:t>
            </a:r>
            <a:endParaRPr lang="en-GB" b="1" dirty="0"/>
          </a:p>
          <a:p>
            <a:r>
              <a:rPr lang="en-US" b="1" dirty="0"/>
              <a:t>Members are always equal in power and do not have percentages of ownership which is inherent in ownership through shares.</a:t>
            </a:r>
            <a:endParaRPr lang="en-GB" b="1" dirty="0"/>
          </a:p>
          <a:p>
            <a:r>
              <a:rPr lang="en-US" b="1" dirty="0"/>
              <a:t>Membership can be controlled through the company articles and limited to a geography, type of person, type of organisation etc.</a:t>
            </a:r>
            <a:endParaRPr lang="en-GB" b="1" dirty="0"/>
          </a:p>
          <a:p>
            <a:r>
              <a:rPr lang="en-US" b="1" dirty="0"/>
              <a:t>Members do not get dividends and membership cannot be sold.</a:t>
            </a:r>
            <a:endParaRPr lang="en-GB" b="1" dirty="0"/>
          </a:p>
          <a:p>
            <a:r>
              <a:rPr lang="en-US" b="1" dirty="0"/>
              <a:t>Members elect directors for the board.</a:t>
            </a:r>
            <a:endParaRPr lang="en-GB" b="1"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20</a:t>
            </a:fld>
            <a:endParaRPr lang="en-US"/>
          </a:p>
        </p:txBody>
      </p:sp>
    </p:spTree>
    <p:extLst>
      <p:ext uri="{BB962C8B-B14F-4D97-AF65-F5344CB8AC3E}">
        <p14:creationId xmlns:p14="http://schemas.microsoft.com/office/powerpoint/2010/main" val="1360751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9900" y="228600"/>
            <a:ext cx="3378200" cy="1900238"/>
          </a:xfrm>
        </p:spPr>
      </p:sp>
      <p:sp>
        <p:nvSpPr>
          <p:cNvPr id="3" name="Notes Placeholder 2"/>
          <p:cNvSpPr>
            <a:spLocks noGrp="1"/>
          </p:cNvSpPr>
          <p:nvPr>
            <p:ph type="body" idx="1"/>
          </p:nvPr>
        </p:nvSpPr>
        <p:spPr/>
        <p:txBody>
          <a:bodyPr/>
          <a:lstStyle/>
          <a:p>
            <a:r>
              <a:rPr lang="en-US" b="1" dirty="0"/>
              <a:t>The Board is the collection of directors.</a:t>
            </a:r>
            <a:endParaRPr lang="en-GB" b="1" dirty="0"/>
          </a:p>
          <a:p>
            <a:r>
              <a:rPr lang="en-US" b="1" dirty="0"/>
              <a:t>Directors are legally appointed by the members or shareholders according to company law and the company articles. They are legally responsible for the company being sustainable and are listed at Companies House for this purpose.</a:t>
            </a:r>
            <a:endParaRPr lang="en-GB" b="1" dirty="0"/>
          </a:p>
          <a:p>
            <a:r>
              <a:rPr lang="en-US" b="1" dirty="0"/>
              <a:t>The Board appoints the Chief Executive Officer (CEO) or the Managing Director (MD) to run the company. (As a founder entrepreneur you can be on the board that technically appoints yourself to run the company which is why you should have a separate Directors Service Agreement from an Employment Agreement – seems a lot at startup but investors often want to see how founders are committed and “tied into” businesses).</a:t>
            </a:r>
            <a:endParaRPr lang="en-GB" b="1" dirty="0"/>
          </a:p>
          <a:p>
            <a:r>
              <a:rPr lang="en-US" b="1" dirty="0"/>
              <a:t>A term that is common is the non-executive director sometimes called a NED or non-exec. This is not a legal term. If the person is a company director they are registered as such at Companies House with the same legal responsibilities as any other director. It is used to describe a director who is not operationally involved in the business or isn’t an executive in the business, and is only involved at a board level. But this is a bit misleading since all directors should be making decisions for the company at a strategic level when on the board, which might need them to declare a conflict of interest when discussing an area of operations.</a:t>
            </a:r>
            <a:endParaRPr lang="en-GB" b="1" dirty="0"/>
          </a:p>
          <a:p>
            <a:r>
              <a:rPr lang="en-US" b="1" dirty="0"/>
              <a:t>Some social enterprises have Advisory Boards. This type of board is typically made up of advisors and has no legal status for a company. It can be unwieldy to manage an Advisory Board alongside a Board of Directors. Investors are interested in directors and want to know if you have the right advisors committed to an organisation – they will not give Advisory Boards any involvement in company affairs because the Advisory Board does not have any legal rights. It is often easier to have advisors who advise the company on an individual level than a group that meet regularly. The only time a group of Advisors meeting regularly can be helpful (rather than distract from legal governance) is when key stakeholders or influencers cannot legitimately be board members (some statutory roles do not allow for this) and having them meet regularly to inform company strategy can be helpful.</a:t>
            </a:r>
            <a:endParaRPr lang="en-GB" b="1" dirty="0"/>
          </a:p>
          <a:p>
            <a:r>
              <a:rPr lang="en-US" b="1" dirty="0"/>
              <a:t>Charity directors can be called trustees. Charity directors cannot usually be paid whilst directors of CLSs and CICs can be paid. Hence it is often difficult for a founder to be a MD and a Charity board member because the MD role is a paid employee role. However Unitary Boards allow some directors to be paid in a charity – to have a Unitary Board the Charity must request it appropriately from the Charity Commission.</a:t>
            </a:r>
            <a:endParaRPr lang="en-GB" b="1" dirty="0"/>
          </a:p>
          <a:p>
            <a:r>
              <a:rPr lang="en-US" b="1" dirty="0"/>
              <a:t>When recruiting directors it is useful to have an annual period for renewal or at least have a service agreement. The Institute of Directors have some sample Directors’ Service Agreements which referenced in the resource sheet. </a:t>
            </a:r>
            <a:endParaRPr lang="en-GB" b="1"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21</a:t>
            </a:fld>
            <a:endParaRPr lang="en-US"/>
          </a:p>
        </p:txBody>
      </p:sp>
    </p:spTree>
    <p:extLst>
      <p:ext uri="{BB962C8B-B14F-4D97-AF65-F5344CB8AC3E}">
        <p14:creationId xmlns:p14="http://schemas.microsoft.com/office/powerpoint/2010/main" val="1973916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39900" y="228600"/>
            <a:ext cx="3378200" cy="1900238"/>
          </a:xfrm>
        </p:spPr>
      </p:sp>
      <p:sp>
        <p:nvSpPr>
          <p:cNvPr id="3" name="Notes Placeholder 2"/>
          <p:cNvSpPr>
            <a:spLocks noGrp="1"/>
          </p:cNvSpPr>
          <p:nvPr>
            <p:ph type="body" idx="1"/>
          </p:nvPr>
        </p:nvSpPr>
        <p:spPr>
          <a:xfrm>
            <a:off x="300943" y="2357438"/>
            <a:ext cx="6354500" cy="6100762"/>
          </a:xfrm>
        </p:spPr>
        <p:txBody>
          <a:bodyPr/>
          <a:lstStyle/>
          <a:p>
            <a:r>
              <a:rPr lang="en-US" b="1" dirty="0"/>
              <a:t>Shares are the mechanism for owning Companies limited by Shares and Community Benefit Societies (</a:t>
            </a:r>
            <a:r>
              <a:rPr lang="en-US" b="1" dirty="0" err="1"/>
              <a:t>BenComs</a:t>
            </a:r>
            <a:r>
              <a:rPr lang="en-US" b="1" dirty="0"/>
              <a:t>). </a:t>
            </a:r>
            <a:r>
              <a:rPr lang="en-US" b="1" dirty="0" err="1"/>
              <a:t>BenCom</a:t>
            </a:r>
            <a:r>
              <a:rPr lang="en-US" b="1" dirty="0"/>
              <a:t> shares are often called Community Shares. In CLSs people or organisations can own shares, but in </a:t>
            </a:r>
            <a:r>
              <a:rPr lang="en-US" b="1" dirty="0" err="1"/>
              <a:t>BenComs</a:t>
            </a:r>
            <a:r>
              <a:rPr lang="en-US" b="1" dirty="0"/>
              <a:t> only people can do so.</a:t>
            </a:r>
          </a:p>
          <a:p>
            <a:r>
              <a:rPr lang="en-US" i="1" dirty="0"/>
              <a:t> </a:t>
            </a:r>
            <a:r>
              <a:rPr lang="en-US" b="1" dirty="0"/>
              <a:t>Shareholders elect the directors and create the boards of the companies they own a share in.</a:t>
            </a:r>
            <a:endParaRPr lang="en-GB" b="1" dirty="0"/>
          </a:p>
          <a:p>
            <a:r>
              <a:rPr lang="en-US" b="1" dirty="0"/>
              <a:t>Shareholders own shares. In some legal documents, including the Memorandum of Understanding to set the company up, shareholders are called subscribers. In </a:t>
            </a:r>
            <a:r>
              <a:rPr lang="en-US" b="1" dirty="0" err="1"/>
              <a:t>BenComs</a:t>
            </a:r>
            <a:r>
              <a:rPr lang="en-US" b="1" dirty="0"/>
              <a:t>, shareholders are sometimes called members.</a:t>
            </a:r>
            <a:endParaRPr lang="en-GB" b="1" dirty="0"/>
          </a:p>
          <a:p>
            <a:r>
              <a:rPr lang="en-US" b="1" dirty="0"/>
              <a:t>Shares are created in company articles. Usually shares have the right to dividends, vote for directors and vote at general meetings on company business. However some shares have none of these rights, some have certain of them and some have other rights. We have already mentioned Golden Shares which could only allocate ownership of the social clause and the asset lock clause in a set of articles to an external charity or CIC; these shares seldom have any other rights.</a:t>
            </a:r>
            <a:endParaRPr lang="en-GB" b="1" dirty="0"/>
          </a:p>
          <a:p>
            <a:r>
              <a:rPr lang="en-US" b="1" dirty="0"/>
              <a:t>Dividends are a share of company profits which shareholders receive in proportion to their percentage of shareholding. Dividends are decided by the board of directors after the company accounts show profit for a year and profit has been used for other appropriate purposes (reserves, reinvestment </a:t>
            </a:r>
            <a:r>
              <a:rPr lang="en-US" b="1" dirty="0" err="1"/>
              <a:t>etc</a:t>
            </a:r>
            <a:r>
              <a:rPr lang="en-US" b="1" dirty="0"/>
              <a:t>). In CIC CLSs the dividends shared between shareholders can never be more than 35% of profits. This is called a dividend cap, but any investor in a start-up company or relatively new company would not be wanting an organization to be sustainable if they took more than 35% from the company profits. </a:t>
            </a:r>
            <a:endParaRPr lang="en-GB" b="1" dirty="0"/>
          </a:p>
          <a:p>
            <a:r>
              <a:rPr lang="en-US" b="1" dirty="0"/>
              <a:t>Shares can even dissolve. One CIC was setup by a charity, a city college and a local authority. Since the aim was to create a separate legal entity but it needed funding and </a:t>
            </a:r>
            <a:r>
              <a:rPr lang="en-US" b="1" dirty="0" err="1"/>
              <a:t>secondments</a:t>
            </a:r>
            <a:r>
              <a:rPr lang="en-US" b="1" dirty="0"/>
              <a:t> in the startup phase the lawyers suggested dissolving founders shares. Founders’ shares often have special rights but these ones had an additional characteristic after receiving dividends, voting for directors and voting at general meetings – these shares ceased to exist or have any value after the organization reached a degree of profitability or was a certain number of years past start-up.</a:t>
            </a:r>
            <a:endParaRPr lang="en-GB" b="1" dirty="0"/>
          </a:p>
          <a:p>
            <a:r>
              <a:rPr lang="en-US" b="1" dirty="0"/>
              <a:t>Shares have a value and can be bought and sold. </a:t>
            </a:r>
            <a:r>
              <a:rPr lang="en-US" b="1" dirty="0" err="1"/>
              <a:t>BenCom</a:t>
            </a:r>
            <a:r>
              <a:rPr lang="en-US" b="1" dirty="0"/>
              <a:t> shares can only ever be sold for the face value which is the price they were purchased for originally. Therefore investors do not make a capital gain on selling community shares; they may or may not get dividends on community shares (depending on the </a:t>
            </a:r>
            <a:r>
              <a:rPr lang="en-US" b="1" dirty="0" err="1"/>
              <a:t>organisation’s</a:t>
            </a:r>
            <a:r>
              <a:rPr lang="en-US" b="1" dirty="0"/>
              <a:t> articles). Shares in CLSs can be sold for more than the original price and they can be bought from other shareholders (if the company articles and shareholders’ agreements allow this) or from the company itself. Shares in CIC CLGs can also be sold for a profit although there are often limits on who the shares in a CIC can be sold to – usually the board has to agree the sale.</a:t>
            </a:r>
            <a:endParaRPr lang="en-GB" b="1" dirty="0"/>
          </a:p>
          <a:p>
            <a:r>
              <a:rPr lang="en-US" b="1" dirty="0"/>
              <a:t>It became fashionable during the dotcom boom for employees to earn shares through working for free or at a reduced salary. This is known as sweat equity. Sometimes the shares are not allocated immediately the hours are done. The shares can accumulate against an agreement that then also allows for the shares to “vest”. This usually means that a person has options to buy a certain number of shares at a certain price based on their work, and they can only exercise the right to buy the shares after the vesting period is over. The vesting period means that the potential shareholder must stay working at the company for that period before completely earning the right to buy them (usually at a reduced price but sometimes for free). The period is often 3 to 5 years.</a:t>
            </a:r>
            <a:endParaRPr lang="en-GB" b="1" dirty="0"/>
          </a:p>
          <a:p>
            <a:endParaRPr lang="en-GB" dirty="0"/>
          </a:p>
        </p:txBody>
      </p:sp>
      <p:sp>
        <p:nvSpPr>
          <p:cNvPr id="4" name="Slide Number Placeholder 3"/>
          <p:cNvSpPr>
            <a:spLocks noGrp="1"/>
          </p:cNvSpPr>
          <p:nvPr>
            <p:ph type="sldNum" sz="quarter" idx="10"/>
          </p:nvPr>
        </p:nvSpPr>
        <p:spPr/>
        <p:txBody>
          <a:bodyPr/>
          <a:lstStyle/>
          <a:p>
            <a:fld id="{5BF7D0BA-EB6D-9C4F-AE45-1E10895E60FE}" type="slidenum">
              <a:rPr lang="en-US" smtClean="0"/>
              <a:t>23</a:t>
            </a:fld>
            <a:endParaRPr lang="en-US"/>
          </a:p>
        </p:txBody>
      </p:sp>
    </p:spTree>
    <p:extLst>
      <p:ext uri="{BB962C8B-B14F-4D97-AF65-F5344CB8AC3E}">
        <p14:creationId xmlns:p14="http://schemas.microsoft.com/office/powerpoint/2010/main" val="2252373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1312325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8596668" cy="734647"/>
          </a:xfrm>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77334" y="1578709"/>
            <a:ext cx="9404512" cy="4462654"/>
          </a:xfrm>
        </p:spPr>
        <p:txBody>
          <a:bodyPr>
            <a:normAutofit/>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3049668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3649518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F99231-C35D-4FB9-B03A-6AD5923A982D}" type="datetimeFigureOut">
              <a:rPr lang="en-GB" smtClean="0"/>
              <a:t>25/02/2022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1334794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F99231-C35D-4FB9-B03A-6AD5923A982D}" type="datetimeFigureOut">
              <a:rPr lang="en-GB" smtClean="0"/>
              <a:t>25/02/2022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1380340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F99231-C35D-4FB9-B03A-6AD5923A982D}" type="datetimeFigureOut">
              <a:rPr lang="en-GB" smtClean="0"/>
              <a:t>25/02/2022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1052139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F99231-C35D-4FB9-B03A-6AD5923A982D}" type="datetimeFigureOut">
              <a:rPr lang="en-GB" smtClean="0"/>
              <a:t>25/02/2022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4163214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F99231-C35D-4FB9-B03A-6AD5923A982D}" type="datetimeFigureOut">
              <a:rPr lang="en-GB" smtClean="0"/>
              <a:t>25/02/2022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3657643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F99231-C35D-4FB9-B03A-6AD5923A982D}" type="datetimeFigureOut">
              <a:rPr lang="en-GB" smtClean="0"/>
              <a:t>25/02/2022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505569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606968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50787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3295868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5622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973216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675224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F99231-C35D-4FB9-B03A-6AD5923A982D}" type="datetimeFigureOut">
              <a:rPr lang="en-GB" smtClean="0"/>
              <a:t>25/02/2022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5F42C1-BA17-4019-B302-037C14941A75}" type="slidenum">
              <a:rPr lang="en-GB" smtClean="0"/>
              <a:t>‹#›</a:t>
            </a:fld>
            <a:endParaRPr lang="en-GB"/>
          </a:p>
        </p:txBody>
      </p:sp>
    </p:spTree>
    <p:extLst>
      <p:ext uri="{BB962C8B-B14F-4D97-AF65-F5344CB8AC3E}">
        <p14:creationId xmlns:p14="http://schemas.microsoft.com/office/powerpoint/2010/main" val="385502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04_Title and Content">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435332" y="1305945"/>
            <a:ext cx="11320896" cy="4490887"/>
          </a:xfrm>
        </p:spPr>
        <p:txBody>
          <a:bodyPr>
            <a:normAutofit/>
          </a:bodyPr>
          <a:lstStyle>
            <a:lvl1pPr>
              <a:spcBef>
                <a:spcPts val="204"/>
              </a:spcBef>
              <a:spcAft>
                <a:spcPts val="612"/>
              </a:spcAft>
              <a:defRPr sz="1904"/>
            </a:lvl1pPr>
            <a:lvl2pPr>
              <a:spcBef>
                <a:spcPts val="204"/>
              </a:spcBef>
              <a:spcAft>
                <a:spcPts val="612"/>
              </a:spcAft>
              <a:defRPr sz="1904"/>
            </a:lvl2pPr>
            <a:lvl3pPr>
              <a:spcBef>
                <a:spcPts val="204"/>
              </a:spcBef>
              <a:spcAft>
                <a:spcPts val="612"/>
              </a:spcAft>
              <a:defRPr sz="1904"/>
            </a:lvl3pPr>
            <a:lvl4pPr>
              <a:spcBef>
                <a:spcPts val="204"/>
              </a:spcBef>
              <a:spcAft>
                <a:spcPts val="612"/>
              </a:spcAft>
              <a:defRPr sz="1904"/>
            </a:lvl4pPr>
            <a:lvl5pPr>
              <a:spcBef>
                <a:spcPts val="204"/>
              </a:spcBef>
              <a:spcAft>
                <a:spcPts val="612"/>
              </a:spcAft>
              <a:defRPr sz="1904"/>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 name="Title 1"/>
          <p:cNvSpPr>
            <a:spLocks noGrp="1"/>
          </p:cNvSpPr>
          <p:nvPr>
            <p:ph type="title" hasCustomPrompt="1"/>
          </p:nvPr>
        </p:nvSpPr>
        <p:spPr/>
        <p:txBody>
          <a:bodyPr>
            <a:normAutofit/>
          </a:bodyPr>
          <a:lstStyle>
            <a:lvl1pPr>
              <a:defRPr sz="2176"/>
            </a:lvl1pPr>
          </a:lstStyle>
          <a:p>
            <a:r>
              <a:rPr lang="en-US" dirty="0"/>
              <a:t>Click to add title</a:t>
            </a:r>
            <a:endParaRPr lang="en-GB" dirty="0"/>
          </a:p>
        </p:txBody>
      </p:sp>
      <p:sp>
        <p:nvSpPr>
          <p:cNvPr id="5" name="Footer Placeholder 4"/>
          <p:cNvSpPr>
            <a:spLocks noGrp="1"/>
          </p:cNvSpPr>
          <p:nvPr>
            <p:ph type="ftr" sz="quarter" idx="16"/>
          </p:nvPr>
        </p:nvSpPr>
        <p:spPr>
          <a:xfrm>
            <a:off x="4147892" y="6377941"/>
            <a:ext cx="3903897" cy="753549"/>
          </a:xfrm>
          <a:prstGeom prst="rect">
            <a:avLst/>
          </a:prstGeom>
        </p:spPr>
        <p:txBody>
          <a:bodyPr/>
          <a:lstStyle/>
          <a:p>
            <a:endParaRPr lang="en-GB" dirty="0"/>
          </a:p>
        </p:txBody>
      </p:sp>
      <p:sp>
        <p:nvSpPr>
          <p:cNvPr id="6" name="Slide Number Placeholder 5"/>
          <p:cNvSpPr>
            <a:spLocks noGrp="1"/>
          </p:cNvSpPr>
          <p:nvPr>
            <p:ph type="sldNum" sz="quarter" idx="17"/>
          </p:nvPr>
        </p:nvSpPr>
        <p:spPr>
          <a:xfrm>
            <a:off x="8783768" y="6377941"/>
            <a:ext cx="2805925" cy="276999"/>
          </a:xfrm>
        </p:spPr>
        <p:txBody>
          <a:bodyPr/>
          <a:lstStyle/>
          <a:p>
            <a:fld id="{FEBD7F86-1881-4698-8703-FB80B0800997}" type="slidenum">
              <a:rPr lang="en-GB" smtClean="0"/>
              <a:pPr/>
              <a:t>‹#›</a:t>
            </a:fld>
            <a:endParaRPr lang="en-GB" dirty="0"/>
          </a:p>
        </p:txBody>
      </p:sp>
    </p:spTree>
    <p:extLst>
      <p:ext uri="{BB962C8B-B14F-4D97-AF65-F5344CB8AC3E}">
        <p14:creationId xmlns:p14="http://schemas.microsoft.com/office/powerpoint/2010/main" val="218067094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F99231-C35D-4FB9-B03A-6AD5923A982D}" type="datetimeFigureOut">
              <a:rPr lang="en-GB" smtClean="0"/>
              <a:t>25/02/2022</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C5F42C1-BA17-4019-B302-037C14941A75}" type="slidenum">
              <a:rPr lang="en-GB" smtClean="0"/>
              <a:t>‹#›</a:t>
            </a:fld>
            <a:endParaRPr lang="en-GB"/>
          </a:p>
        </p:txBody>
      </p:sp>
    </p:spTree>
    <p:extLst>
      <p:ext uri="{BB962C8B-B14F-4D97-AF65-F5344CB8AC3E}">
        <p14:creationId xmlns:p14="http://schemas.microsoft.com/office/powerpoint/2010/main" val="2796489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customXml" Target="../ink/ink2.xml"/><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NULL"/><Relationship Id="rId5" Type="http://schemas.openxmlformats.org/officeDocument/2006/relationships/customXml" Target="../ink/ink1.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6469-C751-4166-A5F7-2A24ECA3E701}"/>
              </a:ext>
            </a:extLst>
          </p:cNvPr>
          <p:cNvSpPr>
            <a:spLocks noGrp="1"/>
          </p:cNvSpPr>
          <p:nvPr>
            <p:ph type="ctrTitle"/>
          </p:nvPr>
        </p:nvSpPr>
        <p:spPr/>
        <p:txBody>
          <a:bodyPr/>
          <a:lstStyle/>
          <a:p>
            <a:r>
              <a:rPr lang="en-GB" dirty="0"/>
              <a:t>Building your board and governance required</a:t>
            </a:r>
          </a:p>
        </p:txBody>
      </p:sp>
      <p:sp>
        <p:nvSpPr>
          <p:cNvPr id="3" name="Subtitle 2">
            <a:extLst>
              <a:ext uri="{FF2B5EF4-FFF2-40B4-BE49-F238E27FC236}">
                <a16:creationId xmlns:a16="http://schemas.microsoft.com/office/drawing/2014/main" id="{689A0116-0CE2-48AE-8F4A-E4954D966587}"/>
              </a:ext>
            </a:extLst>
          </p:cNvPr>
          <p:cNvSpPr>
            <a:spLocks noGrp="1"/>
          </p:cNvSpPr>
          <p:nvPr>
            <p:ph type="subTitle" idx="1"/>
          </p:nvPr>
        </p:nvSpPr>
        <p:spPr>
          <a:xfrm>
            <a:off x="1414301" y="4050836"/>
            <a:ext cx="7766936" cy="1096899"/>
          </a:xfrm>
        </p:spPr>
        <p:txBody>
          <a:bodyPr>
            <a:normAutofit lnSpcReduction="10000"/>
          </a:bodyPr>
          <a:lstStyle/>
          <a:p>
            <a:r>
              <a:rPr lang="en-GB" dirty="0"/>
              <a:t>Karen Leigh Anderson</a:t>
            </a:r>
          </a:p>
          <a:p>
            <a:endParaRPr lang="en-GB" dirty="0"/>
          </a:p>
          <a:p>
            <a:r>
              <a:rPr lang="en-GB" dirty="0"/>
              <a:t>@socentraveller</a:t>
            </a:r>
          </a:p>
        </p:txBody>
      </p:sp>
    </p:spTree>
    <p:extLst>
      <p:ext uri="{BB962C8B-B14F-4D97-AF65-F5344CB8AC3E}">
        <p14:creationId xmlns:p14="http://schemas.microsoft.com/office/powerpoint/2010/main" val="415604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Plan</a:t>
            </a:r>
          </a:p>
        </p:txBody>
      </p:sp>
      <p:sp>
        <p:nvSpPr>
          <p:cNvPr id="5" name="Content Placeholder 4"/>
          <p:cNvSpPr>
            <a:spLocks noGrp="1"/>
          </p:cNvSpPr>
          <p:nvPr>
            <p:ph idx="1"/>
          </p:nvPr>
        </p:nvSpPr>
        <p:spPr>
          <a:xfrm>
            <a:off x="1981200" y="1600201"/>
            <a:ext cx="8280000" cy="4525963"/>
          </a:xfrm>
        </p:spPr>
        <p:txBody>
          <a:bodyPr>
            <a:normAutofit/>
          </a:bodyPr>
          <a:lstStyle/>
          <a:p>
            <a:pPr>
              <a:spcAft>
                <a:spcPts val="1800"/>
              </a:spcAft>
            </a:pPr>
            <a:r>
              <a:rPr lang="en-US" sz="2600" dirty="0"/>
              <a:t>Introductions and expectations</a:t>
            </a:r>
            <a:endParaRPr lang="en-US" sz="2600" i="1" dirty="0">
              <a:solidFill>
                <a:srgbClr val="FF0000"/>
              </a:solidFill>
            </a:endParaRPr>
          </a:p>
          <a:p>
            <a:pPr>
              <a:spcAft>
                <a:spcPts val="1800"/>
              </a:spcAft>
            </a:pPr>
            <a:r>
              <a:rPr lang="en-US" sz="2600" dirty="0"/>
              <a:t>Engaging with professional advisors </a:t>
            </a:r>
          </a:p>
          <a:p>
            <a:pPr>
              <a:spcAft>
                <a:spcPts val="1800"/>
              </a:spcAft>
            </a:pPr>
            <a:r>
              <a:rPr lang="en-US" sz="2600" dirty="0"/>
              <a:t>Foundations for governance</a:t>
            </a:r>
            <a:endParaRPr lang="en-US" sz="2600" i="1" dirty="0">
              <a:solidFill>
                <a:srgbClr val="FF0000"/>
              </a:solidFill>
            </a:endParaRPr>
          </a:p>
          <a:p>
            <a:pPr>
              <a:spcAft>
                <a:spcPts val="1800"/>
              </a:spcAft>
            </a:pPr>
            <a:r>
              <a:rPr lang="en-US" sz="2600" dirty="0"/>
              <a:t>Incorporation &amp; Company Articles</a:t>
            </a:r>
          </a:p>
          <a:p>
            <a:pPr>
              <a:spcAft>
                <a:spcPts val="1800"/>
              </a:spcAft>
            </a:pPr>
            <a:r>
              <a:rPr lang="en-US" sz="2600" dirty="0"/>
              <a:t>Good board practice</a:t>
            </a:r>
            <a:endParaRPr lang="en-US" sz="2600" i="1" dirty="0">
              <a:solidFill>
                <a:srgbClr val="FF0000"/>
              </a:solidFill>
            </a:endParaRPr>
          </a:p>
          <a:p>
            <a:pPr>
              <a:spcAft>
                <a:spcPts val="1800"/>
              </a:spcAft>
            </a:pPr>
            <a:r>
              <a:rPr lang="en-US" sz="2600" dirty="0"/>
              <a:t>Recruiting a board</a:t>
            </a:r>
            <a:endParaRPr lang="en-US" sz="2600" i="1" dirty="0">
              <a:solidFill>
                <a:srgbClr val="FF0000"/>
              </a:solidFill>
            </a:endParaRPr>
          </a:p>
        </p:txBody>
      </p:sp>
    </p:spTree>
    <p:extLst>
      <p:ext uri="{BB962C8B-B14F-4D97-AF65-F5344CB8AC3E}">
        <p14:creationId xmlns:p14="http://schemas.microsoft.com/office/powerpoint/2010/main" val="3492574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Introductions &amp; expectations</a:t>
            </a:r>
          </a:p>
        </p:txBody>
      </p:sp>
      <p:sp>
        <p:nvSpPr>
          <p:cNvPr id="3" name="Content Placeholder 2"/>
          <p:cNvSpPr>
            <a:spLocks noGrp="1"/>
          </p:cNvSpPr>
          <p:nvPr>
            <p:ph idx="1"/>
          </p:nvPr>
        </p:nvSpPr>
        <p:spPr/>
        <p:txBody>
          <a:bodyPr/>
          <a:lstStyle/>
          <a:p>
            <a:r>
              <a:rPr lang="en-GB" dirty="0"/>
              <a:t>No more than 30 seconds</a:t>
            </a:r>
          </a:p>
          <a:p>
            <a:pPr lvl="1"/>
            <a:r>
              <a:rPr lang="en-GB" dirty="0"/>
              <a:t>Your name</a:t>
            </a:r>
          </a:p>
          <a:p>
            <a:pPr lvl="1"/>
            <a:r>
              <a:rPr lang="en-GB" dirty="0"/>
              <a:t>Your venture’s name</a:t>
            </a:r>
          </a:p>
          <a:p>
            <a:pPr lvl="1"/>
            <a:r>
              <a:rPr lang="en-GB" dirty="0"/>
              <a:t>Your venture’s social aim</a:t>
            </a:r>
          </a:p>
          <a:p>
            <a:pPr lvl="1"/>
            <a:r>
              <a:rPr lang="en-GB" dirty="0"/>
              <a:t>One key question you want answered today</a:t>
            </a:r>
          </a:p>
        </p:txBody>
      </p:sp>
    </p:spTree>
    <p:extLst>
      <p:ext uri="{BB962C8B-B14F-4D97-AF65-F5344CB8AC3E}">
        <p14:creationId xmlns:p14="http://schemas.microsoft.com/office/powerpoint/2010/main" val="2940479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Housekeeping</a:t>
            </a:r>
          </a:p>
        </p:txBody>
      </p:sp>
      <p:sp>
        <p:nvSpPr>
          <p:cNvPr id="3" name="Content Placeholder 2"/>
          <p:cNvSpPr>
            <a:spLocks noGrp="1"/>
          </p:cNvSpPr>
          <p:nvPr>
            <p:ph idx="1"/>
          </p:nvPr>
        </p:nvSpPr>
        <p:spPr/>
        <p:txBody>
          <a:bodyPr>
            <a:normAutofit/>
          </a:bodyPr>
          <a:lstStyle/>
          <a:p>
            <a:r>
              <a:rPr lang="en-GB" dirty="0"/>
              <a:t>Fire escapes, alarms, loos, breaks</a:t>
            </a:r>
          </a:p>
          <a:p>
            <a:r>
              <a:rPr lang="en-GB" dirty="0"/>
              <a:t>No recording</a:t>
            </a:r>
          </a:p>
          <a:p>
            <a:r>
              <a:rPr lang="en-GB" dirty="0"/>
              <a:t>Mobile Phones – mute or get ready to boogie</a:t>
            </a:r>
          </a:p>
          <a:p>
            <a:r>
              <a:rPr lang="en-GB" dirty="0"/>
              <a:t>Rules for social media</a:t>
            </a:r>
          </a:p>
          <a:p>
            <a:r>
              <a:rPr lang="en-GB" dirty="0"/>
              <a:t>No stupid question</a:t>
            </a:r>
          </a:p>
          <a:p>
            <a:r>
              <a:rPr lang="en-GB" dirty="0">
                <a:hlinkClick r:id="rId3" action="ppaction://hlinksldjump"/>
              </a:rPr>
              <a:t>Chatham House Rule</a:t>
            </a:r>
            <a:endParaRPr lang="en-GB" dirty="0"/>
          </a:p>
          <a:p>
            <a:pPr marL="0" indent="0">
              <a:buNone/>
            </a:pPr>
            <a:endParaRPr lang="en-GB" dirty="0"/>
          </a:p>
        </p:txBody>
      </p:sp>
      <p:cxnSp>
        <p:nvCxnSpPr>
          <p:cNvPr id="7" name="Straight Connector 6"/>
          <p:cNvCxnSpPr/>
          <p:nvPr/>
        </p:nvCxnSpPr>
        <p:spPr>
          <a:xfrm flipV="1">
            <a:off x="1180537" y="3779352"/>
            <a:ext cx="3556000" cy="146756"/>
          </a:xfrm>
          <a:prstGeom prst="line">
            <a:avLst/>
          </a:prstGeom>
          <a:ln w="38100">
            <a:solidFill>
              <a:schemeClr val="accent6"/>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5" name="Content Placeholder 2"/>
          <p:cNvSpPr txBox="1">
            <a:spLocks/>
          </p:cNvSpPr>
          <p:nvPr/>
        </p:nvSpPr>
        <p:spPr>
          <a:xfrm>
            <a:off x="1437054" y="3681909"/>
            <a:ext cx="4425244" cy="539045"/>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Clr>
                <a:schemeClr val="accent6"/>
              </a:buClr>
              <a:buSzPct val="100000"/>
              <a:buFontTx/>
              <a:buBlip>
                <a:blip r:embed="rId4"/>
              </a:buBlip>
              <a:defRPr sz="3200" b="0" kern="1200">
                <a:solidFill>
                  <a:schemeClr val="tx1">
                    <a:lumMod val="65000"/>
                    <a:lumOff val="35000"/>
                  </a:schemeClr>
                </a:solidFill>
                <a:latin typeface="Arial"/>
                <a:ea typeface="+mn-ea"/>
                <a:cs typeface="Arial"/>
              </a:defRPr>
            </a:lvl1pPr>
            <a:lvl2pPr marL="742950" indent="-285750" algn="l" defTabSz="457200" rtl="0" eaLnBrk="1" latinLnBrk="0" hangingPunct="1">
              <a:spcBef>
                <a:spcPct val="20000"/>
              </a:spcBef>
              <a:buSzPct val="100000"/>
              <a:buFontTx/>
              <a:buBlip>
                <a:blip r:embed="rId4"/>
              </a:buBlip>
              <a:defRPr sz="2800" b="0" kern="1200">
                <a:solidFill>
                  <a:schemeClr val="tx1">
                    <a:lumMod val="65000"/>
                    <a:lumOff val="35000"/>
                  </a:schemeClr>
                </a:solidFill>
                <a:latin typeface="Arial"/>
                <a:ea typeface="+mn-ea"/>
                <a:cs typeface="Arial"/>
              </a:defRPr>
            </a:lvl2pPr>
            <a:lvl3pPr marL="1143000" indent="-228600" algn="l" defTabSz="457200" rtl="0" eaLnBrk="1" latinLnBrk="0" hangingPunct="1">
              <a:spcBef>
                <a:spcPct val="20000"/>
              </a:spcBef>
              <a:buSzPct val="100000"/>
              <a:buFontTx/>
              <a:buBlip>
                <a:blip r:embed="rId4"/>
              </a:buBlip>
              <a:defRPr sz="2400" b="0" kern="1200">
                <a:solidFill>
                  <a:schemeClr val="tx1">
                    <a:lumMod val="65000"/>
                    <a:lumOff val="35000"/>
                  </a:schemeClr>
                </a:solidFill>
                <a:latin typeface="Arial"/>
                <a:ea typeface="+mn-ea"/>
                <a:cs typeface="Arial"/>
              </a:defRPr>
            </a:lvl3pPr>
            <a:lvl4pPr marL="1600200" indent="-228600" algn="l" defTabSz="457200" rtl="0" eaLnBrk="1" latinLnBrk="0" hangingPunct="1">
              <a:spcBef>
                <a:spcPct val="20000"/>
              </a:spcBef>
              <a:buSzPct val="100000"/>
              <a:buFontTx/>
              <a:buBlip>
                <a:blip r:embed="rId4"/>
              </a:buBlip>
              <a:defRPr sz="2000" b="0" kern="1200">
                <a:solidFill>
                  <a:schemeClr val="tx1">
                    <a:lumMod val="65000"/>
                    <a:lumOff val="35000"/>
                  </a:schemeClr>
                </a:solidFill>
                <a:latin typeface="Arial"/>
                <a:ea typeface="+mn-ea"/>
                <a:cs typeface="Arial"/>
              </a:defRPr>
            </a:lvl4pPr>
            <a:lvl5pPr marL="2057400" indent="-228600" algn="l" defTabSz="457200" rtl="0" eaLnBrk="1" latinLnBrk="0" hangingPunct="1">
              <a:spcBef>
                <a:spcPct val="20000"/>
              </a:spcBef>
              <a:buSzPct val="100000"/>
              <a:buFontTx/>
              <a:buBlip>
                <a:blip r:embed="rId4"/>
              </a:buBlip>
              <a:defRPr sz="2000" b="0" kern="1200">
                <a:solidFill>
                  <a:schemeClr val="tx1">
                    <a:lumMod val="65000"/>
                    <a:lumOff val="35000"/>
                  </a:schemeClr>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800" dirty="0">
                <a:solidFill>
                  <a:schemeClr val="tx1">
                    <a:lumMod val="75000"/>
                    <a:lumOff val="25000"/>
                  </a:schemeClr>
                </a:solidFill>
                <a:latin typeface="+mn-lt"/>
                <a:cs typeface="+mn-cs"/>
              </a:rPr>
              <a:t>No question is stupid</a:t>
            </a:r>
          </a:p>
          <a:p>
            <a:pPr marL="0" indent="0">
              <a:buNone/>
            </a:pPr>
            <a:endParaRPr lang="en-GB" dirty="0"/>
          </a:p>
        </p:txBody>
      </p:sp>
    </p:spTree>
    <p:extLst>
      <p:ext uri="{BB962C8B-B14F-4D97-AF65-F5344CB8AC3E}">
        <p14:creationId xmlns:p14="http://schemas.microsoft.com/office/powerpoint/2010/main" val="56085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Chatham House Rule</a:t>
            </a:r>
          </a:p>
        </p:txBody>
      </p:sp>
      <p:sp>
        <p:nvSpPr>
          <p:cNvPr id="3" name="Content Placeholder 2"/>
          <p:cNvSpPr>
            <a:spLocks noGrp="1"/>
          </p:cNvSpPr>
          <p:nvPr>
            <p:ph idx="1"/>
          </p:nvPr>
        </p:nvSpPr>
        <p:spPr/>
        <p:txBody>
          <a:bodyPr/>
          <a:lstStyle/>
          <a:p>
            <a:r>
              <a:rPr lang="en-GB" dirty="0"/>
              <a:t>When a meeting, or part thereof, is held under the Chatham House Rule, participants are free to use the information received, but neither the identity nor the affiliation of the speaker(s), nor that of any other participant, may be revealed.</a:t>
            </a:r>
          </a:p>
        </p:txBody>
      </p:sp>
    </p:spTree>
    <p:extLst>
      <p:ext uri="{BB962C8B-B14F-4D97-AF65-F5344CB8AC3E}">
        <p14:creationId xmlns:p14="http://schemas.microsoft.com/office/powerpoint/2010/main" val="73764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Engaging with professional advisors</a:t>
            </a:r>
          </a:p>
        </p:txBody>
      </p:sp>
      <p:sp>
        <p:nvSpPr>
          <p:cNvPr id="3" name="Content Placeholder 2"/>
          <p:cNvSpPr>
            <a:spLocks noGrp="1"/>
          </p:cNvSpPr>
          <p:nvPr>
            <p:ph idx="1"/>
          </p:nvPr>
        </p:nvSpPr>
        <p:spPr>
          <a:xfrm>
            <a:off x="1981200" y="1600201"/>
            <a:ext cx="8229600" cy="969579"/>
          </a:xfrm>
        </p:spPr>
        <p:txBody>
          <a:bodyPr/>
          <a:lstStyle/>
          <a:p>
            <a:r>
              <a:rPr lang="en-GB" dirty="0"/>
              <a:t>Why bother with this stuff yourself?</a:t>
            </a:r>
          </a:p>
          <a:p>
            <a:endParaRPr lang="en-GB" dirty="0"/>
          </a:p>
          <a:p>
            <a:pPr marL="0" indent="0">
              <a:buNone/>
            </a:pPr>
            <a:endParaRPr lang="en-GB" dirty="0"/>
          </a:p>
        </p:txBody>
      </p:sp>
      <p:sp>
        <p:nvSpPr>
          <p:cNvPr id="4" name="Rectangle 3"/>
          <p:cNvSpPr/>
          <p:nvPr/>
        </p:nvSpPr>
        <p:spPr>
          <a:xfrm>
            <a:off x="1981200" y="1417639"/>
            <a:ext cx="7811814" cy="441560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b="1" dirty="0">
                <a:solidFill>
                  <a:schemeClr val="tx1"/>
                </a:solidFill>
              </a:rPr>
              <a:t>All advisors, including myself have inherent biases</a:t>
            </a:r>
          </a:p>
          <a:p>
            <a:pPr algn="ctr"/>
            <a:r>
              <a:rPr lang="en-GB" b="1" dirty="0">
                <a:solidFill>
                  <a:schemeClr val="tx1"/>
                </a:solidFill>
              </a:rPr>
              <a:t>based on experience and knowledge.</a:t>
            </a:r>
          </a:p>
          <a:p>
            <a:pPr algn="ctr"/>
            <a:r>
              <a:rPr lang="en-GB" b="1" dirty="0">
                <a:solidFill>
                  <a:schemeClr val="tx1"/>
                </a:solidFill>
              </a:rPr>
              <a:t>Not all lawyers understand all legal structures</a:t>
            </a:r>
          </a:p>
          <a:p>
            <a:pPr algn="ctr"/>
            <a:r>
              <a:rPr lang="en-GB" b="1" dirty="0">
                <a:solidFill>
                  <a:schemeClr val="tx1"/>
                </a:solidFill>
              </a:rPr>
              <a:t>and not all accountants understand all areas of tax and accounting.</a:t>
            </a:r>
          </a:p>
          <a:p>
            <a:pPr algn="ctr"/>
            <a:r>
              <a:rPr lang="en-GB" b="1" dirty="0">
                <a:solidFill>
                  <a:schemeClr val="tx1"/>
                </a:solidFill>
              </a:rPr>
              <a:t>Not many professional advisors will admit the boundaries of </a:t>
            </a:r>
            <a:r>
              <a:rPr lang="en-GB" b="1" dirty="0" err="1">
                <a:solidFill>
                  <a:schemeClr val="tx1"/>
                </a:solidFill>
              </a:rPr>
              <a:t>thei</a:t>
            </a:r>
            <a:r>
              <a:rPr lang="en-GB" b="1" dirty="0">
                <a:solidFill>
                  <a:schemeClr val="tx1"/>
                </a:solidFill>
              </a:rPr>
              <a:t> knowledge.</a:t>
            </a:r>
          </a:p>
          <a:p>
            <a:pPr algn="ctr"/>
            <a:r>
              <a:rPr lang="en-GB" b="1" dirty="0">
                <a:solidFill>
                  <a:schemeClr val="tx1"/>
                </a:solidFill>
              </a:rPr>
              <a:t>This workshop has been compiled to provide you with as much information as possible to make key decisions for your business AND (much more importantly) feel confident enough to ask questions of all advisors until you understand.</a:t>
            </a:r>
          </a:p>
          <a:p>
            <a:pPr algn="ctr"/>
            <a:endParaRPr lang="en-GB" b="1" dirty="0">
              <a:solidFill>
                <a:schemeClr val="tx1"/>
              </a:solidFill>
            </a:endParaRPr>
          </a:p>
          <a:p>
            <a:pPr algn="ctr"/>
            <a:r>
              <a:rPr lang="en-GB" b="1" dirty="0">
                <a:solidFill>
                  <a:schemeClr val="tx1"/>
                </a:solidFill>
              </a:rPr>
              <a:t> The law can be understood and its efficient use is key for the growth of your business.</a:t>
            </a:r>
          </a:p>
        </p:txBody>
      </p:sp>
    </p:spTree>
    <p:extLst>
      <p:ext uri="{BB962C8B-B14F-4D97-AF65-F5344CB8AC3E}">
        <p14:creationId xmlns:p14="http://schemas.microsoft.com/office/powerpoint/2010/main" val="422023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Entrepreneurs’ Multiple Roles</a:t>
            </a:r>
          </a:p>
        </p:txBody>
      </p:sp>
      <p:sp>
        <p:nvSpPr>
          <p:cNvPr id="3" name="Content Placeholder 2"/>
          <p:cNvSpPr>
            <a:spLocks noGrp="1"/>
          </p:cNvSpPr>
          <p:nvPr>
            <p:ph idx="1"/>
          </p:nvPr>
        </p:nvSpPr>
        <p:spPr>
          <a:xfrm>
            <a:off x="1981200" y="1600201"/>
            <a:ext cx="8229600" cy="3547533"/>
          </a:xfrm>
        </p:spPr>
        <p:txBody>
          <a:bodyPr>
            <a:normAutofit/>
          </a:bodyPr>
          <a:lstStyle/>
          <a:p>
            <a:r>
              <a:rPr lang="en-GB" dirty="0"/>
              <a:t>Owner</a:t>
            </a:r>
          </a:p>
          <a:p>
            <a:r>
              <a:rPr lang="en-GB" dirty="0"/>
              <a:t>Director</a:t>
            </a:r>
          </a:p>
          <a:p>
            <a:r>
              <a:rPr lang="en-GB" dirty="0"/>
              <a:t>Employee</a:t>
            </a:r>
          </a:p>
          <a:p>
            <a:r>
              <a:rPr lang="en-GB" dirty="0"/>
              <a:t>Volunteer</a:t>
            </a:r>
          </a:p>
          <a:p>
            <a:r>
              <a:rPr lang="en-GB" dirty="0"/>
              <a:t>Beneficiary</a:t>
            </a:r>
          </a:p>
          <a:p>
            <a:r>
              <a:rPr lang="en-GB" dirty="0"/>
              <a:t>Funder</a:t>
            </a:r>
          </a:p>
          <a:p>
            <a:endParaRPr lang="en-GB" dirty="0"/>
          </a:p>
        </p:txBody>
      </p:sp>
      <p:sp>
        <p:nvSpPr>
          <p:cNvPr id="4" name="Rectangle 3"/>
          <p:cNvSpPr/>
          <p:nvPr/>
        </p:nvSpPr>
        <p:spPr>
          <a:xfrm>
            <a:off x="4085389" y="4868630"/>
            <a:ext cx="4021229" cy="923330"/>
          </a:xfrm>
          <a:prstGeom prst="rect">
            <a:avLst/>
          </a:prstGeom>
          <a:noFill/>
        </p:spPr>
        <p:txBody>
          <a:bodyPr wrap="none" lIns="91440" tIns="45720" rIns="91440" bIns="45720">
            <a:spAutoFit/>
          </a:bodyPr>
          <a:lstStyle/>
          <a:p>
            <a:pPr algn="ctr"/>
            <a:r>
              <a:rPr lang="en-US" sz="5400" b="1" dirty="0">
                <a:ln w="6600">
                  <a:solidFill>
                    <a:schemeClr val="accent2">
                      <a:lumMod val="75000"/>
                    </a:schemeClr>
                  </a:solidFill>
                  <a:prstDash val="solid"/>
                </a:ln>
                <a:solidFill>
                  <a:srgbClr val="EF6028"/>
                </a:solidFill>
                <a:effectLst>
                  <a:outerShdw blurRad="50800" dist="38100" dir="2700000" algn="tl" rotWithShape="0">
                    <a:prstClr val="black">
                      <a:alpha val="40000"/>
                    </a:prstClr>
                  </a:outerShdw>
                </a:effectLst>
              </a:rPr>
              <a:t>You do it all</a:t>
            </a:r>
          </a:p>
        </p:txBody>
      </p:sp>
    </p:spTree>
    <p:extLst>
      <p:ext uri="{BB962C8B-B14F-4D97-AF65-F5344CB8AC3E}">
        <p14:creationId xmlns:p14="http://schemas.microsoft.com/office/powerpoint/2010/main" val="182989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down)">
                                      <p:cBhvr>
                                        <p:cTn id="31" dur="580">
                                          <p:stCondLst>
                                            <p:cond delay="0"/>
                                          </p:stCondLst>
                                        </p:cTn>
                                        <p:tgtEl>
                                          <p:spTgt spid="4"/>
                                        </p:tgtEl>
                                      </p:cBhvr>
                                    </p:animEffect>
                                    <p:anim calcmode="lin" valueType="num">
                                      <p:cBhvr>
                                        <p:cTn id="3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7" dur="26">
                                          <p:stCondLst>
                                            <p:cond delay="650"/>
                                          </p:stCondLst>
                                        </p:cTn>
                                        <p:tgtEl>
                                          <p:spTgt spid="4"/>
                                        </p:tgtEl>
                                      </p:cBhvr>
                                      <p:to x="100000" y="60000"/>
                                    </p:animScale>
                                    <p:animScale>
                                      <p:cBhvr>
                                        <p:cTn id="38" dur="166" decel="50000">
                                          <p:stCondLst>
                                            <p:cond delay="676"/>
                                          </p:stCondLst>
                                        </p:cTn>
                                        <p:tgtEl>
                                          <p:spTgt spid="4"/>
                                        </p:tgtEl>
                                      </p:cBhvr>
                                      <p:to x="100000" y="100000"/>
                                    </p:animScale>
                                    <p:animScale>
                                      <p:cBhvr>
                                        <p:cTn id="39" dur="26">
                                          <p:stCondLst>
                                            <p:cond delay="1312"/>
                                          </p:stCondLst>
                                        </p:cTn>
                                        <p:tgtEl>
                                          <p:spTgt spid="4"/>
                                        </p:tgtEl>
                                      </p:cBhvr>
                                      <p:to x="100000" y="80000"/>
                                    </p:animScale>
                                    <p:animScale>
                                      <p:cBhvr>
                                        <p:cTn id="40" dur="166" decel="50000">
                                          <p:stCondLst>
                                            <p:cond delay="1338"/>
                                          </p:stCondLst>
                                        </p:cTn>
                                        <p:tgtEl>
                                          <p:spTgt spid="4"/>
                                        </p:tgtEl>
                                      </p:cBhvr>
                                      <p:to x="100000" y="100000"/>
                                    </p:animScale>
                                    <p:animScale>
                                      <p:cBhvr>
                                        <p:cTn id="41" dur="26">
                                          <p:stCondLst>
                                            <p:cond delay="1642"/>
                                          </p:stCondLst>
                                        </p:cTn>
                                        <p:tgtEl>
                                          <p:spTgt spid="4"/>
                                        </p:tgtEl>
                                      </p:cBhvr>
                                      <p:to x="100000" y="90000"/>
                                    </p:animScale>
                                    <p:animScale>
                                      <p:cBhvr>
                                        <p:cTn id="42" dur="166" decel="50000">
                                          <p:stCondLst>
                                            <p:cond delay="1668"/>
                                          </p:stCondLst>
                                        </p:cTn>
                                        <p:tgtEl>
                                          <p:spTgt spid="4"/>
                                        </p:tgtEl>
                                      </p:cBhvr>
                                      <p:to x="100000" y="100000"/>
                                    </p:animScale>
                                    <p:animScale>
                                      <p:cBhvr>
                                        <p:cTn id="43" dur="26">
                                          <p:stCondLst>
                                            <p:cond delay="1808"/>
                                          </p:stCondLst>
                                        </p:cTn>
                                        <p:tgtEl>
                                          <p:spTgt spid="4"/>
                                        </p:tgtEl>
                                      </p:cBhvr>
                                      <p:to x="100000" y="95000"/>
                                    </p:animScale>
                                    <p:animScale>
                                      <p:cBhvr>
                                        <p:cTn id="4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business areas and related roles</a:t>
            </a:r>
          </a:p>
        </p:txBody>
      </p:sp>
      <p:sp>
        <p:nvSpPr>
          <p:cNvPr id="3" name="Content Placeholder 2"/>
          <p:cNvSpPr>
            <a:spLocks noGrp="1"/>
          </p:cNvSpPr>
          <p:nvPr>
            <p:ph idx="1"/>
          </p:nvPr>
        </p:nvSpPr>
        <p:spPr>
          <a:xfrm>
            <a:off x="1981200" y="1600201"/>
            <a:ext cx="8229600" cy="3852333"/>
          </a:xfrm>
        </p:spPr>
        <p:txBody>
          <a:bodyPr>
            <a:normAutofit/>
          </a:bodyPr>
          <a:lstStyle/>
          <a:p>
            <a:r>
              <a:rPr lang="en-GB" dirty="0"/>
              <a:t>Ownership</a:t>
            </a:r>
          </a:p>
          <a:p>
            <a:pPr lvl="1"/>
            <a:r>
              <a:rPr lang="en-GB" dirty="0"/>
              <a:t>owners and some investors</a:t>
            </a:r>
          </a:p>
          <a:p>
            <a:r>
              <a:rPr lang="en-GB" dirty="0"/>
              <a:t>Strategic Directions</a:t>
            </a:r>
          </a:p>
          <a:p>
            <a:pPr lvl="1"/>
            <a:r>
              <a:rPr lang="en-GB" dirty="0"/>
              <a:t>directors</a:t>
            </a:r>
          </a:p>
          <a:p>
            <a:r>
              <a:rPr lang="en-GB" dirty="0"/>
              <a:t>Operations</a:t>
            </a:r>
          </a:p>
          <a:p>
            <a:pPr lvl="1"/>
            <a:r>
              <a:rPr lang="en-GB" dirty="0"/>
              <a:t>employees, some volunteers, some funders</a:t>
            </a:r>
          </a:p>
          <a:p>
            <a:r>
              <a:rPr lang="en-GB" dirty="0"/>
              <a:t>Impact</a:t>
            </a:r>
          </a:p>
          <a:p>
            <a:pPr lvl="1"/>
            <a:r>
              <a:rPr lang="en-GB" dirty="0"/>
              <a:t>some volunteers, some beneficiaries</a:t>
            </a:r>
          </a:p>
        </p:txBody>
      </p:sp>
    </p:spTree>
    <p:extLst>
      <p:ext uri="{BB962C8B-B14F-4D97-AF65-F5344CB8AC3E}">
        <p14:creationId xmlns:p14="http://schemas.microsoft.com/office/powerpoint/2010/main" val="3158348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Organisational Parts </a:t>
            </a:r>
          </a:p>
        </p:txBody>
      </p:sp>
      <p:grpSp>
        <p:nvGrpSpPr>
          <p:cNvPr id="17" name="Group 16">
            <a:extLst>
              <a:ext uri="{FF2B5EF4-FFF2-40B4-BE49-F238E27FC236}">
                <a16:creationId xmlns:a16="http://schemas.microsoft.com/office/drawing/2014/main" id="{56C1A5F5-63BA-4DA4-A63D-3AAF2F900F47}"/>
              </a:ext>
            </a:extLst>
          </p:cNvPr>
          <p:cNvGrpSpPr/>
          <p:nvPr/>
        </p:nvGrpSpPr>
        <p:grpSpPr>
          <a:xfrm>
            <a:off x="759542" y="2034779"/>
            <a:ext cx="2738314" cy="4213621"/>
            <a:chOff x="759542" y="2034779"/>
            <a:chExt cx="2738314" cy="4213621"/>
          </a:xfrm>
        </p:grpSpPr>
        <p:sp>
          <p:nvSpPr>
            <p:cNvPr id="9" name="Freeform: Shape 8"/>
            <p:cNvSpPr/>
            <p:nvPr/>
          </p:nvSpPr>
          <p:spPr>
            <a:xfrm>
              <a:off x="1305121" y="203477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chemeClr val="accent4">
                <a:lumMod val="20000"/>
                <a:lumOff val="80000"/>
                <a:alpha val="90000"/>
              </a:scheme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900" dirty="0"/>
                <a:t>Shares/members</a:t>
              </a:r>
            </a:p>
            <a:p>
              <a:pPr marL="57150" lvl="1" indent="-57150" defTabSz="444500">
                <a:lnSpc>
                  <a:spcPct val="90000"/>
                </a:lnSpc>
                <a:spcBef>
                  <a:spcPct val="0"/>
                </a:spcBef>
                <a:spcAft>
                  <a:spcPct val="15000"/>
                </a:spcAft>
                <a:buChar char="•"/>
              </a:pPr>
              <a:r>
                <a:rPr lang="en-US" sz="1000" dirty="0"/>
                <a:t>Appoint board</a:t>
              </a:r>
            </a:p>
          </p:txBody>
        </p:sp>
        <p:sp>
          <p:nvSpPr>
            <p:cNvPr id="10" name="Freeform: Shape 9"/>
            <p:cNvSpPr/>
            <p:nvPr/>
          </p:nvSpPr>
          <p:spPr>
            <a:xfrm>
              <a:off x="763389" y="2426085"/>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chemeClr val="accent4">
                <a:lumMod val="60000"/>
                <a:lumOff val="40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59546" tIns="159546" rIns="159546" bIns="159546" numCol="1" spcCol="1270" anchor="ctr" anchorCtr="0">
              <a:noAutofit/>
            </a:bodyPr>
            <a:lstStyle/>
            <a:p>
              <a:pPr algn="ctr" defTabSz="755650">
                <a:lnSpc>
                  <a:spcPct val="90000"/>
                </a:lnSpc>
                <a:spcBef>
                  <a:spcPct val="0"/>
                </a:spcBef>
                <a:spcAft>
                  <a:spcPct val="35000"/>
                </a:spcAft>
              </a:pPr>
              <a:r>
                <a:rPr lang="en-US" sz="1500" b="1" dirty="0">
                  <a:solidFill>
                    <a:schemeClr val="tx1"/>
                  </a:solidFill>
                </a:rPr>
                <a:t>Owners</a:t>
              </a:r>
            </a:p>
          </p:txBody>
        </p:sp>
        <p:sp>
          <p:nvSpPr>
            <p:cNvPr id="5" name="TextBox 4"/>
            <p:cNvSpPr txBox="1"/>
            <p:nvPr/>
          </p:nvSpPr>
          <p:spPr>
            <a:xfrm>
              <a:off x="759542" y="3940076"/>
              <a:ext cx="2738314" cy="2308324"/>
            </a:xfrm>
            <a:prstGeom prst="rect">
              <a:avLst/>
            </a:prstGeom>
            <a:noFill/>
          </p:spPr>
          <p:txBody>
            <a:bodyPr wrap="none" rtlCol="0">
              <a:spAutoFit/>
            </a:bodyPr>
            <a:lstStyle/>
            <a:p>
              <a:r>
                <a:rPr lang="en-GB" b="1" dirty="0"/>
                <a:t>OWNERSHIP</a:t>
              </a:r>
            </a:p>
            <a:p>
              <a:r>
                <a:rPr lang="en-GB" dirty="0"/>
                <a:t>This is the power</a:t>
              </a:r>
              <a:br>
                <a:rPr lang="en-GB" dirty="0"/>
              </a:br>
              <a:r>
                <a:rPr lang="en-GB" dirty="0"/>
                <a:t>in an organisation.</a:t>
              </a:r>
              <a:br>
                <a:rPr lang="en-GB" dirty="0"/>
              </a:br>
              <a:r>
                <a:rPr lang="en-GB" dirty="0"/>
                <a:t>The shareholders/</a:t>
              </a:r>
              <a:br>
                <a:rPr lang="en-GB" dirty="0"/>
              </a:br>
              <a:r>
                <a:rPr lang="en-GB" dirty="0"/>
                <a:t>members control the</a:t>
              </a:r>
              <a:br>
                <a:rPr lang="en-GB" dirty="0"/>
              </a:br>
              <a:r>
                <a:rPr lang="en-GB" dirty="0"/>
                <a:t>mission and board.</a:t>
              </a:r>
              <a:br>
                <a:rPr lang="en-GB" dirty="0"/>
              </a:br>
              <a:r>
                <a:rPr lang="en-GB" dirty="0"/>
                <a:t>Shareholders/members</a:t>
              </a:r>
            </a:p>
            <a:p>
              <a:r>
                <a:rPr lang="en-GB" dirty="0"/>
                <a:t>control Articles &amp; board.</a:t>
              </a:r>
            </a:p>
          </p:txBody>
        </p:sp>
      </p:grpSp>
      <p:grpSp>
        <p:nvGrpSpPr>
          <p:cNvPr id="4" name="Group 3"/>
          <p:cNvGrpSpPr/>
          <p:nvPr/>
        </p:nvGrpSpPr>
        <p:grpSpPr>
          <a:xfrm>
            <a:off x="3417090" y="2046071"/>
            <a:ext cx="3001143" cy="3648330"/>
            <a:chOff x="3380036" y="1932929"/>
            <a:chExt cx="3001143" cy="3648330"/>
          </a:xfrm>
        </p:grpSpPr>
        <p:sp>
          <p:nvSpPr>
            <p:cNvPr id="11" name="Freeform: Shape 10"/>
            <p:cNvSpPr/>
            <p:nvPr/>
          </p:nvSpPr>
          <p:spPr>
            <a:xfrm>
              <a:off x="3900509" y="193292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rgbClr val="F79646">
                <a:lumMod val="40000"/>
                <a:lumOff val="60000"/>
                <a:alpha val="90000"/>
              </a:srgbClr>
            </a:solidFill>
            <a:ln w="25400" cap="flat" cmpd="sng" algn="ctr">
              <a:solidFill>
                <a:srgbClr val="C0504D">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Directors</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Strategic direction</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Appoint CEO</a:t>
              </a:r>
            </a:p>
          </p:txBody>
        </p:sp>
        <p:grpSp>
          <p:nvGrpSpPr>
            <p:cNvPr id="3" name="Group 2"/>
            <p:cNvGrpSpPr/>
            <p:nvPr/>
          </p:nvGrpSpPr>
          <p:grpSpPr>
            <a:xfrm>
              <a:off x="3380036" y="2312942"/>
              <a:ext cx="3001143" cy="3268317"/>
              <a:chOff x="3380036" y="2312942"/>
              <a:chExt cx="3001143" cy="3268317"/>
            </a:xfrm>
          </p:grpSpPr>
          <p:sp>
            <p:nvSpPr>
              <p:cNvPr id="12" name="Freeform: Shape 11"/>
              <p:cNvSpPr/>
              <p:nvPr/>
            </p:nvSpPr>
            <p:spPr>
              <a:xfrm>
                <a:off x="3392641"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rgbClr val="F79646"/>
              </a:solidFill>
              <a:ln w="25400"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58911" tIns="158911" rIns="158911" bIns="158911" numCol="1" spcCol="1270" anchor="ctr" anchorCtr="0">
                <a:noAutofit/>
              </a:bodyPr>
              <a:lstStyle/>
              <a:p>
                <a:pPr algn="ctr" defTabSz="711200">
                  <a:lnSpc>
                    <a:spcPct val="90000"/>
                  </a:lnSpc>
                  <a:spcBef>
                    <a:spcPct val="0"/>
                  </a:spcBef>
                  <a:spcAft>
                    <a:spcPct val="35000"/>
                  </a:spcAft>
                </a:pPr>
                <a:r>
                  <a:rPr lang="en-US" sz="1600" b="1" dirty="0">
                    <a:solidFill>
                      <a:prstClr val="black"/>
                    </a:solidFill>
                    <a:latin typeface="Calibri"/>
                  </a:rPr>
                  <a:t>Board</a:t>
                </a:r>
              </a:p>
            </p:txBody>
          </p:sp>
          <p:sp>
            <p:nvSpPr>
              <p:cNvPr id="6" name="TextBox 5"/>
              <p:cNvSpPr txBox="1"/>
              <p:nvPr/>
            </p:nvSpPr>
            <p:spPr>
              <a:xfrm>
                <a:off x="3380036" y="3826933"/>
                <a:ext cx="3001143" cy="1754326"/>
              </a:xfrm>
              <a:prstGeom prst="rect">
                <a:avLst/>
              </a:prstGeom>
              <a:noFill/>
            </p:spPr>
            <p:txBody>
              <a:bodyPr wrap="none" rtlCol="0">
                <a:spAutoFit/>
              </a:bodyPr>
              <a:lstStyle/>
              <a:p>
                <a:r>
                  <a:rPr lang="en-GB" b="1" dirty="0"/>
                  <a:t>STRATEGIC DIRECTION</a:t>
                </a:r>
              </a:p>
              <a:p>
                <a:r>
                  <a:rPr lang="en-GB" dirty="0"/>
                  <a:t>Directors can be co-opted,</a:t>
                </a:r>
                <a:br>
                  <a:rPr lang="en-GB" dirty="0"/>
                </a:br>
                <a:r>
                  <a:rPr lang="en-GB" dirty="0"/>
                  <a:t>if the owners agreed in the</a:t>
                </a:r>
                <a:br>
                  <a:rPr lang="en-GB" dirty="0"/>
                </a:br>
                <a:r>
                  <a:rPr lang="en-GB" dirty="0"/>
                  <a:t>Articles.</a:t>
                </a:r>
                <a:br>
                  <a:rPr lang="en-GB" dirty="0"/>
                </a:br>
                <a:r>
                  <a:rPr lang="en-GB" dirty="0"/>
                  <a:t>Directors could fire a CEO.</a:t>
                </a:r>
                <a:br>
                  <a:rPr lang="en-GB" dirty="0"/>
                </a:br>
                <a:endParaRPr lang="en-GB" dirty="0"/>
              </a:p>
            </p:txBody>
          </p:sp>
        </p:grpSp>
      </p:grpSp>
      <p:grpSp>
        <p:nvGrpSpPr>
          <p:cNvPr id="8" name="Group 7"/>
          <p:cNvGrpSpPr/>
          <p:nvPr/>
        </p:nvGrpSpPr>
        <p:grpSpPr>
          <a:xfrm>
            <a:off x="6096000" y="2046071"/>
            <a:ext cx="3077316" cy="4202328"/>
            <a:chOff x="6058947" y="1932929"/>
            <a:chExt cx="3077316" cy="4202328"/>
          </a:xfrm>
        </p:grpSpPr>
        <p:sp>
          <p:nvSpPr>
            <p:cNvPr id="13" name="Freeform: Shape 12"/>
            <p:cNvSpPr/>
            <p:nvPr/>
          </p:nvSpPr>
          <p:spPr>
            <a:xfrm>
              <a:off x="6566814" y="193292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rgbClr val="F79646">
                <a:lumMod val="40000"/>
                <a:lumOff val="60000"/>
                <a:alpha val="90000"/>
              </a:srgbClr>
            </a:solidFill>
            <a:ln w="25400" cap="flat" cmpd="sng" algn="ctr">
              <a:solidFill>
                <a:srgbClr val="C0504D">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Manage operations</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Deliver social impact</a:t>
              </a:r>
            </a:p>
          </p:txBody>
        </p:sp>
        <p:sp>
          <p:nvSpPr>
            <p:cNvPr id="14" name="Freeform: Shape 13"/>
            <p:cNvSpPr/>
            <p:nvPr/>
          </p:nvSpPr>
          <p:spPr>
            <a:xfrm>
              <a:off x="6058947"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rgbClr val="F79646"/>
            </a:solidFill>
            <a:ln w="25400"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58911" tIns="158911" rIns="158911" bIns="158911" numCol="1" spcCol="1270" anchor="ctr" anchorCtr="0">
              <a:noAutofit/>
            </a:bodyPr>
            <a:lstStyle/>
            <a:p>
              <a:pPr algn="ctr" defTabSz="711200">
                <a:lnSpc>
                  <a:spcPct val="90000"/>
                </a:lnSpc>
                <a:spcBef>
                  <a:spcPct val="0"/>
                </a:spcBef>
                <a:spcAft>
                  <a:spcPct val="35000"/>
                </a:spcAft>
              </a:pPr>
              <a:r>
                <a:rPr lang="en-US" sz="1600" b="1" dirty="0">
                  <a:solidFill>
                    <a:prstClr val="black"/>
                  </a:solidFill>
                  <a:latin typeface="Calibri"/>
                </a:rPr>
                <a:t>CEO and staff</a:t>
              </a:r>
            </a:p>
          </p:txBody>
        </p:sp>
        <p:sp>
          <p:nvSpPr>
            <p:cNvPr id="7" name="TextBox 6"/>
            <p:cNvSpPr txBox="1"/>
            <p:nvPr/>
          </p:nvSpPr>
          <p:spPr>
            <a:xfrm>
              <a:off x="6284649" y="3826933"/>
              <a:ext cx="2851614" cy="2308324"/>
            </a:xfrm>
            <a:prstGeom prst="rect">
              <a:avLst/>
            </a:prstGeom>
            <a:noFill/>
          </p:spPr>
          <p:txBody>
            <a:bodyPr wrap="none" rtlCol="0">
              <a:spAutoFit/>
            </a:bodyPr>
            <a:lstStyle/>
            <a:p>
              <a:r>
                <a:rPr lang="en-GB" b="1" dirty="0"/>
                <a:t>OPERATIONS</a:t>
              </a:r>
            </a:p>
            <a:p>
              <a:r>
                <a:rPr lang="en-GB" dirty="0"/>
                <a:t>This is about operational</a:t>
              </a:r>
              <a:br>
                <a:rPr lang="en-GB" dirty="0"/>
              </a:br>
              <a:r>
                <a:rPr lang="en-GB" dirty="0"/>
                <a:t>delivery of the business.</a:t>
              </a:r>
              <a:br>
                <a:rPr lang="en-GB" dirty="0"/>
              </a:br>
              <a:r>
                <a:rPr lang="en-GB" dirty="0"/>
                <a:t>Volunteers, beneficiaries,</a:t>
              </a:r>
              <a:br>
                <a:rPr lang="en-GB" dirty="0"/>
              </a:br>
              <a:r>
                <a:rPr lang="en-GB" dirty="0"/>
                <a:t>funders, advisors, </a:t>
              </a:r>
              <a:br>
                <a:rPr lang="en-GB" dirty="0"/>
              </a:br>
              <a:r>
                <a:rPr lang="en-GB" dirty="0"/>
                <a:t>employees, consultants</a:t>
              </a:r>
              <a:br>
                <a:rPr lang="en-GB" dirty="0"/>
              </a:br>
              <a:r>
                <a:rPr lang="en-GB" dirty="0"/>
                <a:t>work here.</a:t>
              </a:r>
              <a:br>
                <a:rPr lang="en-GB" dirty="0"/>
              </a:br>
              <a:endParaRPr lang="en-GB" dirty="0"/>
            </a:p>
          </p:txBody>
        </p:sp>
      </p:grpSp>
      <p:grpSp>
        <p:nvGrpSpPr>
          <p:cNvPr id="23" name="Group 22">
            <a:extLst>
              <a:ext uri="{FF2B5EF4-FFF2-40B4-BE49-F238E27FC236}">
                <a16:creationId xmlns:a16="http://schemas.microsoft.com/office/drawing/2014/main" id="{605A255C-152C-4815-AED7-2ED0276DA167}"/>
              </a:ext>
            </a:extLst>
          </p:cNvPr>
          <p:cNvGrpSpPr/>
          <p:nvPr/>
        </p:nvGrpSpPr>
        <p:grpSpPr>
          <a:xfrm>
            <a:off x="1212019" y="1473677"/>
            <a:ext cx="2122697" cy="917516"/>
            <a:chOff x="1174965" y="1360535"/>
            <a:chExt cx="2122697" cy="917516"/>
          </a:xfrm>
        </p:grpSpPr>
        <p:sp>
          <p:nvSpPr>
            <p:cNvPr id="16" name="TextBox 15">
              <a:extLst>
                <a:ext uri="{FF2B5EF4-FFF2-40B4-BE49-F238E27FC236}">
                  <a16:creationId xmlns:a16="http://schemas.microsoft.com/office/drawing/2014/main" id="{3C3C1C6C-49D2-4B7E-ABA6-86A130E32985}"/>
                </a:ext>
              </a:extLst>
            </p:cNvPr>
            <p:cNvSpPr txBox="1"/>
            <p:nvPr/>
          </p:nvSpPr>
          <p:spPr>
            <a:xfrm>
              <a:off x="1174965" y="1360535"/>
              <a:ext cx="2122697" cy="369332"/>
            </a:xfrm>
            <a:prstGeom prst="rect">
              <a:avLst/>
            </a:prstGeom>
            <a:noFill/>
          </p:spPr>
          <p:txBody>
            <a:bodyPr wrap="none" rtlCol="0">
              <a:spAutoFit/>
            </a:bodyPr>
            <a:lstStyle/>
            <a:p>
              <a:r>
                <a:rPr lang="en-GB" b="1" dirty="0">
                  <a:solidFill>
                    <a:srgbClr val="FF0000"/>
                  </a:solidFill>
                </a:rPr>
                <a:t>Get this right first</a:t>
              </a:r>
            </a:p>
          </p:txBody>
        </p:sp>
        <p:cxnSp>
          <p:nvCxnSpPr>
            <p:cNvPr id="18" name="Straight Arrow Connector 17">
              <a:extLst>
                <a:ext uri="{FF2B5EF4-FFF2-40B4-BE49-F238E27FC236}">
                  <a16:creationId xmlns:a16="http://schemas.microsoft.com/office/drawing/2014/main" id="{C8F1B2B3-ECE2-4D52-96AA-F6BB70AD4A9D}"/>
                </a:ext>
              </a:extLst>
            </p:cNvPr>
            <p:cNvCxnSpPr>
              <a:cxnSpLocks/>
            </p:cNvCxnSpPr>
            <p:nvPr/>
          </p:nvCxnSpPr>
          <p:spPr>
            <a:xfrm flipH="1">
              <a:off x="1742071" y="1687873"/>
              <a:ext cx="301336" cy="59017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3F634DD1-DF43-411F-9CF4-6C97542DDD83}"/>
              </a:ext>
            </a:extLst>
          </p:cNvPr>
          <p:cNvGrpSpPr/>
          <p:nvPr/>
        </p:nvGrpSpPr>
        <p:grpSpPr>
          <a:xfrm>
            <a:off x="4039270" y="1473677"/>
            <a:ext cx="2848857" cy="917516"/>
            <a:chOff x="4002216" y="1360535"/>
            <a:chExt cx="2848857" cy="917516"/>
          </a:xfrm>
        </p:grpSpPr>
        <p:sp>
          <p:nvSpPr>
            <p:cNvPr id="19" name="TextBox 18">
              <a:extLst>
                <a:ext uri="{FF2B5EF4-FFF2-40B4-BE49-F238E27FC236}">
                  <a16:creationId xmlns:a16="http://schemas.microsoft.com/office/drawing/2014/main" id="{D045CA6E-7084-44EE-B64A-4F3C12554F99}"/>
                </a:ext>
              </a:extLst>
            </p:cNvPr>
            <p:cNvSpPr txBox="1"/>
            <p:nvPr/>
          </p:nvSpPr>
          <p:spPr>
            <a:xfrm>
              <a:off x="4002216" y="1360535"/>
              <a:ext cx="2848857" cy="369332"/>
            </a:xfrm>
            <a:prstGeom prst="rect">
              <a:avLst/>
            </a:prstGeom>
            <a:noFill/>
          </p:spPr>
          <p:txBody>
            <a:bodyPr wrap="none" rtlCol="0">
              <a:spAutoFit/>
            </a:bodyPr>
            <a:lstStyle/>
            <a:p>
              <a:r>
                <a:rPr lang="en-GB" b="1" dirty="0">
                  <a:solidFill>
                    <a:srgbClr val="FF0000"/>
                  </a:solidFill>
                </a:rPr>
                <a:t>Then this falls into place</a:t>
              </a:r>
            </a:p>
          </p:txBody>
        </p:sp>
        <p:cxnSp>
          <p:nvCxnSpPr>
            <p:cNvPr id="20" name="Straight Arrow Connector 19">
              <a:extLst>
                <a:ext uri="{FF2B5EF4-FFF2-40B4-BE49-F238E27FC236}">
                  <a16:creationId xmlns:a16="http://schemas.microsoft.com/office/drawing/2014/main" id="{1B10076F-5513-4B43-B570-DC5351B00FFA}"/>
                </a:ext>
              </a:extLst>
            </p:cNvPr>
            <p:cNvCxnSpPr>
              <a:cxnSpLocks/>
            </p:cNvCxnSpPr>
            <p:nvPr/>
          </p:nvCxnSpPr>
          <p:spPr>
            <a:xfrm flipH="1">
              <a:off x="4569322" y="1687873"/>
              <a:ext cx="301336" cy="59017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3310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461"/>
            <a:ext cx="8229600" cy="1143000"/>
          </a:xfrm>
        </p:spPr>
        <p:txBody>
          <a:bodyPr/>
          <a:lstStyle/>
          <a:p>
            <a:r>
              <a:rPr lang="en-GB" dirty="0"/>
              <a:t>Further control mechanisms</a:t>
            </a:r>
          </a:p>
        </p:txBody>
      </p:sp>
      <p:grpSp>
        <p:nvGrpSpPr>
          <p:cNvPr id="17" name="Group 16"/>
          <p:cNvGrpSpPr/>
          <p:nvPr/>
        </p:nvGrpSpPr>
        <p:grpSpPr>
          <a:xfrm>
            <a:off x="3522798" y="1334678"/>
            <a:ext cx="2573202" cy="1775761"/>
            <a:chOff x="726336" y="1921636"/>
            <a:chExt cx="2573202" cy="1775761"/>
          </a:xfrm>
        </p:grpSpPr>
        <p:sp>
          <p:nvSpPr>
            <p:cNvPr id="9" name="Freeform: Shape 8"/>
            <p:cNvSpPr/>
            <p:nvPr/>
          </p:nvSpPr>
          <p:spPr>
            <a:xfrm>
              <a:off x="1268068" y="1921636"/>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chemeClr val="accent6">
                <a:lumMod val="40000"/>
                <a:lumOff val="60000"/>
                <a:alpha val="90000"/>
              </a:scheme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t>Shares/members</a:t>
              </a:r>
            </a:p>
            <a:p>
              <a:pPr marL="57150" lvl="1" indent="-57150" defTabSz="444500">
                <a:lnSpc>
                  <a:spcPct val="90000"/>
                </a:lnSpc>
                <a:spcBef>
                  <a:spcPct val="0"/>
                </a:spcBef>
                <a:spcAft>
                  <a:spcPct val="15000"/>
                </a:spcAft>
                <a:buChar char="•"/>
              </a:pPr>
              <a:r>
                <a:rPr lang="en-US" sz="1000" dirty="0"/>
                <a:t>Appoint board</a:t>
              </a:r>
            </a:p>
          </p:txBody>
        </p:sp>
        <p:sp>
          <p:nvSpPr>
            <p:cNvPr id="10" name="Freeform: Shape 9"/>
            <p:cNvSpPr/>
            <p:nvPr/>
          </p:nvSpPr>
          <p:spPr>
            <a:xfrm>
              <a:off x="726336"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chemeClr val="accent6"/>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59546" tIns="159546" rIns="159546" bIns="159546" numCol="1" spcCol="1270" anchor="ctr" anchorCtr="0">
              <a:noAutofit/>
            </a:bodyPr>
            <a:lstStyle/>
            <a:p>
              <a:pPr algn="ctr" defTabSz="755650">
                <a:lnSpc>
                  <a:spcPct val="90000"/>
                </a:lnSpc>
                <a:spcBef>
                  <a:spcPct val="0"/>
                </a:spcBef>
                <a:spcAft>
                  <a:spcPct val="35000"/>
                </a:spcAft>
              </a:pPr>
              <a:r>
                <a:rPr lang="en-US" sz="1700" b="1" dirty="0">
                  <a:solidFill>
                    <a:schemeClr val="tx1"/>
                  </a:solidFill>
                </a:rPr>
                <a:t>Owners</a:t>
              </a:r>
            </a:p>
          </p:txBody>
        </p:sp>
      </p:grpSp>
      <p:grpSp>
        <p:nvGrpSpPr>
          <p:cNvPr id="16" name="Group 15"/>
          <p:cNvGrpSpPr/>
          <p:nvPr/>
        </p:nvGrpSpPr>
        <p:grpSpPr>
          <a:xfrm>
            <a:off x="5256811" y="2478441"/>
            <a:ext cx="2539338" cy="1775761"/>
            <a:chOff x="3392641" y="1932929"/>
            <a:chExt cx="2539338" cy="1775761"/>
          </a:xfrm>
        </p:grpSpPr>
        <p:sp>
          <p:nvSpPr>
            <p:cNvPr id="11" name="Freeform: Shape 10"/>
            <p:cNvSpPr/>
            <p:nvPr/>
          </p:nvSpPr>
          <p:spPr>
            <a:xfrm>
              <a:off x="3900509" y="193292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rgbClr val="F79646">
                <a:lumMod val="40000"/>
                <a:lumOff val="60000"/>
                <a:alpha val="90000"/>
              </a:srgbClr>
            </a:solidFill>
            <a:ln w="25400" cap="flat" cmpd="sng" algn="ctr">
              <a:solidFill>
                <a:srgbClr val="C0504D">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Directors</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Strategic direction</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Appoint CEO</a:t>
              </a:r>
            </a:p>
          </p:txBody>
        </p:sp>
        <p:sp>
          <p:nvSpPr>
            <p:cNvPr id="12" name="Freeform: Shape 11"/>
            <p:cNvSpPr/>
            <p:nvPr/>
          </p:nvSpPr>
          <p:spPr>
            <a:xfrm>
              <a:off x="3392641"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rgbClr val="F79646"/>
            </a:solidFill>
            <a:ln w="25400"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58911" tIns="158911" rIns="158911" bIns="158911" numCol="1" spcCol="1270" anchor="ctr" anchorCtr="0">
              <a:noAutofit/>
            </a:bodyPr>
            <a:lstStyle/>
            <a:p>
              <a:pPr algn="ctr" defTabSz="711200">
                <a:lnSpc>
                  <a:spcPct val="90000"/>
                </a:lnSpc>
                <a:spcBef>
                  <a:spcPct val="0"/>
                </a:spcBef>
                <a:spcAft>
                  <a:spcPct val="35000"/>
                </a:spcAft>
              </a:pPr>
              <a:r>
                <a:rPr lang="en-US" sz="1600" b="1" dirty="0">
                  <a:solidFill>
                    <a:prstClr val="black"/>
                  </a:solidFill>
                  <a:latin typeface="Calibri"/>
                </a:rPr>
                <a:t>Board</a:t>
              </a:r>
            </a:p>
          </p:txBody>
        </p:sp>
      </p:grpSp>
      <p:grpSp>
        <p:nvGrpSpPr>
          <p:cNvPr id="18" name="Group 17"/>
          <p:cNvGrpSpPr/>
          <p:nvPr/>
        </p:nvGrpSpPr>
        <p:grpSpPr>
          <a:xfrm>
            <a:off x="6687140" y="4102023"/>
            <a:ext cx="2539337" cy="1775761"/>
            <a:chOff x="6058947" y="1932929"/>
            <a:chExt cx="2539337" cy="1775761"/>
          </a:xfrm>
        </p:grpSpPr>
        <p:sp>
          <p:nvSpPr>
            <p:cNvPr id="13" name="Freeform: Shape 12"/>
            <p:cNvSpPr/>
            <p:nvPr/>
          </p:nvSpPr>
          <p:spPr>
            <a:xfrm>
              <a:off x="6566814" y="193292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rgbClr val="F79646">
                <a:lumMod val="40000"/>
                <a:lumOff val="60000"/>
                <a:alpha val="90000"/>
              </a:srgbClr>
            </a:solidFill>
            <a:ln w="25400" cap="flat" cmpd="sng" algn="ctr">
              <a:solidFill>
                <a:srgbClr val="C0504D">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Manage operations</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Deliver social impact</a:t>
              </a:r>
            </a:p>
          </p:txBody>
        </p:sp>
        <p:sp>
          <p:nvSpPr>
            <p:cNvPr id="14" name="Freeform: Shape 13"/>
            <p:cNvSpPr/>
            <p:nvPr/>
          </p:nvSpPr>
          <p:spPr>
            <a:xfrm>
              <a:off x="6058947"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rgbClr val="F79646"/>
            </a:solidFill>
            <a:ln w="25400"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58911" tIns="158911" rIns="158911" bIns="158911" numCol="1" spcCol="1270" anchor="ctr" anchorCtr="0">
              <a:noAutofit/>
            </a:bodyPr>
            <a:lstStyle/>
            <a:p>
              <a:pPr algn="ctr" defTabSz="711200">
                <a:lnSpc>
                  <a:spcPct val="90000"/>
                </a:lnSpc>
                <a:spcBef>
                  <a:spcPct val="0"/>
                </a:spcBef>
                <a:spcAft>
                  <a:spcPct val="35000"/>
                </a:spcAft>
              </a:pPr>
              <a:r>
                <a:rPr lang="en-US" sz="1600" b="1" dirty="0">
                  <a:solidFill>
                    <a:prstClr val="black"/>
                  </a:solidFill>
                  <a:latin typeface="Calibri"/>
                </a:rPr>
                <a:t>CEO and staff</a:t>
              </a:r>
            </a:p>
          </p:txBody>
        </p:sp>
      </p:grpSp>
      <p:grpSp>
        <p:nvGrpSpPr>
          <p:cNvPr id="54" name="Group 53"/>
          <p:cNvGrpSpPr/>
          <p:nvPr/>
        </p:nvGrpSpPr>
        <p:grpSpPr>
          <a:xfrm>
            <a:off x="2251854" y="1003606"/>
            <a:ext cx="7945055" cy="5084634"/>
            <a:chOff x="727853" y="1003606"/>
            <a:chExt cx="7945055" cy="5084634"/>
          </a:xfrm>
        </p:grpSpPr>
        <p:sp>
          <p:nvSpPr>
            <p:cNvPr id="30" name="Rectangle 29"/>
            <p:cNvSpPr/>
            <p:nvPr/>
          </p:nvSpPr>
          <p:spPr>
            <a:xfrm>
              <a:off x="727853" y="1003606"/>
              <a:ext cx="7945055" cy="5084634"/>
            </a:xfrm>
            <a:prstGeom prst="rect">
              <a:avLst/>
            </a:prstGeom>
            <a:gradFill>
              <a:gsLst>
                <a:gs pos="0">
                  <a:schemeClr val="accent1">
                    <a:tint val="100000"/>
                    <a:shade val="100000"/>
                    <a:satMod val="130000"/>
                    <a:alpha val="25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t"/>
            <a:lstStyle/>
            <a:p>
              <a:r>
                <a:rPr lang="en-GB" sz="3000" b="1" dirty="0">
                  <a:solidFill>
                    <a:schemeClr val="tx1"/>
                  </a:solidFill>
                </a:rPr>
                <a:t>Company Law</a:t>
              </a:r>
            </a:p>
          </p:txBody>
        </p:sp>
        <p:sp>
          <p:nvSpPr>
            <p:cNvPr id="32" name="Rectangle 31"/>
            <p:cNvSpPr/>
            <p:nvPr/>
          </p:nvSpPr>
          <p:spPr>
            <a:xfrm>
              <a:off x="6204382" y="2590011"/>
              <a:ext cx="1800000" cy="1440000"/>
            </a:xfrm>
            <a:prstGeom prst="rect">
              <a:avLst/>
            </a:prstGeom>
            <a:gradFill>
              <a:gsLst>
                <a:gs pos="0">
                  <a:schemeClr val="accent1">
                    <a:tint val="100000"/>
                    <a:shade val="100000"/>
                    <a:satMod val="130000"/>
                    <a:alpha val="25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solidFill>
                </a:rPr>
                <a:t>Shareholders’</a:t>
              </a:r>
            </a:p>
            <a:p>
              <a:pPr algn="ctr"/>
              <a:r>
                <a:rPr lang="en-GB" b="1" dirty="0">
                  <a:solidFill>
                    <a:schemeClr val="tx1"/>
                  </a:solidFill>
                </a:rPr>
                <a:t>Agreement</a:t>
              </a:r>
            </a:p>
          </p:txBody>
        </p:sp>
        <p:sp>
          <p:nvSpPr>
            <p:cNvPr id="34" name="Rectangle 33"/>
            <p:cNvSpPr/>
            <p:nvPr/>
          </p:nvSpPr>
          <p:spPr>
            <a:xfrm>
              <a:off x="1002808" y="3352576"/>
              <a:ext cx="1800000" cy="1440000"/>
            </a:xfrm>
            <a:prstGeom prst="rect">
              <a:avLst/>
            </a:prstGeom>
            <a:gradFill>
              <a:gsLst>
                <a:gs pos="0">
                  <a:schemeClr val="accent1">
                    <a:tint val="100000"/>
                    <a:shade val="100000"/>
                    <a:satMod val="130000"/>
                    <a:alpha val="25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solidFill>
                </a:rPr>
                <a:t>Employees’,</a:t>
              </a:r>
            </a:p>
            <a:p>
              <a:pPr algn="ctr"/>
              <a:r>
                <a:rPr lang="en-GB" b="1" dirty="0">
                  <a:solidFill>
                    <a:schemeClr val="tx1"/>
                  </a:solidFill>
                </a:rPr>
                <a:t>Volunteers’,</a:t>
              </a:r>
            </a:p>
            <a:p>
              <a:pPr algn="ctr"/>
              <a:r>
                <a:rPr lang="en-GB" b="1" dirty="0">
                  <a:solidFill>
                    <a:schemeClr val="tx1"/>
                  </a:solidFill>
                </a:rPr>
                <a:t>Customers’,</a:t>
              </a:r>
            </a:p>
            <a:p>
              <a:pPr algn="ctr"/>
              <a:r>
                <a:rPr lang="en-GB" b="1" dirty="0">
                  <a:solidFill>
                    <a:schemeClr val="tx1"/>
                  </a:solidFill>
                </a:rPr>
                <a:t>Suppliers’ </a:t>
              </a:r>
              <a:r>
                <a:rPr lang="en-GB" b="1" dirty="0" err="1">
                  <a:solidFill>
                    <a:schemeClr val="tx1"/>
                  </a:solidFill>
                </a:rPr>
                <a:t>etc</a:t>
              </a:r>
              <a:endParaRPr lang="en-GB" b="1" dirty="0">
                <a:solidFill>
                  <a:schemeClr val="tx1"/>
                </a:solidFill>
              </a:endParaRPr>
            </a:p>
            <a:p>
              <a:pPr algn="ctr"/>
              <a:r>
                <a:rPr lang="en-GB" b="1" dirty="0">
                  <a:solidFill>
                    <a:schemeClr val="tx1"/>
                  </a:solidFill>
                </a:rPr>
                <a:t>Contracts </a:t>
              </a:r>
            </a:p>
          </p:txBody>
        </p:sp>
        <p:sp>
          <p:nvSpPr>
            <p:cNvPr id="41" name="Arrow: Left-Right 40"/>
            <p:cNvSpPr/>
            <p:nvPr/>
          </p:nvSpPr>
          <p:spPr>
            <a:xfrm rot="8163722">
              <a:off x="2302637" y="2818314"/>
              <a:ext cx="2628101" cy="493378"/>
            </a:xfrm>
            <a:prstGeom prst="lef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dirty="0">
                <a:solidFill>
                  <a:schemeClr val="tx1"/>
                </a:solidFill>
              </a:endParaRPr>
            </a:p>
          </p:txBody>
        </p:sp>
        <p:sp>
          <p:nvSpPr>
            <p:cNvPr id="42" name="Arrow: Left-Right 41"/>
            <p:cNvSpPr/>
            <p:nvPr/>
          </p:nvSpPr>
          <p:spPr>
            <a:xfrm rot="11936103">
              <a:off x="2520628" y="4589455"/>
              <a:ext cx="2442576" cy="493378"/>
            </a:xfrm>
            <a:prstGeom prst="lef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dirty="0">
                <a:solidFill>
                  <a:schemeClr val="tx1"/>
                </a:solidFill>
              </a:endParaRPr>
            </a:p>
          </p:txBody>
        </p:sp>
        <p:sp>
          <p:nvSpPr>
            <p:cNvPr id="33" name="Rectangle 32"/>
            <p:cNvSpPr/>
            <p:nvPr/>
          </p:nvSpPr>
          <p:spPr>
            <a:xfrm>
              <a:off x="3404165" y="4321561"/>
              <a:ext cx="1800000" cy="1440000"/>
            </a:xfrm>
            <a:prstGeom prst="rect">
              <a:avLst/>
            </a:prstGeom>
            <a:gradFill>
              <a:gsLst>
                <a:gs pos="0">
                  <a:schemeClr val="accent1">
                    <a:tint val="100000"/>
                    <a:shade val="100000"/>
                    <a:satMod val="130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solidFill>
                </a:rPr>
                <a:t>Company Policies</a:t>
              </a:r>
            </a:p>
          </p:txBody>
        </p:sp>
        <p:sp>
          <p:nvSpPr>
            <p:cNvPr id="40" name="Arrow: Left-Right 39"/>
            <p:cNvSpPr/>
            <p:nvPr/>
          </p:nvSpPr>
          <p:spPr>
            <a:xfrm rot="5400000">
              <a:off x="3415427" y="3063322"/>
              <a:ext cx="2442576" cy="493378"/>
            </a:xfrm>
            <a:prstGeom prst="lef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dirty="0">
                <a:solidFill>
                  <a:schemeClr val="tx1"/>
                </a:solidFill>
              </a:endParaRPr>
            </a:p>
          </p:txBody>
        </p:sp>
        <p:sp>
          <p:nvSpPr>
            <p:cNvPr id="31" name="Rectangle 30"/>
            <p:cNvSpPr/>
            <p:nvPr/>
          </p:nvSpPr>
          <p:spPr>
            <a:xfrm>
              <a:off x="4079638" y="1170748"/>
              <a:ext cx="1800000" cy="1440000"/>
            </a:xfrm>
            <a:prstGeom prst="rect">
              <a:avLst/>
            </a:prstGeom>
            <a:gradFill>
              <a:gsLst>
                <a:gs pos="0">
                  <a:schemeClr val="accent1">
                    <a:tint val="100000"/>
                    <a:shade val="100000"/>
                    <a:satMod val="130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solidFill>
                </a:rPr>
                <a:t>Company Articles</a:t>
              </a:r>
            </a:p>
          </p:txBody>
        </p:sp>
        <p:sp>
          <p:nvSpPr>
            <p:cNvPr id="38" name="Arrow: Left-Right 37"/>
            <p:cNvSpPr/>
            <p:nvPr/>
          </p:nvSpPr>
          <p:spPr>
            <a:xfrm rot="2010482">
              <a:off x="5543641" y="1864386"/>
              <a:ext cx="1879600" cy="493378"/>
            </a:xfrm>
            <a:prstGeom prst="lef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dirty="0">
                <a:solidFill>
                  <a:schemeClr val="tx1"/>
                </a:solidFill>
              </a:endParaRPr>
            </a:p>
          </p:txBody>
        </p:sp>
      </p:grpSp>
      <p:grpSp>
        <p:nvGrpSpPr>
          <p:cNvPr id="3" name="Group 2">
            <a:extLst>
              <a:ext uri="{FF2B5EF4-FFF2-40B4-BE49-F238E27FC236}">
                <a16:creationId xmlns:a16="http://schemas.microsoft.com/office/drawing/2014/main" id="{9EFBF9AB-8AFF-4FC0-87B8-22B853CF93DC}"/>
              </a:ext>
            </a:extLst>
          </p:cNvPr>
          <p:cNvGrpSpPr/>
          <p:nvPr/>
        </p:nvGrpSpPr>
        <p:grpSpPr>
          <a:xfrm>
            <a:off x="3524212" y="1346573"/>
            <a:ext cx="5708925" cy="4541122"/>
            <a:chOff x="3524212" y="1346573"/>
            <a:chExt cx="5708925" cy="4541122"/>
          </a:xfrm>
        </p:grpSpPr>
        <p:sp>
          <p:nvSpPr>
            <p:cNvPr id="52" name="Freeform: Shape 51"/>
            <p:cNvSpPr/>
            <p:nvPr/>
          </p:nvSpPr>
          <p:spPr>
            <a:xfrm>
              <a:off x="4065944" y="1346573"/>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chemeClr val="accent4">
                <a:lumMod val="20000"/>
                <a:lumOff val="80000"/>
                <a:alpha val="90000"/>
              </a:scheme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t>Shares/members</a:t>
              </a:r>
            </a:p>
            <a:p>
              <a:pPr marL="57150" lvl="1" indent="-57150" defTabSz="444500">
                <a:lnSpc>
                  <a:spcPct val="90000"/>
                </a:lnSpc>
                <a:spcBef>
                  <a:spcPct val="0"/>
                </a:spcBef>
                <a:spcAft>
                  <a:spcPct val="15000"/>
                </a:spcAft>
                <a:buChar char="•"/>
              </a:pPr>
              <a:r>
                <a:rPr lang="en-US" sz="1000" dirty="0"/>
                <a:t>Appoint board</a:t>
              </a:r>
            </a:p>
          </p:txBody>
        </p:sp>
        <p:sp>
          <p:nvSpPr>
            <p:cNvPr id="53" name="Freeform: Shape 52"/>
            <p:cNvSpPr/>
            <p:nvPr/>
          </p:nvSpPr>
          <p:spPr>
            <a:xfrm>
              <a:off x="3524212" y="1737879"/>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chemeClr val="accent4">
                <a:lumMod val="60000"/>
                <a:lumOff val="40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59546" tIns="159546" rIns="159546" bIns="159546" numCol="1" spcCol="1270" anchor="ctr" anchorCtr="0">
              <a:noAutofit/>
            </a:bodyPr>
            <a:lstStyle/>
            <a:p>
              <a:pPr algn="ctr" defTabSz="755650">
                <a:lnSpc>
                  <a:spcPct val="90000"/>
                </a:lnSpc>
                <a:spcBef>
                  <a:spcPct val="0"/>
                </a:spcBef>
                <a:spcAft>
                  <a:spcPct val="35000"/>
                </a:spcAft>
              </a:pPr>
              <a:r>
                <a:rPr lang="en-US" sz="1500" b="1" dirty="0">
                  <a:solidFill>
                    <a:schemeClr val="tx1"/>
                  </a:solidFill>
                </a:rPr>
                <a:t>Owners</a:t>
              </a:r>
            </a:p>
          </p:txBody>
        </p:sp>
        <p:grpSp>
          <p:nvGrpSpPr>
            <p:cNvPr id="46" name="Group 45"/>
            <p:cNvGrpSpPr/>
            <p:nvPr/>
          </p:nvGrpSpPr>
          <p:grpSpPr>
            <a:xfrm>
              <a:off x="5208647" y="2475320"/>
              <a:ext cx="2539338" cy="1775761"/>
              <a:chOff x="3392641" y="1932929"/>
              <a:chExt cx="2539338" cy="1775761"/>
            </a:xfrm>
          </p:grpSpPr>
          <p:sp>
            <p:nvSpPr>
              <p:cNvPr id="50" name="Freeform: Shape 49"/>
              <p:cNvSpPr/>
              <p:nvPr/>
            </p:nvSpPr>
            <p:spPr>
              <a:xfrm>
                <a:off x="3900509" y="193292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rgbClr val="F79646">
                  <a:lumMod val="40000"/>
                  <a:lumOff val="60000"/>
                  <a:alpha val="90000"/>
                </a:srgbClr>
              </a:solidFill>
              <a:ln w="25400" cap="flat" cmpd="sng" algn="ctr">
                <a:solidFill>
                  <a:srgbClr val="C0504D">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Directors</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Strategic direction</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Appoint CEO</a:t>
                </a:r>
              </a:p>
            </p:txBody>
          </p:sp>
          <p:sp>
            <p:nvSpPr>
              <p:cNvPr id="51" name="Freeform: Shape 50"/>
              <p:cNvSpPr/>
              <p:nvPr/>
            </p:nvSpPr>
            <p:spPr>
              <a:xfrm>
                <a:off x="3392641"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rgbClr val="F79646"/>
              </a:solidFill>
              <a:ln w="25400"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58911" tIns="158911" rIns="158911" bIns="158911" numCol="1" spcCol="1270" anchor="ctr" anchorCtr="0">
                <a:noAutofit/>
              </a:bodyPr>
              <a:lstStyle/>
              <a:p>
                <a:pPr algn="ctr" defTabSz="711200">
                  <a:lnSpc>
                    <a:spcPct val="90000"/>
                  </a:lnSpc>
                  <a:spcBef>
                    <a:spcPct val="0"/>
                  </a:spcBef>
                  <a:spcAft>
                    <a:spcPct val="35000"/>
                  </a:spcAft>
                </a:pPr>
                <a:r>
                  <a:rPr lang="en-US" sz="1600" b="1" dirty="0">
                    <a:solidFill>
                      <a:prstClr val="black"/>
                    </a:solidFill>
                    <a:latin typeface="Calibri"/>
                  </a:rPr>
                  <a:t>Board</a:t>
                </a:r>
              </a:p>
            </p:txBody>
          </p:sp>
        </p:grpSp>
        <p:grpSp>
          <p:nvGrpSpPr>
            <p:cNvPr id="47" name="Group 46"/>
            <p:cNvGrpSpPr/>
            <p:nvPr/>
          </p:nvGrpSpPr>
          <p:grpSpPr>
            <a:xfrm>
              <a:off x="6693800" y="4111934"/>
              <a:ext cx="2539337" cy="1775761"/>
              <a:chOff x="6058947" y="1932929"/>
              <a:chExt cx="2539337" cy="1775761"/>
            </a:xfrm>
          </p:grpSpPr>
          <p:sp>
            <p:nvSpPr>
              <p:cNvPr id="48" name="Freeform: Shape 47"/>
              <p:cNvSpPr/>
              <p:nvPr/>
            </p:nvSpPr>
            <p:spPr>
              <a:xfrm>
                <a:off x="6566814" y="1932929"/>
                <a:ext cx="2031470" cy="1775761"/>
              </a:xfrm>
              <a:custGeom>
                <a:avLst/>
                <a:gdLst>
                  <a:gd name="connsiteX0" fmla="*/ 0 w 2031470"/>
                  <a:gd name="connsiteY0" fmla="*/ 266364 h 1775761"/>
                  <a:gd name="connsiteX1" fmla="*/ 1143590 w 2031470"/>
                  <a:gd name="connsiteY1" fmla="*/ 266364 h 1775761"/>
                  <a:gd name="connsiteX2" fmla="*/ 1143590 w 2031470"/>
                  <a:gd name="connsiteY2" fmla="*/ 0 h 1775761"/>
                  <a:gd name="connsiteX3" fmla="*/ 2031470 w 2031470"/>
                  <a:gd name="connsiteY3" fmla="*/ 887881 h 1775761"/>
                  <a:gd name="connsiteX4" fmla="*/ 1143590 w 2031470"/>
                  <a:gd name="connsiteY4" fmla="*/ 1775761 h 1775761"/>
                  <a:gd name="connsiteX5" fmla="*/ 1143590 w 2031470"/>
                  <a:gd name="connsiteY5" fmla="*/ 1509397 h 1775761"/>
                  <a:gd name="connsiteX6" fmla="*/ 0 w 2031470"/>
                  <a:gd name="connsiteY6" fmla="*/ 1509397 h 1775761"/>
                  <a:gd name="connsiteX7" fmla="*/ 0 w 2031470"/>
                  <a:gd name="connsiteY7" fmla="*/ 266364 h 177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1470" h="1775761">
                    <a:moveTo>
                      <a:pt x="0" y="266364"/>
                    </a:moveTo>
                    <a:lnTo>
                      <a:pt x="1143590" y="266364"/>
                    </a:lnTo>
                    <a:lnTo>
                      <a:pt x="1143590" y="0"/>
                    </a:lnTo>
                    <a:lnTo>
                      <a:pt x="2031470" y="887881"/>
                    </a:lnTo>
                    <a:lnTo>
                      <a:pt x="1143590" y="1775761"/>
                    </a:lnTo>
                    <a:lnTo>
                      <a:pt x="1143590" y="1509397"/>
                    </a:lnTo>
                    <a:lnTo>
                      <a:pt x="0" y="1509397"/>
                    </a:lnTo>
                    <a:lnTo>
                      <a:pt x="0" y="266364"/>
                    </a:lnTo>
                    <a:close/>
                  </a:path>
                </a:pathLst>
              </a:custGeom>
              <a:solidFill>
                <a:srgbClr val="F79646">
                  <a:lumMod val="40000"/>
                  <a:lumOff val="60000"/>
                  <a:alpha val="90000"/>
                </a:srgbClr>
              </a:solidFill>
              <a:ln w="25400" cap="flat" cmpd="sng" algn="ctr">
                <a:solidFill>
                  <a:srgbClr val="C0504D">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533268" tIns="272714" rIns="545960" bIns="272714" numCol="1" spcCol="1270" anchor="ctr" anchorCtr="0">
                <a:noAutofit/>
              </a:bodyPr>
              <a:lstStyle/>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Manage operations</a:t>
                </a:r>
              </a:p>
              <a:p>
                <a:pPr marL="57150" lvl="1" indent="-57150" defTabSz="444500">
                  <a:lnSpc>
                    <a:spcPct val="90000"/>
                  </a:lnSpc>
                  <a:spcBef>
                    <a:spcPct val="0"/>
                  </a:spcBef>
                  <a:spcAft>
                    <a:spcPct val="15000"/>
                  </a:spcAft>
                  <a:buChar char="•"/>
                </a:pPr>
                <a:r>
                  <a:rPr lang="en-US" sz="1000" dirty="0">
                    <a:solidFill>
                      <a:prstClr val="black">
                        <a:hueOff val="0"/>
                        <a:satOff val="0"/>
                        <a:lumOff val="0"/>
                        <a:alphaOff val="0"/>
                      </a:prstClr>
                    </a:solidFill>
                    <a:latin typeface="Calibri"/>
                  </a:rPr>
                  <a:t>Deliver social impact</a:t>
                </a:r>
              </a:p>
            </p:txBody>
          </p:sp>
          <p:sp>
            <p:nvSpPr>
              <p:cNvPr id="49" name="Freeform: Shape 48"/>
              <p:cNvSpPr/>
              <p:nvPr/>
            </p:nvSpPr>
            <p:spPr>
              <a:xfrm>
                <a:off x="6058947" y="2312942"/>
                <a:ext cx="1015735" cy="1015735"/>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solidFill>
                <a:srgbClr val="F79646"/>
              </a:solidFill>
              <a:ln w="25400"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58911" tIns="158911" rIns="158911" bIns="158911" numCol="1" spcCol="1270" anchor="ctr" anchorCtr="0">
                <a:noAutofit/>
              </a:bodyPr>
              <a:lstStyle/>
              <a:p>
                <a:pPr algn="ctr" defTabSz="711200">
                  <a:lnSpc>
                    <a:spcPct val="90000"/>
                  </a:lnSpc>
                  <a:spcBef>
                    <a:spcPct val="0"/>
                  </a:spcBef>
                  <a:spcAft>
                    <a:spcPct val="35000"/>
                  </a:spcAft>
                </a:pPr>
                <a:r>
                  <a:rPr lang="en-US" sz="1600" b="1" dirty="0">
                    <a:solidFill>
                      <a:prstClr val="black"/>
                    </a:solidFill>
                    <a:latin typeface="Calibri"/>
                  </a:rPr>
                  <a:t>CEO and staff</a:t>
                </a:r>
              </a:p>
            </p:txBody>
          </p:sp>
        </p:grpSp>
      </p:grpSp>
    </p:spTree>
    <p:extLst>
      <p:ext uri="{BB962C8B-B14F-4D97-AF65-F5344CB8AC3E}">
        <p14:creationId xmlns:p14="http://schemas.microsoft.com/office/powerpoint/2010/main" val="324696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4905" y="214436"/>
            <a:ext cx="8387949" cy="573515"/>
          </a:xfrm>
        </p:spPr>
        <p:txBody>
          <a:bodyPr/>
          <a:lstStyle/>
          <a:p>
            <a:r>
              <a:rPr lang="en-US" dirty="0"/>
              <a:t>l</a:t>
            </a:r>
            <a:endParaRPr lang="en-GB" dirty="0"/>
          </a:p>
        </p:txBody>
      </p:sp>
      <p:sp>
        <p:nvSpPr>
          <p:cNvPr id="5" name="Slide Number Placeholder 4"/>
          <p:cNvSpPr>
            <a:spLocks noGrp="1"/>
          </p:cNvSpPr>
          <p:nvPr>
            <p:ph type="sldNum" sz="quarter" idx="17"/>
          </p:nvPr>
        </p:nvSpPr>
        <p:spPr>
          <a:xfrm>
            <a:off x="7984202" y="4501449"/>
            <a:ext cx="2104444" cy="251159"/>
          </a:xfrm>
        </p:spPr>
        <p:txBody>
          <a:bodyPr/>
          <a:lstStyle/>
          <a:p>
            <a:pPr defTabSz="829178"/>
            <a:fld id="{FEBD7F86-1881-4698-8703-FB80B0800997}" type="slidenum">
              <a:rPr lang="en-GB" sz="1632">
                <a:solidFill>
                  <a:prstClr val="black">
                    <a:tint val="75000"/>
                  </a:prstClr>
                </a:solidFill>
                <a:latin typeface="Calibri"/>
              </a:rPr>
              <a:pPr defTabSz="829178"/>
              <a:t>11</a:t>
            </a:fld>
            <a:endParaRPr lang="en-GB" sz="1632" dirty="0">
              <a:solidFill>
                <a:prstClr val="black">
                  <a:tint val="75000"/>
                </a:prstClr>
              </a:solidFill>
              <a:latin typeface="Calibri"/>
            </a:endParaRPr>
          </a:p>
        </p:txBody>
      </p:sp>
      <p:grpSp>
        <p:nvGrpSpPr>
          <p:cNvPr id="2" name="Group 1">
            <a:extLst>
              <a:ext uri="{FF2B5EF4-FFF2-40B4-BE49-F238E27FC236}">
                <a16:creationId xmlns:a16="http://schemas.microsoft.com/office/drawing/2014/main" id="{AC2BDA45-3F32-4153-B814-5C9C85FA6CE4}"/>
              </a:ext>
            </a:extLst>
          </p:cNvPr>
          <p:cNvGrpSpPr/>
          <p:nvPr/>
        </p:nvGrpSpPr>
        <p:grpSpPr>
          <a:xfrm>
            <a:off x="2224966" y="2301900"/>
            <a:ext cx="2211144" cy="2116005"/>
            <a:chOff x="390764" y="1571625"/>
            <a:chExt cx="2438400" cy="2333483"/>
          </a:xfrm>
          <a:solidFill>
            <a:schemeClr val="accent1">
              <a:lumMod val="60000"/>
              <a:lumOff val="40000"/>
            </a:schemeClr>
          </a:solidFill>
        </p:grpSpPr>
        <p:sp>
          <p:nvSpPr>
            <p:cNvPr id="35" name="Freeform: Shape 34">
              <a:extLst>
                <a:ext uri="{FF2B5EF4-FFF2-40B4-BE49-F238E27FC236}">
                  <a16:creationId xmlns:a16="http://schemas.microsoft.com/office/drawing/2014/main" id="{85F3856F-FB33-4EDB-BE38-EB158B27A9DC}"/>
                </a:ext>
              </a:extLst>
            </p:cNvPr>
            <p:cNvSpPr/>
            <p:nvPr/>
          </p:nvSpPr>
          <p:spPr>
            <a:xfrm>
              <a:off x="390764" y="1571625"/>
              <a:ext cx="2438400" cy="2333483"/>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grpFill/>
            <a:ln>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44676" tIns="144676" rIns="144676" bIns="144676" numCol="1" spcCol="1270" anchor="ctr" anchorCtr="0">
              <a:noAutofit/>
            </a:bodyPr>
            <a:lstStyle/>
            <a:p>
              <a:pPr algn="ctr" defTabSz="755459">
                <a:lnSpc>
                  <a:spcPct val="90000"/>
                </a:lnSpc>
                <a:spcBef>
                  <a:spcPct val="0"/>
                </a:spcBef>
                <a:spcAft>
                  <a:spcPct val="35000"/>
                </a:spcAft>
              </a:pPr>
              <a:r>
                <a:rPr lang="en-US" sz="1542" b="1" dirty="0">
                  <a:solidFill>
                    <a:prstClr val="black"/>
                  </a:solidFill>
                  <a:latin typeface="Calibri"/>
                </a:rPr>
                <a:t>Owners</a:t>
              </a:r>
            </a:p>
          </p:txBody>
        </p:sp>
        <p:sp>
          <p:nvSpPr>
            <p:cNvPr id="36" name="Rectangle 35">
              <a:extLst>
                <a:ext uri="{FF2B5EF4-FFF2-40B4-BE49-F238E27FC236}">
                  <a16:creationId xmlns:a16="http://schemas.microsoft.com/office/drawing/2014/main" id="{AA2A6D70-E3EC-4455-B0C3-DCC29207298E}"/>
                </a:ext>
              </a:extLst>
            </p:cNvPr>
            <p:cNvSpPr/>
            <p:nvPr/>
          </p:nvSpPr>
          <p:spPr>
            <a:xfrm>
              <a:off x="1123237" y="2867025"/>
              <a:ext cx="1225550" cy="584138"/>
            </a:xfrm>
            <a:prstGeom prst="rect">
              <a:avLst/>
            </a:prstGeom>
            <a:grpFill/>
          </p:spPr>
          <p:txBody>
            <a:bodyPr wrap="square">
              <a:spAutoFit/>
            </a:bodyPr>
            <a:lstStyle/>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Shares/members</a:t>
              </a:r>
            </a:p>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Appoint board</a:t>
              </a:r>
            </a:p>
          </p:txBody>
        </p:sp>
      </p:grpSp>
      <p:grpSp>
        <p:nvGrpSpPr>
          <p:cNvPr id="6" name="Group 5">
            <a:extLst>
              <a:ext uri="{FF2B5EF4-FFF2-40B4-BE49-F238E27FC236}">
                <a16:creationId xmlns:a16="http://schemas.microsoft.com/office/drawing/2014/main" id="{23F0A4B0-37E2-4F93-8394-236CE3016D65}"/>
              </a:ext>
            </a:extLst>
          </p:cNvPr>
          <p:cNvGrpSpPr/>
          <p:nvPr/>
        </p:nvGrpSpPr>
        <p:grpSpPr>
          <a:xfrm>
            <a:off x="4714036" y="3359903"/>
            <a:ext cx="2142045" cy="2116005"/>
            <a:chOff x="7051420" y="1419225"/>
            <a:chExt cx="2362200" cy="2333483"/>
          </a:xfrm>
          <a:solidFill>
            <a:schemeClr val="accent1">
              <a:lumMod val="60000"/>
              <a:lumOff val="40000"/>
            </a:schemeClr>
          </a:solidFill>
        </p:grpSpPr>
        <p:sp>
          <p:nvSpPr>
            <p:cNvPr id="33" name="Freeform: Shape 32">
              <a:extLst>
                <a:ext uri="{FF2B5EF4-FFF2-40B4-BE49-F238E27FC236}">
                  <a16:creationId xmlns:a16="http://schemas.microsoft.com/office/drawing/2014/main" id="{C1966149-CDC0-473D-8546-1EBD619B2A9E}"/>
                </a:ext>
              </a:extLst>
            </p:cNvPr>
            <p:cNvSpPr/>
            <p:nvPr/>
          </p:nvSpPr>
          <p:spPr>
            <a:xfrm>
              <a:off x="7051420" y="1419225"/>
              <a:ext cx="2362200" cy="2333483"/>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grpFill/>
            <a:ln>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44676" tIns="144676" rIns="144676" bIns="144676" numCol="1" spcCol="1270" anchor="ctr" anchorCtr="0">
              <a:noAutofit/>
            </a:bodyPr>
            <a:lstStyle/>
            <a:p>
              <a:pPr algn="ctr" defTabSz="755459">
                <a:lnSpc>
                  <a:spcPct val="90000"/>
                </a:lnSpc>
                <a:spcBef>
                  <a:spcPct val="0"/>
                </a:spcBef>
                <a:spcAft>
                  <a:spcPct val="35000"/>
                </a:spcAft>
              </a:pPr>
              <a:r>
                <a:rPr lang="en-US" sz="1542" b="1">
                  <a:solidFill>
                    <a:prstClr val="black"/>
                  </a:solidFill>
                  <a:latin typeface="Calibri"/>
                </a:rPr>
                <a:t>Board</a:t>
              </a:r>
              <a:endParaRPr lang="en-US" sz="1542" b="1" dirty="0">
                <a:solidFill>
                  <a:prstClr val="black"/>
                </a:solidFill>
                <a:latin typeface="Calibri"/>
              </a:endParaRPr>
            </a:p>
          </p:txBody>
        </p:sp>
        <p:sp>
          <p:nvSpPr>
            <p:cNvPr id="37" name="Rectangle 36">
              <a:extLst>
                <a:ext uri="{FF2B5EF4-FFF2-40B4-BE49-F238E27FC236}">
                  <a16:creationId xmlns:a16="http://schemas.microsoft.com/office/drawing/2014/main" id="{A64B905F-8FC7-42E2-AE24-EA10FB5C80AD}"/>
                </a:ext>
              </a:extLst>
            </p:cNvPr>
            <p:cNvSpPr/>
            <p:nvPr/>
          </p:nvSpPr>
          <p:spPr>
            <a:xfrm>
              <a:off x="7556500" y="2778154"/>
              <a:ext cx="1606550" cy="609522"/>
            </a:xfrm>
            <a:prstGeom prst="rect">
              <a:avLst/>
            </a:prstGeom>
            <a:grpFill/>
          </p:spPr>
          <p:txBody>
            <a:bodyPr wrap="square">
              <a:spAutoFit/>
            </a:bodyPr>
            <a:lstStyle/>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Directors</a:t>
              </a:r>
            </a:p>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Strategic direction</a:t>
              </a:r>
            </a:p>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Appoint CEO</a:t>
              </a:r>
            </a:p>
          </p:txBody>
        </p:sp>
      </p:grpSp>
      <p:grpSp>
        <p:nvGrpSpPr>
          <p:cNvPr id="4" name="Group 3">
            <a:extLst>
              <a:ext uri="{FF2B5EF4-FFF2-40B4-BE49-F238E27FC236}">
                <a16:creationId xmlns:a16="http://schemas.microsoft.com/office/drawing/2014/main" id="{101622B9-2FA6-4322-AD8B-8FAA694763ED}"/>
              </a:ext>
            </a:extLst>
          </p:cNvPr>
          <p:cNvGrpSpPr/>
          <p:nvPr/>
        </p:nvGrpSpPr>
        <p:grpSpPr>
          <a:xfrm>
            <a:off x="7114206" y="4309015"/>
            <a:ext cx="2280242" cy="2220118"/>
            <a:chOff x="3441700" y="4772025"/>
            <a:chExt cx="2514600" cy="2448297"/>
          </a:xfrm>
          <a:solidFill>
            <a:schemeClr val="accent1">
              <a:lumMod val="60000"/>
              <a:lumOff val="40000"/>
            </a:schemeClr>
          </a:solidFill>
        </p:grpSpPr>
        <p:sp>
          <p:nvSpPr>
            <p:cNvPr id="31" name="Freeform: Shape 30">
              <a:extLst>
                <a:ext uri="{FF2B5EF4-FFF2-40B4-BE49-F238E27FC236}">
                  <a16:creationId xmlns:a16="http://schemas.microsoft.com/office/drawing/2014/main" id="{87F82B4E-418A-45DF-B9CF-49FBEFA01C7B}"/>
                </a:ext>
              </a:extLst>
            </p:cNvPr>
            <p:cNvSpPr/>
            <p:nvPr/>
          </p:nvSpPr>
          <p:spPr>
            <a:xfrm>
              <a:off x="3441700" y="4772025"/>
              <a:ext cx="2514600" cy="2448297"/>
            </a:xfrm>
            <a:custGeom>
              <a:avLst/>
              <a:gdLst>
                <a:gd name="connsiteX0" fmla="*/ 0 w 1015735"/>
                <a:gd name="connsiteY0" fmla="*/ 507868 h 1015735"/>
                <a:gd name="connsiteX1" fmla="*/ 507868 w 1015735"/>
                <a:gd name="connsiteY1" fmla="*/ 0 h 1015735"/>
                <a:gd name="connsiteX2" fmla="*/ 1015736 w 1015735"/>
                <a:gd name="connsiteY2" fmla="*/ 507868 h 1015735"/>
                <a:gd name="connsiteX3" fmla="*/ 507868 w 1015735"/>
                <a:gd name="connsiteY3" fmla="*/ 1015736 h 1015735"/>
                <a:gd name="connsiteX4" fmla="*/ 0 w 1015735"/>
                <a:gd name="connsiteY4" fmla="*/ 507868 h 1015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35" h="1015735">
                  <a:moveTo>
                    <a:pt x="0" y="507868"/>
                  </a:moveTo>
                  <a:cubicBezTo>
                    <a:pt x="0" y="227380"/>
                    <a:pt x="227380" y="0"/>
                    <a:pt x="507868" y="0"/>
                  </a:cubicBezTo>
                  <a:cubicBezTo>
                    <a:pt x="788356" y="0"/>
                    <a:pt x="1015736" y="227380"/>
                    <a:pt x="1015736" y="507868"/>
                  </a:cubicBezTo>
                  <a:cubicBezTo>
                    <a:pt x="1015736" y="788356"/>
                    <a:pt x="788356" y="1015736"/>
                    <a:pt x="507868" y="1015736"/>
                  </a:cubicBezTo>
                  <a:cubicBezTo>
                    <a:pt x="227380" y="1015736"/>
                    <a:pt x="0" y="788356"/>
                    <a:pt x="0" y="507868"/>
                  </a:cubicBezTo>
                  <a:close/>
                </a:path>
              </a:pathLst>
            </a:custGeom>
            <a:grpFill/>
            <a:ln>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44676" tIns="144676" rIns="144676" bIns="144676" numCol="1" spcCol="1270" anchor="ctr" anchorCtr="0">
              <a:noAutofit/>
            </a:bodyPr>
            <a:lstStyle/>
            <a:p>
              <a:pPr algn="ctr" defTabSz="755459">
                <a:lnSpc>
                  <a:spcPct val="90000"/>
                </a:lnSpc>
                <a:spcBef>
                  <a:spcPct val="0"/>
                </a:spcBef>
                <a:spcAft>
                  <a:spcPct val="35000"/>
                </a:spcAft>
              </a:pPr>
              <a:r>
                <a:rPr lang="en-US" sz="1542" b="1" dirty="0">
                  <a:solidFill>
                    <a:prstClr val="black"/>
                  </a:solidFill>
                  <a:latin typeface="Calibri"/>
                </a:rPr>
                <a:t>CEO and staff</a:t>
              </a:r>
            </a:p>
          </p:txBody>
        </p:sp>
        <p:sp>
          <p:nvSpPr>
            <p:cNvPr id="38" name="Rectangle 37">
              <a:extLst>
                <a:ext uri="{FF2B5EF4-FFF2-40B4-BE49-F238E27FC236}">
                  <a16:creationId xmlns:a16="http://schemas.microsoft.com/office/drawing/2014/main" id="{2A477F8F-882C-4E86-8C13-60F9F55924CF}"/>
                </a:ext>
              </a:extLst>
            </p:cNvPr>
            <p:cNvSpPr/>
            <p:nvPr/>
          </p:nvSpPr>
          <p:spPr>
            <a:xfrm>
              <a:off x="3971925" y="6143625"/>
              <a:ext cx="1454150" cy="431828"/>
            </a:xfrm>
            <a:prstGeom prst="rect">
              <a:avLst/>
            </a:prstGeom>
            <a:grpFill/>
          </p:spPr>
          <p:txBody>
            <a:bodyPr wrap="square">
              <a:spAutoFit/>
            </a:bodyPr>
            <a:lstStyle/>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Manage operations</a:t>
              </a:r>
            </a:p>
            <a:p>
              <a:pPr marL="57136" lvl="1" indent="-57136" defTabSz="444387">
                <a:lnSpc>
                  <a:spcPct val="90000"/>
                </a:lnSpc>
                <a:spcBef>
                  <a:spcPct val="0"/>
                </a:spcBef>
                <a:spcAft>
                  <a:spcPct val="15000"/>
                </a:spcAft>
                <a:buFontTx/>
                <a:buChar char="•"/>
              </a:pPr>
              <a:r>
                <a:rPr lang="en-US" sz="997" dirty="0">
                  <a:solidFill>
                    <a:prstClr val="black">
                      <a:hueOff val="0"/>
                      <a:satOff val="0"/>
                      <a:lumOff val="0"/>
                      <a:alphaOff val="0"/>
                    </a:prstClr>
                  </a:solidFill>
                  <a:latin typeface="Calibri"/>
                </a:rPr>
                <a:t>Deliver social impact</a:t>
              </a:r>
            </a:p>
          </p:txBody>
        </p:sp>
      </p:grpSp>
      <p:sp>
        <p:nvSpPr>
          <p:cNvPr id="7" name="Arrow: Right 6">
            <a:extLst>
              <a:ext uri="{FF2B5EF4-FFF2-40B4-BE49-F238E27FC236}">
                <a16:creationId xmlns:a16="http://schemas.microsoft.com/office/drawing/2014/main" id="{8705CF53-95E6-4923-B91F-8DFD1678573F}"/>
              </a:ext>
            </a:extLst>
          </p:cNvPr>
          <p:cNvSpPr/>
          <p:nvPr/>
        </p:nvSpPr>
        <p:spPr>
          <a:xfrm rot="1179700">
            <a:off x="4325137" y="3582984"/>
            <a:ext cx="552786" cy="55327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829178"/>
            <a:endParaRPr lang="en-GB" sz="1632">
              <a:solidFill>
                <a:prstClr val="white"/>
              </a:solidFill>
              <a:latin typeface="Calibri"/>
            </a:endParaRPr>
          </a:p>
        </p:txBody>
      </p:sp>
      <p:sp>
        <p:nvSpPr>
          <p:cNvPr id="14" name="Arrow: Right 13">
            <a:extLst>
              <a:ext uri="{FF2B5EF4-FFF2-40B4-BE49-F238E27FC236}">
                <a16:creationId xmlns:a16="http://schemas.microsoft.com/office/drawing/2014/main" id="{58A28948-6DC9-4092-9F14-1A7397C8FD13}"/>
              </a:ext>
            </a:extLst>
          </p:cNvPr>
          <p:cNvSpPr/>
          <p:nvPr/>
        </p:nvSpPr>
        <p:spPr>
          <a:xfrm rot="1179700">
            <a:off x="6647254" y="4720170"/>
            <a:ext cx="552786" cy="55327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829178"/>
            <a:endParaRPr lang="en-GB" sz="1632">
              <a:solidFill>
                <a:prstClr val="white"/>
              </a:solidFill>
              <a:latin typeface="Calibri"/>
            </a:endParaRPr>
          </a:p>
        </p:txBody>
      </p:sp>
      <p:grpSp>
        <p:nvGrpSpPr>
          <p:cNvPr id="9" name="Group 8">
            <a:extLst>
              <a:ext uri="{FF2B5EF4-FFF2-40B4-BE49-F238E27FC236}">
                <a16:creationId xmlns:a16="http://schemas.microsoft.com/office/drawing/2014/main" id="{5E0E232F-8704-4ABD-A3CC-A908ACDE3564}"/>
              </a:ext>
            </a:extLst>
          </p:cNvPr>
          <p:cNvGrpSpPr/>
          <p:nvPr/>
        </p:nvGrpSpPr>
        <p:grpSpPr>
          <a:xfrm rot="20800090">
            <a:off x="2177930" y="1358847"/>
            <a:ext cx="2645093" cy="1517745"/>
            <a:chOff x="4215996" y="861888"/>
            <a:chExt cx="3885654" cy="2462759"/>
          </a:xfrm>
        </p:grpSpPr>
        <p:pic>
          <p:nvPicPr>
            <p:cNvPr id="15" name="Picture 14">
              <a:extLst>
                <a:ext uri="{FF2B5EF4-FFF2-40B4-BE49-F238E27FC236}">
                  <a16:creationId xmlns:a16="http://schemas.microsoft.com/office/drawing/2014/main" id="{8119DD9A-3FCB-497E-8528-2E52D0D60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33423">
              <a:off x="4586925" y="861888"/>
              <a:ext cx="3514725" cy="2434273"/>
            </a:xfrm>
            <a:prstGeom prst="rect">
              <a:avLst/>
            </a:prstGeom>
            <a:ln w="38100">
              <a:solidFill>
                <a:schemeClr val="tx1"/>
              </a:solidFill>
            </a:ln>
          </p:spPr>
        </p:pic>
        <p:sp>
          <p:nvSpPr>
            <p:cNvPr id="8" name="TextBox 7">
              <a:extLst>
                <a:ext uri="{FF2B5EF4-FFF2-40B4-BE49-F238E27FC236}">
                  <a16:creationId xmlns:a16="http://schemas.microsoft.com/office/drawing/2014/main" id="{17972F37-CD67-4027-B966-E7CDDB8FADE1}"/>
                </a:ext>
              </a:extLst>
            </p:cNvPr>
            <p:cNvSpPr txBox="1"/>
            <p:nvPr/>
          </p:nvSpPr>
          <p:spPr>
            <a:xfrm rot="1620800">
              <a:off x="4215996" y="2812542"/>
              <a:ext cx="3328206" cy="512105"/>
            </a:xfrm>
            <a:prstGeom prst="rect">
              <a:avLst/>
            </a:prstGeom>
            <a:noFill/>
          </p:spPr>
          <p:txBody>
            <a:bodyPr wrap="none" rtlCol="0">
              <a:spAutoFit/>
            </a:bodyPr>
            <a:lstStyle/>
            <a:p>
              <a:pPr defTabSz="829178"/>
              <a:r>
                <a:rPr lang="en-GB" sz="1451" b="1" dirty="0">
                  <a:solidFill>
                    <a:prstClr val="black"/>
                  </a:solidFill>
                  <a:latin typeface="Calibri"/>
                </a:rPr>
                <a:t>ENTREPRENEUR/FOUNDER</a:t>
              </a:r>
            </a:p>
          </p:txBody>
        </p:sp>
      </p:grpSp>
      <p:grpSp>
        <p:nvGrpSpPr>
          <p:cNvPr id="60" name="Group 59">
            <a:extLst>
              <a:ext uri="{FF2B5EF4-FFF2-40B4-BE49-F238E27FC236}">
                <a16:creationId xmlns:a16="http://schemas.microsoft.com/office/drawing/2014/main" id="{3AF3BE82-0354-45A5-BAF8-D33001BED4DB}"/>
              </a:ext>
            </a:extLst>
          </p:cNvPr>
          <p:cNvGrpSpPr/>
          <p:nvPr/>
        </p:nvGrpSpPr>
        <p:grpSpPr>
          <a:xfrm>
            <a:off x="6372393" y="1880860"/>
            <a:ext cx="4016416" cy="2549121"/>
            <a:chOff x="5346700" y="2074170"/>
            <a:chExt cx="4429214" cy="2811114"/>
          </a:xfrm>
        </p:grpSpPr>
        <p:pic>
          <p:nvPicPr>
            <p:cNvPr id="59" name="Picture 58">
              <a:extLst>
                <a:ext uri="{FF2B5EF4-FFF2-40B4-BE49-F238E27FC236}">
                  <a16:creationId xmlns:a16="http://schemas.microsoft.com/office/drawing/2014/main" id="{8EF25A18-1B38-4F6F-8F03-5738BFFFF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765" y="2074170"/>
              <a:ext cx="2679149" cy="1808998"/>
            </a:xfrm>
            <a:prstGeom prst="rect">
              <a:avLst/>
            </a:prstGeom>
          </p:spPr>
        </p:pic>
        <mc:AlternateContent xmlns:mc="http://schemas.openxmlformats.org/markup-compatibility/2006" xmlns:p14="http://schemas.microsoft.com/office/powerpoint/2010/main">
          <mc:Choice Requires="p14">
            <p:contentPart p14:bwMode="auto" r:id="rId5">
              <p14:nvContentPartPr>
                <p14:cNvPr id="55" name="Ink 54">
                  <a:extLst>
                    <a:ext uri="{FF2B5EF4-FFF2-40B4-BE49-F238E27FC236}">
                      <a16:creationId xmlns:a16="http://schemas.microsoft.com/office/drawing/2014/main" id="{9CA8E6B1-1CEA-49A7-BBB9-892382E2FACB}"/>
                    </a:ext>
                  </a:extLst>
                </p14:cNvPr>
                <p14:cNvContentPartPr/>
                <p14:nvPr/>
              </p14:nvContentPartPr>
              <p14:xfrm>
                <a:off x="5346700" y="3291924"/>
                <a:ext cx="4273380" cy="1593360"/>
              </p14:xfrm>
            </p:contentPart>
          </mc:Choice>
          <mc:Fallback xmlns="">
            <p:pic>
              <p:nvPicPr>
                <p:cNvPr id="55" name="Ink 54">
                  <a:extLst>
                    <a:ext uri="{FF2B5EF4-FFF2-40B4-BE49-F238E27FC236}">
                      <a16:creationId xmlns:a16="http://schemas.microsoft.com/office/drawing/2014/main" id="{9CA8E6B1-1CEA-49A7-BBB9-892382E2FACB}"/>
                    </a:ext>
                  </a:extLst>
                </p:cNvPr>
                <p:cNvPicPr/>
                <p:nvPr/>
              </p:nvPicPr>
              <p:blipFill>
                <a:blip r:embed="rId6"/>
                <a:stretch>
                  <a:fillRect/>
                </a:stretch>
              </p:blipFill>
              <p:spPr>
                <a:xfrm>
                  <a:off x="5315381" y="3260597"/>
                  <a:ext cx="4336017" cy="165601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57" name="Ink 56">
                <a:extLst>
                  <a:ext uri="{FF2B5EF4-FFF2-40B4-BE49-F238E27FC236}">
                    <a16:creationId xmlns:a16="http://schemas.microsoft.com/office/drawing/2014/main" id="{ED3A2CBA-09B7-48C4-9EF1-5D4CBA7D8B86}"/>
                  </a:ext>
                </a:extLst>
              </p14:cNvPr>
              <p14:cNvContentPartPr/>
              <p14:nvPr/>
            </p14:nvContentPartPr>
            <p14:xfrm>
              <a:off x="1915000" y="3587775"/>
              <a:ext cx="6044355" cy="2917592"/>
            </p14:xfrm>
          </p:contentPart>
        </mc:Choice>
        <mc:Fallback xmlns="">
          <p:pic>
            <p:nvPicPr>
              <p:cNvPr id="57" name="Ink 56">
                <a:extLst>
                  <a:ext uri="{FF2B5EF4-FFF2-40B4-BE49-F238E27FC236}">
                    <a16:creationId xmlns:a16="http://schemas.microsoft.com/office/drawing/2014/main" id="{ED3A2CBA-09B7-48C4-9EF1-5D4CBA7D8B86}"/>
                  </a:ext>
                </a:extLst>
              </p:cNvPr>
              <p:cNvPicPr/>
              <p:nvPr/>
            </p:nvPicPr>
            <p:blipFill>
              <a:blip r:embed="rId8"/>
              <a:stretch>
                <a:fillRect/>
              </a:stretch>
            </p:blipFill>
            <p:spPr>
              <a:xfrm>
                <a:off x="1883682" y="3556450"/>
                <a:ext cx="6106991" cy="2980243"/>
              </a:xfrm>
              <a:prstGeom prst="rect">
                <a:avLst/>
              </a:prstGeom>
            </p:spPr>
          </p:pic>
        </mc:Fallback>
      </mc:AlternateContent>
    </p:spTree>
    <p:extLst>
      <p:ext uri="{BB962C8B-B14F-4D97-AF65-F5344CB8AC3E}">
        <p14:creationId xmlns:p14="http://schemas.microsoft.com/office/powerpoint/2010/main" val="99446847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right)">
                                      <p:cBhvr>
                                        <p:cTn id="12" dur="500"/>
                                        <p:tgtEl>
                                          <p:spTgt spid="57"/>
                                        </p:tgtEl>
                                      </p:cBhvr>
                                    </p:animEffect>
                                  </p:childTnLst>
                                </p:cTn>
                              </p:par>
                              <p:par>
                                <p:cTn id="13" presetID="2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Incorporation </a:t>
            </a:r>
          </a:p>
        </p:txBody>
      </p:sp>
      <p:sp>
        <p:nvSpPr>
          <p:cNvPr id="3" name="Content Placeholder 2"/>
          <p:cNvSpPr>
            <a:spLocks noGrp="1"/>
          </p:cNvSpPr>
          <p:nvPr>
            <p:ph idx="1"/>
          </p:nvPr>
        </p:nvSpPr>
        <p:spPr/>
        <p:txBody>
          <a:bodyPr>
            <a:normAutofit/>
          </a:bodyPr>
          <a:lstStyle/>
          <a:p>
            <a:r>
              <a:rPr lang="en-GB" dirty="0"/>
              <a:t>Company Law creates a separate legal entity from you</a:t>
            </a:r>
          </a:p>
          <a:p>
            <a:pPr lvl="1"/>
            <a:r>
              <a:rPr lang="en-GB" dirty="0"/>
              <a:t>Risk management</a:t>
            </a:r>
          </a:p>
          <a:p>
            <a:pPr lvl="1"/>
            <a:r>
              <a:rPr lang="en-GB" dirty="0"/>
              <a:t>Legacy creation</a:t>
            </a:r>
          </a:p>
          <a:p>
            <a:pPr lvl="1"/>
            <a:endParaRPr lang="en-GB" dirty="0"/>
          </a:p>
          <a:p>
            <a:pPr marL="457200" lvl="1" indent="0">
              <a:buNone/>
            </a:pPr>
            <a:endParaRPr lang="en-GB" dirty="0"/>
          </a:p>
        </p:txBody>
      </p:sp>
      <p:pic>
        <p:nvPicPr>
          <p:cNvPr id="4" name="Picture 3">
            <a:extLst>
              <a:ext uri="{FF2B5EF4-FFF2-40B4-BE49-F238E27FC236}">
                <a16:creationId xmlns:a16="http://schemas.microsoft.com/office/drawing/2014/main" id="{0B37DB01-9F3D-4229-843A-657E12B29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7003" y="2311395"/>
            <a:ext cx="3722041" cy="3722041"/>
          </a:xfrm>
          <a:prstGeom prst="rect">
            <a:avLst/>
          </a:prstGeom>
        </p:spPr>
      </p:pic>
    </p:spTree>
    <p:extLst>
      <p:ext uri="{BB962C8B-B14F-4D97-AF65-F5344CB8AC3E}">
        <p14:creationId xmlns:p14="http://schemas.microsoft.com/office/powerpoint/2010/main" val="159612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DEA715-6811-4C9D-BD8A-6EA4061AB98D}"/>
              </a:ext>
            </a:extLst>
          </p:cNvPr>
          <p:cNvPicPr>
            <a:picLocks noChangeAspect="1"/>
          </p:cNvPicPr>
          <p:nvPr/>
        </p:nvPicPr>
        <p:blipFill>
          <a:blip r:embed="rId2">
            <a:alphaModFix amt="26000"/>
            <a:extLst>
              <a:ext uri="{28A0092B-C50C-407E-A947-70E740481C1C}">
                <a14:useLocalDpi xmlns:a14="http://schemas.microsoft.com/office/drawing/2010/main" val="0"/>
              </a:ext>
            </a:extLst>
          </a:blip>
          <a:stretch>
            <a:fillRect/>
          </a:stretch>
        </p:blipFill>
        <p:spPr>
          <a:xfrm>
            <a:off x="-66431" y="3558885"/>
            <a:ext cx="8602031" cy="3440812"/>
          </a:xfrm>
          <a:prstGeom prst="rect">
            <a:avLst/>
          </a:prstGeom>
        </p:spPr>
      </p:pic>
      <p:sp>
        <p:nvSpPr>
          <p:cNvPr id="2" name="Title 1"/>
          <p:cNvSpPr>
            <a:spLocks noGrp="1"/>
          </p:cNvSpPr>
          <p:nvPr>
            <p:ph type="title"/>
          </p:nvPr>
        </p:nvSpPr>
        <p:spPr/>
        <p:txBody>
          <a:bodyPr/>
          <a:lstStyle/>
          <a:p>
            <a:r>
              <a:rPr lang="en-GB" dirty="0"/>
              <a:t>These are irreversible decisions</a:t>
            </a:r>
          </a:p>
        </p:txBody>
      </p:sp>
      <p:sp>
        <p:nvSpPr>
          <p:cNvPr id="3" name="Content Placeholder 2"/>
          <p:cNvSpPr>
            <a:spLocks noGrp="1"/>
          </p:cNvSpPr>
          <p:nvPr>
            <p:ph idx="1"/>
          </p:nvPr>
        </p:nvSpPr>
        <p:spPr/>
        <p:txBody>
          <a:bodyPr/>
          <a:lstStyle/>
          <a:p>
            <a:r>
              <a:rPr lang="en-GB" dirty="0"/>
              <a:t>Members or shares as ownership model</a:t>
            </a:r>
          </a:p>
          <a:p>
            <a:r>
              <a:rPr lang="en-GB" dirty="0"/>
              <a:t>You cannot convert from a CLG to a CLS or vice versa</a:t>
            </a:r>
          </a:p>
          <a:p>
            <a:r>
              <a:rPr lang="en-GB" dirty="0"/>
              <a:t>You cannot “un-CIC”, “un-Charity”, “un-CIO” or “un-</a:t>
            </a:r>
            <a:r>
              <a:rPr lang="en-GB" dirty="0" err="1"/>
              <a:t>BenCom</a:t>
            </a:r>
            <a:r>
              <a:rPr lang="en-GB" dirty="0"/>
              <a:t>” </a:t>
            </a:r>
          </a:p>
          <a:p>
            <a:r>
              <a:rPr lang="en-GB" dirty="0"/>
              <a:t>So take your time …</a:t>
            </a:r>
          </a:p>
          <a:p>
            <a:r>
              <a:rPr lang="en-GB" dirty="0"/>
              <a:t>Create the right DNA for your organisation</a:t>
            </a:r>
          </a:p>
        </p:txBody>
      </p:sp>
    </p:spTree>
    <p:extLst>
      <p:ext uri="{BB962C8B-B14F-4D97-AF65-F5344CB8AC3E}">
        <p14:creationId xmlns:p14="http://schemas.microsoft.com/office/powerpoint/2010/main" val="3698459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1835727" y="1273181"/>
            <a:ext cx="8453003" cy="4597409"/>
            <a:chOff x="327314" y="1657918"/>
            <a:chExt cx="8453003" cy="4597409"/>
          </a:xfrm>
        </p:grpSpPr>
        <p:sp>
          <p:nvSpPr>
            <p:cNvPr id="4" name="Oval 3"/>
            <p:cNvSpPr/>
            <p:nvPr/>
          </p:nvSpPr>
          <p:spPr>
            <a:xfrm>
              <a:off x="327314" y="1674796"/>
              <a:ext cx="8453003" cy="4580531"/>
            </a:xfrm>
            <a:prstGeom prst="ellipse">
              <a:avLst/>
            </a:prstGeom>
            <a:solidFill>
              <a:schemeClr val="accent6">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solidFill>
                  <a:schemeClr val="tx1"/>
                </a:solidFill>
              </a:endParaRPr>
            </a:p>
          </p:txBody>
        </p:sp>
        <p:sp>
          <p:nvSpPr>
            <p:cNvPr id="13" name="TextBox 12"/>
            <p:cNvSpPr txBox="1"/>
            <p:nvPr/>
          </p:nvSpPr>
          <p:spPr>
            <a:xfrm>
              <a:off x="3470564" y="1657918"/>
              <a:ext cx="2440803" cy="646331"/>
            </a:xfrm>
            <a:prstGeom prst="rect">
              <a:avLst/>
            </a:prstGeom>
            <a:noFill/>
          </p:spPr>
          <p:txBody>
            <a:bodyPr wrap="square" rtlCol="0">
              <a:spAutoFit/>
            </a:bodyPr>
            <a:lstStyle/>
            <a:p>
              <a:r>
                <a:rPr lang="en-GB" b="1" dirty="0"/>
                <a:t>Social Entrepreneurs</a:t>
              </a:r>
            </a:p>
            <a:p>
              <a:endParaRPr lang="en-GB" dirty="0"/>
            </a:p>
          </p:txBody>
        </p:sp>
      </p:grpSp>
      <p:grpSp>
        <p:nvGrpSpPr>
          <p:cNvPr id="16" name="Group 15"/>
          <p:cNvGrpSpPr/>
          <p:nvPr/>
        </p:nvGrpSpPr>
        <p:grpSpPr>
          <a:xfrm>
            <a:off x="2391639" y="1709030"/>
            <a:ext cx="7341177" cy="3662796"/>
            <a:chOff x="883226" y="2093768"/>
            <a:chExt cx="7341177" cy="3662796"/>
          </a:xfrm>
          <a:solidFill>
            <a:schemeClr val="accent1">
              <a:lumMod val="60000"/>
              <a:lumOff val="40000"/>
            </a:schemeClr>
          </a:solidFill>
        </p:grpSpPr>
        <p:sp>
          <p:nvSpPr>
            <p:cNvPr id="7" name="Oval 6"/>
            <p:cNvSpPr/>
            <p:nvPr/>
          </p:nvSpPr>
          <p:spPr>
            <a:xfrm>
              <a:off x="883226" y="2093768"/>
              <a:ext cx="7341177" cy="3662796"/>
            </a:xfrm>
            <a:prstGeom prst="ellipse">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solidFill>
                  <a:schemeClr val="tx1"/>
                </a:solidFill>
              </a:endParaRPr>
            </a:p>
          </p:txBody>
        </p:sp>
        <p:sp>
          <p:nvSpPr>
            <p:cNvPr id="15" name="TextBox 14"/>
            <p:cNvSpPr txBox="1"/>
            <p:nvPr/>
          </p:nvSpPr>
          <p:spPr>
            <a:xfrm>
              <a:off x="3625742" y="2142963"/>
              <a:ext cx="1790875" cy="369332"/>
            </a:xfrm>
            <a:prstGeom prst="rect">
              <a:avLst/>
            </a:prstGeom>
            <a:grpFill/>
          </p:spPr>
          <p:txBody>
            <a:bodyPr wrap="none" rtlCol="0">
              <a:spAutoFit/>
            </a:bodyPr>
            <a:lstStyle/>
            <a:p>
              <a:r>
                <a:rPr lang="en-GB" b="1" dirty="0"/>
                <a:t>Social Business</a:t>
              </a:r>
            </a:p>
          </p:txBody>
        </p:sp>
      </p:grpSp>
      <p:sp>
        <p:nvSpPr>
          <p:cNvPr id="2" name="Title 1"/>
          <p:cNvSpPr>
            <a:spLocks noGrp="1"/>
          </p:cNvSpPr>
          <p:nvPr>
            <p:ph type="title"/>
          </p:nvPr>
        </p:nvSpPr>
        <p:spPr/>
        <p:txBody>
          <a:bodyPr/>
          <a:lstStyle/>
          <a:p>
            <a:r>
              <a:rPr lang="en-GB" dirty="0"/>
              <a:t>Social What?</a:t>
            </a:r>
          </a:p>
        </p:txBody>
      </p:sp>
      <p:grpSp>
        <p:nvGrpSpPr>
          <p:cNvPr id="18" name="Group 17"/>
          <p:cNvGrpSpPr/>
          <p:nvPr/>
        </p:nvGrpSpPr>
        <p:grpSpPr>
          <a:xfrm>
            <a:off x="2921577" y="2154596"/>
            <a:ext cx="6192981" cy="2793359"/>
            <a:chOff x="1413164" y="2539333"/>
            <a:chExt cx="6192981" cy="2793359"/>
          </a:xfrm>
          <a:solidFill>
            <a:schemeClr val="accent1">
              <a:lumMod val="40000"/>
              <a:lumOff val="60000"/>
            </a:schemeClr>
          </a:solidFill>
        </p:grpSpPr>
        <p:sp>
          <p:nvSpPr>
            <p:cNvPr id="6" name="Oval 5"/>
            <p:cNvSpPr/>
            <p:nvPr/>
          </p:nvSpPr>
          <p:spPr>
            <a:xfrm>
              <a:off x="1413164" y="2539333"/>
              <a:ext cx="6192981" cy="2793359"/>
            </a:xfrm>
            <a:prstGeom prst="ellipse">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solidFill>
                  <a:schemeClr val="tx1"/>
                </a:solidFill>
              </a:endParaRPr>
            </a:p>
          </p:txBody>
        </p:sp>
        <p:sp>
          <p:nvSpPr>
            <p:cNvPr id="17" name="TextBox 16"/>
            <p:cNvSpPr txBox="1"/>
            <p:nvPr/>
          </p:nvSpPr>
          <p:spPr>
            <a:xfrm>
              <a:off x="3688772" y="2561703"/>
              <a:ext cx="1741246" cy="369332"/>
            </a:xfrm>
            <a:prstGeom prst="rect">
              <a:avLst/>
            </a:prstGeom>
            <a:grpFill/>
          </p:spPr>
          <p:txBody>
            <a:bodyPr wrap="none" rtlCol="0">
              <a:spAutoFit/>
            </a:bodyPr>
            <a:lstStyle/>
            <a:p>
              <a:r>
                <a:rPr lang="en-GB" b="1" dirty="0"/>
                <a:t>Social Venture</a:t>
              </a:r>
            </a:p>
          </p:txBody>
        </p:sp>
      </p:grpSp>
      <p:grpSp>
        <p:nvGrpSpPr>
          <p:cNvPr id="20" name="Group 19"/>
          <p:cNvGrpSpPr/>
          <p:nvPr/>
        </p:nvGrpSpPr>
        <p:grpSpPr>
          <a:xfrm>
            <a:off x="3627154" y="2675386"/>
            <a:ext cx="4827581" cy="1927513"/>
            <a:chOff x="2118741" y="3060123"/>
            <a:chExt cx="4827581" cy="1927513"/>
          </a:xfrm>
          <a:solidFill>
            <a:schemeClr val="accent1">
              <a:lumMod val="20000"/>
              <a:lumOff val="80000"/>
            </a:schemeClr>
          </a:solidFill>
        </p:grpSpPr>
        <p:sp>
          <p:nvSpPr>
            <p:cNvPr id="9" name="Oval 8"/>
            <p:cNvSpPr/>
            <p:nvPr/>
          </p:nvSpPr>
          <p:spPr>
            <a:xfrm>
              <a:off x="2118741" y="3060123"/>
              <a:ext cx="4827581" cy="1927513"/>
            </a:xfrm>
            <a:prstGeom prst="ellipse">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solidFill>
                  <a:schemeClr val="tx1"/>
                </a:solidFill>
              </a:endParaRPr>
            </a:p>
          </p:txBody>
        </p:sp>
        <p:sp>
          <p:nvSpPr>
            <p:cNvPr id="19" name="TextBox 18"/>
            <p:cNvSpPr txBox="1"/>
            <p:nvPr/>
          </p:nvSpPr>
          <p:spPr>
            <a:xfrm>
              <a:off x="3586536" y="3075709"/>
              <a:ext cx="2007281" cy="369332"/>
            </a:xfrm>
            <a:prstGeom prst="rect">
              <a:avLst/>
            </a:prstGeom>
            <a:grpFill/>
          </p:spPr>
          <p:txBody>
            <a:bodyPr wrap="none" rtlCol="0">
              <a:spAutoFit/>
            </a:bodyPr>
            <a:lstStyle/>
            <a:p>
              <a:r>
                <a:rPr lang="en-GB" b="1" dirty="0"/>
                <a:t>Social Enterprise</a:t>
              </a:r>
            </a:p>
          </p:txBody>
        </p:sp>
      </p:grpSp>
      <p:sp>
        <p:nvSpPr>
          <p:cNvPr id="12" name="Oval 11"/>
          <p:cNvSpPr/>
          <p:nvPr/>
        </p:nvSpPr>
        <p:spPr>
          <a:xfrm>
            <a:off x="5342498" y="3196955"/>
            <a:ext cx="1322067" cy="472786"/>
          </a:xfrm>
          <a:prstGeom prst="ellipse">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solidFill>
              </a:rPr>
              <a:t>CIC</a:t>
            </a: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287" y="3772757"/>
            <a:ext cx="1446278" cy="694719"/>
          </a:xfrm>
          <a:prstGeom prst="rect">
            <a:avLst/>
          </a:prstGeom>
        </p:spPr>
      </p:pic>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8520" y="3196955"/>
            <a:ext cx="1165635" cy="503116"/>
          </a:xfrm>
          <a:prstGeom prst="rect">
            <a:avLst/>
          </a:prstGeom>
        </p:spPr>
      </p:pic>
      <p:grpSp>
        <p:nvGrpSpPr>
          <p:cNvPr id="23" name="Group 22"/>
          <p:cNvGrpSpPr/>
          <p:nvPr/>
        </p:nvGrpSpPr>
        <p:grpSpPr>
          <a:xfrm>
            <a:off x="1606794" y="4041881"/>
            <a:ext cx="4434148" cy="1467093"/>
            <a:chOff x="-66331" y="4416622"/>
            <a:chExt cx="4434148" cy="1467093"/>
          </a:xfrm>
        </p:grpSpPr>
        <p:sp>
          <p:nvSpPr>
            <p:cNvPr id="11" name="TextBox 10"/>
            <p:cNvSpPr txBox="1"/>
            <p:nvPr/>
          </p:nvSpPr>
          <p:spPr>
            <a:xfrm>
              <a:off x="457200" y="5514383"/>
              <a:ext cx="827471" cy="369332"/>
            </a:xfrm>
            <a:prstGeom prst="rect">
              <a:avLst/>
            </a:prstGeom>
            <a:noFill/>
          </p:spPr>
          <p:txBody>
            <a:bodyPr wrap="none" rtlCol="0">
              <a:spAutoFit/>
            </a:bodyPr>
            <a:lstStyle/>
            <a:p>
              <a:r>
                <a:rPr lang="en-GB" b="1" dirty="0" err="1"/>
                <a:t>BCorp</a:t>
              </a:r>
              <a:endParaRPr lang="en-GB" b="1" dirty="0"/>
            </a:p>
          </p:txBody>
        </p:sp>
        <p:sp>
          <p:nvSpPr>
            <p:cNvPr id="10" name="Oval 9"/>
            <p:cNvSpPr/>
            <p:nvPr/>
          </p:nvSpPr>
          <p:spPr>
            <a:xfrm rot="19772345">
              <a:off x="-66331" y="4416622"/>
              <a:ext cx="4434148" cy="94557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b="1" dirty="0">
                <a:solidFill>
                  <a:schemeClr val="tx1"/>
                </a:solidFill>
              </a:endParaRPr>
            </a:p>
          </p:txBody>
        </p:sp>
      </p:grpSp>
    </p:spTree>
    <p:extLst>
      <p:ext uri="{BB962C8B-B14F-4D97-AF65-F5344CB8AC3E}">
        <p14:creationId xmlns:p14="http://schemas.microsoft.com/office/powerpoint/2010/main" val="207709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CLS social enterprises</a:t>
            </a:r>
          </a:p>
        </p:txBody>
      </p:sp>
      <p:sp>
        <p:nvSpPr>
          <p:cNvPr id="3" name="Content Placeholder 2"/>
          <p:cNvSpPr>
            <a:spLocks noGrp="1"/>
          </p:cNvSpPr>
          <p:nvPr>
            <p:ph idx="1"/>
          </p:nvPr>
        </p:nvSpPr>
        <p:spPr/>
        <p:txBody>
          <a:bodyPr>
            <a:normAutofit/>
          </a:bodyPr>
          <a:lstStyle/>
          <a:p>
            <a:r>
              <a:rPr lang="en-GB" dirty="0"/>
              <a:t>CIC CLS – permanent social lock</a:t>
            </a:r>
          </a:p>
          <a:p>
            <a:r>
              <a:rPr lang="en-GB" dirty="0"/>
              <a:t>CLS with social clauses and asset locks in Articles</a:t>
            </a:r>
          </a:p>
          <a:p>
            <a:pPr lvl="1"/>
            <a:r>
              <a:rPr lang="en-GB" dirty="0"/>
              <a:t>Required by SEUK, Social Enterprise Mark, </a:t>
            </a:r>
            <a:r>
              <a:rPr lang="en-GB" dirty="0" err="1"/>
              <a:t>BCorp</a:t>
            </a:r>
            <a:r>
              <a:rPr lang="en-GB" dirty="0"/>
              <a:t> and some funders/investors</a:t>
            </a:r>
          </a:p>
          <a:p>
            <a:pPr lvl="1"/>
            <a:r>
              <a:rPr lang="en-GB" dirty="0"/>
              <a:t>Locked by 75% or more shareholder majority for changes or Golden Share</a:t>
            </a:r>
          </a:p>
          <a:p>
            <a:r>
              <a:rPr lang="en-GB" dirty="0"/>
              <a:t>Consider these options to both express and protect your social mission</a:t>
            </a:r>
          </a:p>
        </p:txBody>
      </p:sp>
    </p:spTree>
    <p:extLst>
      <p:ext uri="{BB962C8B-B14F-4D97-AF65-F5344CB8AC3E}">
        <p14:creationId xmlns:p14="http://schemas.microsoft.com/office/powerpoint/2010/main" val="3859640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10936328" cy="734647"/>
          </a:xfrm>
        </p:spPr>
        <p:txBody>
          <a:bodyPr>
            <a:normAutofit fontScale="90000"/>
          </a:bodyPr>
          <a:lstStyle/>
          <a:p>
            <a:r>
              <a:rPr lang="en-GB" dirty="0"/>
              <a:t>Companies limited by shares </a:t>
            </a:r>
            <a:br>
              <a:rPr lang="en-GB" dirty="0"/>
            </a:br>
            <a:r>
              <a:rPr lang="en-GB" dirty="0"/>
              <a:t>Social Enterprises</a:t>
            </a:r>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rotWithShape="1">
          <a:blip r:embed="rId3"/>
          <a:srcRect l="15631" t="16250" r="5001" b="29277"/>
          <a:stretch/>
        </p:blipFill>
        <p:spPr>
          <a:xfrm>
            <a:off x="608374" y="1725246"/>
            <a:ext cx="10906292" cy="4990280"/>
          </a:xfrm>
          <a:prstGeom prst="rect">
            <a:avLst/>
          </a:prstGeom>
        </p:spPr>
      </p:pic>
    </p:spTree>
    <p:extLst>
      <p:ext uri="{BB962C8B-B14F-4D97-AF65-F5344CB8AC3E}">
        <p14:creationId xmlns:p14="http://schemas.microsoft.com/office/powerpoint/2010/main" val="1795703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Social Badges</a:t>
            </a:r>
          </a:p>
        </p:txBody>
      </p:sp>
      <p:sp>
        <p:nvSpPr>
          <p:cNvPr id="3" name="Content Placeholder 2"/>
          <p:cNvSpPr>
            <a:spLocks noGrp="1"/>
          </p:cNvSpPr>
          <p:nvPr>
            <p:ph idx="1"/>
          </p:nvPr>
        </p:nvSpPr>
        <p:spPr>
          <a:xfrm>
            <a:off x="797170" y="1344246"/>
            <a:ext cx="9144000" cy="5440362"/>
          </a:xfrm>
          <a:solidFill>
            <a:schemeClr val="bg1"/>
          </a:solidFill>
        </p:spPr>
        <p:txBody>
          <a:bodyPr>
            <a:noAutofit/>
          </a:bodyPr>
          <a:lstStyle/>
          <a:p>
            <a:r>
              <a:rPr lang="en-GB" sz="1400" dirty="0"/>
              <a:t>Used because “social enterprise” is not a legal term</a:t>
            </a:r>
          </a:p>
          <a:p>
            <a:pPr lvl="1"/>
            <a:r>
              <a:rPr lang="en-GB" sz="1400" dirty="0"/>
              <a:t>Government has created term “regulated social enterprises for SITR” – CICs, CIO (SCIO), Charities, </a:t>
            </a:r>
            <a:r>
              <a:rPr lang="en-GB" sz="1400" dirty="0" err="1"/>
              <a:t>BenComs</a:t>
            </a:r>
            <a:endParaRPr lang="en-GB" sz="1400" dirty="0"/>
          </a:p>
          <a:p>
            <a:pPr lvl="1"/>
            <a:r>
              <a:rPr lang="en-GB" sz="1400" dirty="0"/>
              <a:t>Choose badge to match your aims, organisational impact you want and industry</a:t>
            </a:r>
          </a:p>
          <a:p>
            <a:r>
              <a:rPr lang="en-GB" sz="1400" dirty="0"/>
              <a:t>CIC - Permanent social &amp; asset lock, Annual reporting (next slide)</a:t>
            </a:r>
          </a:p>
          <a:p>
            <a:r>
              <a:rPr lang="en-GB" sz="1400" dirty="0"/>
              <a:t>Social Enterprise Mark</a:t>
            </a:r>
          </a:p>
          <a:p>
            <a:r>
              <a:rPr lang="en-GB" sz="1400" dirty="0"/>
              <a:t>Social Enterprise UK membership</a:t>
            </a:r>
          </a:p>
          <a:p>
            <a:r>
              <a:rPr lang="en-GB" sz="1400" dirty="0" err="1"/>
              <a:t>Bcorp</a:t>
            </a:r>
            <a:endParaRPr lang="en-GB" sz="1400" dirty="0"/>
          </a:p>
          <a:p>
            <a:r>
              <a:rPr lang="en-GB" sz="1400" dirty="0"/>
              <a:t>Fair Trade</a:t>
            </a:r>
          </a:p>
          <a:p>
            <a:r>
              <a:rPr lang="en-GB" sz="1400" dirty="0"/>
              <a:t>ISO 9000</a:t>
            </a:r>
          </a:p>
        </p:txBody>
      </p:sp>
    </p:spTree>
    <p:extLst>
      <p:ext uri="{BB962C8B-B14F-4D97-AF65-F5344CB8AC3E}">
        <p14:creationId xmlns:p14="http://schemas.microsoft.com/office/powerpoint/2010/main" val="4053949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	</a:t>
            </a:r>
          </a:p>
        </p:txBody>
      </p:sp>
      <p:sp>
        <p:nvSpPr>
          <p:cNvPr id="3" name="Content Placeholder 2"/>
          <p:cNvSpPr>
            <a:spLocks noGrp="1"/>
          </p:cNvSpPr>
          <p:nvPr>
            <p:ph idx="1"/>
          </p:nvPr>
        </p:nvSpPr>
        <p:spPr/>
        <p:txBody>
          <a:bodyPr>
            <a:normAutofit/>
          </a:bodyPr>
          <a:lstStyle/>
          <a:p>
            <a:r>
              <a:rPr lang="en-GB" dirty="0"/>
              <a:t>Membership</a:t>
            </a:r>
          </a:p>
          <a:p>
            <a:r>
              <a:rPr lang="en-GB" dirty="0"/>
              <a:t>Subscribers</a:t>
            </a:r>
          </a:p>
          <a:p>
            <a:r>
              <a:rPr lang="en-GB" dirty="0"/>
              <a:t>Shareholders</a:t>
            </a:r>
          </a:p>
          <a:p>
            <a:r>
              <a:rPr lang="en-GB" dirty="0"/>
              <a:t>Directors (NED etc)</a:t>
            </a:r>
          </a:p>
          <a:p>
            <a:r>
              <a:rPr lang="en-GB" dirty="0"/>
              <a:t>Advisors</a:t>
            </a:r>
          </a:p>
          <a:p>
            <a:r>
              <a:rPr lang="en-GB" dirty="0"/>
              <a:t>Trustees</a:t>
            </a:r>
          </a:p>
          <a:p>
            <a:r>
              <a:rPr lang="en-GB" dirty="0"/>
              <a:t>Shadow directors</a:t>
            </a:r>
          </a:p>
          <a:p>
            <a:r>
              <a:rPr lang="en-GB" dirty="0"/>
              <a:t>Observers</a:t>
            </a:r>
          </a:p>
          <a:p>
            <a:r>
              <a:rPr lang="en-GB" dirty="0"/>
              <a:t>Persons with Significant Control</a:t>
            </a:r>
          </a:p>
          <a:p>
            <a:r>
              <a:rPr lang="en-GB" dirty="0"/>
              <a:t>Boards (directors, advisory, user panels)</a:t>
            </a:r>
          </a:p>
          <a:p>
            <a:endParaRPr lang="en-GB" dirty="0"/>
          </a:p>
        </p:txBody>
      </p:sp>
    </p:spTree>
    <p:extLst>
      <p:ext uri="{BB962C8B-B14F-4D97-AF65-F5344CB8AC3E}">
        <p14:creationId xmlns:p14="http://schemas.microsoft.com/office/powerpoint/2010/main" val="2542740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Key definitions – Shares etc</a:t>
            </a:r>
          </a:p>
        </p:txBody>
      </p:sp>
      <p:sp>
        <p:nvSpPr>
          <p:cNvPr id="3" name="Content Placeholder 2"/>
          <p:cNvSpPr>
            <a:spLocks noGrp="1"/>
          </p:cNvSpPr>
          <p:nvPr>
            <p:ph idx="1"/>
          </p:nvPr>
        </p:nvSpPr>
        <p:spPr>
          <a:xfrm>
            <a:off x="1650124" y="1417638"/>
            <a:ext cx="8765628" cy="5385184"/>
          </a:xfrm>
          <a:solidFill>
            <a:schemeClr val="bg1"/>
          </a:solidFill>
        </p:spPr>
        <p:txBody>
          <a:bodyPr>
            <a:normAutofit fontScale="77500" lnSpcReduction="20000"/>
          </a:bodyPr>
          <a:lstStyle/>
          <a:p>
            <a:r>
              <a:rPr lang="en-GB" dirty="0"/>
              <a:t>Ownership of company limited by shares (CLS) and some other models is through shares</a:t>
            </a:r>
          </a:p>
          <a:p>
            <a:r>
              <a:rPr lang="en-GB" dirty="0"/>
              <a:t>People or organisations which own shares are called shareholders</a:t>
            </a:r>
          </a:p>
          <a:p>
            <a:pPr lvl="1"/>
            <a:r>
              <a:rPr lang="en-GB" dirty="0"/>
              <a:t>Sometimes called subscribers (</a:t>
            </a:r>
            <a:r>
              <a:rPr lang="en-GB" dirty="0" err="1"/>
              <a:t>eg</a:t>
            </a:r>
            <a:r>
              <a:rPr lang="en-GB" dirty="0"/>
              <a:t>: in company setup, paperwork and Memorandum)</a:t>
            </a:r>
          </a:p>
          <a:p>
            <a:r>
              <a:rPr lang="en-GB" dirty="0"/>
              <a:t>Shares – their rights and classes are defined through the Company Articles (based on Company Law)</a:t>
            </a:r>
          </a:p>
          <a:p>
            <a:r>
              <a:rPr lang="en-GB" dirty="0"/>
              <a:t>Shares have three main rights which can be varied </a:t>
            </a:r>
            <a:r>
              <a:rPr lang="en-GB" dirty="0" err="1"/>
              <a:t>eg</a:t>
            </a:r>
            <a:r>
              <a:rPr lang="en-GB" dirty="0"/>
              <a:t>: dividends, voting at general meetings, electing directors</a:t>
            </a:r>
          </a:p>
          <a:p>
            <a:r>
              <a:rPr lang="en-GB" dirty="0"/>
              <a:t>Different rights can be given </a:t>
            </a:r>
            <a:r>
              <a:rPr lang="en-GB" dirty="0" err="1"/>
              <a:t>eg</a:t>
            </a:r>
            <a:r>
              <a:rPr lang="en-GB" dirty="0"/>
              <a:t>: Golden Share owning social clause and asset lock and not having voting rights or right to dividends</a:t>
            </a:r>
          </a:p>
          <a:p>
            <a:r>
              <a:rPr lang="en-GB" dirty="0"/>
              <a:t>Shareholders can receive a percentage of annual profits (dividends) if board agreed to allocate these</a:t>
            </a:r>
          </a:p>
          <a:p>
            <a:r>
              <a:rPr lang="en-GB" dirty="0"/>
              <a:t>Share classes can be created within Company Articles</a:t>
            </a:r>
          </a:p>
          <a:p>
            <a:r>
              <a:rPr lang="en-GB" dirty="0"/>
              <a:t>Power for shareholders depends on percentage of shares owned (unless in </a:t>
            </a:r>
            <a:r>
              <a:rPr lang="en-GB" dirty="0" err="1"/>
              <a:t>BenCom</a:t>
            </a:r>
            <a:r>
              <a:rPr lang="en-GB" dirty="0"/>
              <a:t> – community shares) </a:t>
            </a:r>
          </a:p>
          <a:p>
            <a:r>
              <a:rPr lang="en-GB" dirty="0"/>
              <a:t>Shares can be sold (profit vs face value)</a:t>
            </a:r>
          </a:p>
          <a:p>
            <a:r>
              <a:rPr lang="en-GB" dirty="0"/>
              <a:t>Shares can dissolve/vest and do lots of other things too </a:t>
            </a:r>
          </a:p>
          <a:p>
            <a:r>
              <a:rPr lang="en-GB" dirty="0"/>
              <a:t>Earning shares by work is sometimes called “sweat equity”</a:t>
            </a:r>
          </a:p>
        </p:txBody>
      </p:sp>
    </p:spTree>
    <p:extLst>
      <p:ext uri="{BB962C8B-B14F-4D97-AF65-F5344CB8AC3E}">
        <p14:creationId xmlns:p14="http://schemas.microsoft.com/office/powerpoint/2010/main" val="976359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Key definitions - Members</a:t>
            </a:r>
          </a:p>
        </p:txBody>
      </p:sp>
      <p:sp>
        <p:nvSpPr>
          <p:cNvPr id="3" name="Content Placeholder 2"/>
          <p:cNvSpPr>
            <a:spLocks noGrp="1"/>
          </p:cNvSpPr>
          <p:nvPr>
            <p:ph idx="1"/>
          </p:nvPr>
        </p:nvSpPr>
        <p:spPr>
          <a:xfrm>
            <a:off x="1981200" y="1425522"/>
            <a:ext cx="8418786" cy="4895193"/>
          </a:xfrm>
        </p:spPr>
        <p:txBody>
          <a:bodyPr>
            <a:normAutofit/>
          </a:bodyPr>
          <a:lstStyle/>
          <a:p>
            <a:r>
              <a:rPr lang="en-GB" dirty="0"/>
              <a:t>Ownership of Companies limited by Guarantee (and some other models) is through membership</a:t>
            </a:r>
          </a:p>
          <a:p>
            <a:r>
              <a:rPr lang="en-GB" dirty="0"/>
              <a:t>Do not confuse membership as company owners with members of the organisation/group the company supports (they can be the same but don’t have to be)</a:t>
            </a:r>
          </a:p>
          <a:p>
            <a:r>
              <a:rPr lang="en-GB" dirty="0"/>
              <a:t>Members are always equal in power – one member one vote</a:t>
            </a:r>
          </a:p>
          <a:p>
            <a:r>
              <a:rPr lang="en-GB" dirty="0"/>
              <a:t>Members can be people or organisations</a:t>
            </a:r>
          </a:p>
          <a:p>
            <a:r>
              <a:rPr lang="en-GB" dirty="0"/>
              <a:t>Membership can be limited to types of people or organisations (geography/age/disability/other)</a:t>
            </a:r>
          </a:p>
          <a:p>
            <a:r>
              <a:rPr lang="en-GB" dirty="0"/>
              <a:t>Members cannot get dividends</a:t>
            </a:r>
          </a:p>
          <a:p>
            <a:r>
              <a:rPr lang="en-GB" dirty="0"/>
              <a:t>Membership cannot be sold</a:t>
            </a:r>
          </a:p>
          <a:p>
            <a:r>
              <a:rPr lang="en-GB" dirty="0"/>
              <a:t>Members elect directors/trustees and vote at general meetings</a:t>
            </a:r>
          </a:p>
          <a:p>
            <a:pPr lvl="1"/>
            <a:endParaRPr lang="en-GB" dirty="0"/>
          </a:p>
          <a:p>
            <a:pPr lvl="1"/>
            <a:endParaRPr lang="en-GB" dirty="0"/>
          </a:p>
          <a:p>
            <a:endParaRPr lang="en-GB" dirty="0"/>
          </a:p>
        </p:txBody>
      </p:sp>
    </p:spTree>
    <p:extLst>
      <p:ext uri="{BB962C8B-B14F-4D97-AF65-F5344CB8AC3E}">
        <p14:creationId xmlns:p14="http://schemas.microsoft.com/office/powerpoint/2010/main" val="61643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Key definitions – Boards etc</a:t>
            </a:r>
          </a:p>
        </p:txBody>
      </p:sp>
      <p:sp>
        <p:nvSpPr>
          <p:cNvPr id="3" name="Content Placeholder 2"/>
          <p:cNvSpPr>
            <a:spLocks noGrp="1"/>
          </p:cNvSpPr>
          <p:nvPr>
            <p:ph idx="1"/>
          </p:nvPr>
        </p:nvSpPr>
        <p:spPr>
          <a:xfrm>
            <a:off x="1981200" y="1426774"/>
            <a:ext cx="8686800" cy="5305102"/>
          </a:xfrm>
          <a:solidFill>
            <a:schemeClr val="bg1"/>
          </a:solidFill>
        </p:spPr>
        <p:txBody>
          <a:bodyPr>
            <a:normAutofit fontScale="92500" lnSpcReduction="20000"/>
          </a:bodyPr>
          <a:lstStyle/>
          <a:p>
            <a:r>
              <a:rPr lang="en-GB" dirty="0"/>
              <a:t>The Board is the collection of directors/trustees.</a:t>
            </a:r>
          </a:p>
          <a:p>
            <a:r>
              <a:rPr lang="en-GB" dirty="0"/>
              <a:t>Elected by members or shareholders</a:t>
            </a:r>
          </a:p>
          <a:p>
            <a:r>
              <a:rPr lang="en-GB" dirty="0"/>
              <a:t>Legally responsible for company being sustainable and listed with Companies House</a:t>
            </a:r>
          </a:p>
          <a:p>
            <a:r>
              <a:rPr lang="en-GB" dirty="0"/>
              <a:t>Appoint CEO or MD</a:t>
            </a:r>
          </a:p>
          <a:p>
            <a:r>
              <a:rPr lang="en-GB" dirty="0"/>
              <a:t>Directors of charities/CIOs are sometimes called trustees</a:t>
            </a:r>
          </a:p>
          <a:p>
            <a:r>
              <a:rPr lang="en-GB" dirty="0"/>
              <a:t>NED/Non Executive Director – not a legal term all directors have equal responsibilities for company and registered at Companies House (in practice some directors work in the business and some are only involved in the board)</a:t>
            </a:r>
          </a:p>
          <a:p>
            <a:r>
              <a:rPr lang="en-GB" dirty="0"/>
              <a:t>Advisory boards – these are usually just advisors and have no legal role or responsibility for the company</a:t>
            </a:r>
          </a:p>
          <a:p>
            <a:r>
              <a:rPr lang="en-GB" dirty="0"/>
              <a:t>Charity directors (sometimes called trustees) cannot be paid and therefore do not usually include CEO/MD </a:t>
            </a:r>
          </a:p>
          <a:p>
            <a:pPr lvl="1"/>
            <a:r>
              <a:rPr lang="en-GB" dirty="0"/>
              <a:t>Unitary board – board of charity with some directors being paid employees as well as directors</a:t>
            </a:r>
          </a:p>
          <a:p>
            <a:r>
              <a:rPr lang="en-GB" dirty="0"/>
              <a:t>Use Directors Service Agreements/Board Packs (IOD.com)</a:t>
            </a:r>
          </a:p>
        </p:txBody>
      </p:sp>
    </p:spTree>
    <p:extLst>
      <p:ext uri="{BB962C8B-B14F-4D97-AF65-F5344CB8AC3E}">
        <p14:creationId xmlns:p14="http://schemas.microsoft.com/office/powerpoint/2010/main" val="1593835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5B3C-4D73-4E27-809E-6E0EF7ED88ED}"/>
              </a:ext>
            </a:extLst>
          </p:cNvPr>
          <p:cNvSpPr>
            <a:spLocks noGrp="1"/>
          </p:cNvSpPr>
          <p:nvPr>
            <p:ph type="title"/>
          </p:nvPr>
        </p:nvSpPr>
        <p:spPr/>
        <p:txBody>
          <a:bodyPr/>
          <a:lstStyle/>
          <a:p>
            <a:r>
              <a:rPr lang="en-GB" dirty="0"/>
              <a:t>More definitions – check your Articles</a:t>
            </a:r>
          </a:p>
        </p:txBody>
      </p:sp>
      <p:sp>
        <p:nvSpPr>
          <p:cNvPr id="3" name="Content Placeholder 2">
            <a:extLst>
              <a:ext uri="{FF2B5EF4-FFF2-40B4-BE49-F238E27FC236}">
                <a16:creationId xmlns:a16="http://schemas.microsoft.com/office/drawing/2014/main" id="{75A27899-7EC9-42A6-A9D3-22DBB2F0CA49}"/>
              </a:ext>
            </a:extLst>
          </p:cNvPr>
          <p:cNvSpPr>
            <a:spLocks noGrp="1"/>
          </p:cNvSpPr>
          <p:nvPr>
            <p:ph idx="1"/>
          </p:nvPr>
        </p:nvSpPr>
        <p:spPr/>
        <p:txBody>
          <a:bodyPr/>
          <a:lstStyle/>
          <a:p>
            <a:r>
              <a:rPr lang="en-GB" dirty="0"/>
              <a:t>Nominal value</a:t>
            </a:r>
          </a:p>
          <a:p>
            <a:r>
              <a:rPr lang="en-GB" dirty="0"/>
              <a:t>Quorum</a:t>
            </a:r>
          </a:p>
          <a:p>
            <a:r>
              <a:rPr lang="en-GB" dirty="0"/>
              <a:t>Casting vote</a:t>
            </a:r>
          </a:p>
          <a:p>
            <a:r>
              <a:rPr lang="en-GB" dirty="0"/>
              <a:t>Minimum and maximum numbers</a:t>
            </a:r>
          </a:p>
          <a:p>
            <a:r>
              <a:rPr lang="en-GB" dirty="0"/>
              <a:t>Objects</a:t>
            </a:r>
          </a:p>
          <a:p>
            <a:r>
              <a:rPr lang="en-GB" dirty="0"/>
              <a:t>Roles and responsibilities</a:t>
            </a:r>
          </a:p>
          <a:p>
            <a:r>
              <a:rPr lang="en-GB" dirty="0"/>
              <a:t>How meet? Include video conferencing?</a:t>
            </a:r>
          </a:p>
        </p:txBody>
      </p:sp>
    </p:spTree>
    <p:extLst>
      <p:ext uri="{BB962C8B-B14F-4D97-AF65-F5344CB8AC3E}">
        <p14:creationId xmlns:p14="http://schemas.microsoft.com/office/powerpoint/2010/main" val="3874638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BREAK</a:t>
            </a:r>
          </a:p>
        </p:txBody>
      </p:sp>
    </p:spTree>
    <p:extLst>
      <p:ext uri="{BB962C8B-B14F-4D97-AF65-F5344CB8AC3E}">
        <p14:creationId xmlns:p14="http://schemas.microsoft.com/office/powerpoint/2010/main" val="1838062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E18FB-521F-46D2-9F58-E1CAFF7E1D3F}"/>
              </a:ext>
            </a:extLst>
          </p:cNvPr>
          <p:cNvSpPr>
            <a:spLocks noGrp="1"/>
          </p:cNvSpPr>
          <p:nvPr>
            <p:ph type="title"/>
          </p:nvPr>
        </p:nvSpPr>
        <p:spPr/>
        <p:txBody>
          <a:bodyPr/>
          <a:lstStyle/>
          <a:p>
            <a:r>
              <a:rPr lang="en-GB" dirty="0"/>
              <a:t>Board essentials</a:t>
            </a:r>
          </a:p>
        </p:txBody>
      </p:sp>
      <p:sp>
        <p:nvSpPr>
          <p:cNvPr id="3" name="Content Placeholder 2">
            <a:extLst>
              <a:ext uri="{FF2B5EF4-FFF2-40B4-BE49-F238E27FC236}">
                <a16:creationId xmlns:a16="http://schemas.microsoft.com/office/drawing/2014/main" id="{B0CB7445-F48B-45D8-BC35-CB8F26C9A3E1}"/>
              </a:ext>
            </a:extLst>
          </p:cNvPr>
          <p:cNvSpPr>
            <a:spLocks noGrp="1"/>
          </p:cNvSpPr>
          <p:nvPr>
            <p:ph idx="1"/>
          </p:nvPr>
        </p:nvSpPr>
        <p:spPr/>
        <p:txBody>
          <a:bodyPr>
            <a:noAutofit/>
          </a:bodyPr>
          <a:lstStyle/>
          <a:p>
            <a:r>
              <a:rPr lang="en-GB" dirty="0"/>
              <a:t>Why have a board?</a:t>
            </a:r>
          </a:p>
          <a:p>
            <a:pPr lvl="1"/>
            <a:r>
              <a:rPr lang="en-GB" dirty="0"/>
              <a:t>Support growth</a:t>
            </a:r>
          </a:p>
          <a:p>
            <a:pPr lvl="1"/>
            <a:r>
              <a:rPr lang="en-GB" dirty="0"/>
              <a:t>Funders expect it</a:t>
            </a:r>
          </a:p>
          <a:p>
            <a:pPr lvl="1"/>
            <a:r>
              <a:rPr lang="en-GB" dirty="0"/>
              <a:t>Investors expect it</a:t>
            </a:r>
          </a:p>
          <a:p>
            <a:pPr lvl="1"/>
            <a:r>
              <a:rPr lang="en-GB" dirty="0"/>
              <a:t>Big customers expect it</a:t>
            </a:r>
          </a:p>
          <a:p>
            <a:pPr lvl="1"/>
            <a:r>
              <a:rPr lang="en-GB" dirty="0"/>
              <a:t>Support you to build the business</a:t>
            </a:r>
          </a:p>
          <a:p>
            <a:pPr lvl="1"/>
            <a:r>
              <a:rPr lang="en-GB" dirty="0"/>
              <a:t>Skip level reporting – good and bad</a:t>
            </a:r>
          </a:p>
          <a:p>
            <a:r>
              <a:rPr lang="en-GB" dirty="0"/>
              <a:t>Need to be managed</a:t>
            </a:r>
          </a:p>
          <a:p>
            <a:pPr lvl="1"/>
            <a:r>
              <a:rPr lang="en-GB" dirty="0"/>
              <a:t>Carefully because you are equal to them on board </a:t>
            </a:r>
          </a:p>
          <a:p>
            <a:pPr lvl="1"/>
            <a:r>
              <a:rPr lang="en-GB" dirty="0"/>
              <a:t>Founder cannot be chair</a:t>
            </a:r>
          </a:p>
          <a:p>
            <a:r>
              <a:rPr lang="en-GB" dirty="0"/>
              <a:t>Founders and NEDs need to know when to walk away</a:t>
            </a:r>
          </a:p>
          <a:p>
            <a:r>
              <a:rPr lang="en-GB" dirty="0"/>
              <a:t>Directors insurance</a:t>
            </a:r>
          </a:p>
        </p:txBody>
      </p:sp>
    </p:spTree>
    <p:extLst>
      <p:ext uri="{BB962C8B-B14F-4D97-AF65-F5344CB8AC3E}">
        <p14:creationId xmlns:p14="http://schemas.microsoft.com/office/powerpoint/2010/main" val="2384586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512A-CC55-406F-BCA6-C8AC4DAE74A1}"/>
              </a:ext>
            </a:extLst>
          </p:cNvPr>
          <p:cNvSpPr>
            <a:spLocks noGrp="1"/>
          </p:cNvSpPr>
          <p:nvPr>
            <p:ph type="title"/>
          </p:nvPr>
        </p:nvSpPr>
        <p:spPr/>
        <p:txBody>
          <a:bodyPr/>
          <a:lstStyle/>
          <a:p>
            <a:r>
              <a:rPr lang="en-GB" dirty="0"/>
              <a:t>Key principles for directors</a:t>
            </a:r>
          </a:p>
        </p:txBody>
      </p:sp>
      <p:sp>
        <p:nvSpPr>
          <p:cNvPr id="3" name="Content Placeholder 2">
            <a:extLst>
              <a:ext uri="{FF2B5EF4-FFF2-40B4-BE49-F238E27FC236}">
                <a16:creationId xmlns:a16="http://schemas.microsoft.com/office/drawing/2014/main" id="{6E595310-E604-4172-992E-114225CB8CCB}"/>
              </a:ext>
            </a:extLst>
          </p:cNvPr>
          <p:cNvSpPr>
            <a:spLocks noGrp="1"/>
          </p:cNvSpPr>
          <p:nvPr>
            <p:ph idx="1"/>
          </p:nvPr>
        </p:nvSpPr>
        <p:spPr/>
        <p:txBody>
          <a:bodyPr/>
          <a:lstStyle/>
          <a:p>
            <a:r>
              <a:rPr lang="en-GB" dirty="0"/>
              <a:t>Accountability</a:t>
            </a:r>
          </a:p>
          <a:p>
            <a:r>
              <a:rPr lang="en-GB" dirty="0"/>
              <a:t>Transparency</a:t>
            </a:r>
          </a:p>
          <a:p>
            <a:r>
              <a:rPr lang="en-GB" dirty="0"/>
              <a:t>Probity</a:t>
            </a:r>
          </a:p>
          <a:p>
            <a:r>
              <a:rPr lang="en-GB" dirty="0"/>
              <a:t>Focus on sustainability – profit and impact </a:t>
            </a:r>
          </a:p>
          <a:p>
            <a:r>
              <a:rPr lang="en-GB" dirty="0"/>
              <a:t>Longer term success of company</a:t>
            </a:r>
          </a:p>
        </p:txBody>
      </p:sp>
    </p:spTree>
    <p:extLst>
      <p:ext uri="{BB962C8B-B14F-4D97-AF65-F5344CB8AC3E}">
        <p14:creationId xmlns:p14="http://schemas.microsoft.com/office/powerpoint/2010/main" val="2935137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1ACB5-4E2D-4823-8843-C4308E0F86D0}"/>
              </a:ext>
            </a:extLst>
          </p:cNvPr>
          <p:cNvSpPr>
            <a:spLocks noGrp="1"/>
          </p:cNvSpPr>
          <p:nvPr>
            <p:ph type="title"/>
          </p:nvPr>
        </p:nvSpPr>
        <p:spPr/>
        <p:txBody>
          <a:bodyPr/>
          <a:lstStyle/>
          <a:p>
            <a:r>
              <a:rPr lang="en-GB" dirty="0"/>
              <a:t>Key themes for boards</a:t>
            </a:r>
          </a:p>
        </p:txBody>
      </p:sp>
      <p:sp>
        <p:nvSpPr>
          <p:cNvPr id="3" name="Content Placeholder 2">
            <a:extLst>
              <a:ext uri="{FF2B5EF4-FFF2-40B4-BE49-F238E27FC236}">
                <a16:creationId xmlns:a16="http://schemas.microsoft.com/office/drawing/2014/main" id="{0D0B927B-4B77-4463-9AA0-FB8E3F878FBD}"/>
              </a:ext>
            </a:extLst>
          </p:cNvPr>
          <p:cNvSpPr>
            <a:spLocks noGrp="1"/>
          </p:cNvSpPr>
          <p:nvPr>
            <p:ph idx="1"/>
          </p:nvPr>
        </p:nvSpPr>
        <p:spPr/>
        <p:txBody>
          <a:bodyPr/>
          <a:lstStyle/>
          <a:p>
            <a:r>
              <a:rPr lang="en-GB" dirty="0"/>
              <a:t>Building trust in the business</a:t>
            </a:r>
          </a:p>
          <a:p>
            <a:r>
              <a:rPr lang="en-GB" dirty="0"/>
              <a:t>Board culture </a:t>
            </a:r>
          </a:p>
          <a:p>
            <a:pPr lvl="1"/>
            <a:r>
              <a:rPr lang="en-GB" dirty="0"/>
              <a:t>Unconscious bias</a:t>
            </a:r>
          </a:p>
          <a:p>
            <a:r>
              <a:rPr lang="en-GB" dirty="0"/>
              <a:t>Bribery and corruption</a:t>
            </a:r>
          </a:p>
          <a:p>
            <a:r>
              <a:rPr lang="en-GB" dirty="0"/>
              <a:t>Ethics and values</a:t>
            </a:r>
          </a:p>
          <a:p>
            <a:r>
              <a:rPr lang="en-GB" dirty="0"/>
              <a:t>Sustainability</a:t>
            </a:r>
          </a:p>
          <a:p>
            <a:r>
              <a:rPr lang="en-GB" dirty="0"/>
              <a:t>Board effectiveness</a:t>
            </a:r>
          </a:p>
          <a:p>
            <a:pPr lvl="1"/>
            <a:r>
              <a:rPr lang="en-GB" dirty="0"/>
              <a:t>Evaluation</a:t>
            </a:r>
          </a:p>
          <a:p>
            <a:pPr lvl="1"/>
            <a:r>
              <a:rPr lang="en-GB" dirty="0"/>
              <a:t>Training</a:t>
            </a:r>
          </a:p>
          <a:p>
            <a:pPr lvl="1"/>
            <a:r>
              <a:rPr lang="en-GB" dirty="0"/>
              <a:t>diversity </a:t>
            </a:r>
          </a:p>
        </p:txBody>
      </p:sp>
    </p:spTree>
    <p:extLst>
      <p:ext uri="{BB962C8B-B14F-4D97-AF65-F5344CB8AC3E}">
        <p14:creationId xmlns:p14="http://schemas.microsoft.com/office/powerpoint/2010/main" val="1319754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1959-2963-41AC-BCB0-E5350CF8A319}"/>
              </a:ext>
            </a:extLst>
          </p:cNvPr>
          <p:cNvSpPr>
            <a:spLocks noGrp="1"/>
          </p:cNvSpPr>
          <p:nvPr>
            <p:ph type="title"/>
          </p:nvPr>
        </p:nvSpPr>
        <p:spPr/>
        <p:txBody>
          <a:bodyPr/>
          <a:lstStyle/>
          <a:p>
            <a:r>
              <a:rPr lang="en-GB" dirty="0"/>
              <a:t>Directors’ duties	</a:t>
            </a:r>
          </a:p>
        </p:txBody>
      </p:sp>
      <p:sp>
        <p:nvSpPr>
          <p:cNvPr id="3" name="Content Placeholder 2">
            <a:extLst>
              <a:ext uri="{FF2B5EF4-FFF2-40B4-BE49-F238E27FC236}">
                <a16:creationId xmlns:a16="http://schemas.microsoft.com/office/drawing/2014/main" id="{E2EF400A-5BC5-429B-947C-2718C37FFC20}"/>
              </a:ext>
            </a:extLst>
          </p:cNvPr>
          <p:cNvSpPr>
            <a:spLocks noGrp="1"/>
          </p:cNvSpPr>
          <p:nvPr>
            <p:ph idx="1"/>
          </p:nvPr>
        </p:nvSpPr>
        <p:spPr/>
        <p:txBody>
          <a:bodyPr/>
          <a:lstStyle/>
          <a:p>
            <a:r>
              <a:rPr lang="en-GB" dirty="0"/>
              <a:t>Duty of confidentiality</a:t>
            </a:r>
          </a:p>
          <a:p>
            <a:r>
              <a:rPr lang="en-GB" dirty="0"/>
              <a:t>Duty to devote time and attention to the business and their role</a:t>
            </a:r>
          </a:p>
          <a:p>
            <a:r>
              <a:rPr lang="en-GB" dirty="0"/>
              <a:t>Duty to account to shareholders</a:t>
            </a:r>
          </a:p>
          <a:p>
            <a:r>
              <a:rPr lang="en-GB" dirty="0"/>
              <a:t>Stewardship of company assets </a:t>
            </a:r>
          </a:p>
          <a:p>
            <a:r>
              <a:rPr lang="en-GB" dirty="0"/>
              <a:t>Stewardship of company impact and legacy</a:t>
            </a:r>
          </a:p>
          <a:p>
            <a:r>
              <a:rPr lang="en-GB" dirty="0"/>
              <a:t>General duty to act in good faith</a:t>
            </a:r>
          </a:p>
          <a:p>
            <a:r>
              <a:rPr lang="en-GB" dirty="0"/>
              <a:t>Duty to maintain book of accounts</a:t>
            </a:r>
          </a:p>
          <a:p>
            <a:r>
              <a:rPr lang="en-GB" dirty="0"/>
              <a:t>Duty to file accounts, annual returns and tax returns on time</a:t>
            </a:r>
          </a:p>
          <a:p>
            <a:r>
              <a:rPr lang="en-GB" dirty="0"/>
              <a:t>Duty to maintain statutory books</a:t>
            </a:r>
          </a:p>
          <a:p>
            <a:r>
              <a:rPr lang="en-GB" dirty="0"/>
              <a:t>Duty to ensure company complies with legislation </a:t>
            </a:r>
          </a:p>
        </p:txBody>
      </p:sp>
    </p:spTree>
    <p:extLst>
      <p:ext uri="{BB962C8B-B14F-4D97-AF65-F5344CB8AC3E}">
        <p14:creationId xmlns:p14="http://schemas.microsoft.com/office/powerpoint/2010/main" val="2359528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059D8-BA78-4CB5-AA73-0BFD07047EE1}"/>
              </a:ext>
            </a:extLst>
          </p:cNvPr>
          <p:cNvSpPr>
            <a:spLocks noGrp="1"/>
          </p:cNvSpPr>
          <p:nvPr>
            <p:ph type="title"/>
          </p:nvPr>
        </p:nvSpPr>
        <p:spPr/>
        <p:txBody>
          <a:bodyPr/>
          <a:lstStyle/>
          <a:p>
            <a:r>
              <a:rPr lang="en-GB" dirty="0"/>
              <a:t>Executive vs Non-Executive Directors</a:t>
            </a:r>
          </a:p>
        </p:txBody>
      </p:sp>
      <p:sp>
        <p:nvSpPr>
          <p:cNvPr id="3" name="Content Placeholder 2">
            <a:extLst>
              <a:ext uri="{FF2B5EF4-FFF2-40B4-BE49-F238E27FC236}">
                <a16:creationId xmlns:a16="http://schemas.microsoft.com/office/drawing/2014/main" id="{663BBB80-0025-4599-8093-807E21084460}"/>
              </a:ext>
            </a:extLst>
          </p:cNvPr>
          <p:cNvSpPr>
            <a:spLocks noGrp="1"/>
          </p:cNvSpPr>
          <p:nvPr>
            <p:ph idx="1"/>
          </p:nvPr>
        </p:nvSpPr>
        <p:spPr>
          <a:xfrm>
            <a:off x="677334" y="1578709"/>
            <a:ext cx="3746174" cy="4462654"/>
          </a:xfrm>
        </p:spPr>
        <p:txBody>
          <a:bodyPr/>
          <a:lstStyle/>
          <a:p>
            <a:r>
              <a:rPr lang="en-GB" dirty="0"/>
              <a:t>Executive Directors</a:t>
            </a:r>
          </a:p>
          <a:p>
            <a:pPr lvl="1"/>
            <a:r>
              <a:rPr lang="en-GB" dirty="0"/>
              <a:t>Hands on</a:t>
            </a:r>
          </a:p>
          <a:p>
            <a:pPr lvl="1"/>
            <a:r>
              <a:rPr lang="en-GB" dirty="0"/>
              <a:t>Not independent</a:t>
            </a:r>
          </a:p>
          <a:p>
            <a:pPr lvl="1"/>
            <a:r>
              <a:rPr lang="en-GB" dirty="0"/>
              <a:t>Full time</a:t>
            </a:r>
          </a:p>
          <a:p>
            <a:pPr lvl="1"/>
            <a:r>
              <a:rPr lang="en-GB" dirty="0"/>
              <a:t>Employed</a:t>
            </a:r>
          </a:p>
          <a:p>
            <a:pPr lvl="1"/>
            <a:r>
              <a:rPr lang="en-GB" dirty="0"/>
              <a:t>Strategist</a:t>
            </a:r>
          </a:p>
          <a:p>
            <a:pPr lvl="1"/>
            <a:r>
              <a:rPr lang="en-GB" dirty="0"/>
              <a:t>Internal knowledge</a:t>
            </a:r>
          </a:p>
        </p:txBody>
      </p:sp>
      <p:sp>
        <p:nvSpPr>
          <p:cNvPr id="4" name="Content Placeholder 2">
            <a:extLst>
              <a:ext uri="{FF2B5EF4-FFF2-40B4-BE49-F238E27FC236}">
                <a16:creationId xmlns:a16="http://schemas.microsoft.com/office/drawing/2014/main" id="{567F32D3-1D4E-49CC-8CCB-BBD1858CA78A}"/>
              </a:ext>
            </a:extLst>
          </p:cNvPr>
          <p:cNvSpPr txBox="1">
            <a:spLocks/>
          </p:cNvSpPr>
          <p:nvPr/>
        </p:nvSpPr>
        <p:spPr>
          <a:xfrm>
            <a:off x="4893734" y="1578709"/>
            <a:ext cx="3746174" cy="44626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Non-Executive Directors</a:t>
            </a:r>
          </a:p>
          <a:p>
            <a:pPr lvl="1"/>
            <a:r>
              <a:rPr lang="en-GB" dirty="0"/>
              <a:t>Hands off</a:t>
            </a:r>
          </a:p>
          <a:p>
            <a:pPr lvl="1"/>
            <a:r>
              <a:rPr lang="en-GB" dirty="0"/>
              <a:t>Independent</a:t>
            </a:r>
          </a:p>
          <a:p>
            <a:pPr lvl="1"/>
            <a:r>
              <a:rPr lang="en-GB" dirty="0"/>
              <a:t>Part time</a:t>
            </a:r>
          </a:p>
          <a:p>
            <a:pPr lvl="1"/>
            <a:r>
              <a:rPr lang="en-GB" dirty="0"/>
              <a:t>Self employed</a:t>
            </a:r>
          </a:p>
          <a:p>
            <a:pPr lvl="1"/>
            <a:r>
              <a:rPr lang="en-GB" dirty="0"/>
              <a:t>Policeman</a:t>
            </a:r>
          </a:p>
          <a:p>
            <a:pPr lvl="1"/>
            <a:r>
              <a:rPr lang="en-GB" dirty="0"/>
              <a:t>External </a:t>
            </a:r>
            <a:r>
              <a:rPr lang="en-GB" dirty="0" err="1"/>
              <a:t>knowlegde</a:t>
            </a:r>
            <a:endParaRPr lang="en-GB" dirty="0"/>
          </a:p>
        </p:txBody>
      </p:sp>
    </p:spTree>
    <p:extLst>
      <p:ext uri="{BB962C8B-B14F-4D97-AF65-F5344CB8AC3E}">
        <p14:creationId xmlns:p14="http://schemas.microsoft.com/office/powerpoint/2010/main" val="4132446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40A1-A849-4E11-81EF-B58A97AF5A0C}"/>
              </a:ext>
            </a:extLst>
          </p:cNvPr>
          <p:cNvSpPr>
            <a:spLocks noGrp="1"/>
          </p:cNvSpPr>
          <p:nvPr>
            <p:ph type="title"/>
          </p:nvPr>
        </p:nvSpPr>
        <p:spPr/>
        <p:txBody>
          <a:bodyPr/>
          <a:lstStyle/>
          <a:p>
            <a:r>
              <a:rPr lang="en-GB" dirty="0"/>
              <a:t>Directors should have …</a:t>
            </a:r>
          </a:p>
        </p:txBody>
      </p:sp>
      <p:sp>
        <p:nvSpPr>
          <p:cNvPr id="3" name="Content Placeholder 2">
            <a:extLst>
              <a:ext uri="{FF2B5EF4-FFF2-40B4-BE49-F238E27FC236}">
                <a16:creationId xmlns:a16="http://schemas.microsoft.com/office/drawing/2014/main" id="{E1C45269-8191-4631-91B7-EAAEB545F108}"/>
              </a:ext>
            </a:extLst>
          </p:cNvPr>
          <p:cNvSpPr>
            <a:spLocks noGrp="1"/>
          </p:cNvSpPr>
          <p:nvPr>
            <p:ph idx="1"/>
          </p:nvPr>
        </p:nvSpPr>
        <p:spPr>
          <a:xfrm>
            <a:off x="677334" y="1578709"/>
            <a:ext cx="10123528" cy="4462654"/>
          </a:xfrm>
        </p:spPr>
        <p:txBody>
          <a:bodyPr/>
          <a:lstStyle/>
          <a:p>
            <a:r>
              <a:rPr lang="en-GB" dirty="0"/>
              <a:t>Broad business experience</a:t>
            </a:r>
          </a:p>
          <a:p>
            <a:r>
              <a:rPr lang="en-GB" dirty="0"/>
              <a:t>Ability to assess people and situations analytically</a:t>
            </a:r>
          </a:p>
          <a:p>
            <a:r>
              <a:rPr lang="en-GB" dirty="0"/>
              <a:t>Ability to both hold their ground and persuade others</a:t>
            </a:r>
          </a:p>
          <a:p>
            <a:r>
              <a:rPr lang="en-GB" dirty="0"/>
              <a:t>Financial literacy and experience</a:t>
            </a:r>
          </a:p>
          <a:p>
            <a:r>
              <a:rPr lang="en-GB" dirty="0"/>
              <a:t>Awareness of legal environment and duties of directors and company</a:t>
            </a:r>
          </a:p>
          <a:p>
            <a:r>
              <a:rPr lang="en-GB" dirty="0"/>
              <a:t>Familiarity with best board practice (and relevance to SME / social enterprise)</a:t>
            </a:r>
          </a:p>
          <a:p>
            <a:r>
              <a:rPr lang="en-GB" dirty="0"/>
              <a:t>Ability to act as sounding board</a:t>
            </a:r>
          </a:p>
          <a:p>
            <a:r>
              <a:rPr lang="en-GB" dirty="0"/>
              <a:t>Sense of humour</a:t>
            </a:r>
          </a:p>
          <a:p>
            <a:r>
              <a:rPr lang="en-GB" dirty="0"/>
              <a:t>H</a:t>
            </a:r>
          </a:p>
          <a:p>
            <a:r>
              <a:rPr lang="en-GB" dirty="0" err="1"/>
              <a:t>umility</a:t>
            </a:r>
            <a:endParaRPr lang="en-GB" dirty="0"/>
          </a:p>
          <a:p>
            <a:endParaRPr lang="en-GB" dirty="0"/>
          </a:p>
        </p:txBody>
      </p:sp>
    </p:spTree>
    <p:extLst>
      <p:ext uri="{BB962C8B-B14F-4D97-AF65-F5344CB8AC3E}">
        <p14:creationId xmlns:p14="http://schemas.microsoft.com/office/powerpoint/2010/main" val="2686749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7D48-B1EC-47CC-9706-32E144071573}"/>
              </a:ext>
            </a:extLst>
          </p:cNvPr>
          <p:cNvSpPr>
            <a:spLocks noGrp="1"/>
          </p:cNvSpPr>
          <p:nvPr>
            <p:ph type="title"/>
          </p:nvPr>
        </p:nvSpPr>
        <p:spPr/>
        <p:txBody>
          <a:bodyPr/>
          <a:lstStyle/>
          <a:p>
            <a:r>
              <a:rPr lang="en-GB" dirty="0"/>
              <a:t>Non Executive Directors are not	</a:t>
            </a:r>
          </a:p>
        </p:txBody>
      </p:sp>
      <p:sp>
        <p:nvSpPr>
          <p:cNvPr id="3" name="Content Placeholder 2">
            <a:extLst>
              <a:ext uri="{FF2B5EF4-FFF2-40B4-BE49-F238E27FC236}">
                <a16:creationId xmlns:a16="http://schemas.microsoft.com/office/drawing/2014/main" id="{2A13C592-E755-418F-94E4-6915190C77D9}"/>
              </a:ext>
            </a:extLst>
          </p:cNvPr>
          <p:cNvSpPr>
            <a:spLocks noGrp="1"/>
          </p:cNvSpPr>
          <p:nvPr>
            <p:ph idx="1"/>
          </p:nvPr>
        </p:nvSpPr>
        <p:spPr/>
        <p:txBody>
          <a:bodyPr/>
          <a:lstStyle/>
          <a:p>
            <a:r>
              <a:rPr lang="en-GB" dirty="0"/>
              <a:t>Advisers</a:t>
            </a:r>
          </a:p>
          <a:p>
            <a:pPr lvl="1"/>
            <a:r>
              <a:rPr lang="en-GB" dirty="0"/>
              <a:t>They advise, directors decide</a:t>
            </a:r>
          </a:p>
          <a:p>
            <a:pPr lvl="1"/>
            <a:r>
              <a:rPr lang="en-GB" dirty="0"/>
              <a:t>They are not responsible for the business</a:t>
            </a:r>
          </a:p>
          <a:p>
            <a:pPr lvl="1"/>
            <a:endParaRPr lang="en-GB" dirty="0"/>
          </a:p>
          <a:p>
            <a:r>
              <a:rPr lang="en-GB" dirty="0"/>
              <a:t>Mentors</a:t>
            </a:r>
          </a:p>
          <a:p>
            <a:pPr lvl="1"/>
            <a:r>
              <a:rPr lang="en-GB" dirty="0"/>
              <a:t>NEDs are not as close to individuals in the business as mentors are</a:t>
            </a:r>
          </a:p>
          <a:p>
            <a:pPr lvl="1"/>
            <a:r>
              <a:rPr lang="en-GB" dirty="0"/>
              <a:t>NEDs need to be independent</a:t>
            </a:r>
          </a:p>
        </p:txBody>
      </p:sp>
    </p:spTree>
    <p:extLst>
      <p:ext uri="{BB962C8B-B14F-4D97-AF65-F5344CB8AC3E}">
        <p14:creationId xmlns:p14="http://schemas.microsoft.com/office/powerpoint/2010/main" val="1825684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2B084-117A-4BA0-B2A8-A6BF4CFB23C0}"/>
              </a:ext>
            </a:extLst>
          </p:cNvPr>
          <p:cNvSpPr>
            <a:spLocks noGrp="1"/>
          </p:cNvSpPr>
          <p:nvPr>
            <p:ph type="title"/>
          </p:nvPr>
        </p:nvSpPr>
        <p:spPr/>
        <p:txBody>
          <a:bodyPr/>
          <a:lstStyle/>
          <a:p>
            <a:r>
              <a:rPr lang="en-GB" dirty="0"/>
              <a:t>Board meetings	</a:t>
            </a:r>
          </a:p>
        </p:txBody>
      </p:sp>
      <p:sp>
        <p:nvSpPr>
          <p:cNvPr id="3" name="Content Placeholder 2">
            <a:extLst>
              <a:ext uri="{FF2B5EF4-FFF2-40B4-BE49-F238E27FC236}">
                <a16:creationId xmlns:a16="http://schemas.microsoft.com/office/drawing/2014/main" id="{0A2AEB44-DE79-4FCA-A2D2-B42B7F4CF3EB}"/>
              </a:ext>
            </a:extLst>
          </p:cNvPr>
          <p:cNvSpPr>
            <a:spLocks noGrp="1"/>
          </p:cNvSpPr>
          <p:nvPr>
            <p:ph idx="1"/>
          </p:nvPr>
        </p:nvSpPr>
        <p:spPr>
          <a:xfrm>
            <a:off x="677334" y="1578708"/>
            <a:ext cx="9732758" cy="4798645"/>
          </a:xfrm>
        </p:spPr>
        <p:txBody>
          <a:bodyPr>
            <a:normAutofit fontScale="92500" lnSpcReduction="10000"/>
          </a:bodyPr>
          <a:lstStyle/>
          <a:p>
            <a:r>
              <a:rPr lang="en-GB" dirty="0"/>
              <a:t>Read your Articles</a:t>
            </a:r>
          </a:p>
          <a:p>
            <a:r>
              <a:rPr lang="en-GB" dirty="0"/>
              <a:t>Agenda </a:t>
            </a:r>
          </a:p>
          <a:p>
            <a:pPr lvl="1"/>
            <a:r>
              <a:rPr lang="en-GB" dirty="0"/>
              <a:t>Sign off previous minutes</a:t>
            </a:r>
          </a:p>
          <a:p>
            <a:pPr lvl="1"/>
            <a:r>
              <a:rPr lang="en-GB" dirty="0"/>
              <a:t>Matters arising from previous minutes</a:t>
            </a:r>
          </a:p>
          <a:p>
            <a:pPr lvl="1"/>
            <a:r>
              <a:rPr lang="en-GB" dirty="0"/>
              <a:t>Company reports – include financial, impact and other key areas</a:t>
            </a:r>
          </a:p>
          <a:p>
            <a:pPr lvl="1"/>
            <a:r>
              <a:rPr lang="en-GB" dirty="0"/>
              <a:t>Any other business</a:t>
            </a:r>
          </a:p>
          <a:p>
            <a:r>
              <a:rPr lang="en-GB" dirty="0"/>
              <a:t>Minutes</a:t>
            </a:r>
          </a:p>
          <a:p>
            <a:pPr lvl="1"/>
            <a:r>
              <a:rPr lang="en-GB" dirty="0"/>
              <a:t>Include actions and deadlines (use footnotes )</a:t>
            </a:r>
          </a:p>
          <a:p>
            <a:pPr lvl="1"/>
            <a:r>
              <a:rPr lang="en-GB" dirty="0"/>
              <a:t>How detailed?</a:t>
            </a:r>
          </a:p>
          <a:p>
            <a:pPr lvl="1"/>
            <a:r>
              <a:rPr lang="en-GB" dirty="0"/>
              <a:t>Who takes them?</a:t>
            </a:r>
          </a:p>
          <a:p>
            <a:r>
              <a:rPr lang="en-GB" dirty="0"/>
              <a:t>Resolutions – written vs special</a:t>
            </a:r>
          </a:p>
          <a:p>
            <a:r>
              <a:rPr lang="en-GB" dirty="0"/>
              <a:t>Chair and casting vote</a:t>
            </a:r>
          </a:p>
        </p:txBody>
      </p:sp>
    </p:spTree>
    <p:extLst>
      <p:ext uri="{BB962C8B-B14F-4D97-AF65-F5344CB8AC3E}">
        <p14:creationId xmlns:p14="http://schemas.microsoft.com/office/powerpoint/2010/main" val="3298817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9887-2293-43C7-A7B7-E1385D2C698B}"/>
              </a:ext>
            </a:extLst>
          </p:cNvPr>
          <p:cNvSpPr>
            <a:spLocks noGrp="1"/>
          </p:cNvSpPr>
          <p:nvPr>
            <p:ph type="title"/>
          </p:nvPr>
        </p:nvSpPr>
        <p:spPr/>
        <p:txBody>
          <a:bodyPr/>
          <a:lstStyle/>
          <a:p>
            <a:r>
              <a:rPr lang="en-GB" dirty="0"/>
              <a:t>BREAK</a:t>
            </a:r>
          </a:p>
        </p:txBody>
      </p:sp>
    </p:spTree>
    <p:extLst>
      <p:ext uri="{BB962C8B-B14F-4D97-AF65-F5344CB8AC3E}">
        <p14:creationId xmlns:p14="http://schemas.microsoft.com/office/powerpoint/2010/main" val="3789231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BA923-6A63-469E-ABBA-A392CA2958A7}"/>
              </a:ext>
            </a:extLst>
          </p:cNvPr>
          <p:cNvSpPr>
            <a:spLocks noGrp="1"/>
          </p:cNvSpPr>
          <p:nvPr>
            <p:ph type="title"/>
          </p:nvPr>
        </p:nvSpPr>
        <p:spPr/>
        <p:txBody>
          <a:bodyPr/>
          <a:lstStyle/>
          <a:p>
            <a:r>
              <a:rPr lang="en-GB" dirty="0"/>
              <a:t>Policies and paperwork	</a:t>
            </a:r>
          </a:p>
        </p:txBody>
      </p:sp>
      <p:sp>
        <p:nvSpPr>
          <p:cNvPr id="3" name="Content Placeholder 2">
            <a:extLst>
              <a:ext uri="{FF2B5EF4-FFF2-40B4-BE49-F238E27FC236}">
                <a16:creationId xmlns:a16="http://schemas.microsoft.com/office/drawing/2014/main" id="{BB889925-3D32-4931-80B0-C1436DB312B2}"/>
              </a:ext>
            </a:extLst>
          </p:cNvPr>
          <p:cNvSpPr>
            <a:spLocks noGrp="1"/>
          </p:cNvSpPr>
          <p:nvPr>
            <p:ph idx="1"/>
          </p:nvPr>
        </p:nvSpPr>
        <p:spPr/>
        <p:txBody>
          <a:bodyPr/>
          <a:lstStyle/>
          <a:p>
            <a:r>
              <a:rPr lang="en-GB" dirty="0"/>
              <a:t>Recruitment policy for board (example shared)</a:t>
            </a:r>
          </a:p>
          <a:p>
            <a:r>
              <a:rPr lang="en-GB" dirty="0"/>
              <a:t>Conflict of interest policy and register (example shared)</a:t>
            </a:r>
          </a:p>
          <a:p>
            <a:r>
              <a:rPr lang="en-GB" dirty="0"/>
              <a:t>Expenses policy for Directors and form for claiming</a:t>
            </a:r>
          </a:p>
          <a:p>
            <a:r>
              <a:rPr lang="en-GB" dirty="0"/>
              <a:t>Diversity policy for recruiting directors</a:t>
            </a:r>
          </a:p>
          <a:p>
            <a:r>
              <a:rPr lang="en-GB" dirty="0"/>
              <a:t>Board skills Audit (example shared)</a:t>
            </a:r>
          </a:p>
          <a:p>
            <a:r>
              <a:rPr lang="en-GB" dirty="0"/>
              <a:t>Job Description (example shared)</a:t>
            </a:r>
          </a:p>
          <a:p>
            <a:r>
              <a:rPr lang="en-GB" dirty="0"/>
              <a:t>Code of conduct (example shared)</a:t>
            </a:r>
          </a:p>
        </p:txBody>
      </p:sp>
    </p:spTree>
    <p:extLst>
      <p:ext uri="{BB962C8B-B14F-4D97-AF65-F5344CB8AC3E}">
        <p14:creationId xmlns:p14="http://schemas.microsoft.com/office/powerpoint/2010/main" val="883126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0505-256B-49B2-B67C-9592A6B2DF4E}"/>
              </a:ext>
            </a:extLst>
          </p:cNvPr>
          <p:cNvSpPr>
            <a:spLocks noGrp="1"/>
          </p:cNvSpPr>
          <p:nvPr>
            <p:ph type="title"/>
          </p:nvPr>
        </p:nvSpPr>
        <p:spPr/>
        <p:txBody>
          <a:bodyPr/>
          <a:lstStyle/>
          <a:p>
            <a:r>
              <a:rPr lang="en-GB" dirty="0"/>
              <a:t>Working through paperwork - Advert</a:t>
            </a:r>
          </a:p>
        </p:txBody>
      </p:sp>
      <p:sp>
        <p:nvSpPr>
          <p:cNvPr id="3" name="Content Placeholder 2">
            <a:extLst>
              <a:ext uri="{FF2B5EF4-FFF2-40B4-BE49-F238E27FC236}">
                <a16:creationId xmlns:a16="http://schemas.microsoft.com/office/drawing/2014/main" id="{FDA62D98-0E19-4320-BE96-C5349A1666A1}"/>
              </a:ext>
            </a:extLst>
          </p:cNvPr>
          <p:cNvSpPr>
            <a:spLocks noGrp="1"/>
          </p:cNvSpPr>
          <p:nvPr>
            <p:ph idx="1"/>
          </p:nvPr>
        </p:nvSpPr>
        <p:spPr>
          <a:xfrm>
            <a:off x="739857" y="1344246"/>
            <a:ext cx="9404512" cy="4462654"/>
          </a:xfrm>
        </p:spPr>
        <p:txBody>
          <a:bodyPr>
            <a:noAutofit/>
          </a:bodyPr>
          <a:lstStyle/>
          <a:p>
            <a:r>
              <a:rPr lang="en-GB" sz="1400" dirty="0"/>
              <a:t>Small advert for putting online (your website or another organisations) or print if you wish.</a:t>
            </a:r>
          </a:p>
          <a:p>
            <a:r>
              <a:rPr lang="en-GB" sz="1400" dirty="0"/>
              <a:t>Purpose: to provide basic information on the recruitment requirement and a link for the Job Pack to be downloaded.</a:t>
            </a:r>
          </a:p>
          <a:p>
            <a:r>
              <a:rPr lang="en-GB" sz="1400" dirty="0"/>
              <a:t>This should ideally contain the following information:</a:t>
            </a:r>
          </a:p>
          <a:p>
            <a:pPr lvl="0"/>
            <a:r>
              <a:rPr lang="en-GB" sz="1400" dirty="0"/>
              <a:t>Logo and as much branding as possible</a:t>
            </a:r>
          </a:p>
          <a:p>
            <a:pPr lvl="0"/>
            <a:r>
              <a:rPr lang="en-GB" sz="1400" dirty="0"/>
              <a:t>Company name in full with website and social media details</a:t>
            </a:r>
          </a:p>
          <a:p>
            <a:pPr lvl="0"/>
            <a:r>
              <a:rPr lang="en-GB" sz="1400" dirty="0"/>
              <a:t>Paragraph of text similar to:</a:t>
            </a:r>
            <a:br>
              <a:rPr lang="en-GB" sz="1400" dirty="0"/>
            </a:br>
            <a:r>
              <a:rPr lang="en-GB" sz="1400" dirty="0"/>
              <a:t>We are looking to recruit a number of Non Exec Directors to the board of our social enterprise to support the next exciting stage of our business.</a:t>
            </a:r>
            <a:br>
              <a:rPr lang="en-GB" sz="1400" dirty="0"/>
            </a:br>
            <a:r>
              <a:rPr lang="en-GB" sz="1400" dirty="0"/>
              <a:t>We particularly want individuals with the following skills and experience to apply: xxx</a:t>
            </a:r>
          </a:p>
          <a:p>
            <a:r>
              <a:rPr lang="en-GB" sz="1400" dirty="0"/>
              <a:t>We are committed to diversity on our board and welcome applications from any individual who meets the job description and is interested in joining our organisation.</a:t>
            </a:r>
          </a:p>
          <a:p>
            <a:pPr lvl="0"/>
            <a:r>
              <a:rPr lang="en-GB" sz="1400" dirty="0"/>
              <a:t>Download our job pack here – weblink to single pdf document containing:</a:t>
            </a:r>
          </a:p>
          <a:p>
            <a:pPr lvl="1"/>
            <a:r>
              <a:rPr lang="en-GB" sz="1400" dirty="0"/>
              <a:t>Cover Sheet (branded with company name and NED Recruitment Job Pack or similar title</a:t>
            </a:r>
          </a:p>
          <a:p>
            <a:pPr lvl="1"/>
            <a:r>
              <a:rPr lang="en-GB" sz="1400" dirty="0"/>
              <a:t>Summary Sheet (as below)</a:t>
            </a:r>
          </a:p>
          <a:p>
            <a:pPr lvl="1"/>
            <a:r>
              <a:rPr lang="en-GB" sz="1400" dirty="0"/>
              <a:t>Job Description</a:t>
            </a:r>
          </a:p>
          <a:p>
            <a:pPr lvl="1"/>
            <a:r>
              <a:rPr lang="en-GB" sz="1400" dirty="0"/>
              <a:t>NED Code of Conduct </a:t>
            </a:r>
          </a:p>
          <a:p>
            <a:pPr lvl="0"/>
            <a:r>
              <a:rPr lang="en-GB" sz="1400" dirty="0"/>
              <a:t>For more information the current NED managing recruitment: email </a:t>
            </a:r>
          </a:p>
        </p:txBody>
      </p:sp>
    </p:spTree>
    <p:extLst>
      <p:ext uri="{BB962C8B-B14F-4D97-AF65-F5344CB8AC3E}">
        <p14:creationId xmlns:p14="http://schemas.microsoft.com/office/powerpoint/2010/main" val="3047891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0505-256B-49B2-B67C-9592A6B2DF4E}"/>
              </a:ext>
            </a:extLst>
          </p:cNvPr>
          <p:cNvSpPr>
            <a:spLocks noGrp="1"/>
          </p:cNvSpPr>
          <p:nvPr>
            <p:ph type="title"/>
          </p:nvPr>
        </p:nvSpPr>
        <p:spPr/>
        <p:txBody>
          <a:bodyPr>
            <a:normAutofit fontScale="90000"/>
          </a:bodyPr>
          <a:lstStyle/>
          <a:p>
            <a:r>
              <a:rPr lang="en-GB" dirty="0"/>
              <a:t>Working through paperwork – Summary Sheet </a:t>
            </a:r>
          </a:p>
        </p:txBody>
      </p:sp>
      <p:sp>
        <p:nvSpPr>
          <p:cNvPr id="3" name="Content Placeholder 2">
            <a:extLst>
              <a:ext uri="{FF2B5EF4-FFF2-40B4-BE49-F238E27FC236}">
                <a16:creationId xmlns:a16="http://schemas.microsoft.com/office/drawing/2014/main" id="{FDA62D98-0E19-4320-BE96-C5349A1666A1}"/>
              </a:ext>
            </a:extLst>
          </p:cNvPr>
          <p:cNvSpPr>
            <a:spLocks noGrp="1"/>
          </p:cNvSpPr>
          <p:nvPr>
            <p:ph idx="1"/>
          </p:nvPr>
        </p:nvSpPr>
        <p:spPr/>
        <p:txBody>
          <a:bodyPr>
            <a:noAutofit/>
          </a:bodyPr>
          <a:lstStyle/>
          <a:p>
            <a:r>
              <a:rPr lang="en-GB" sz="1400" dirty="0"/>
              <a:t>This is the main cover sheet for the Job Pack and should have a series of paragraphs with the following type of information (personalised as appropriately to your organisation and its stage of development):</a:t>
            </a:r>
          </a:p>
          <a:p>
            <a:pPr lvl="0"/>
            <a:r>
              <a:rPr lang="en-GB" sz="1400" dirty="0"/>
              <a:t>Introduction to the company and its business now</a:t>
            </a:r>
          </a:p>
          <a:p>
            <a:pPr lvl="0"/>
            <a:r>
              <a:rPr lang="en-GB" sz="1400" dirty="0"/>
              <a:t>Historic highlights including some key numbers to reflect growth hopefully including impact too</a:t>
            </a:r>
          </a:p>
          <a:p>
            <a:pPr lvl="0"/>
            <a:r>
              <a:rPr lang="en-GB" sz="1400" dirty="0"/>
              <a:t>Future aims to inspire the new NEDs to join</a:t>
            </a:r>
          </a:p>
          <a:p>
            <a:pPr lvl="0"/>
            <a:r>
              <a:rPr lang="en-GB" sz="1400" dirty="0"/>
              <a:t>Brief description of what you are looking for in skills and experience</a:t>
            </a:r>
          </a:p>
          <a:p>
            <a:pPr lvl="0"/>
            <a:r>
              <a:rPr lang="en-GB" sz="1400" dirty="0"/>
              <a:t>Application process including:</a:t>
            </a:r>
          </a:p>
          <a:p>
            <a:pPr lvl="1"/>
            <a:r>
              <a:rPr lang="en-GB" sz="1400" dirty="0"/>
              <a:t>More information or discussion contact current NED managing recruitment: </a:t>
            </a:r>
          </a:p>
          <a:p>
            <a:pPr lvl="1"/>
            <a:r>
              <a:rPr lang="en-GB" sz="1400" dirty="0"/>
              <a:t>Send your application containing a CV and a cover letter with your reasons for wanting to join the company’s board and how your skills and experience meet the requirements expressed in this pack to current NED managing recruitment: </a:t>
            </a:r>
          </a:p>
          <a:p>
            <a:pPr lvl="1"/>
            <a:r>
              <a:rPr lang="en-GB" sz="1400" dirty="0"/>
              <a:t>Applications close midnight on date</a:t>
            </a:r>
          </a:p>
          <a:p>
            <a:pPr lvl="1"/>
            <a:r>
              <a:rPr lang="en-GB" sz="1400" dirty="0"/>
              <a:t>Invitations for interview sent by date</a:t>
            </a:r>
          </a:p>
          <a:p>
            <a:pPr lvl="1"/>
            <a:r>
              <a:rPr lang="en-GB" sz="1400" dirty="0"/>
              <a:t>Interviews in venue on dates (give choice)</a:t>
            </a:r>
          </a:p>
          <a:p>
            <a:pPr lvl="1"/>
            <a:r>
              <a:rPr lang="en-GB" sz="1400" dirty="0"/>
              <a:t>First board meeting and induction where and when</a:t>
            </a:r>
          </a:p>
        </p:txBody>
      </p:sp>
    </p:spTree>
    <p:extLst>
      <p:ext uri="{BB962C8B-B14F-4D97-AF65-F5344CB8AC3E}">
        <p14:creationId xmlns:p14="http://schemas.microsoft.com/office/powerpoint/2010/main" val="1700153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B0D3-998D-48BF-830E-7B4061A833C3}"/>
              </a:ext>
            </a:extLst>
          </p:cNvPr>
          <p:cNvSpPr>
            <a:spLocks noGrp="1"/>
          </p:cNvSpPr>
          <p:nvPr>
            <p:ph type="title"/>
          </p:nvPr>
        </p:nvSpPr>
        <p:spPr/>
        <p:txBody>
          <a:bodyPr>
            <a:normAutofit fontScale="90000"/>
          </a:bodyPr>
          <a:lstStyle/>
          <a:p>
            <a:r>
              <a:rPr lang="en-GB" dirty="0"/>
              <a:t>Working through paperwork </a:t>
            </a:r>
            <a:br>
              <a:rPr lang="en-GB" dirty="0"/>
            </a:br>
            <a:endParaRPr lang="en-GB" dirty="0"/>
          </a:p>
        </p:txBody>
      </p:sp>
      <p:sp>
        <p:nvSpPr>
          <p:cNvPr id="3" name="Content Placeholder 2">
            <a:extLst>
              <a:ext uri="{FF2B5EF4-FFF2-40B4-BE49-F238E27FC236}">
                <a16:creationId xmlns:a16="http://schemas.microsoft.com/office/drawing/2014/main" id="{F8FCB595-6E38-44C5-AD6E-60EDF6D62881}"/>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884971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B0D3-998D-48BF-830E-7B4061A833C3}"/>
              </a:ext>
            </a:extLst>
          </p:cNvPr>
          <p:cNvSpPr>
            <a:spLocks noGrp="1"/>
          </p:cNvSpPr>
          <p:nvPr>
            <p:ph type="title"/>
          </p:nvPr>
        </p:nvSpPr>
        <p:spPr/>
        <p:txBody>
          <a:bodyPr>
            <a:normAutofit fontScale="90000"/>
          </a:bodyPr>
          <a:lstStyle/>
          <a:p>
            <a:r>
              <a:rPr lang="en-GB" dirty="0"/>
              <a:t>QUESTIONS</a:t>
            </a:r>
            <a:br>
              <a:rPr lang="en-GB" dirty="0"/>
            </a:br>
            <a:endParaRPr lang="en-GB" dirty="0"/>
          </a:p>
        </p:txBody>
      </p:sp>
      <p:sp>
        <p:nvSpPr>
          <p:cNvPr id="3" name="Content Placeholder 2">
            <a:extLst>
              <a:ext uri="{FF2B5EF4-FFF2-40B4-BE49-F238E27FC236}">
                <a16:creationId xmlns:a16="http://schemas.microsoft.com/office/drawing/2014/main" id="{F8FCB595-6E38-44C5-AD6E-60EDF6D62881}"/>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66245787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48c2b2d-6726-49e7-93dd-88027be68ace">
      <Terms xmlns="http://schemas.microsoft.com/office/infopath/2007/PartnerControls"/>
    </lcf76f155ced4ddcb4097134ff3c332f>
    <BriefDescription xmlns="648c2b2d-6726-49e7-93dd-88027be68ace" xsi:nil="true"/>
    <TaxCatchAll xmlns="73abfa4b-a0f2-4d12-ad9a-b145695fc677" xsi:nil="true"/>
    <BLOG_x002d_Collaboration xmlns="648c2b2d-6726-49e7-93dd-88027be68ace">https://www.unltd.org.uk/index.php/blog/insights/how-social-entrepreneurs-and-public-bodies-can-collaborate-for-success/</BLOG_x002d_Collaboration>
    <DateandTime xmlns="648c2b2d-6726-49e7-93dd-88027be68ac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50BE2B43B349348900C85168A22ADDF" ma:contentTypeVersion="20" ma:contentTypeDescription="Create a new document." ma:contentTypeScope="" ma:versionID="c885a1ea08d2077f24b01896d377f36e">
  <xsd:schema xmlns:xsd="http://www.w3.org/2001/XMLSchema" xmlns:xs="http://www.w3.org/2001/XMLSchema" xmlns:p="http://schemas.microsoft.com/office/2006/metadata/properties" xmlns:ns2="648c2b2d-6726-49e7-93dd-88027be68ace" xmlns:ns3="73abfa4b-a0f2-4d12-ad9a-b145695fc677" targetNamespace="http://schemas.microsoft.com/office/2006/metadata/properties" ma:root="true" ma:fieldsID="2e8c0b69ca1ff5acd7dd3b9eb192ba54" ns2:_="" ns3:_="">
    <xsd:import namespace="648c2b2d-6726-49e7-93dd-88027be68ace"/>
    <xsd:import namespace="73abfa4b-a0f2-4d12-ad9a-b145695fc67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ServiceLocation" minOccurs="0"/>
                <xsd:element ref="ns2:BriefDescription" minOccurs="0"/>
                <xsd:element ref="ns2:lcf76f155ced4ddcb4097134ff3c332f" minOccurs="0"/>
                <xsd:element ref="ns3:TaxCatchAll" minOccurs="0"/>
                <xsd:element ref="ns2:BLOG_x002d_Collaboration" minOccurs="0"/>
                <xsd:element ref="ns2:DateandTim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8c2b2d-6726-49e7-93dd-88027be68a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BriefDescription" ma:index="21" nillable="true" ma:displayName="Brief Description" ma:format="Dropdown" ma:internalName="BriefDescription">
      <xsd:simpleType>
        <xsd:restriction base="dms:Note">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a774ad2-e6c6-4558-b660-ba11975b7caa" ma:termSetId="09814cd3-568e-fe90-9814-8d621ff8fb84" ma:anchorId="fba54fb3-c3e1-fe81-a776-ca4b69148c4d" ma:open="true" ma:isKeyword="false">
      <xsd:complexType>
        <xsd:sequence>
          <xsd:element ref="pc:Terms" minOccurs="0" maxOccurs="1"/>
        </xsd:sequence>
      </xsd:complexType>
    </xsd:element>
    <xsd:element name="BLOG_x002d_Collaboration" ma:index="25" nillable="true" ma:displayName="BLOG - Collaboration" ma:default="https://www.unltd.org.uk/index.php/blog/insights/how-social-entrepreneurs-and-public-bodies-can-collaborate-for-success/" ma:format="Dropdown" ma:internalName="BLOG_x002d_Collaboration">
      <xsd:simpleType>
        <xsd:restriction base="dms:Text">
          <xsd:maxLength value="255"/>
        </xsd:restriction>
      </xsd:simpleType>
    </xsd:element>
    <xsd:element name="DateandTime" ma:index="26" nillable="true" ma:displayName="Date and Time" ma:format="DateOnly" ma:internalName="DateandTim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abfa4b-a0f2-4d12-ad9a-b145695fc67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9a90a36-b46c-4868-b5e6-64a30970f0ed}" ma:internalName="TaxCatchAll" ma:showField="CatchAllData" ma:web="73abfa4b-a0f2-4d12-ad9a-b145695fc6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A694F1-FCA7-499D-A27D-FA40A061E2C2}">
  <ds:schemaRefs>
    <ds:schemaRef ds:uri="http://purl.org/dc/dcmitype/"/>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purl.org/dc/terms/"/>
    <ds:schemaRef ds:uri="73abfa4b-a0f2-4d12-ad9a-b145695fc677"/>
    <ds:schemaRef ds:uri="648c2b2d-6726-49e7-93dd-88027be68ace"/>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8FBAE5C-5AC5-491E-A07A-DD5DDAC8F4F2}">
  <ds:schemaRefs>
    <ds:schemaRef ds:uri="http://schemas.microsoft.com/sharepoint/v3/contenttype/forms"/>
  </ds:schemaRefs>
</ds:datastoreItem>
</file>

<file path=customXml/itemProps3.xml><?xml version="1.0" encoding="utf-8"?>
<ds:datastoreItem xmlns:ds="http://schemas.openxmlformats.org/officeDocument/2006/customXml" ds:itemID="{9CC35831-519F-4EE1-BCC4-925AB7493CB9}"/>
</file>

<file path=docProps/app.xml><?xml version="1.0" encoding="utf-8"?>
<Properties xmlns="http://schemas.openxmlformats.org/officeDocument/2006/extended-properties" xmlns:vt="http://schemas.openxmlformats.org/officeDocument/2006/docPropsVTypes">
  <Template>Facet</Template>
  <TotalTime>395</TotalTime>
  <Words>8136</Words>
  <Application>Microsoft Office PowerPoint</Application>
  <PresentationFormat>Widescreen</PresentationFormat>
  <Paragraphs>479</Paragraphs>
  <Slides>37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Trebuchet MS</vt:lpstr>
      <vt:lpstr>Wingdings 3</vt:lpstr>
      <vt:lpstr>Facet</vt:lpstr>
      <vt:lpstr>Building your board and governance required</vt:lpstr>
      <vt:lpstr>The Plan</vt:lpstr>
      <vt:lpstr>Introductions &amp; expectations</vt:lpstr>
      <vt:lpstr>Housekeeping</vt:lpstr>
      <vt:lpstr>Chatham House Rule</vt:lpstr>
      <vt:lpstr>Engaging with professional advisors</vt:lpstr>
      <vt:lpstr>Entrepreneurs’ Multiple Roles</vt:lpstr>
      <vt:lpstr>Key business areas and related roles</vt:lpstr>
      <vt:lpstr>Organisational Parts </vt:lpstr>
      <vt:lpstr>Further control mechanisms</vt:lpstr>
      <vt:lpstr>l</vt:lpstr>
      <vt:lpstr>Incorporation </vt:lpstr>
      <vt:lpstr>These are irreversible decisions</vt:lpstr>
      <vt:lpstr>Social What?</vt:lpstr>
      <vt:lpstr>CLS social enterprises</vt:lpstr>
      <vt:lpstr>Companies limited by shares  Social Enterprises</vt:lpstr>
      <vt:lpstr>Social Badges</vt:lpstr>
      <vt:lpstr>Key terms </vt:lpstr>
      <vt:lpstr>Key definitions – Shares etc</vt:lpstr>
      <vt:lpstr>Key definitions - Members</vt:lpstr>
      <vt:lpstr>Key definitions – Boards etc</vt:lpstr>
      <vt:lpstr>More definitions – check your Articles</vt:lpstr>
      <vt:lpstr>BREAK</vt:lpstr>
      <vt:lpstr>Board essentials</vt:lpstr>
      <vt:lpstr>Key principles for directors</vt:lpstr>
      <vt:lpstr>Key themes for boards</vt:lpstr>
      <vt:lpstr>Directors’ duties </vt:lpstr>
      <vt:lpstr>Executive vs Non-Executive Directors</vt:lpstr>
      <vt:lpstr>Directors should have …</vt:lpstr>
      <vt:lpstr>Non Executive Directors are not </vt:lpstr>
      <vt:lpstr>Board meetings </vt:lpstr>
      <vt:lpstr>BREAK</vt:lpstr>
      <vt:lpstr>Policies and paperwork </vt:lpstr>
      <vt:lpstr>Working through paperwork - Advert</vt:lpstr>
      <vt:lpstr>Working through paperwork – Summary Sheet </vt:lpstr>
      <vt:lpstr>Working through paperwork  </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 Anderson</dc:creator>
  <cp:lastModifiedBy>Kyla Hall</cp:lastModifiedBy>
  <cp:revision>9</cp:revision>
  <dcterms:created xsi:type="dcterms:W3CDTF">2019-03-20T05:26:07Z</dcterms:created>
  <dcterms:modified xsi:type="dcterms:W3CDTF">2022-02-25T16:23:09Z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0x010100950BE2B43B349348900C85168A22ADDF</vt:lpwstr>
  </property>
  <property fmtid="{D5CDD505-2E9C-101B-9397-08002B2CF9AE}" pid="3" name="Order">
    <vt:r8>9107400</vt:r8>
  </property>
  <property fmtid="{D5CDD505-2E9C-101B-9397-08002B2CF9AE}" pid="4" name="MediaServiceImageTags">
    <vt:lpwstr/>
  </property>
</Properties>
</file>
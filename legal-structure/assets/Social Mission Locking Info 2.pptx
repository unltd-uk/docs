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70E"/>
    <a:srgbClr val="482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6CAB4-EF78-4C61-9A21-8EA50D5742B5}" v="533" dt="2020-04-23T10:24:55.910"/>
    <p1510:client id="{681EBC9C-3557-47C8-AA7D-E8BF8158FF64}" v="32" dt="2020-04-23T10:15:57.491"/>
    <p1510:client id="{DA34F8D4-5FC7-4570-93B0-FE8D53BA8F78}" v="2" dt="2020-04-23T11:01:10.827"/>
    <p1510:client id="{F96EA526-DCD8-4B56-8ADA-1EA23CA12BB8}" v="59" dt="2020-04-23T10:20:48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4B1E-135D-47CA-9193-B73B9C570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A7AF3-1315-4044-A44B-CFE213762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AE98-85DC-4E43-A833-26977D26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FCB68-B46B-443D-B3AF-37DD0832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5547-0A28-43A7-B1CD-9BCC51EB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42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D35E-9D91-4B54-9AA7-CBF311BC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C7F4-736D-44A1-8DD8-C8137533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6C32D-D2C1-49F8-A147-447BB1EE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B211-4FC9-45E8-9700-C863FDFE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DFED-6670-4DAB-B9DB-8D31D18A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1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0430-966F-4169-80E4-CEE050AD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C85E3-B2B8-41D8-87A0-B653FD155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B2BFF-04E3-40BD-830E-86041F1E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620B4-C545-42D4-9A6C-5E18CA7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09B37-F0C7-4065-9B37-4D45E2D8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10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E314-432A-4310-8BD8-6C5F92FA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83FB-A2DB-407E-8D4C-2ED6D5B2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AEB1F-6415-470D-BF83-F86AD096F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4896C-ADC7-4287-AF60-3BB68BC8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5F633-A6EC-417E-8692-C419753D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5FEDE-D2BC-4012-B602-2B598202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2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DFCA-BEC0-49A1-91AD-23C4CB2F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A2D5A-80D8-40E3-B762-25BCF512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6CC95-8062-419D-9339-A889DA194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88EC3-31AC-4E2E-9DAD-B804C7120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4A39C-6E51-4045-B96A-3F5E6289A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9092F-1F38-4019-97BC-DF9701C4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2304D-ADA1-46BF-8DC6-796106B6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28FF9-92AF-476C-979A-66AE3150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24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A46E-2BAF-4016-B3F6-0E9C0828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48C1B-5B32-4A0A-8A9E-BA345621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E845E-081C-4DB6-8412-784AAB6E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255AE-52CC-46BE-BB81-108B4E7B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63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ABD30-2DD1-447C-92F7-87FC610E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3E4-0596-4864-B783-8B2900D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1CDF-0895-48F5-9058-6FE1413D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74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82F8-B371-4224-896B-1777895F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0EDE-7A80-435C-91DC-2ECC5E56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2112C-5ADA-4D8C-BA39-7CC74A536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778F5-B208-4B5C-AB6E-7A13A303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B5D16-0B1F-4E9C-B5FC-F9A33486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53A21-5352-4CDC-A086-7F1D1A90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95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16EA-B283-4565-9FE9-2EDEFD49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9400B-B7E2-412A-ABF6-F91EB3B0B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40F3A-56CD-4B93-B8B9-B0B8575A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EC070-E0D9-424C-9F71-6F86AADB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0311B-CEAF-47DC-8CA4-1AF2816D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CE3B6-3EC6-490B-8046-2D85CCAC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76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0678-3D8F-4972-A79D-2340668A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E001A-A76F-4E75-A91E-D9FDA6845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970B-0568-4A4D-B774-02D35A54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A723-6457-4B54-BCA5-1438EF51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68890-7EBB-424C-A761-BE888C0E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02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F83CD-D98E-4210-852E-8990F34C4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C4341-B0EF-4C4A-A517-C1F317082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DC48-B7B4-4BF6-AEDE-EF8BC4F2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EB76-D15A-42CD-91ED-425C20CE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196B-36FA-444C-8846-9DF5DB0E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8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2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91EA1-797F-4CA8-80A6-EA0AE0E8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54D20-1524-4E0F-A1C2-F41376257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DFEAC-8300-4C27-957D-5F9420030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6815-5D5C-446C-A5DB-5CDB6895F761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C0C7-C32B-4CB2-8A0F-3B57775B6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BABF-7ABD-420B-8419-786E7D9D2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12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.publishing.service.gov.uk/government/uploads/system/uploads/attachment_data/file/605418/14-1089-community-interest-companies-chapter-6-the-asset-lock.pdf" TargetMode="External"/><Relationship Id="rId2" Type="http://schemas.openxmlformats.org/officeDocument/2006/relationships/hyperlink" Target="https://www.gov.uk/setting-up-charity/structur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tpurpose.ly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purpose.l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purpose.l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corporation.u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corporation.uk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DBEC-D410-454A-A20C-B84CCCD4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817" y="1131433"/>
            <a:ext cx="9566366" cy="993820"/>
          </a:xfrm>
        </p:spPr>
        <p:txBody>
          <a:bodyPr anchor="t">
            <a:normAutofit fontScale="90000"/>
          </a:bodyPr>
          <a:lstStyle/>
          <a:p>
            <a:r>
              <a:rPr lang="en-GB" sz="7200" b="1">
                <a:solidFill>
                  <a:srgbClr val="EC670E"/>
                </a:solidFill>
              </a:rPr>
              <a:t>Social Mission Locking 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209663E-DFCD-4C6A-B0A7-2B5D35608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FE29FD-B2D1-4A19-879A-8C11955A2C7C}"/>
              </a:ext>
            </a:extLst>
          </p:cNvPr>
          <p:cNvSpPr txBox="1"/>
          <p:nvPr/>
        </p:nvSpPr>
        <p:spPr>
          <a:xfrm>
            <a:off x="644013" y="2487560"/>
            <a:ext cx="1100229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solidFill>
                  <a:srgbClr val="FFFFFF"/>
                </a:solidFill>
                <a:cs typeface="Calibri"/>
              </a:rPr>
              <a:t>Topics covered:</a:t>
            </a:r>
          </a:p>
          <a:p>
            <a:endParaRPr lang="en-GB" sz="2800" b="1">
              <a:solidFill>
                <a:srgbClr val="FFFFFF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>
                <a:solidFill>
                  <a:srgbClr val="FFFFFF"/>
                </a:solidFill>
                <a:cs typeface="Calibri"/>
              </a:rPr>
              <a:t>Types of Mission Locks Available</a:t>
            </a:r>
          </a:p>
          <a:p>
            <a:pPr marL="285750" indent="-285750">
              <a:buFont typeface="Arial"/>
              <a:buChar char="•"/>
            </a:pPr>
            <a:r>
              <a:rPr lang="en-GB" sz="2800">
                <a:solidFill>
                  <a:srgbClr val="FFFFFF"/>
                </a:solidFill>
                <a:cs typeface="Calibri"/>
              </a:rPr>
              <a:t>Tools to Help You Create A Social Mission Lock</a:t>
            </a:r>
          </a:p>
          <a:p>
            <a:pPr marL="742950" lvl="1" indent="-285750">
              <a:buFont typeface="Arial"/>
              <a:buChar char="•"/>
            </a:pPr>
            <a:r>
              <a:rPr lang="en-GB" sz="2800">
                <a:solidFill>
                  <a:srgbClr val="FFFFFF"/>
                </a:solidFill>
                <a:cs typeface="Calibri"/>
              </a:rPr>
              <a:t>Purposely</a:t>
            </a:r>
          </a:p>
          <a:p>
            <a:pPr marL="742950" lvl="1" indent="-285750">
              <a:buFont typeface="Arial"/>
              <a:buChar char="•"/>
            </a:pPr>
            <a:r>
              <a:rPr lang="en-GB" sz="2800">
                <a:solidFill>
                  <a:srgbClr val="FFFFFF"/>
                </a:solidFill>
                <a:cs typeface="Calibri"/>
              </a:rPr>
              <a:t>B-Corp Certification </a:t>
            </a:r>
          </a:p>
          <a:p>
            <a:pPr marL="285750" indent="-285750">
              <a:buFont typeface="Arial"/>
              <a:buChar char="•"/>
            </a:pPr>
            <a:r>
              <a:rPr lang="en-GB" sz="2800">
                <a:solidFill>
                  <a:srgbClr val="FFFFFF"/>
                </a:solidFill>
                <a:cs typeface="Calibri"/>
              </a:rPr>
              <a:t>Slides and additional resources will be shared after the meeting.  For anything else speak to me or your support manager.</a:t>
            </a:r>
          </a:p>
          <a:p>
            <a:pPr marL="285750" indent="-285750">
              <a:buFont typeface="Arial"/>
              <a:buChar char="•"/>
            </a:pPr>
            <a:endParaRPr lang="en-GB" sz="2800">
              <a:solidFill>
                <a:srgbClr val="FFFFFF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302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>
                <a:solidFill>
                  <a:srgbClr val="EC670E"/>
                </a:solidFill>
              </a:rPr>
              <a:t>Types of Mission Locks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Charities (trusts, CIOs, Charitable Company) </a:t>
            </a:r>
          </a:p>
          <a:p>
            <a:pPr lvl="1"/>
            <a:r>
              <a:rPr lang="en-GB" sz="18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https://www.gov.uk/setting-up-charity/structures</a:t>
            </a:r>
            <a:endParaRPr lang="en-GB" sz="1800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Asset locks (CIC without share capital, CIC with share capital) </a:t>
            </a:r>
            <a:endParaRPr lang="en-GB">
              <a:solidFill>
                <a:schemeClr val="bg1"/>
              </a:solidFill>
              <a:cs typeface="Calibri"/>
            </a:endParaRPr>
          </a:p>
          <a:p>
            <a:pPr lvl="1"/>
            <a:r>
              <a:rPr lang="en-GB" sz="1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https://assets.publishing.service.gov.uk/government/uploads/system/uploads/attachment_data/file/605418/14-1089-community-interest-companies-chapter-6-the-asset-lock.pdf</a:t>
            </a:r>
            <a:endParaRPr lang="en-GB" sz="1800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Social Mission Locks (applicable to companies limited by guarantee and companies limited by share) </a:t>
            </a:r>
            <a:endParaRPr lang="en-GB">
              <a:solidFill>
                <a:schemeClr val="bg1"/>
              </a:solidFill>
              <a:cs typeface="Calibri"/>
            </a:endParaRPr>
          </a:p>
          <a:p>
            <a:pPr lvl="1"/>
            <a:r>
              <a:rPr lang="en-GB">
                <a:solidFill>
                  <a:schemeClr val="bg1"/>
                </a:solidFill>
              </a:rPr>
              <a:t>Social Purpose in Articles (e.g. B-Corps)</a:t>
            </a:r>
            <a:endParaRPr lang="en-GB">
              <a:solidFill>
                <a:schemeClr val="bg1"/>
              </a:solidFill>
              <a:cs typeface="Calibri"/>
            </a:endParaRPr>
          </a:p>
          <a:p>
            <a:pPr lvl="1"/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Golden Share / Redeemable Golden Share</a:t>
            </a:r>
            <a:endParaRPr lang="en-GB">
              <a:solidFill>
                <a:schemeClr val="bg1"/>
              </a:solidFill>
            </a:endParaRPr>
          </a:p>
          <a:p>
            <a:pPr lvl="1"/>
            <a:r>
              <a:rPr lang="en-GB">
                <a:solidFill>
                  <a:schemeClr val="bg1"/>
                </a:solidFill>
              </a:rPr>
              <a:t>Social Purpose in Articles Protected by Supermajority Clause</a:t>
            </a:r>
            <a:endParaRPr lang="en-GB">
              <a:solidFill>
                <a:schemeClr val="bg1"/>
              </a:solidFill>
              <a:cs typeface="Calibri"/>
            </a:endParaRPr>
          </a:p>
          <a:p>
            <a:endParaRPr lang="en-GB">
              <a:solidFill>
                <a:schemeClr val="bg1"/>
              </a:solidFill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9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8F75C-3096-4AE7-80BD-6ACB71F89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04" t="24641" r="52738" b="9610"/>
          <a:stretch/>
        </p:blipFill>
        <p:spPr>
          <a:xfrm>
            <a:off x="626094" y="159279"/>
            <a:ext cx="5370286" cy="653944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85E494-66F4-4F20-AFC4-D6525E095826}"/>
              </a:ext>
            </a:extLst>
          </p:cNvPr>
          <p:cNvSpPr txBox="1"/>
          <p:nvPr/>
        </p:nvSpPr>
        <p:spPr>
          <a:xfrm>
            <a:off x="6511636" y="484908"/>
            <a:ext cx="50542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Once you’ve decided on what your social mission statement and operational commitment is you can “lock” them in place through the methods to the left</a:t>
            </a:r>
          </a:p>
        </p:txBody>
      </p:sp>
    </p:spTree>
    <p:extLst>
      <p:ext uri="{BB962C8B-B14F-4D97-AF65-F5344CB8AC3E}">
        <p14:creationId xmlns:p14="http://schemas.microsoft.com/office/powerpoint/2010/main" val="175434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81841C-5F9E-477E-9454-07D9C2BCF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4712" y="1599978"/>
            <a:ext cx="7739489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</p:spTree>
    <p:extLst>
      <p:ext uri="{BB962C8B-B14F-4D97-AF65-F5344CB8AC3E}">
        <p14:creationId xmlns:p14="http://schemas.microsoft.com/office/powerpoint/2010/main" val="36328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0AA0D1-DFC3-4CE1-94B4-E6F78488B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9702" t="31094" r="9495" b="12867"/>
          <a:stretch/>
        </p:blipFill>
        <p:spPr>
          <a:xfrm>
            <a:off x="4399077" y="1690688"/>
            <a:ext cx="7315200" cy="285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4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3082E-A2AA-4DC9-B9CB-A472F12751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147" t="19456" r="28993" b="20272"/>
          <a:stretch/>
        </p:blipFill>
        <p:spPr>
          <a:xfrm>
            <a:off x="4905828" y="1455972"/>
            <a:ext cx="5617029" cy="45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3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72928"/>
            <a:ext cx="4882807" cy="50149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bg1"/>
                </a:solidFill>
              </a:rPr>
              <a:t>B-Corps</a:t>
            </a:r>
          </a:p>
          <a:p>
            <a:pPr marL="0" indent="0">
              <a:buNone/>
            </a:pPr>
            <a:r>
              <a:rPr lang="en-GB" sz="2000">
                <a:solidFill>
                  <a:schemeClr val="bg1"/>
                </a:solidFill>
              </a:rPr>
              <a:t>B Corp Certification doesn’t just evaluate a product or service; it assesses the overall positive impact of the company that stands behind it. </a:t>
            </a:r>
          </a:p>
          <a:p>
            <a:pPr marL="0" indent="0">
              <a:buNone/>
            </a:pPr>
            <a:r>
              <a:rPr lang="en-GB" sz="2000">
                <a:solidFill>
                  <a:schemeClr val="bg1"/>
                </a:solidFill>
              </a:rPr>
              <a:t>Certified B Corporations achieve a minimum verified score on the B Impact Assessment and make their B Impact Report transparent on bcorporation.net. Certified B Corporations amend their legal governing documents to require their board of directors to balance profit and purpose.</a:t>
            </a:r>
          </a:p>
          <a:p>
            <a:pPr marL="0" indent="0">
              <a:buNone/>
            </a:pPr>
            <a:r>
              <a:rPr lang="en-GB" sz="2000">
                <a:solidFill>
                  <a:schemeClr val="bg1"/>
                </a:solidFill>
              </a:rPr>
              <a:t>The combination of third-party validation, public transparency, and legal accountability help Certified B Corps build trust and value. B Corp Certification is administered by the non-profit B Lab.</a:t>
            </a:r>
          </a:p>
          <a:p>
            <a:pPr marL="0" indent="0">
              <a:buNone/>
            </a:pPr>
            <a:r>
              <a:rPr lang="en-GB" sz="20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https://bcorporation.uk/</a:t>
            </a:r>
            <a:endParaRPr lang="en-GB" sz="2000">
              <a:solidFill>
                <a:schemeClr val="bg1"/>
              </a:solidFill>
            </a:endParaRPr>
          </a:p>
          <a:p>
            <a:endParaRPr lang="en-GB" sz="2000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846C3B-5380-440E-B832-6C013A569261}"/>
              </a:ext>
            </a:extLst>
          </p:cNvPr>
          <p:cNvSpPr txBox="1">
            <a:spLocks/>
          </p:cNvSpPr>
          <p:nvPr/>
        </p:nvSpPr>
        <p:spPr>
          <a:xfrm>
            <a:off x="608351" y="1473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E776B7-3D05-40DB-AF0C-FEE68D651F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43" t="28984" r="25952" b="7535"/>
          <a:stretch/>
        </p:blipFill>
        <p:spPr>
          <a:xfrm>
            <a:off x="5330370" y="1472927"/>
            <a:ext cx="602343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3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72928"/>
            <a:ext cx="4882807" cy="50149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2000" b="1">
                <a:solidFill>
                  <a:srgbClr val="FFFFFF"/>
                </a:solidFill>
              </a:rPr>
              <a:t>Note on B-Corps:</a:t>
            </a:r>
          </a:p>
          <a:p>
            <a:r>
              <a:rPr lang="en-GB" sz="2000">
                <a:solidFill>
                  <a:srgbClr val="FFFFFF"/>
                </a:solidFill>
              </a:rPr>
              <a:t>Whilst this public transparency and commitment to B-Corp certification does demonstrate an operational commitment the “lock” it provides is most similar to a “social purpose statement” in the articles and isn’t “locked” against any resolutions/assets within a company’s articles</a:t>
            </a:r>
            <a:endParaRPr lang="en-GB" sz="2000">
              <a:solidFill>
                <a:srgbClr val="FFFFFF"/>
              </a:solidFill>
              <a:cs typeface="Calibri"/>
            </a:endParaRPr>
          </a:p>
          <a:p>
            <a:r>
              <a:rPr lang="en-GB" sz="2000">
                <a:solidFill>
                  <a:srgbClr val="FFFFFF"/>
                </a:solidFill>
              </a:rPr>
              <a:t>Charities can’t be B-Corps</a:t>
            </a:r>
          </a:p>
          <a:p>
            <a:r>
              <a:rPr lang="en-GB" sz="2000">
                <a:solidFill>
                  <a:srgbClr val="FFFFFF"/>
                </a:solidFill>
              </a:rPr>
              <a:t>The assessment process is free to do and very rigorous but is a very helpful process that provides an audit to the business</a:t>
            </a:r>
          </a:p>
          <a:p>
            <a:r>
              <a:rPr lang="en-GB" sz="2000">
                <a:solidFill>
                  <a:srgbClr val="FFFFFF"/>
                </a:solidFill>
              </a:rPr>
              <a:t>There is a sign-up fee</a:t>
            </a:r>
          </a:p>
          <a:p>
            <a:r>
              <a:rPr lang="en-GB" sz="2000">
                <a:solidFill>
                  <a:srgbClr val="FFFFFF"/>
                </a:solidFill>
              </a:rPr>
              <a:t>Website is very helpful: </a:t>
            </a:r>
            <a:r>
              <a:rPr lang="en-GB" sz="20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https://bcorporation.uk/</a:t>
            </a:r>
            <a:endParaRPr lang="en-GB" sz="2000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846C3B-5380-440E-B832-6C013A569261}"/>
              </a:ext>
            </a:extLst>
          </p:cNvPr>
          <p:cNvSpPr txBox="1">
            <a:spLocks/>
          </p:cNvSpPr>
          <p:nvPr/>
        </p:nvSpPr>
        <p:spPr>
          <a:xfrm>
            <a:off x="608351" y="1473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7E9743-F8A6-41DA-A18E-6CF05A9EAA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6" t="27795" r="5237" b="6695"/>
          <a:stretch/>
        </p:blipFill>
        <p:spPr>
          <a:xfrm>
            <a:off x="5316662" y="1658196"/>
            <a:ext cx="6178087" cy="24473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EA7763-0C55-44D5-8064-FFC8332F04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435" r="3104" b="10245"/>
          <a:stretch/>
        </p:blipFill>
        <p:spPr>
          <a:xfrm>
            <a:off x="5316662" y="4105578"/>
            <a:ext cx="6178087" cy="16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1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505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Social Mission Locking </vt:lpstr>
      <vt:lpstr>Types of Mission Locks </vt:lpstr>
      <vt:lpstr>PowerPoint Presentation</vt:lpstr>
      <vt:lpstr>Tools to Help You Create A Social Mission Lock</vt:lpstr>
      <vt:lpstr>Tools to Help You Create A Social Mission Lock</vt:lpstr>
      <vt:lpstr>Tools to Help You Create A Social Mission Lock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Lages</dc:creator>
  <cp:lastModifiedBy>Tim Lages</cp:lastModifiedBy>
  <cp:revision>2</cp:revision>
  <dcterms:created xsi:type="dcterms:W3CDTF">2020-03-27T09:48:44Z</dcterms:created>
  <dcterms:modified xsi:type="dcterms:W3CDTF">2020-10-15T09:16:43Z</dcterms:modified>
</cp:coreProperties>
</file>
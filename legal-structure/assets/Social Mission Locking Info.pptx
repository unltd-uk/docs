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1" r:id="rId4"/>
    <p:sldId id="262" r:id="rId5"/>
    <p:sldId id="263" r:id="rId6"/>
    <p:sldId id="264" r:id="rId7"/>
    <p:sldId id="265" r:id="rId8"/>
    <p:sldId id="266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670E"/>
    <a:srgbClr val="48266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>
        <p:scale>
          <a:sx n="75" d="100"/>
          <a:sy n="75" d="100"/>
        </p:scale>
        <p:origin x="540" y="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D4B1E-135D-47CA-9193-B73B9C5701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FA7AF3-1315-4044-A44B-CFE2137623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56AE98-85DC-4E43-A833-26977D261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FCB68-B46B-443D-B3AF-37DD0832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045547-0A28-43A7-B1CD-9BCC51EB8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8424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D35E-9D91-4B54-9AA7-CBF311BCD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32C7F4-736D-44A1-8DD8-C8137533F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26C32D-D2C1-49F8-A147-447BB1EE6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B3B211-4FC9-45E8-9700-C863FDFE2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BDFED-6670-4DAB-B9DB-8D31D18A0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4613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20430-966F-4169-80E4-CEE050AD4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C85E3-B2B8-41D8-87A0-B653FD155D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DB2BFF-04E3-40BD-830E-86041F1E41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A620B4-C545-42D4-9A6C-5E18CA7D6A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909B37-F0C7-4065-9B37-4D45E2D85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3103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1BE314-432A-4310-8BD8-6C5F92FA5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183FB-A2DB-407E-8D4C-2ED6D5B2F3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8AEB1F-6415-470D-BF83-F86AD096FD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4896C-ADC7-4287-AF60-3BB68BC82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F5F633-A6EC-417E-8692-C419753D7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15FEDE-D2BC-4012-B602-2B598202A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25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1DFCA-BEC0-49A1-91AD-23C4CB2F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AA2D5A-80D8-40E3-B762-25BCF5122D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26CC95-8062-419D-9339-A889DA1943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288EC3-31AC-4E2E-9DAD-B804C712044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D44A39C-6E51-4045-B96A-3F5E6289AD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9092F-1F38-4019-97BC-DF9701C4E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E2304D-ADA1-46BF-8DC6-796106B6D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228FF9-92AF-476C-979A-66AE31505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23244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2A46E-2BAF-4016-B3F6-0E9C0828C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F48C1B-5B32-4A0A-8A9E-BA3456211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AE845E-081C-4DB6-8412-784AAB6E4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A255AE-52CC-46BE-BB81-108B4E7B2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73634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0ABD30-2DD1-447C-92F7-87FC610E4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3333E4-0596-4864-B783-8B2900D3A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571CDF-0895-48F5-9058-6FE1413D84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6748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D82F8-B371-4224-896B-1777895F1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050EDE-7A80-435C-91DC-2ECC5E56C2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D2112C-5ADA-4D8C-BA39-7CC74A5368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D778F5-B208-4B5C-AB6E-7A13A303B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9B5D16-0B1F-4E9C-B5FC-F9A334862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253A21-5352-4CDC-A086-7F1D1A909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2950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216EA-B283-4565-9FE9-2EDEFD49D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59400B-B7E2-412A-ABF6-F91EB3B0BD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940F3A-56CD-4B93-B8B9-B0B8575AF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5EC070-E0D9-424C-9F71-6F86AADBC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E40311B-CEAF-47DC-8CA4-1AF2816DE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0CE3B6-3EC6-490B-8046-2D85CCAC6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3764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90678-3D8F-4972-A79D-2340668AA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E001A-A76F-4E75-A91E-D9FDA6845B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1970B-0568-4A4D-B774-02D35A5466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C7A723-6457-4B54-BCA5-1438EF5188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368890-7EBB-424C-A761-BE888C0EE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7029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FF83CD-D98E-4210-852E-8990F34C4B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3C4341-B0EF-4C4A-A517-C1F317082F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F5DC48-B7B4-4BF6-AEDE-EF8BC4F237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1DEB76-D15A-42CD-91ED-425C20CE6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34196B-36FA-444C-8846-9DF5DB0E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8680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826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791EA1-797F-4CA8-80A6-EA0AE0E87E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354D20-1524-4E0F-A1C2-F41376257E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DFEAC-8300-4C27-957D-5F94200309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276815-5D5C-446C-A5DB-5CDB6895F761}" type="datetimeFigureOut">
              <a:rPr lang="en-GB" smtClean="0"/>
              <a:t>23/04/2020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0C0C7-C32B-4CB2-8A0F-3B57775B6A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AABABF-7ABD-420B-8419-786E7D9D2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AF283B-E3F5-47CF-B8EA-F1B8862867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8129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assets.publishing.service.gov.uk/government/uploads/system/uploads/attachment_data/file/605418/14-1089-community-interest-companies-chapter-6-the-asset-lock.pdf" TargetMode="External"/><Relationship Id="rId2" Type="http://schemas.openxmlformats.org/officeDocument/2006/relationships/hyperlink" Target="https://www.gov.uk/setting-up-charity/structur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etpurpose.ly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etpurpose.l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etpurpose.ly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corporation.uk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corporation.uk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5DBEC-D410-454A-A20C-B84CCCD4B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2817" y="2262142"/>
            <a:ext cx="9566366" cy="993820"/>
          </a:xfrm>
        </p:spPr>
        <p:txBody>
          <a:bodyPr anchor="t">
            <a:normAutofit fontScale="90000"/>
          </a:bodyPr>
          <a:lstStyle/>
          <a:p>
            <a:r>
              <a:rPr lang="en-GB" sz="7200" b="1" dirty="0">
                <a:solidFill>
                  <a:srgbClr val="EC670E"/>
                </a:solidFill>
              </a:rPr>
              <a:t>Social Mission Locking 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513C278A-B98D-4AFE-9292-923FD4182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3209663E-DFCD-4C6A-B0A7-2B5D356087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027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>
                <a:solidFill>
                  <a:srgbClr val="EC670E"/>
                </a:solidFill>
              </a:rPr>
              <a:t>Types of Mission Locks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72928"/>
            <a:ext cx="10515600" cy="4351338"/>
          </a:xfrm>
        </p:spPr>
        <p:txBody>
          <a:bodyPr/>
          <a:lstStyle/>
          <a:p>
            <a:r>
              <a:rPr lang="en-GB" dirty="0">
                <a:solidFill>
                  <a:schemeClr val="bg1"/>
                </a:solidFill>
              </a:rPr>
              <a:t>Charities (trusts, CIOs, Charitable Company) </a:t>
            </a:r>
          </a:p>
          <a:p>
            <a:pPr lvl="1"/>
            <a:r>
              <a:rPr lang="en-GB" sz="18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https://www.gov.uk/setting-up-charity/structures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Asset locks (CIC without share capital, CIC with share capital) </a:t>
            </a:r>
          </a:p>
          <a:p>
            <a:pPr lvl="1"/>
            <a:r>
              <a:rPr lang="en-GB" sz="1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https://assets.publishing.service.gov.uk/government/uploads/system/uploads/attachment_data/file/605418/14-1089-community-interest-companies-chapter-6-the-asset-lock.pdf</a:t>
            </a:r>
            <a:endParaRPr lang="en-GB" sz="1800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Social Mission Locks (applicable to companies limited by guarantee and companies limited by share) 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Golden Share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Social Purpose in Articles (e.g. B-Corps)</a:t>
            </a:r>
          </a:p>
          <a:p>
            <a:pPr lvl="1"/>
            <a:r>
              <a:rPr lang="en-GB" dirty="0">
                <a:solidFill>
                  <a:schemeClr val="bg1"/>
                </a:solidFill>
              </a:rPr>
              <a:t>Social Purpose in Articles Protected by Supermajority Clause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endParaRPr lang="en-GB" dirty="0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0095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398F75C-3096-4AE7-80BD-6ACB71F8934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904" t="24641" r="52738" b="9610"/>
          <a:stretch/>
        </p:blipFill>
        <p:spPr>
          <a:xfrm>
            <a:off x="3410857" y="159279"/>
            <a:ext cx="5370286" cy="6539441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7543483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F81841C-5F9E-477E-9454-07D9C2BCF4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214712" y="1599978"/>
            <a:ext cx="7739489" cy="4351338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</p:spTree>
    <p:extLst>
      <p:ext uri="{BB962C8B-B14F-4D97-AF65-F5344CB8AC3E}">
        <p14:creationId xmlns:p14="http://schemas.microsoft.com/office/powerpoint/2010/main" val="3632874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00AA0D1-DFC3-4CE1-94B4-E6F78488B36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4"/>
          <a:srcRect l="9702" t="31094" r="9495" b="12867"/>
          <a:stretch/>
        </p:blipFill>
        <p:spPr>
          <a:xfrm>
            <a:off x="4399077" y="1690688"/>
            <a:ext cx="7315200" cy="2852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840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6E57-793A-4B02-BB4E-0B235682D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723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03BE42C1-F8D5-4E1B-A2D3-835632A542B6}"/>
              </a:ext>
            </a:extLst>
          </p:cNvPr>
          <p:cNvSpPr/>
          <p:nvPr/>
        </p:nvSpPr>
        <p:spPr>
          <a:xfrm>
            <a:off x="529057" y="3937457"/>
            <a:ext cx="32119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</a:t>
            </a:r>
            <a:r>
              <a:rPr lang="en-GB" sz="28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getpurpose</a:t>
            </a:r>
            <a:r>
              <a:rPr lang="en-GB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.ly/</a:t>
            </a:r>
            <a:endParaRPr lang="en-GB" sz="2400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10AC44-A437-4086-A634-88CF0B5018EF}"/>
              </a:ext>
            </a:extLst>
          </p:cNvPr>
          <p:cNvSpPr txBox="1"/>
          <p:nvPr/>
        </p:nvSpPr>
        <p:spPr>
          <a:xfrm>
            <a:off x="529057" y="1690688"/>
            <a:ext cx="3423907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>
                <a:solidFill>
                  <a:schemeClr val="bg1"/>
                </a:solidFill>
              </a:rPr>
              <a:t>The “Purposely” tool can help you create a social mission lock within a company limited by shares. 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813082E-A2AA-4DC9-B9CB-A472F127516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9147" t="19456" r="28993" b="20272"/>
          <a:stretch/>
        </p:blipFill>
        <p:spPr>
          <a:xfrm>
            <a:off x="4905828" y="1455972"/>
            <a:ext cx="5617029" cy="454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7033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72928"/>
            <a:ext cx="4882807" cy="501495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bg1"/>
                </a:solidFill>
              </a:rPr>
              <a:t>B-Corps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B Corp Certification doesn’t just evaluate a product or service; it assesses the overall positive impact of the company that stands behind it.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Certified B Corporations achieve a minimum verified score on the B Impact Assessment and make their B Impact Report transparent on bcorporation.net. Certified B Corporations amend their legal governing documents to require their board of directors to balance profit and purpose.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</a:rPr>
              <a:t>The combination of third-party validation, public transparency, and legal accountability help Certified B Corps build trust and value. B Corp Certification is administered by the non-profit B Lab.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https://bcorporation.uk/</a:t>
            </a:r>
            <a:endParaRPr lang="en-GB" sz="2000" dirty="0">
              <a:solidFill>
                <a:schemeClr val="bg1"/>
              </a:solidFill>
            </a:endParaRPr>
          </a:p>
          <a:p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846C3B-5380-440E-B832-6C013A569261}"/>
              </a:ext>
            </a:extLst>
          </p:cNvPr>
          <p:cNvSpPr txBox="1">
            <a:spLocks/>
          </p:cNvSpPr>
          <p:nvPr/>
        </p:nvSpPr>
        <p:spPr>
          <a:xfrm>
            <a:off x="608351" y="1473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E776B7-3D05-40DB-AF0C-FEE68D651F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4643" t="28984" r="25952" b="7535"/>
          <a:stretch/>
        </p:blipFill>
        <p:spPr>
          <a:xfrm>
            <a:off x="5330370" y="1472927"/>
            <a:ext cx="6023430" cy="4351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2036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574573-877C-421B-B54D-07DA1CE0B3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714" y="1472928"/>
            <a:ext cx="4882807" cy="501495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b="1" dirty="0">
                <a:solidFill>
                  <a:schemeClr val="bg1"/>
                </a:solidFill>
              </a:rPr>
              <a:t>Note on B-Corps:</a:t>
            </a:r>
          </a:p>
          <a:p>
            <a:r>
              <a:rPr lang="en-GB" sz="2000" dirty="0">
                <a:solidFill>
                  <a:schemeClr val="bg1"/>
                </a:solidFill>
              </a:rPr>
              <a:t>Whilst this public transparency and commitment with B-Corps certification does demonstrate an operational commitment the “lock” it provides is most similar to a “social purpose statement” in the articles and isn’t “locked” against any resolutions with a company’s articles</a:t>
            </a:r>
          </a:p>
          <a:p>
            <a:r>
              <a:rPr lang="en-GB" sz="2000" dirty="0">
                <a:solidFill>
                  <a:schemeClr val="bg1"/>
                </a:solidFill>
              </a:rPr>
              <a:t>Charities can’t be B-Corps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 assessment process is free to do and very rigorous but is a very helpful process that provides an audit to the business</a:t>
            </a:r>
          </a:p>
          <a:p>
            <a:r>
              <a:rPr lang="en-GB" sz="2000" dirty="0">
                <a:solidFill>
                  <a:schemeClr val="bg1"/>
                </a:solidFill>
              </a:rPr>
              <a:t>There is a sign-up fee</a:t>
            </a:r>
          </a:p>
          <a:p>
            <a:r>
              <a:rPr lang="en-GB" sz="2000" dirty="0">
                <a:solidFill>
                  <a:schemeClr val="bg1"/>
                </a:solidFill>
              </a:rPr>
              <a:t>Website is very helpful: </a:t>
            </a:r>
            <a:r>
              <a:rPr lang="en-GB" sz="20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https://bcorporation.uk/</a:t>
            </a:r>
            <a:endParaRPr lang="en-GB" sz="2000" dirty="0">
              <a:solidFill>
                <a:schemeClr val="bg1"/>
              </a:solidFill>
            </a:endParaRPr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780A55EC-63E3-4937-B10C-4C6F30CDEF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70698" y="5951316"/>
            <a:ext cx="2445251" cy="90668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10846C3B-5380-440E-B832-6C013A569261}"/>
              </a:ext>
            </a:extLst>
          </p:cNvPr>
          <p:cNvSpPr txBox="1">
            <a:spLocks/>
          </p:cNvSpPr>
          <p:nvPr/>
        </p:nvSpPr>
        <p:spPr>
          <a:xfrm>
            <a:off x="608351" y="14736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>
                <a:solidFill>
                  <a:srgbClr val="EC670E"/>
                </a:solidFill>
              </a:rPr>
              <a:t>Tools to Help You Create A Social Mission Lock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7E9743-F8A6-41DA-A18E-6CF05A9EAA1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786" t="27795" r="5237" b="6695"/>
          <a:stretch/>
        </p:blipFill>
        <p:spPr>
          <a:xfrm>
            <a:off x="5316662" y="1658196"/>
            <a:ext cx="6178087" cy="24473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0EA7763-0C55-44D5-8064-FFC8332F047B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43435" r="3104" b="10245"/>
          <a:stretch/>
        </p:blipFill>
        <p:spPr>
          <a:xfrm>
            <a:off x="5316662" y="4105578"/>
            <a:ext cx="6178087" cy="1660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10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430</Words>
  <Application>Microsoft Office PowerPoint</Application>
  <PresentationFormat>Widescreen</PresentationFormat>
  <Paragraphs>32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Social Mission Locking </vt:lpstr>
      <vt:lpstr>Types of Mission Locks </vt:lpstr>
      <vt:lpstr>PowerPoint Presentation</vt:lpstr>
      <vt:lpstr>Tools to Help You Create A Social Mission Lock</vt:lpstr>
      <vt:lpstr>Tools to Help You Create A Social Mission Lock</vt:lpstr>
      <vt:lpstr>Tools to Help You Create A Social Mission Lock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Tim Lages</dc:creator>
  <cp:lastModifiedBy>Tim Lages</cp:lastModifiedBy>
  <cp:revision>29</cp:revision>
  <dcterms:created xsi:type="dcterms:W3CDTF">2020-03-27T09:48:44Z</dcterms:created>
  <dcterms:modified xsi:type="dcterms:W3CDTF">2020-04-23T09:13:37Z</dcterms:modified>
</cp:coreProperties>
</file>
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504" r:id="rId4"/>
    <p:sldId id="282" r:id="rId5"/>
    <p:sldId id="506" r:id="rId6"/>
    <p:sldId id="513" r:id="rId7"/>
    <p:sldId id="515" r:id="rId8"/>
    <p:sldId id="516" r:id="rId9"/>
    <p:sldId id="514" r:id="rId10"/>
    <p:sldId id="512" r:id="rId11"/>
    <p:sldId id="517" r:id="rId12"/>
    <p:sldId id="518" r:id="rId13"/>
    <p:sldId id="5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298"/>
    <a:srgbClr val="462565"/>
    <a:srgbClr val="EC6607"/>
    <a:srgbClr val="606A79"/>
    <a:srgbClr val="75797F"/>
    <a:srgbClr val="878E9A"/>
    <a:srgbClr val="829AA4"/>
    <a:srgbClr val="472665"/>
    <a:srgbClr val="452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90" autoAdjust="0"/>
    <p:restoredTop sz="75088" autoAdjust="0"/>
  </p:normalViewPr>
  <p:slideViewPr>
    <p:cSldViewPr snapToGrid="0" snapToObjects="1">
      <p:cViewPr varScale="1">
        <p:scale>
          <a:sx n="85" d="100"/>
          <a:sy n="85" d="100"/>
        </p:scale>
        <p:origin x="12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40F94-343E-4EFF-9040-8FAD3BC85EDC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9BC49-B48B-473F-AE99-44899C096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4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9BC49-B48B-473F-AE99-44899C09676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86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9BC49-B48B-473F-AE99-44899C09676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96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7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1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9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7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6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7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3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26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62AA-82ED-4AF1-9E8B-38BA0D2A8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67D19-E775-4F4B-9D36-BBE187641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D2FB7-1D06-4941-8589-2364C0BC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C55E-AFDC-4853-9044-AA043756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3F0AD-5CC6-4538-ADCC-082E09FE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993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3EF3-2ED1-40DA-9CD8-07ABBA0E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D1DBF-134D-4DA1-A8E8-530BB8EBF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862B0-7B12-4803-B640-B3746F87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5B12-B281-4827-95CD-5A122378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98191-5161-4EF6-8748-24F9F816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222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F0E2-A70B-4A98-A538-96A75851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9BD4B-A3BB-4C35-954E-1B2D7CCC1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F395-705D-4F6B-95C9-498B55B2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FAC02-1EB1-45A6-B4E4-07A3E87A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7CB1C-D4B2-4604-8CB5-4F29F016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54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2D68-EA95-4FCB-B7BF-A0661DCA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2A07B-F89C-4358-999C-F5F85628C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38A28-8C53-4936-9B09-5A97CC27D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BAC53-0697-484F-B193-1B6DC9EC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6712B-E138-417A-A7BB-2359696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86C39-0445-40BE-9901-66EA6BEA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99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1807-4E2C-4F7B-9A77-4B320058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A914-A109-475C-B215-55659F742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86DFD-5CF6-43BB-8A93-5B633BCD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0804C-92D4-42CB-AB6C-2B4FA1B45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50F77-4A3C-44AB-AADD-7C6619179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88DFB-9D9B-4CB8-AE55-43780F69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26FB7-7645-4FF9-BF37-63CA854D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8540A-D165-4C51-971B-419A8D99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51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B871-E209-4390-B3A2-F87722E7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10FB2-8CBA-4577-AED1-24A958A7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E2C9E-18B4-4A4F-AA0F-ECAA4E4A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0A2F9-0F92-4713-A330-8A88E62E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728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5CAF0-A57F-4582-83DE-7D39897C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B929D-5D01-4532-A9EE-2666E979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BCFC9-4190-4EF5-AAEF-C621C4C9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72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A478-B321-4910-A27E-97AEF67C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EEC6-BB35-414A-A3C7-B71680020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332D4-5614-4E78-9795-B46BA1011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B3196-3F94-4A8A-AD5F-B6153439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836DA-332A-4FB6-958B-7F9B0F08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8B3BD-3FBF-4860-99D3-49CA086F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9570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A356-04A5-41C9-99F2-82AF64E5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A9FAE-386C-40EC-8335-D600550A8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1F504-86AC-4231-AC5A-6629AD05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D6811-CF5E-4996-A5D6-8C363661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B3A29-ED48-4376-8357-DAFFB04B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AF561-8E09-4BFB-86EF-0E47A83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2909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EED4-4732-41F3-BCA9-E3996CD4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038D5-F99C-4A73-B363-8586BF0E9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C6FD-7049-4DAA-A11C-D23EAC8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9CE20-667A-45AD-90F6-F51AC2FB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9F92A-E255-4B34-A4C1-C75453BF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544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2C2D4-9EF5-4366-9BAE-A7610F929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5BB05-0E16-49FF-B90C-7711B548B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FA628-C5D3-4821-94AF-39A4BBDC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E56D6-62ED-4D40-92E1-EE9BE57B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2177D-C689-4914-A375-4939E3C7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5ECCE-D9EF-E44E-B955-C433744F2E79}" type="datetimeFigureOut">
              <a:rPr lang="en-US" smtClean="0"/>
              <a:t>5/22/2019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075E5-A78A-F54D-8759-BC572A10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9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3DC9B-D344-4C1F-8EAA-EB4D28F4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03F5B-F705-4E75-8C3B-49E4C7374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4F30-6E3F-4946-A8FE-522F579E0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B4647-AAB0-494D-9C53-C19F2C8C90F9}" type="datetimeFigureOut">
              <a:rPr lang="en-GB" smtClean="0"/>
              <a:t>22/05/2019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48DEB-E70B-4C0C-A03D-4DEBDF692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359BD-A4D4-4A27-836D-9BF6D4448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1B7C8-AEFF-41C1-B803-35E17425C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61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hyperlink" Target="file:///\\cicero\share\unltd\central\UnLtd%20Ventures\Ventures%20support%20model\VM%20Resource%20Pack\VM%20Key%20Resources\3.%20Business%20Planning\3.%20Business%20Plan%20Key%20Headings%20Template.docx" TargetMode="External"/><Relationship Id="rId4" Type="http://schemas.openxmlformats.org/officeDocument/2006/relationships/hyperlink" Target="file:///\\cicero\share\unltd\central\UnLtd%20Ventures\Ventures%20support%20model\VM%20Resource%20Pack\VM%20Key%20Resources\3.%20Business%20Planning\2.%20Growth%20plan%20template.doc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file:///\\cicero\share\unltd\central\UnLtd%20Ventures\Ventures%20support%20model\VM%20Resource%20Pack\VM%20Key%20Resources\3.%20Business%20Planning\2.%20Growth%20plan%20template.docx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file:///\\cicero\share\unltd\central\UnLtd%20Ventures\Ventures%20support%20model\VM%20Resource%20Pack\VM%20Key%20Resources\2.%20Financial%20Modelling\1.%20Additional%20Tools\2.%20BVC%20-%20margin%20analysis.xls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file:///\\cicero\share\unltd\central\UnLtd%20Ventures\Ventures%20support%20model\VM%20Resource%20Pack\VM%20Key%20Resources\2.%20Financial%20Modelling\5.%20ClearlySo%20Financial%20Model%20Assessment%20Tool.docx" TargetMode="External"/><Relationship Id="rId5" Type="http://schemas.openxmlformats.org/officeDocument/2006/relationships/hyperlink" Target="file:///\\cicero\share\unltd\central\UnLtd%20Ventures\Ventures%20support%20model\VM%20Resource%20Pack\VM%20Key%20Resources\2.%20Financial%20Modelling\3.%20Papi's%20Pickles%20BVC%20Financial%20Model.xlsx" TargetMode="External"/><Relationship Id="rId4" Type="http://schemas.openxmlformats.org/officeDocument/2006/relationships/hyperlink" Target="file:///\\cicero\share\unltd\central\UnLtd%20Ventures\Ventures%20support%20model\VM%20Resource%20Pack\VM%20Key%20Resources\2.%20Financial%20Modelling\1.%20Advanced%20Financial%20Model%20V17%20-%203%20lines%20of%20business.xls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file:///\\cicero\share\unltd\central\UnLtd%20Ventures\Ventures%20support%20model\VM%20Resource%20Pack\VM%20Key%20Resources\3.%20Business%20Planning\2.%20Growth%20plan%20template.doc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29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52465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7303" y="2037021"/>
            <a:ext cx="100613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panose="020B0604020202020204" pitchFamily="34" charset="0"/>
              </a:rPr>
              <a:t>UnLtd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Arial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Business Plans and Financial Models</a:t>
            </a:r>
            <a:endParaRPr lang="en-US" sz="4400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3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What investors want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Demonstrate</a:t>
            </a:r>
            <a:r>
              <a:rPr lang="en-GB" sz="2000" b="1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Qualified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EC6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GB" sz="2000" b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Capital</a:t>
            </a:r>
            <a:endParaRPr lang="en-US" b="1" dirty="0">
              <a:solidFill>
                <a:srgbClr val="462565"/>
              </a:solidFill>
              <a:latin typeface="Arial" panose="020B0604020202020204" pitchFamily="34" charset="0"/>
              <a:ea typeface="M Arial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track record sales and impact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Proven product / service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team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understanding of risks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Sustainable revenue model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Appropriate legal structure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mechanism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financial model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 plan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30720-BA75-4E14-A6E0-5A1E37E724F6}"/>
              </a:ext>
            </a:extLst>
          </p:cNvPr>
          <p:cNvSpPr/>
          <p:nvPr/>
        </p:nvSpPr>
        <p:spPr>
          <a:xfrm>
            <a:off x="6457863" y="1959985"/>
            <a:ext cx="477748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endParaRPr lang="en-US" b="1" dirty="0">
              <a:solidFill>
                <a:srgbClr val="462565"/>
              </a:solidFill>
              <a:latin typeface="Arial" panose="020B0604020202020204" pitchFamily="34" charset="0"/>
              <a:ea typeface="M Arial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EC6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 and proven opportunity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EC6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strategy and plan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EC6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Testimonials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EC66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 on use of funds</a:t>
            </a: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pPr marL="457200" indent="-457200">
              <a:buBlip>
                <a:blip r:embed="rId3"/>
              </a:buBlip>
            </a:pPr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6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25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29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52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FA84DA-0FB2-4C72-B352-A9908980667D}"/>
              </a:ext>
            </a:extLst>
          </p:cNvPr>
          <p:cNvSpPr/>
          <p:nvPr/>
        </p:nvSpPr>
        <p:spPr>
          <a:xfrm>
            <a:off x="1161143" y="2497976"/>
            <a:ext cx="112195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M Arial" charset="0"/>
                <a:cs typeface="Arial" charset="0"/>
              </a:rPr>
              <a:t>Business Plan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20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Best practice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plan 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handbook to your financial model</a:t>
            </a:r>
            <a:endParaRPr lang="en-US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behind use of investment and growth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based assumptions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understanding of the market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story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Realistic growth assumptions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risk and mitigants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 to financial model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accountability</a:t>
            </a:r>
          </a:p>
          <a:p>
            <a:pPr defTabSz="457200" fontAlgn="base">
              <a:spcBef>
                <a:spcPct val="0"/>
              </a:spcBef>
              <a:spcAft>
                <a:spcPts val="600"/>
              </a:spcAft>
              <a:defRPr/>
            </a:pPr>
            <a:endParaRPr lang="en-GB" altLang="en-US" sz="2000" dirty="0">
              <a:solidFill>
                <a:srgbClr val="272727"/>
              </a:solidFill>
              <a:latin typeface="Cooper Black" panose="0208090404030B020404" pitchFamily="18" charset="0"/>
              <a:ea typeface="ＭＳ Ｐゴシック" pitchFamily="-103" charset="-128"/>
              <a:cs typeface="Arial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pPr marL="457200" indent="-457200">
              <a:buBlip>
                <a:blip r:embed="rId4"/>
              </a:buBlip>
            </a:pPr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C0C50-1B5F-4CFE-AAC3-3664E45C3A9F}"/>
              </a:ext>
            </a:extLst>
          </p:cNvPr>
          <p:cNvSpPr/>
          <p:nvPr/>
        </p:nvSpPr>
        <p:spPr>
          <a:xfrm>
            <a:off x="1110540" y="5323556"/>
            <a:ext cx="95872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must be useful to you!</a:t>
            </a:r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032D44-3966-4500-AA5B-E04EF2166CC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8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Templates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606A79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Existing templates</a:t>
            </a:r>
            <a:endParaRPr lang="en-US" b="1" dirty="0">
              <a:solidFill>
                <a:srgbClr val="462565"/>
              </a:solidFill>
              <a:latin typeface="Arial" panose="020B0604020202020204" pitchFamily="34" charset="0"/>
              <a:ea typeface="M Arial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file"/>
              </a:rPr>
              <a:t>Growth Plan template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file"/>
              </a:rPr>
              <a:t>Business Plan key headings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…but format is irrelevant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51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Key areas to cover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and solution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 to date (trading and social impact)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market (size; target; competition; advantage)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model (pricing; costs; margins)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and marketing (how do they now, and will they, reach their customers)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(who’s involved)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(short and medium term plans)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(requirement and purpose)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applicable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2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VM expectations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Helping entrepreneurs understand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plan is important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Talk them through key areas, helping with set-up thinking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Entrepreneur should write and own plan,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you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assumptions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  <a:hlinkClick r:id="rId4" action="ppaction://hlinkfile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13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25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29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52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FA84DA-0FB2-4C72-B352-A9908980667D}"/>
              </a:ext>
            </a:extLst>
          </p:cNvPr>
          <p:cNvSpPr/>
          <p:nvPr/>
        </p:nvSpPr>
        <p:spPr>
          <a:xfrm>
            <a:off x="1161143" y="2497976"/>
            <a:ext cx="112195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M Arial" charset="0"/>
                <a:cs typeface="Arial" charset="0"/>
              </a:rPr>
              <a:t>Financial Model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0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Best practice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model 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your strategic growth framework, operating plan and roadmap</a:t>
            </a:r>
            <a:endParaRPr lang="en-US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Clarity: key drivers behind your business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Cashflow, Profit &amp; Loss, (Balance Sheet)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Credible: at least 1 year historic and 3 year forecast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Qualify existing pipeline and annual growth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based sales planning 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hiring road map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and marketing budgets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GB" sz="2000" dirty="0" err="1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OpEx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000" dirty="0" err="1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CapEx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much, when, likely returns</a:t>
            </a:r>
          </a:p>
          <a:p>
            <a:pPr marL="457200" indent="-457200">
              <a:buBlip>
                <a:blip r:embed="rId4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 to business plan</a:t>
            </a:r>
          </a:p>
          <a:p>
            <a:pPr defTabSz="457200" fontAlgn="base">
              <a:spcBef>
                <a:spcPct val="0"/>
              </a:spcBef>
              <a:spcAft>
                <a:spcPts val="600"/>
              </a:spcAft>
              <a:defRPr/>
            </a:pPr>
            <a:endParaRPr lang="en-GB" altLang="en-US" sz="2000" dirty="0">
              <a:solidFill>
                <a:srgbClr val="272727"/>
              </a:solidFill>
              <a:latin typeface="Cooper Black" panose="0208090404030B020404" pitchFamily="18" charset="0"/>
              <a:ea typeface="ＭＳ Ｐゴシック" pitchFamily="-103" charset="-128"/>
              <a:cs typeface="Arial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4">
                  <a:extLst/>
                </a:blip>
              </a:buBlip>
            </a:pP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  <a:p>
            <a:pPr marL="457200" indent="-457200">
              <a:buBlip>
                <a:blip r:embed="rId4"/>
              </a:buBlip>
            </a:pPr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C49D35-543A-4CB5-96A3-C1D1403BE9DD}"/>
              </a:ext>
            </a:extLst>
          </p:cNvPr>
          <p:cNvSpPr/>
          <p:nvPr/>
        </p:nvSpPr>
        <p:spPr>
          <a:xfrm>
            <a:off x="1110540" y="5323556"/>
            <a:ext cx="95872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19A2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must be useful to you!</a:t>
            </a:r>
            <a:endParaRPr lang="en-US" sz="2800" dirty="0">
              <a:solidFill>
                <a:srgbClr val="462565"/>
              </a:solidFill>
              <a:latin typeface="Gotham"/>
              <a:ea typeface="M Arial" charset="0"/>
              <a:cs typeface="M 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17AFD-68D4-4480-BA4E-373CF997656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00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Templates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sz="2000" b="1" dirty="0">
                <a:solidFill>
                  <a:srgbClr val="606A79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Existing templates</a:t>
            </a:r>
            <a:endParaRPr lang="en-US" b="1" dirty="0">
              <a:solidFill>
                <a:srgbClr val="462565"/>
              </a:solidFill>
              <a:latin typeface="Arial" panose="020B0604020202020204" pitchFamily="34" charset="0"/>
              <a:ea typeface="M Arial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file"/>
              </a:rPr>
              <a:t>Advanced financial model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 err="1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file"/>
              </a:rPr>
              <a:t>Papi’s</a:t>
            </a: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file"/>
              </a:rPr>
              <a:t> Pickles Financial model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…but format is irrelevant</a:t>
            </a:r>
          </a:p>
          <a:p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useful resources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6" action="ppaction://hlinkfile"/>
              </a:rPr>
              <a:t>Financial Model Assessment tool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file"/>
              </a:rPr>
              <a:t>Margin analysis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85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Minimum expectations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drivers; ability to edit (not hard coding)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Staffing and resourcing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breakdowns and annual summaries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Cashflow and Profit and Loss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1 year historic, 3 years projection (2 absolute push)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00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805377"/>
            <a:ext cx="12192000" cy="105262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927" y="6068067"/>
            <a:ext cx="1807605" cy="5272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52893"/>
          </a:xfrm>
          <a:prstGeom prst="rect">
            <a:avLst/>
          </a:prstGeom>
          <a:solidFill>
            <a:srgbClr val="462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7304" y="753321"/>
            <a:ext cx="10933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462565"/>
                </a:solidFill>
                <a:latin typeface="Arial Black" panose="020B0A04020102020204" pitchFamily="34" charset="0"/>
                <a:ea typeface="Arial" charset="0"/>
                <a:cs typeface="Arial" charset="0"/>
              </a:rPr>
              <a:t>VM expectations</a:t>
            </a:r>
            <a:endParaRPr lang="en-US" sz="4400" dirty="0">
              <a:solidFill>
                <a:srgbClr val="462565"/>
              </a:solidFill>
              <a:latin typeface="Arial Black" panose="020B0A04020102020204" pitchFamily="34" charset="0"/>
              <a:ea typeface="M Arial" charset="0"/>
              <a:cs typeface="M 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1EDD8-C860-467A-A2E1-85C01AFF12C1}"/>
              </a:ext>
            </a:extLst>
          </p:cNvPr>
          <p:cNvSpPr/>
          <p:nvPr/>
        </p:nvSpPr>
        <p:spPr>
          <a:xfrm>
            <a:off x="437304" y="1932826"/>
            <a:ext cx="958722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foundational thinking (variables; unit pricing; sales process; resourcing)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up templates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necessary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entrepreneur to templates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necessary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Entrepreneur should develop and own model, </a:t>
            </a:r>
            <a:r>
              <a:rPr lang="en-GB" sz="2000" i="1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you</a:t>
            </a:r>
          </a:p>
          <a:p>
            <a:pPr marL="457200" indent="-457200">
              <a:buBlip>
                <a:blip r:embed="rId3">
                  <a:extLst/>
                </a:blip>
              </a:buBlip>
            </a:pPr>
            <a:r>
              <a:rPr lang="en-GB" sz="2000" dirty="0">
                <a:solidFill>
                  <a:srgbClr val="606A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assumptions </a:t>
            </a:r>
            <a:endParaRPr lang="en-GB" sz="2000" dirty="0">
              <a:solidFill>
                <a:srgbClr val="606A79"/>
              </a:solidFill>
              <a:latin typeface="Arial" panose="020B0604020202020204" pitchFamily="34" charset="0"/>
              <a:cs typeface="Arial" panose="020B0604020202020204" pitchFamily="34" charset="0"/>
              <a:hlinkClick r:id="rId4" action="ppaction://hlinkfile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662B3-9770-42D1-9B09-2CCB1BAE8002}"/>
              </a:ext>
            </a:extLst>
          </p:cNvPr>
          <p:cNvSpPr/>
          <p:nvPr/>
        </p:nvSpPr>
        <p:spPr>
          <a:xfrm>
            <a:off x="7870695" y="100441"/>
            <a:ext cx="430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 Arial" charset="0"/>
                <a:cs typeface="Arial" panose="020B0604020202020204" pitchFamily="34" charset="0"/>
              </a:rPr>
              <a:t>Investment process</a:t>
            </a:r>
            <a:endParaRPr lang="en-US" sz="2800" b="1" dirty="0">
              <a:solidFill>
                <a:schemeClr val="bg1"/>
              </a:solidFill>
              <a:latin typeface="Gotham"/>
              <a:ea typeface="M Arial" charset="0"/>
              <a:cs typeface="M 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6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UnLtd">
      <a:dk1>
        <a:srgbClr val="636363"/>
      </a:dk1>
      <a:lt1>
        <a:sysClr val="window" lastClr="FFFFFF"/>
      </a:lt1>
      <a:dk2>
        <a:srgbClr val="000000"/>
      </a:dk2>
      <a:lt2>
        <a:srgbClr val="00A19A"/>
      </a:lt2>
      <a:accent1>
        <a:srgbClr val="491A66"/>
      </a:accent1>
      <a:accent2>
        <a:srgbClr val="EC6608"/>
      </a:accent2>
      <a:accent3>
        <a:srgbClr val="00A19A"/>
      </a:accent3>
      <a:accent4>
        <a:srgbClr val="0085A5"/>
      </a:accent4>
      <a:accent5>
        <a:srgbClr val="54849A"/>
      </a:accent5>
      <a:accent6>
        <a:srgbClr val="829AA4"/>
      </a:accent6>
      <a:hlink>
        <a:srgbClr val="491A66"/>
      </a:hlink>
      <a:folHlink>
        <a:srgbClr val="008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8692</TotalTime>
  <Words>436</Words>
  <Application>Microsoft Office PowerPoint</Application>
  <PresentationFormat>Widescreen</PresentationFormat>
  <Paragraphs>108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Cooper Black</vt:lpstr>
      <vt:lpstr>Gotham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Ben Smith</cp:lastModifiedBy>
  <cp:revision>144</cp:revision>
  <dcterms:created xsi:type="dcterms:W3CDTF">2017-07-26T14:27:03Z</dcterms:created>
  <dcterms:modified xsi:type="dcterms:W3CDTF">2019-05-22T14:49:21Z</dcterms:modified>
</cp:coreProperties>
</file>
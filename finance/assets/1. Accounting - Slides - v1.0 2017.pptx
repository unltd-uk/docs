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9" r:id="rId2"/>
    <p:sldMasterId id="2147483650" r:id="rId3"/>
  </p:sldMasterIdLst>
  <p:notesMasterIdLst>
    <p:notesMasterId r:id="rId131"/>
  </p:notesMasterIdLst>
  <p:handoutMasterIdLst>
    <p:handoutMasterId r:id="rId132"/>
  </p:handoutMasterIdLst>
  <p:sldIdLst>
    <p:sldId id="256" r:id="rId4"/>
    <p:sldId id="257" r:id="rId5"/>
    <p:sldId id="293" r:id="rId6"/>
    <p:sldId id="456" r:id="rId7"/>
    <p:sldId id="380" r:id="rId8"/>
    <p:sldId id="449" r:id="rId9"/>
    <p:sldId id="450" r:id="rId10"/>
    <p:sldId id="451" r:id="rId11"/>
    <p:sldId id="452" r:id="rId12"/>
    <p:sldId id="453" r:id="rId13"/>
    <p:sldId id="454" r:id="rId14"/>
    <p:sldId id="382" r:id="rId15"/>
    <p:sldId id="383" r:id="rId16"/>
    <p:sldId id="475" r:id="rId17"/>
    <p:sldId id="458" r:id="rId18"/>
    <p:sldId id="459" r:id="rId19"/>
    <p:sldId id="460" r:id="rId20"/>
    <p:sldId id="461" r:id="rId21"/>
    <p:sldId id="481" r:id="rId22"/>
    <p:sldId id="469" r:id="rId23"/>
    <p:sldId id="463" r:id="rId24"/>
    <p:sldId id="470" r:id="rId25"/>
    <p:sldId id="466" r:id="rId26"/>
    <p:sldId id="520" r:id="rId27"/>
    <p:sldId id="521" r:id="rId28"/>
    <p:sldId id="519" r:id="rId29"/>
    <p:sldId id="483" r:id="rId30"/>
    <p:sldId id="472" r:id="rId31"/>
    <p:sldId id="474" r:id="rId32"/>
    <p:sldId id="596" r:id="rId33"/>
    <p:sldId id="597" r:id="rId34"/>
    <p:sldId id="598" r:id="rId35"/>
    <p:sldId id="599" r:id="rId36"/>
    <p:sldId id="600" r:id="rId37"/>
    <p:sldId id="583" r:id="rId38"/>
    <p:sldId id="490" r:id="rId39"/>
    <p:sldId id="496" r:id="rId40"/>
    <p:sldId id="601" r:id="rId41"/>
    <p:sldId id="602" r:id="rId42"/>
    <p:sldId id="603" r:id="rId43"/>
    <p:sldId id="604" r:id="rId44"/>
    <p:sldId id="605" r:id="rId45"/>
    <p:sldId id="491" r:id="rId46"/>
    <p:sldId id="492" r:id="rId47"/>
    <p:sldId id="606" r:id="rId48"/>
    <p:sldId id="607" r:id="rId49"/>
    <p:sldId id="608" r:id="rId50"/>
    <p:sldId id="609" r:id="rId51"/>
    <p:sldId id="610" r:id="rId52"/>
    <p:sldId id="611" r:id="rId53"/>
    <p:sldId id="612" r:id="rId54"/>
    <p:sldId id="493" r:id="rId55"/>
    <p:sldId id="495" r:id="rId56"/>
    <p:sldId id="509" r:id="rId57"/>
    <p:sldId id="510" r:id="rId58"/>
    <p:sldId id="511" r:id="rId59"/>
    <p:sldId id="512" r:id="rId60"/>
    <p:sldId id="513" r:id="rId61"/>
    <p:sldId id="514" r:id="rId62"/>
    <p:sldId id="515" r:id="rId63"/>
    <p:sldId id="516" r:id="rId64"/>
    <p:sldId id="523" r:id="rId65"/>
    <p:sldId id="522" r:id="rId66"/>
    <p:sldId id="524" r:id="rId67"/>
    <p:sldId id="526" r:id="rId68"/>
    <p:sldId id="527" r:id="rId69"/>
    <p:sldId id="468" r:id="rId70"/>
    <p:sldId id="528" r:id="rId71"/>
    <p:sldId id="531" r:id="rId72"/>
    <p:sldId id="613" r:id="rId73"/>
    <p:sldId id="614" r:id="rId74"/>
    <p:sldId id="533" r:id="rId75"/>
    <p:sldId id="534" r:id="rId76"/>
    <p:sldId id="615" r:id="rId77"/>
    <p:sldId id="546" r:id="rId78"/>
    <p:sldId id="547" r:id="rId79"/>
    <p:sldId id="548" r:id="rId80"/>
    <p:sldId id="616" r:id="rId81"/>
    <p:sldId id="542" r:id="rId82"/>
    <p:sldId id="543" r:id="rId83"/>
    <p:sldId id="545" r:id="rId84"/>
    <p:sldId id="544" r:id="rId85"/>
    <p:sldId id="549" r:id="rId86"/>
    <p:sldId id="550" r:id="rId87"/>
    <p:sldId id="552" r:id="rId88"/>
    <p:sldId id="617" r:id="rId89"/>
    <p:sldId id="553" r:id="rId90"/>
    <p:sldId id="554" r:id="rId91"/>
    <p:sldId id="555" r:id="rId92"/>
    <p:sldId id="556" r:id="rId93"/>
    <p:sldId id="557" r:id="rId94"/>
    <p:sldId id="558" r:id="rId95"/>
    <p:sldId id="559" r:id="rId96"/>
    <p:sldId id="560" r:id="rId97"/>
    <p:sldId id="562" r:id="rId98"/>
    <p:sldId id="618" r:id="rId99"/>
    <p:sldId id="563" r:id="rId100"/>
    <p:sldId id="564" r:id="rId101"/>
    <p:sldId id="565" r:id="rId102"/>
    <p:sldId id="566" r:id="rId103"/>
    <p:sldId id="567" r:id="rId104"/>
    <p:sldId id="568" r:id="rId105"/>
    <p:sldId id="569" r:id="rId106"/>
    <p:sldId id="384" r:id="rId107"/>
    <p:sldId id="570" r:id="rId108"/>
    <p:sldId id="572" r:id="rId109"/>
    <p:sldId id="573" r:id="rId110"/>
    <p:sldId id="575" r:id="rId111"/>
    <p:sldId id="576" r:id="rId112"/>
    <p:sldId id="577" r:id="rId113"/>
    <p:sldId id="578" r:id="rId114"/>
    <p:sldId id="579" r:id="rId115"/>
    <p:sldId id="581" r:id="rId116"/>
    <p:sldId id="582" r:id="rId117"/>
    <p:sldId id="584" r:id="rId118"/>
    <p:sldId id="585" r:id="rId119"/>
    <p:sldId id="586" r:id="rId120"/>
    <p:sldId id="587" r:id="rId121"/>
    <p:sldId id="588" r:id="rId122"/>
    <p:sldId id="589" r:id="rId123"/>
    <p:sldId id="590" r:id="rId124"/>
    <p:sldId id="591" r:id="rId125"/>
    <p:sldId id="592" r:id="rId126"/>
    <p:sldId id="593" r:id="rId127"/>
    <p:sldId id="594" r:id="rId128"/>
    <p:sldId id="595" r:id="rId129"/>
    <p:sldId id="258" r:id="rId1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00"/>
    <a:srgbClr val="33CC00"/>
    <a:srgbClr val="66CC33"/>
    <a:srgbClr val="F68436"/>
    <a:srgbClr val="EF6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960" y="-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00" Type="http://schemas.openxmlformats.org/officeDocument/2006/relationships/slide" Target="slides/slide97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30" Type="http://schemas.openxmlformats.org/officeDocument/2006/relationships/slide" Target="slides/slide127.xml"/><Relationship Id="rId131" Type="http://schemas.openxmlformats.org/officeDocument/2006/relationships/notesMaster" Target="notesMasters/notesMaster1.xml"/><Relationship Id="rId132" Type="http://schemas.openxmlformats.org/officeDocument/2006/relationships/handoutMaster" Target="handoutMasters/handoutMaster1.xml"/><Relationship Id="rId133" Type="http://schemas.openxmlformats.org/officeDocument/2006/relationships/printerSettings" Target="printerSettings/printerSettings1.bin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E78DD-5465-8C4D-AEDD-143733F40FAA}" type="datetimeFigureOut">
              <a:rPr lang="en-US" smtClean="0"/>
              <a:t>24/01/17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9FBC7-7FBC-A04F-9A48-02B980C69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56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8088B-4B8D-F64F-9274-4E01BBE2986A}" type="datetimeFigureOut">
              <a:rPr lang="en-US" smtClean="0"/>
              <a:t>24/01/17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7D0BA-EB6D-9C4F-AE45-1E10895E6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51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D0BA-EB6D-9C4F-AE45-1E10895E60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6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D0BA-EB6D-9C4F-AE45-1E10895E60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056585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FFFFFF"/>
                </a:solidFill>
                <a:latin typeface="Gotham Rounded Medium"/>
                <a:cs typeface="Gotham Rounded Medium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UnLtd-BrandGuides-MasterFile-Oct2012-05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68" y="256005"/>
            <a:ext cx="2600826" cy="40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2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5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78087"/>
            <a:ext cx="7772400" cy="1470025"/>
          </a:xfrm>
        </p:spPr>
        <p:txBody>
          <a:bodyPr/>
          <a:lstStyle>
            <a:lvl1pPr>
              <a:defRPr sz="70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3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3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882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5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9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57200" y="18923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57200" y="1816100"/>
            <a:ext cx="8229600" cy="322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062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xmlns:p14="http://schemas.microsoft.com/office/powerpoint/2010/main" presetID="10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57200" y="18923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57200" y="1816100"/>
            <a:ext cx="8229600" cy="322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90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489075"/>
            <a:ext cx="7812088" cy="4011613"/>
          </a:xfrm>
        </p:spPr>
        <p:txBody>
          <a:bodyPr>
            <a:normAutofit/>
          </a:bodyPr>
          <a:lstStyle>
            <a:lvl1pPr marL="0" indent="0" algn="ctr">
              <a:buFont typeface="Arial"/>
              <a:buNone/>
              <a:defRPr sz="3600" i="1" baseline="0">
                <a:solidFill>
                  <a:schemeClr val="accent6"/>
                </a:solidFill>
                <a:latin typeface="Georgia"/>
                <a:cs typeface="Georgia"/>
              </a:defRPr>
            </a:lvl1pPr>
            <a:lvl2pPr marL="457200" indent="0">
              <a:buFont typeface="Arial"/>
              <a:buNone/>
              <a:defRPr/>
            </a:lvl2pPr>
            <a:lvl3pPr marL="914400" indent="0">
              <a:buFont typeface="Arial"/>
              <a:buNone/>
              <a:defRPr/>
            </a:lvl3pPr>
            <a:lvl4pPr marL="1371600" indent="0">
              <a:buFont typeface="Arial"/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lvl="0"/>
            <a:r>
              <a:rPr lang="en-GB" dirty="0" smtClean="0"/>
              <a:t>Click here to edit quote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5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0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png"/><Relationship Id="rId12" Type="http://schemas.openxmlformats.org/officeDocument/2006/relationships/image" Target="../media/image2.emf"/><Relationship Id="rId13" Type="http://schemas.openxmlformats.org/officeDocument/2006/relationships/image" Target="../media/image4.emf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6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Arial Black"/>
          <a:ea typeface="+mj-ea"/>
          <a:cs typeface="Arial Black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rgbClr val="FFFFFF"/>
          </a:solidFill>
          <a:latin typeface="Arial Rounded MT Bold"/>
          <a:ea typeface="+mn-ea"/>
          <a:cs typeface="Arial Rounded MT Bold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rgbClr val="FFFFFF"/>
          </a:solidFill>
          <a:latin typeface="Arial Rounded MT Bold"/>
          <a:ea typeface="+mn-ea"/>
          <a:cs typeface="Arial Rounded MT Bold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FFFFFF"/>
          </a:solidFill>
          <a:latin typeface="Arial Rounded MT Bold"/>
          <a:ea typeface="+mn-ea"/>
          <a:cs typeface="Arial Rounded MT Bold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FFFFFF"/>
          </a:solidFill>
          <a:latin typeface="Arial Rounded MT Bold"/>
          <a:ea typeface="+mn-ea"/>
          <a:cs typeface="Arial Rounded MT Bold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rgbClr val="FFFFFF"/>
          </a:solidFill>
          <a:latin typeface="Arial Rounded MT Bold"/>
          <a:ea typeface="+mn-ea"/>
          <a:cs typeface="Arial Rounded MT Bold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9219381" cy="6914536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 userDrawn="1"/>
        </p:nvSpPr>
        <p:spPr>
          <a:xfrm>
            <a:off x="320313" y="6415830"/>
            <a:ext cx="8560993" cy="3371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b="0" i="0" kern="1200">
                <a:solidFill>
                  <a:srgbClr val="FFFFFF"/>
                </a:solidFill>
                <a:latin typeface="Gotham Rounded Medium"/>
                <a:ea typeface="+mn-ea"/>
                <a:cs typeface="Gotham Rounded Medium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GB" sz="1400" b="0" i="0" u="none" strike="noStrike" kern="1200" baseline="30000" dirty="0" err="1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UnLtd</a:t>
            </a:r>
            <a:r>
              <a:rPr lang="en-GB" sz="1400" b="0" i="0" u="none" strike="noStrike" kern="1200" baseline="30000" dirty="0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 is the trading name for The Foundation for Social Entrepreneurs, a company limited by guarantee.</a:t>
            </a:r>
          </a:p>
          <a:p>
            <a:pPr algn="ctr" rtl="0"/>
            <a:r>
              <a:rPr lang="en-GB" sz="1400" b="0" i="0" u="none" strike="noStrike" kern="1200" baseline="30000" dirty="0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Registered in England No. 4180639. Registered Office: 123 </a:t>
            </a:r>
            <a:r>
              <a:rPr lang="en-GB" sz="1400" b="0" i="0" u="none" strike="noStrike" kern="1200" baseline="30000" dirty="0" err="1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Whitecross</a:t>
            </a:r>
            <a:r>
              <a:rPr lang="en-GB" sz="1400" b="0" i="0" u="none" strike="noStrike" kern="1200" baseline="30000" dirty="0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 Street, London EC1Y 8JJ. Registered Charity No. 1090393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4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pic>
        <p:nvPicPr>
          <p:cNvPr id="7" name="Picture 6" descr="Bottom-banner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668"/>
            <a:ext cx="9150684" cy="520700"/>
          </a:xfrm>
          <a:prstGeom prst="rect">
            <a:avLst/>
          </a:prstGeom>
        </p:spPr>
      </p:pic>
      <p:pic>
        <p:nvPicPr>
          <p:cNvPr id="8" name="Picture 7" descr="UnLtd-BrandGuides-MasterFile-Oct2012-05.eps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309" y="6468561"/>
            <a:ext cx="1891781" cy="2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9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61" r:id="rId7"/>
    <p:sldLayoutId id="2147483658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accent6">
              <a:lumMod val="75000"/>
            </a:schemeClr>
          </a:solidFill>
          <a:latin typeface="Arial Rounded MT Bold"/>
          <a:ea typeface="+mj-ea"/>
          <a:cs typeface="Arial Rounded MT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6"/>
        </a:buClr>
        <a:buSzPct val="100000"/>
        <a:buFontTx/>
        <a:buBlip>
          <a:blip r:embed="rId13"/>
        </a:buBlip>
        <a:defRPr sz="3200" b="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3"/>
        </a:buBlip>
        <a:defRPr sz="2800" b="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3"/>
        </a:buBlip>
        <a:defRPr sz="2400" b="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3"/>
        </a:buBlip>
        <a:defRPr sz="2000" b="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3"/>
        </a:buBlip>
        <a:defRPr sz="2000" b="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jp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jp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jp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jp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jp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jp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jp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jp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jp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jp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jp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jp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jp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jp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1.jp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1.jp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jp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jp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jp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jp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jp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jp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4.jp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4.jp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jp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jp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emf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Relationship Id="rId3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ACCOUNTING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Event Name/Location </a:t>
            </a:r>
          </a:p>
          <a:p>
            <a:r>
              <a:rPr lang="en-US" dirty="0" err="1" smtClean="0"/>
              <a:t>XX</a:t>
            </a:r>
            <a:r>
              <a:rPr lang="en-US" baseline="30000" dirty="0" err="1" smtClean="0"/>
              <a:t>th</a:t>
            </a:r>
            <a:r>
              <a:rPr lang="en-US" dirty="0" smtClean="0"/>
              <a:t>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79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KEY QUESTIONS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80000" cy="4525963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800"/>
              </a:spcAft>
            </a:pPr>
            <a:r>
              <a:rPr lang="en-US" sz="2200" dirty="0" smtClean="0"/>
              <a:t>What is accounting?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What is financial accounting?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What is the accounting equation?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How do you create financial statements?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What is the matching principle?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How should you </a:t>
            </a:r>
            <a:r>
              <a:rPr lang="en-US" sz="2200" dirty="0" err="1" smtClean="0"/>
              <a:t>categorise</a:t>
            </a:r>
            <a:r>
              <a:rPr lang="en-US" sz="2200" dirty="0" smtClean="0"/>
              <a:t> expenses? (</a:t>
            </a:r>
            <a:r>
              <a:rPr lang="en-US" sz="2200" dirty="0" smtClean="0">
                <a:solidFill>
                  <a:srgbClr val="FF0000"/>
                </a:solidFill>
              </a:rPr>
              <a:t>XX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How should you </a:t>
            </a:r>
            <a:r>
              <a:rPr lang="en-US" sz="2200" dirty="0" err="1" smtClean="0"/>
              <a:t>categorise</a:t>
            </a:r>
            <a:r>
              <a:rPr lang="en-US" sz="2200" dirty="0" smtClean="0"/>
              <a:t> assets and liabilities? (</a:t>
            </a:r>
            <a:r>
              <a:rPr lang="en-US" sz="2200" dirty="0" smtClean="0">
                <a:solidFill>
                  <a:srgbClr val="FF0000"/>
                </a:solidFill>
              </a:rPr>
              <a:t>XX</a:t>
            </a:r>
            <a:r>
              <a:rPr lang="en-US" sz="2200" dirty="0" smtClean="0"/>
              <a:t> </a:t>
            </a:r>
            <a:r>
              <a:rPr lang="en-US" sz="2200" dirty="0" err="1" smtClean="0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What is management accounting? </a:t>
            </a:r>
            <a:r>
              <a:rPr lang="en-US" sz="2200" dirty="0"/>
              <a:t>(</a:t>
            </a:r>
            <a:r>
              <a:rPr lang="en-US" sz="2200" dirty="0">
                <a:solidFill>
                  <a:srgbClr val="FF0000"/>
                </a:solidFill>
              </a:rPr>
              <a:t>XX</a:t>
            </a:r>
            <a:r>
              <a:rPr lang="en-US" sz="2200" dirty="0"/>
              <a:t> </a:t>
            </a:r>
            <a:r>
              <a:rPr lang="en-US" sz="2200" dirty="0" err="1"/>
              <a:t>mins</a:t>
            </a:r>
            <a:r>
              <a:rPr lang="en-US" sz="2200" dirty="0" smtClean="0"/>
              <a:t>)</a:t>
            </a:r>
          </a:p>
          <a:p>
            <a:pPr>
              <a:spcAft>
                <a:spcPts val="1800"/>
              </a:spcAft>
            </a:pPr>
            <a:r>
              <a:rPr lang="en-US" sz="2200" dirty="0" smtClean="0"/>
              <a:t>How should you allocate costs</a:t>
            </a:r>
            <a:r>
              <a:rPr lang="en-US" sz="2200" dirty="0"/>
              <a:t>? (</a:t>
            </a:r>
            <a:r>
              <a:rPr lang="en-US" sz="2200" dirty="0">
                <a:solidFill>
                  <a:srgbClr val="FF0000"/>
                </a:solidFill>
              </a:rPr>
              <a:t>XX</a:t>
            </a:r>
            <a:r>
              <a:rPr lang="en-US" sz="2200" dirty="0"/>
              <a:t> </a:t>
            </a:r>
            <a:r>
              <a:rPr lang="en-US" sz="2200" dirty="0" err="1"/>
              <a:t>mins</a:t>
            </a:r>
            <a:r>
              <a:rPr lang="en-US" sz="2200" dirty="0" smtClean="0"/>
              <a:t>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92574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is accounting?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34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OBJECTIVES OF ACCOUNTING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80000" cy="4525963"/>
          </a:xfrm>
        </p:spPr>
        <p:txBody>
          <a:bodyPr>
            <a:normAutofit/>
          </a:bodyPr>
          <a:lstStyle/>
          <a:p>
            <a:pPr marL="444500" indent="-444500">
              <a:spcAft>
                <a:spcPts val="1800"/>
              </a:spcAft>
            </a:pPr>
            <a:r>
              <a:rPr lang="en-US" sz="3500" dirty="0" smtClean="0"/>
              <a:t>Provide useful financial information about a business</a:t>
            </a:r>
          </a:p>
          <a:p>
            <a:pPr marL="444500" indent="-444500">
              <a:spcAft>
                <a:spcPts val="1800"/>
              </a:spcAft>
            </a:pPr>
            <a:r>
              <a:rPr lang="en-US" sz="3500" dirty="0" smtClean="0"/>
              <a:t>Provide this information to a range of different users</a:t>
            </a:r>
          </a:p>
        </p:txBody>
      </p:sp>
    </p:spTree>
    <p:extLst>
      <p:ext uri="{BB962C8B-B14F-4D97-AF65-F5344CB8AC3E}">
        <p14:creationId xmlns:p14="http://schemas.microsoft.com/office/powerpoint/2010/main" val="431442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TWO ELEMENTS OF ACCOUNTING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4500" u="sng" dirty="0" smtClean="0"/>
              <a:t>Recording</a:t>
            </a:r>
            <a:r>
              <a:rPr lang="en-US" sz="4500" dirty="0" smtClean="0"/>
              <a:t> financial transactions as they occur</a:t>
            </a: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4500" u="sng" dirty="0" err="1" smtClean="0"/>
              <a:t>Summarising</a:t>
            </a:r>
            <a:r>
              <a:rPr lang="en-US" sz="4500" dirty="0" smtClean="0"/>
              <a:t> transactions to provide information</a:t>
            </a:r>
          </a:p>
          <a:p>
            <a:pPr marL="0" indent="0">
              <a:spcAft>
                <a:spcPts val="1800"/>
              </a:spcAft>
              <a:buNone/>
            </a:pPr>
            <a:endParaRPr lang="en-US" sz="4500" dirty="0"/>
          </a:p>
          <a:p>
            <a:pPr marL="0" indent="0">
              <a:spcAft>
                <a:spcPts val="1800"/>
              </a:spcAft>
              <a:buNone/>
            </a:pPr>
            <a:endParaRPr lang="en-US" sz="4500" dirty="0" smtClean="0"/>
          </a:p>
        </p:txBody>
      </p:sp>
    </p:spTree>
    <p:extLst>
      <p:ext uri="{BB962C8B-B14F-4D97-AF65-F5344CB8AC3E}">
        <p14:creationId xmlns:p14="http://schemas.microsoft.com/office/powerpoint/2010/main" val="59869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TWO TYPES OF ACCOUNTING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4500" dirty="0" smtClean="0"/>
              <a:t>Financial Accounting</a:t>
            </a: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4500" dirty="0" smtClean="0"/>
              <a:t>Management Accounting</a:t>
            </a:r>
          </a:p>
          <a:p>
            <a:pPr marL="0" indent="0" algn="ctr">
              <a:spcBef>
                <a:spcPts val="2280"/>
              </a:spcBef>
              <a:spcAft>
                <a:spcPts val="4200"/>
              </a:spcAft>
              <a:buNone/>
            </a:pPr>
            <a:r>
              <a:rPr lang="en-US" sz="4500" b="1" dirty="0" smtClean="0"/>
              <a:t>What are the differences </a:t>
            </a:r>
            <a:br>
              <a:rPr lang="en-US" sz="4500" b="1" dirty="0" smtClean="0"/>
            </a:br>
            <a:r>
              <a:rPr lang="en-US" sz="4500" b="1" dirty="0" smtClean="0"/>
              <a:t>between the two types?</a:t>
            </a:r>
            <a:endParaRPr lang="en-US" sz="4500" b="1" dirty="0"/>
          </a:p>
          <a:p>
            <a:pPr marL="0" indent="0">
              <a:spcAft>
                <a:spcPts val="1800"/>
              </a:spcAft>
              <a:buNone/>
            </a:pPr>
            <a:endParaRPr lang="en-US" sz="4500" dirty="0" smtClean="0"/>
          </a:p>
        </p:txBody>
      </p:sp>
    </p:spTree>
    <p:extLst>
      <p:ext uri="{BB962C8B-B14F-4D97-AF65-F5344CB8AC3E}">
        <p14:creationId xmlns:p14="http://schemas.microsoft.com/office/powerpoint/2010/main" val="3853679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WHAT IS PREPARED?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Financial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Summary financial statements for </a:t>
            </a:r>
            <a:r>
              <a:rPr lang="en-US" sz="35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external users</a:t>
            </a: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Management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Detailed accounts for </a:t>
            </a:r>
            <a:r>
              <a:rPr lang="en-US" sz="35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internal users</a:t>
            </a:r>
            <a:endParaRPr lang="en-US" sz="3500" u="sng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spcAft>
                <a:spcPts val="1800"/>
              </a:spcAft>
              <a:buNone/>
            </a:pPr>
            <a:endParaRPr lang="en-US" sz="3500" dirty="0" smtClean="0"/>
          </a:p>
        </p:txBody>
      </p:sp>
    </p:spTree>
    <p:extLst>
      <p:ext uri="{BB962C8B-B14F-4D97-AF65-F5344CB8AC3E}">
        <p14:creationId xmlns:p14="http://schemas.microsoft.com/office/powerpoint/2010/main" val="31594218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WHEN ARE DOCUMENTS PRODUCED?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Financial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Prepared </a:t>
            </a:r>
            <a:r>
              <a:rPr lang="en-US" sz="3500" i="1" dirty="0" smtClean="0">
                <a:solidFill>
                  <a:srgbClr val="7F7F7F"/>
                </a:solidFill>
              </a:rPr>
              <a:t>annually</a:t>
            </a:r>
            <a:r>
              <a:rPr lang="en-US" sz="3500" i="1" dirty="0" smtClean="0"/>
              <a:t> </a:t>
            </a:r>
            <a:endParaRPr lang="en-US" sz="3500" dirty="0"/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Management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Prepared more frequently often on a </a:t>
            </a:r>
            <a:r>
              <a:rPr lang="en-US" sz="3500" i="1" dirty="0" smtClean="0">
                <a:solidFill>
                  <a:srgbClr val="7F7F7F"/>
                </a:solidFill>
              </a:rPr>
              <a:t>monthly</a:t>
            </a:r>
            <a:r>
              <a:rPr lang="en-US" sz="3500" dirty="0" smtClean="0"/>
              <a:t> basis</a:t>
            </a:r>
          </a:p>
        </p:txBody>
      </p:sp>
    </p:spTree>
    <p:extLst>
      <p:ext uri="{BB962C8B-B14F-4D97-AF65-F5344CB8AC3E}">
        <p14:creationId xmlns:p14="http://schemas.microsoft.com/office/powerpoint/2010/main" val="1963822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DO YOU HAVE TO PRODUCE THEM?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Financial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Generally </a:t>
            </a:r>
            <a:r>
              <a:rPr lang="en-US" sz="3500" i="1" dirty="0" smtClean="0">
                <a:solidFill>
                  <a:srgbClr val="7F7F7F"/>
                </a:solidFill>
              </a:rPr>
              <a:t>legally required </a:t>
            </a:r>
            <a:endParaRPr lang="en-US" sz="3500" dirty="0">
              <a:solidFill>
                <a:srgbClr val="7F7F7F"/>
              </a:solidFill>
            </a:endParaRP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Management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i="1" dirty="0" smtClean="0">
                <a:solidFill>
                  <a:srgbClr val="7F7F7F"/>
                </a:solidFill>
              </a:rPr>
              <a:t>Not</a:t>
            </a:r>
            <a:r>
              <a:rPr lang="en-US" sz="3500" dirty="0" smtClean="0"/>
              <a:t> legally required</a:t>
            </a:r>
          </a:p>
        </p:txBody>
      </p:sp>
    </p:spTree>
    <p:extLst>
      <p:ext uri="{BB962C8B-B14F-4D97-AF65-F5344CB8AC3E}">
        <p14:creationId xmlns:p14="http://schemas.microsoft.com/office/powerpoint/2010/main" val="1309237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WHAT TIME FRAME DO THEY COVER?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Financial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Reflect </a:t>
            </a:r>
            <a:r>
              <a:rPr lang="en-US" sz="3500" i="1" dirty="0" smtClean="0">
                <a:solidFill>
                  <a:srgbClr val="7F7F7F"/>
                </a:solidFill>
              </a:rPr>
              <a:t>past performance</a:t>
            </a:r>
            <a:r>
              <a:rPr lang="en-US" sz="3500" dirty="0" smtClean="0">
                <a:solidFill>
                  <a:srgbClr val="7F7F7F"/>
                </a:solidFill>
              </a:rPr>
              <a:t> </a:t>
            </a:r>
            <a:r>
              <a:rPr lang="en-US" sz="3500" dirty="0" smtClean="0"/>
              <a:t>and </a:t>
            </a:r>
            <a:r>
              <a:rPr lang="en-US" sz="3500" i="1" dirty="0" smtClean="0">
                <a:solidFill>
                  <a:srgbClr val="7F7F7F"/>
                </a:solidFill>
              </a:rPr>
              <a:t>current position</a:t>
            </a:r>
            <a:endParaRPr lang="en-US" sz="3500" i="1" dirty="0">
              <a:solidFill>
                <a:srgbClr val="7F7F7F"/>
              </a:solidFill>
            </a:endParaRP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Management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Includes </a:t>
            </a:r>
            <a:r>
              <a:rPr lang="en-US" sz="35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future forecasts</a:t>
            </a:r>
            <a:r>
              <a:rPr lang="en-US" sz="35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3500" dirty="0" smtClean="0"/>
              <a:t>as well as reflecting past performance</a:t>
            </a:r>
          </a:p>
        </p:txBody>
      </p:sp>
    </p:spTree>
    <p:extLst>
      <p:ext uri="{BB962C8B-B14F-4D97-AF65-F5344CB8AC3E}">
        <p14:creationId xmlns:p14="http://schemas.microsoft.com/office/powerpoint/2010/main" val="249549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HOW ARE THEY PREPARED?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Financial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In accordance with </a:t>
            </a:r>
            <a:r>
              <a:rPr lang="en-US" sz="3500" i="1" dirty="0" smtClean="0">
                <a:solidFill>
                  <a:srgbClr val="7F7F7F"/>
                </a:solidFill>
              </a:rPr>
              <a:t>International Accounting Standards</a:t>
            </a:r>
            <a:endParaRPr lang="en-US" sz="3500" dirty="0" smtClean="0">
              <a:solidFill>
                <a:srgbClr val="7F7F7F"/>
              </a:solidFill>
            </a:endParaRPr>
          </a:p>
          <a:p>
            <a:pPr marL="914400" indent="-914400">
              <a:spcBef>
                <a:spcPts val="2280"/>
              </a:spcBef>
              <a:spcAft>
                <a:spcPts val="4200"/>
              </a:spcAft>
              <a:buAutoNum type="arabicPeriod"/>
            </a:pPr>
            <a:r>
              <a:rPr lang="en-US" sz="3500" u="sng" dirty="0" smtClean="0"/>
              <a:t>Management Accounting</a:t>
            </a:r>
            <a:r>
              <a:rPr lang="en-US" sz="3500" dirty="0" smtClean="0"/>
              <a:t>:</a:t>
            </a:r>
            <a:br>
              <a:rPr lang="en-US" sz="3500" dirty="0" smtClean="0"/>
            </a:br>
            <a:r>
              <a:rPr lang="en-US" sz="3500" dirty="0" smtClean="0"/>
              <a:t>Based on </a:t>
            </a:r>
            <a:r>
              <a:rPr lang="en-US" sz="3500" i="1" dirty="0" smtClean="0">
                <a:solidFill>
                  <a:srgbClr val="7F7F7F"/>
                </a:solidFill>
              </a:rPr>
              <a:t>internal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37164060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300" dirty="0" smtClean="0"/>
              <a:t>What is financial accounting?</a:t>
            </a:r>
            <a:endParaRPr lang="en-US" sz="6300" dirty="0"/>
          </a:p>
        </p:txBody>
      </p:sp>
    </p:spTree>
    <p:extLst>
      <p:ext uri="{BB962C8B-B14F-4D97-AF65-F5344CB8AC3E}">
        <p14:creationId xmlns:p14="http://schemas.microsoft.com/office/powerpoint/2010/main" val="3756324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WHAT IS FINANCIAL ACCOUNTING?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sz="2800" dirty="0" smtClean="0"/>
              <a:t>Summary statements of financial performance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Concerned with the present and past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Legally required documents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Primarily for external users</a:t>
            </a:r>
          </a:p>
          <a:p>
            <a:pPr marL="0" indent="0" algn="ctr">
              <a:spcBef>
                <a:spcPts val="1824"/>
              </a:spcBef>
              <a:spcAft>
                <a:spcPts val="1800"/>
              </a:spcAft>
              <a:buNone/>
            </a:pPr>
            <a:r>
              <a:rPr lang="en-US" b="1" dirty="0" smtClean="0"/>
              <a:t>Who are the ‘external users’ </a:t>
            </a:r>
            <a:br>
              <a:rPr lang="en-US" b="1" dirty="0" smtClean="0"/>
            </a:br>
            <a:r>
              <a:rPr lang="en-US" b="1" dirty="0" smtClean="0"/>
              <a:t>of financial statements?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1563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70051" y="800100"/>
            <a:ext cx="5803900" cy="553998"/>
          </a:xfrm>
          <a:prstGeom prst="rect">
            <a:avLst/>
          </a:prstGeom>
          <a:solidFill>
            <a:srgbClr val="EF6028"/>
          </a:solidFill>
          <a:ln>
            <a:solidFill>
              <a:srgbClr val="EF60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bg1"/>
                </a:solidFill>
                <a:latin typeface="Arial Rounded MT Bold"/>
                <a:cs typeface="Arial Rounded MT Bold"/>
              </a:rPr>
              <a:t>FINANCIAL STATEMENTS</a:t>
            </a:r>
            <a:endParaRPr lang="en-US" sz="3000" dirty="0">
              <a:solidFill>
                <a:schemeClr val="bg1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576" y="2222668"/>
            <a:ext cx="2484000" cy="1015663"/>
          </a:xfrm>
          <a:prstGeom prst="rect">
            <a:avLst/>
          </a:prstGeom>
          <a:solidFill>
            <a:srgbClr val="F68436"/>
          </a:solidFill>
          <a:ln>
            <a:solidFill>
              <a:srgbClr val="EF60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bg1"/>
                </a:solidFill>
                <a:latin typeface="Arial Rounded MT Bold"/>
                <a:cs typeface="Arial Rounded MT Bold"/>
              </a:rPr>
              <a:t>INCOME STATEMENT</a:t>
            </a:r>
            <a:endParaRPr lang="en-US" sz="3000" dirty="0">
              <a:solidFill>
                <a:schemeClr val="bg1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69425" y="2209968"/>
            <a:ext cx="2484000" cy="1015663"/>
          </a:xfrm>
          <a:prstGeom prst="rect">
            <a:avLst/>
          </a:prstGeom>
          <a:solidFill>
            <a:srgbClr val="F68436"/>
          </a:solidFill>
          <a:ln>
            <a:solidFill>
              <a:srgbClr val="EF60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bg1"/>
                </a:solidFill>
                <a:latin typeface="Arial Rounded MT Bold"/>
                <a:cs typeface="Arial Rounded MT Bold"/>
              </a:rPr>
              <a:t>CASH FLOW STATEMENT</a:t>
            </a:r>
            <a:endParaRPr lang="en-US" sz="3000" dirty="0">
              <a:solidFill>
                <a:schemeClr val="bg1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8576" y="2209968"/>
            <a:ext cx="2486849" cy="1015663"/>
          </a:xfrm>
          <a:prstGeom prst="rect">
            <a:avLst/>
          </a:prstGeom>
          <a:solidFill>
            <a:srgbClr val="F68436"/>
          </a:solidFill>
          <a:ln>
            <a:solidFill>
              <a:srgbClr val="EF60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chemeClr val="bg1"/>
                </a:solidFill>
                <a:latin typeface="Arial Rounded MT Bold"/>
                <a:cs typeface="Arial Rounded MT Bold"/>
              </a:rPr>
              <a:t>BALANCE SHEET</a:t>
            </a:r>
            <a:endParaRPr lang="en-US" sz="3000" dirty="0">
              <a:solidFill>
                <a:schemeClr val="bg1"/>
              </a:solidFill>
              <a:latin typeface="Arial Rounded MT Bold"/>
              <a:cs typeface="Arial Rounded MT Bold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572001" y="1371600"/>
            <a:ext cx="0" cy="86399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816101" y="1775598"/>
            <a:ext cx="54737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841501" y="1762899"/>
            <a:ext cx="0" cy="43199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296151" y="1765099"/>
            <a:ext cx="0" cy="43199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0576" y="3390731"/>
            <a:ext cx="2484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>
                <a:latin typeface="Arial Rounded MT Bold"/>
                <a:cs typeface="Arial Rounded MT Bold"/>
              </a:rPr>
              <a:t>Reflects performance of a business over a period of time</a:t>
            </a:r>
            <a:endParaRPr lang="en-US" sz="1700" dirty="0">
              <a:latin typeface="Arial Rounded MT Bold"/>
              <a:cs typeface="Arial Rounded MT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31425" y="3392644"/>
            <a:ext cx="2484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>
                <a:latin typeface="Arial Rounded MT Bold"/>
                <a:cs typeface="Arial Rounded MT Bold"/>
              </a:rPr>
              <a:t>Reflects position of a business at a certain point in time</a:t>
            </a:r>
            <a:endParaRPr lang="en-US" sz="1700" dirty="0">
              <a:latin typeface="Arial Rounded MT Bold"/>
              <a:cs typeface="Arial Rounded MT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69425" y="3392644"/>
            <a:ext cx="2484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err="1" smtClean="0">
                <a:latin typeface="Arial Rounded MT Bold"/>
                <a:cs typeface="Arial Rounded MT Bold"/>
              </a:rPr>
              <a:t>Summarises</a:t>
            </a:r>
            <a:r>
              <a:rPr lang="en-US" sz="1700" dirty="0" smtClean="0">
                <a:latin typeface="Arial Rounded MT Bold"/>
                <a:cs typeface="Arial Rounded MT Bold"/>
              </a:rPr>
              <a:t> cash inflows and outflows over a period of time</a:t>
            </a:r>
            <a:endParaRPr lang="en-US" sz="1700" dirty="0">
              <a:latin typeface="Arial Rounded MT Bold"/>
              <a:cs typeface="Arial Rounded MT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9501" y="4928988"/>
            <a:ext cx="248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 smtClean="0">
                <a:solidFill>
                  <a:srgbClr val="EF6028"/>
                </a:solidFill>
                <a:latin typeface="Arial Rounded MT Bold"/>
                <a:cs typeface="Arial Rounded MT Bold"/>
              </a:rPr>
              <a:t>Statement of Profit or Loss</a:t>
            </a:r>
            <a:endParaRPr lang="en-US" sz="2100" dirty="0">
              <a:solidFill>
                <a:srgbClr val="EF6028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31425" y="4928988"/>
            <a:ext cx="248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 smtClean="0">
                <a:solidFill>
                  <a:srgbClr val="EF6028"/>
                </a:solidFill>
                <a:latin typeface="Arial Rounded MT Bold"/>
                <a:cs typeface="Arial Rounded MT Bold"/>
              </a:rPr>
              <a:t>Statement of Financial Position</a:t>
            </a:r>
            <a:endParaRPr lang="en-US" sz="2100" dirty="0">
              <a:solidFill>
                <a:srgbClr val="EF6028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69425" y="4928988"/>
            <a:ext cx="248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 smtClean="0">
                <a:solidFill>
                  <a:srgbClr val="EF6028"/>
                </a:solidFill>
                <a:latin typeface="Arial Rounded MT Bold"/>
                <a:cs typeface="Arial Rounded MT Bold"/>
              </a:rPr>
              <a:t>Statement of Cash Flow</a:t>
            </a:r>
            <a:endParaRPr lang="en-US" sz="2100" dirty="0">
              <a:solidFill>
                <a:srgbClr val="EF6028"/>
              </a:solidFill>
              <a:latin typeface="Arial Rounded MT Bold"/>
              <a:cs typeface="Arial Rounded MT Bold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99501" y="4344788"/>
            <a:ext cx="7953924" cy="415498"/>
            <a:chOff x="599501" y="4535288"/>
            <a:chExt cx="7953924" cy="415498"/>
          </a:xfrm>
        </p:grpSpPr>
        <p:cxnSp>
          <p:nvCxnSpPr>
            <p:cNvPr id="29" name="Straight Connector 28"/>
            <p:cNvCxnSpPr/>
            <p:nvPr/>
          </p:nvCxnSpPr>
          <p:spPr>
            <a:xfrm flipH="1">
              <a:off x="599501" y="4760098"/>
              <a:ext cx="7953924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4007144" y="4535288"/>
              <a:ext cx="1188000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Rounded MT Bold"/>
                  <a:cs typeface="Arial Rounded MT Bold"/>
                </a:rPr>
                <a:t>A.K.A</a:t>
              </a:r>
              <a:endPara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6056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CASH ACCOUNTING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sz="2800" dirty="0" smtClean="0"/>
              <a:t>Record income when it is received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Record expenses when you make payment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Profit / (Loss) = Income – Expenditure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Keep records using a ‘cash book’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0746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CASH BOOK EXAMPLE</a:t>
            </a:r>
            <a:endParaRPr lang="en-US" dirty="0"/>
          </a:p>
        </p:txBody>
      </p:sp>
      <p:pic>
        <p:nvPicPr>
          <p:cNvPr id="2" name="Picture 1" descr="Screen Shot 2016-07-13 at 10.36.5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00" y="1488344"/>
            <a:ext cx="8028000" cy="4363912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2739520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accent6">
                    <a:lumMod val="75000"/>
                  </a:schemeClr>
                </a:solidFill>
                <a:latin typeface="Arial Rounded MT Bold"/>
                <a:ea typeface="+mj-ea"/>
                <a:cs typeface="Arial Rounded MT Bold"/>
              </a:defRPr>
            </a:lvl1pPr>
          </a:lstStyle>
          <a:p>
            <a:pPr algn="r"/>
            <a:r>
              <a:rPr lang="en-US" dirty="0" smtClean="0"/>
              <a:t>THE LIMITS OF CASH ACCOUNTING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838965" y="1735826"/>
            <a:ext cx="7466070" cy="3944431"/>
            <a:chOff x="1084930" y="1697726"/>
            <a:chExt cx="7466070" cy="3944431"/>
          </a:xfrm>
        </p:grpSpPr>
        <p:grpSp>
          <p:nvGrpSpPr>
            <p:cNvPr id="11" name="Group 10"/>
            <p:cNvGrpSpPr/>
            <p:nvPr/>
          </p:nvGrpSpPr>
          <p:grpSpPr>
            <a:xfrm>
              <a:off x="1084930" y="1697726"/>
              <a:ext cx="7466070" cy="3774243"/>
              <a:chOff x="1084930" y="2265779"/>
              <a:chExt cx="7466070" cy="3774243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6734804" y="4164290"/>
                <a:ext cx="1152000" cy="396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4504000" y="3327400"/>
                <a:ext cx="1152000" cy="8280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362104" y="4159823"/>
                <a:ext cx="1152000" cy="16248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748202" y="3722013"/>
                <a:ext cx="23767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BUILD HOTEL</a:t>
                </a:r>
                <a:endPara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 flipH="1" flipV="1">
                <a:off x="1699379" y="2265779"/>
                <a:ext cx="10790" cy="3774243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headEnd type="arrow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1084930" y="3934768"/>
                <a:ext cx="5759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£0 </a:t>
                </a:r>
                <a:endPara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1695044" y="4159822"/>
                <a:ext cx="6855956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3894502" y="4222452"/>
                <a:ext cx="23767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HOTEL SALES</a:t>
                </a:r>
                <a:endPara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136167" y="3720863"/>
                <a:ext cx="23767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RUNNING COSTS</a:t>
                </a:r>
                <a:endPara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748202" y="5242047"/>
              <a:ext cx="237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- £2m</a:t>
              </a:r>
              <a:endPara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894502" y="2315759"/>
              <a:ext cx="237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£</a:t>
              </a:r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1</a:t>
              </a:r>
              <a:r>
                <a:rPr 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m</a:t>
              </a:r>
              <a:endPara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23467" y="4041837"/>
              <a:ext cx="237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- £0.5m</a:t>
              </a:r>
              <a:endPara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295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accent6">
                    <a:lumMod val="75000"/>
                  </a:schemeClr>
                </a:solidFill>
                <a:latin typeface="Arial Rounded MT Bold"/>
                <a:ea typeface="+mj-ea"/>
                <a:cs typeface="Arial Rounded MT Bold"/>
              </a:defRPr>
            </a:lvl1pPr>
          </a:lstStyle>
          <a:p>
            <a:pPr algn="r"/>
            <a:r>
              <a:rPr lang="en-US" dirty="0" smtClean="0"/>
              <a:t>THE LIMITS OF CASH ACCOUNTING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20296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494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Description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35400" y="15494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Income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75400" y="1549400"/>
            <a:ext cx="231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Expenditure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21336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Build Hotel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27432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Hotel Sales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3655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Running Costs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457200" y="39854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46800" y="21336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£2m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59200" y="2734965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£1m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46800" y="33655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£0.5m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457200" y="45950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057204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TOTAL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59200" y="4053434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£1m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46800" y="4053434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£2.5m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111304"/>
            <a:ext cx="6324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PROFIT / (LOSS):       </a:t>
            </a:r>
            <a:r>
              <a:rPr lang="en-US" sz="3200" dirty="0" smtClean="0">
                <a:solidFill>
                  <a:schemeClr val="accent2"/>
                </a:solidFill>
                <a:latin typeface="Arial Rounded MT Bold"/>
                <a:cs typeface="Arial Rounded MT Bold"/>
              </a:rPr>
              <a:t>(£1.5m)</a:t>
            </a:r>
            <a:endParaRPr lang="en-US" sz="3200" dirty="0">
              <a:solidFill>
                <a:schemeClr val="accent2"/>
              </a:solidFill>
              <a:latin typeface="Arial Rounded MT Bold"/>
              <a:cs typeface="Arial Rounded MT Bold"/>
            </a:endParaRPr>
          </a:p>
        </p:txBody>
      </p:sp>
    </p:spTree>
    <p:extLst>
      <p:ext uri="{BB962C8B-B14F-4D97-AF65-F5344CB8AC3E}">
        <p14:creationId xmlns:p14="http://schemas.microsoft.com/office/powerpoint/2010/main" val="1208743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accent6">
                    <a:lumMod val="75000"/>
                  </a:schemeClr>
                </a:solidFill>
                <a:latin typeface="Arial Rounded MT Bold"/>
                <a:ea typeface="+mj-ea"/>
                <a:cs typeface="Arial Rounded MT Bold"/>
              </a:defRPr>
            </a:lvl1pPr>
          </a:lstStyle>
          <a:p>
            <a:pPr algn="r"/>
            <a:r>
              <a:rPr lang="en-US" dirty="0" smtClean="0"/>
              <a:t>THE LIMITS OF CASH ACCOUNTING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20296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494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Description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35400" y="15494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Income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75400" y="1549400"/>
            <a:ext cx="231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Expenditure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21336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Build Hotel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27432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Hotel Sales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365500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Running Costs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457200" y="39854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46800" y="21336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£2m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59200" y="2734965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£1m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46800" y="3365500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/>
                <a:cs typeface="Arial Rounded MT Bold"/>
              </a:rPr>
              <a:t>£0.5m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/>
              <a:cs typeface="Arial Rounded MT Bold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457200" y="4595069"/>
            <a:ext cx="82296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057204"/>
            <a:ext cx="280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TOTAL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59200" y="4053434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£1m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46800" y="4053434"/>
            <a:ext cx="23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£2.5m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/>
              <a:cs typeface="Arial Rounded MT Bol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111304"/>
            <a:ext cx="6324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rPr>
              <a:t>PROFIT / (LOSS):       </a:t>
            </a:r>
            <a:r>
              <a:rPr lang="en-US" sz="3200" dirty="0" smtClean="0">
                <a:solidFill>
                  <a:schemeClr val="accent2"/>
                </a:solidFill>
                <a:latin typeface="Arial Rounded MT Bold"/>
                <a:cs typeface="Arial Rounded MT Bold"/>
              </a:rPr>
              <a:t>(£1.5m)</a:t>
            </a:r>
            <a:endParaRPr lang="en-US" sz="3200" dirty="0">
              <a:solidFill>
                <a:schemeClr val="accent2"/>
              </a:solidFill>
              <a:latin typeface="Arial Rounded MT Bold"/>
              <a:cs typeface="Arial Rounded MT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2133600"/>
            <a:ext cx="8229600" cy="461665"/>
          </a:xfrm>
          <a:prstGeom prst="rect">
            <a:avLst/>
          </a:prstGeom>
          <a:noFill/>
          <a:ln w="38100" cmpd="sng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21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LIMITS OF CASH ACCOUNTING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Cash is </a:t>
            </a:r>
            <a:r>
              <a:rPr lang="en-US" sz="28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very</a:t>
            </a:r>
            <a:r>
              <a:rPr lang="en-US" sz="2800" dirty="0" smtClean="0"/>
              <a:t> important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However a business is more than its cash flows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Cash accounting works for simple businesses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Cannot capture finances of complex businesses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Use </a:t>
            </a:r>
            <a:r>
              <a:rPr lang="en-US" sz="2800" i="1" dirty="0" smtClean="0">
                <a:solidFill>
                  <a:srgbClr val="7F7F7F"/>
                </a:solidFill>
              </a:rPr>
              <a:t>accruals</a:t>
            </a:r>
            <a:r>
              <a:rPr lang="en-US" sz="2800" dirty="0" smtClean="0"/>
              <a:t> </a:t>
            </a:r>
            <a:r>
              <a:rPr lang="en-US" sz="2800" i="1" dirty="0" smtClean="0">
                <a:solidFill>
                  <a:srgbClr val="7F7F7F"/>
                </a:solidFill>
              </a:rPr>
              <a:t>accounting</a:t>
            </a:r>
            <a:r>
              <a:rPr lang="en-US" sz="2800" dirty="0" smtClean="0"/>
              <a:t> instead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222456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500" dirty="0" smtClean="0"/>
              <a:t>What is the accounting equation?</a:t>
            </a:r>
            <a:endParaRPr lang="en-US" sz="5500" dirty="0"/>
          </a:p>
        </p:txBody>
      </p:sp>
    </p:spTree>
    <p:extLst>
      <p:ext uri="{BB962C8B-B14F-4D97-AF65-F5344CB8AC3E}">
        <p14:creationId xmlns:p14="http://schemas.microsoft.com/office/powerpoint/2010/main" val="667836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A BUSINESS HAS THREE THINGS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3000" b="1" dirty="0" smtClean="0"/>
              <a:t>Assets: </a:t>
            </a:r>
            <a:r>
              <a:rPr lang="en-US" sz="3000" dirty="0" smtClean="0"/>
              <a:t>what the business </a:t>
            </a:r>
            <a:r>
              <a:rPr lang="en-US" sz="3000" i="1" dirty="0" smtClean="0">
                <a:solidFill>
                  <a:srgbClr val="7F7F7F"/>
                </a:solidFill>
              </a:rPr>
              <a:t>owns</a:t>
            </a:r>
            <a:r>
              <a:rPr lang="en-US" sz="3000" dirty="0" smtClean="0">
                <a:solidFill>
                  <a:srgbClr val="7F7F7F"/>
                </a:solidFill>
              </a:rPr>
              <a:t> </a:t>
            </a:r>
          </a:p>
          <a:p>
            <a:pPr marL="0" indent="0">
              <a:spcBef>
                <a:spcPts val="5640"/>
              </a:spcBef>
              <a:spcAft>
                <a:spcPts val="1800"/>
              </a:spcAft>
              <a:buNone/>
            </a:pPr>
            <a:r>
              <a:rPr lang="en-US" sz="3000" b="1" dirty="0" smtClean="0"/>
              <a:t>Liabilities:</a:t>
            </a:r>
            <a:r>
              <a:rPr lang="en-US" sz="3000" dirty="0" smtClean="0"/>
              <a:t> what the business </a:t>
            </a:r>
            <a:r>
              <a:rPr lang="en-US" sz="3000" i="1" dirty="0" smtClean="0">
                <a:solidFill>
                  <a:srgbClr val="7F7F7F"/>
                </a:solidFill>
              </a:rPr>
              <a:t>owes</a:t>
            </a:r>
            <a:r>
              <a:rPr lang="en-US" sz="3000" dirty="0" smtClean="0">
                <a:solidFill>
                  <a:srgbClr val="7F7F7F"/>
                </a:solidFill>
              </a:rPr>
              <a:t> </a:t>
            </a:r>
          </a:p>
          <a:p>
            <a:pPr marL="0" indent="0">
              <a:spcBef>
                <a:spcPts val="5640"/>
              </a:spcBef>
              <a:spcAft>
                <a:spcPts val="1800"/>
              </a:spcAft>
              <a:buNone/>
            </a:pPr>
            <a:r>
              <a:rPr lang="en-US" sz="3000" b="1" dirty="0" smtClean="0"/>
              <a:t>Capital: </a:t>
            </a:r>
            <a:r>
              <a:rPr lang="en-US" sz="3000" dirty="0" smtClean="0"/>
              <a:t>what the </a:t>
            </a:r>
            <a:r>
              <a:rPr lang="en-US" sz="30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shareholders</a:t>
            </a:r>
            <a:r>
              <a:rPr lang="en-US" sz="3000" dirty="0" smtClean="0"/>
              <a:t> own / are owed</a:t>
            </a:r>
          </a:p>
        </p:txBody>
      </p:sp>
    </p:spTree>
    <p:extLst>
      <p:ext uri="{BB962C8B-B14F-4D97-AF65-F5344CB8AC3E}">
        <p14:creationId xmlns:p14="http://schemas.microsoft.com/office/powerpoint/2010/main" val="3747553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ACCOUNTING EQUATION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330200" y="1849051"/>
            <a:ext cx="8483600" cy="566698"/>
            <a:chOff x="330200" y="3139301"/>
            <a:chExt cx="8483600" cy="566698"/>
          </a:xfrm>
        </p:grpSpPr>
        <p:sp>
          <p:nvSpPr>
            <p:cNvPr id="11" name="TextBox 10"/>
            <p:cNvSpPr txBox="1"/>
            <p:nvPr/>
          </p:nvSpPr>
          <p:spPr>
            <a:xfrm>
              <a:off x="330200" y="3152001"/>
              <a:ext cx="2700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ASSETS</a:t>
              </a:r>
              <a:endPara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22000" y="3152001"/>
              <a:ext cx="2700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LIABILITIES</a:t>
              </a:r>
              <a:endPara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13800" y="3152001"/>
              <a:ext cx="2700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CAPITAL</a:t>
              </a:r>
              <a:endPara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03500" y="3139301"/>
              <a:ext cx="7201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-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07700" y="3152001"/>
              <a:ext cx="7201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76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ACCOUNTING EQUATION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30200" y="1849051"/>
            <a:ext cx="8483600" cy="3464699"/>
            <a:chOff x="330200" y="1628001"/>
            <a:chExt cx="8483600" cy="3464699"/>
          </a:xfrm>
        </p:grpSpPr>
        <p:grpSp>
          <p:nvGrpSpPr>
            <p:cNvPr id="16" name="Group 15"/>
            <p:cNvGrpSpPr/>
            <p:nvPr/>
          </p:nvGrpSpPr>
          <p:grpSpPr>
            <a:xfrm>
              <a:off x="330200" y="1628001"/>
              <a:ext cx="8483600" cy="566698"/>
              <a:chOff x="330200" y="3139301"/>
              <a:chExt cx="8483600" cy="566698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302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ASSETS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2220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LIABILITIES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1138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CAPITAL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603500" y="31393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-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807700" y="31520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=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302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BUILDINGS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EQUIPMENT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CASH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STOCK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UNPAID CUSTOMER BILLS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7508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ACCOUNTING EQUATION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30200" y="1849051"/>
            <a:ext cx="8483600" cy="3464699"/>
            <a:chOff x="330200" y="1628001"/>
            <a:chExt cx="8483600" cy="3464699"/>
          </a:xfrm>
        </p:grpSpPr>
        <p:grpSp>
          <p:nvGrpSpPr>
            <p:cNvPr id="16" name="Group 15"/>
            <p:cNvGrpSpPr/>
            <p:nvPr/>
          </p:nvGrpSpPr>
          <p:grpSpPr>
            <a:xfrm>
              <a:off x="330200" y="1628001"/>
              <a:ext cx="8483600" cy="566698"/>
              <a:chOff x="330200" y="3139301"/>
              <a:chExt cx="8483600" cy="566698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302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ASSETS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2220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LIABILITIES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1138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CAPITAL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603500" y="31393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-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807700" y="31520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=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302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BUILDINGS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EQUIPMENT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CASH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STOCK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UNPAID CUSTOMER BILLS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220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BANK LOANS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UNPAID SUPPLIER BILLS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TAXES OWED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3343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ACCOUNTING EQUATION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30200" y="1849051"/>
            <a:ext cx="8483600" cy="3464699"/>
            <a:chOff x="330200" y="1628001"/>
            <a:chExt cx="8483600" cy="3464699"/>
          </a:xfrm>
        </p:grpSpPr>
        <p:grpSp>
          <p:nvGrpSpPr>
            <p:cNvPr id="16" name="Group 15"/>
            <p:cNvGrpSpPr/>
            <p:nvPr/>
          </p:nvGrpSpPr>
          <p:grpSpPr>
            <a:xfrm>
              <a:off x="330200" y="1628001"/>
              <a:ext cx="8483600" cy="566698"/>
              <a:chOff x="330200" y="3139301"/>
              <a:chExt cx="8483600" cy="566698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302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ASSETS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2220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LIABILITIES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113800" y="3152001"/>
                <a:ext cx="2700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CAPITAL</a:t>
                </a:r>
                <a:endParaRPr 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603500" y="31393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-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807700" y="3152001"/>
                <a:ext cx="7201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=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302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BUILDINGS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EQUIPMENT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CASH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STOCK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UNPAID CUSTOMER BILLS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220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BANK LOANS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UNPAID SUPPLIER BILLS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TAXES OWED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13800" y="2362200"/>
              <a:ext cx="2700000" cy="27305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MONEY INVESTED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PROFITS / LOSSES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REVENUE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EXPENSES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4743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ASSET, LIABILITY OR CAPITAL?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Work in pairs to review a list of items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Classify items as assets, liabilities or capital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Discuss </a:t>
            </a:r>
            <a:r>
              <a:rPr lang="en-US" sz="2800" i="1" dirty="0" smtClean="0"/>
              <a:t>why</a:t>
            </a:r>
            <a:r>
              <a:rPr lang="en-US" sz="2800" dirty="0" smtClean="0"/>
              <a:t> you have made your choices </a:t>
            </a:r>
          </a:p>
        </p:txBody>
      </p:sp>
    </p:spTree>
    <p:extLst>
      <p:ext uri="{BB962C8B-B14F-4D97-AF65-F5344CB8AC3E}">
        <p14:creationId xmlns:p14="http://schemas.microsoft.com/office/powerpoint/2010/main" val="10659661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accent6">
                    <a:lumMod val="75000"/>
                  </a:schemeClr>
                </a:solidFill>
                <a:latin typeface="Arial Rounded MT Bold"/>
                <a:ea typeface="+mj-ea"/>
                <a:cs typeface="Arial Rounded MT Bold"/>
              </a:defRPr>
            </a:lvl1pPr>
          </a:lstStyle>
          <a:p>
            <a:pPr algn="r"/>
            <a:r>
              <a:rPr lang="en-US" dirty="0" smtClean="0"/>
              <a:t>BUILDING A HOTEL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13995" y="1707271"/>
            <a:ext cx="8116009" cy="3528331"/>
            <a:chOff x="513996" y="2432979"/>
            <a:chExt cx="8116009" cy="3528331"/>
          </a:xfrm>
        </p:grpSpPr>
        <p:grpSp>
          <p:nvGrpSpPr>
            <p:cNvPr id="2" name="Group 1"/>
            <p:cNvGrpSpPr/>
            <p:nvPr/>
          </p:nvGrpSpPr>
          <p:grpSpPr>
            <a:xfrm>
              <a:off x="513996" y="2432979"/>
              <a:ext cx="8116009" cy="3528331"/>
              <a:chOff x="1170005" y="2675626"/>
              <a:chExt cx="8116009" cy="3528331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7576157" y="4412353"/>
                <a:ext cx="899999" cy="359826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5898777" y="3622654"/>
                <a:ext cx="900000" cy="75236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150021" y="4412353"/>
                <a:ext cx="1049843" cy="1476448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878489" y="4087211"/>
                <a:ext cx="1613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BUILD HOTEL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 flipH="1" flipV="1">
                <a:off x="1729966" y="2675626"/>
                <a:ext cx="9833" cy="3429473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headEnd type="arrow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1170005" y="4192156"/>
                <a:ext cx="524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£0 </a:t>
                </a:r>
                <a:endPara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1726014" y="4396652"/>
                <a:ext cx="7560000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5606263" y="4413118"/>
                <a:ext cx="15470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HOTEL SALES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7103577" y="4061811"/>
                <a:ext cx="18559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RUNNING COSTS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4150022" y="5896180"/>
                <a:ext cx="10498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- £2m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898777" y="3312106"/>
                <a:ext cx="90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£</a:t>
                </a:r>
                <a:r>
                  <a:rPr 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1</a:t>
                </a:r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m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7570656" y="4777186"/>
                <a:ext cx="8999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- £0.5m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511721" y="2901124"/>
                <a:ext cx="900000" cy="1476448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/>
                  <a:cs typeface="Arial Rounded MT Bold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035215" y="4413118"/>
                <a:ext cx="18559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/>
                    <a:cs typeface="Arial Rounded MT Bold"/>
                  </a:rPr>
                  <a:t>INVESTMENT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endParaRPr>
              </a:p>
            </p:txBody>
          </p:sp>
        </p:grpSp>
        <p:cxnSp>
          <p:nvCxnSpPr>
            <p:cNvPr id="4" name="Straight Connector 3"/>
            <p:cNvCxnSpPr/>
            <p:nvPr/>
          </p:nvCxnSpPr>
          <p:spPr>
            <a:xfrm>
              <a:off x="1855712" y="3402636"/>
              <a:ext cx="90000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855712" y="2775870"/>
              <a:ext cx="9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£1m</a:t>
              </a:r>
              <a:b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</a:br>
              <a: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LOAN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43012" y="3527432"/>
              <a:ext cx="935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ounded MT Bold"/>
                  <a:cs typeface="Arial Rounded MT Bold"/>
                </a:rPr>
                <a:t>£1m SHARES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/>
                <a:cs typeface="Arial Rounded MT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0975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2000" y="1092200"/>
            <a:ext cx="7560000" cy="4947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94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2000" y="1892300"/>
            <a:ext cx="7560000" cy="414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64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2000" y="2730500"/>
            <a:ext cx="7560000" cy="330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44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2000" y="3733800"/>
            <a:ext cx="7560000" cy="2305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36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2000" y="4775200"/>
            <a:ext cx="7560000" cy="126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894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92000" y="1181100"/>
            <a:ext cx="7560000" cy="480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8.59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70096"/>
            <a:ext cx="7200000" cy="538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76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500" dirty="0" smtClean="0"/>
              <a:t>How do you create financial statements? </a:t>
            </a:r>
            <a:endParaRPr lang="en-US" sz="5500" dirty="0"/>
          </a:p>
        </p:txBody>
      </p:sp>
    </p:spTree>
    <p:extLst>
      <p:ext uri="{BB962C8B-B14F-4D97-AF65-F5344CB8AC3E}">
        <p14:creationId xmlns:p14="http://schemas.microsoft.com/office/powerpoint/2010/main" val="1859103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11-15 at 19.05.2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2" y="457201"/>
            <a:ext cx="7199997" cy="54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14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879600"/>
            <a:ext cx="6618317" cy="408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54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2514600"/>
            <a:ext cx="6618317" cy="344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37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3111500"/>
            <a:ext cx="6618317" cy="285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3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3708400"/>
            <a:ext cx="6618317" cy="2254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67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4445000"/>
            <a:ext cx="6618317" cy="151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97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18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8.49.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57192"/>
            <a:ext cx="7200000" cy="544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588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515533"/>
            <a:ext cx="6618317" cy="4572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35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676400"/>
            <a:ext cx="6618317" cy="4411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04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2861733"/>
            <a:ext cx="6618317" cy="322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89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3132667"/>
            <a:ext cx="6618317" cy="2955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54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3928533"/>
            <a:ext cx="6618317" cy="215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90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4402667"/>
            <a:ext cx="6618317" cy="1685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27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4859867"/>
            <a:ext cx="6618317" cy="122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661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09.10.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1" y="278711"/>
            <a:ext cx="6119998" cy="578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25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11-16 at 15.47.2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558789"/>
            <a:ext cx="7200000" cy="528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1638300"/>
            <a:ext cx="6618317" cy="432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7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1943100"/>
            <a:ext cx="6618317" cy="40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15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2717800"/>
            <a:ext cx="6618317" cy="324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06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3213100"/>
            <a:ext cx="6618317" cy="275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6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3949700"/>
            <a:ext cx="6618317" cy="201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57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4406900"/>
            <a:ext cx="6618317" cy="155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47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282700" y="5257800"/>
            <a:ext cx="6618317" cy="70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52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6191054" y="5486400"/>
            <a:ext cx="1436717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08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3 at 15.35.4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9" y="317499"/>
            <a:ext cx="6111542" cy="57251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6777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STATEMENTS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Requirements vary by company type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All companies must produce a balance sheet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Profit and loss required for tax return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Small companies do not need to submit cash flow statements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Some grant funders expect cash </a:t>
            </a:r>
            <a:r>
              <a:rPr lang="en-US" sz="2800" dirty="0"/>
              <a:t>f</a:t>
            </a:r>
            <a:r>
              <a:rPr lang="en-US" sz="2800" dirty="0" smtClean="0"/>
              <a:t>low statements</a:t>
            </a:r>
          </a:p>
        </p:txBody>
      </p:sp>
    </p:spTree>
    <p:extLst>
      <p:ext uri="{BB962C8B-B14F-4D97-AF65-F5344CB8AC3E}">
        <p14:creationId xmlns:p14="http://schemas.microsoft.com/office/powerpoint/2010/main" val="457261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What is the matching principle?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029776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MATCHING PRINCIPLE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None/>
            </a:pPr>
            <a:r>
              <a:rPr lang="en-US" sz="2800" b="1" dirty="0" smtClean="0"/>
              <a:t>Cash Accounting: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800" dirty="0" smtClean="0"/>
              <a:t>Record transactions based on when cash is paid or received</a:t>
            </a:r>
          </a:p>
          <a:p>
            <a:pPr marL="0" indent="0">
              <a:spcBef>
                <a:spcPts val="72"/>
              </a:spcBef>
              <a:spcAft>
                <a:spcPts val="600"/>
              </a:spcAft>
              <a:buNone/>
            </a:pPr>
            <a:endParaRPr lang="en-US" sz="28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800" b="1" dirty="0" smtClean="0"/>
              <a:t>Accruals Accounting: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800" dirty="0" smtClean="0"/>
              <a:t>Record transactions in the period in which they relate to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1591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MATCHING INCOME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Record income when it is </a:t>
            </a:r>
            <a:r>
              <a:rPr lang="en-US" sz="28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earned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Generally record income on the date you send a bill to a customer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Not when the customer pays their bill</a:t>
            </a:r>
          </a:p>
        </p:txBody>
      </p:sp>
    </p:spTree>
    <p:extLst>
      <p:ext uri="{BB962C8B-B14F-4D97-AF65-F5344CB8AC3E}">
        <p14:creationId xmlns:p14="http://schemas.microsoft.com/office/powerpoint/2010/main" val="2560577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91596" y="2239704"/>
            <a:ext cx="7560808" cy="0"/>
          </a:xfrm>
          <a:prstGeom prst="line">
            <a:avLst/>
          </a:prstGeom>
          <a:ln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357636" y="1735648"/>
            <a:ext cx="1800000" cy="2125400"/>
            <a:chOff x="357636" y="1556792"/>
            <a:chExt cx="1800000" cy="2125400"/>
          </a:xfrm>
          <a:effectLst/>
        </p:grpSpPr>
        <p:sp>
          <p:nvSpPr>
            <p:cNvPr id="6" name="TextBox 5"/>
            <p:cNvSpPr txBox="1"/>
            <p:nvPr/>
          </p:nvSpPr>
          <p:spPr>
            <a:xfrm>
              <a:off x="539552" y="1556792"/>
              <a:ext cx="1440000" cy="461665"/>
            </a:xfrm>
            <a:prstGeom prst="rect">
              <a:avLst/>
            </a:prstGeom>
            <a:noFill/>
            <a:effectLst>
              <a:outerShdw blurRad="50800" dist="38100" dir="2700000">
                <a:schemeClr val="bg1">
                  <a:lumMod val="75000"/>
                  <a:alpha val="43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Dec 30</a:t>
              </a:r>
              <a:r>
                <a:rPr lang="en-US" sz="2400" b="1" kern="2400" baseline="30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th</a:t>
              </a:r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 </a:t>
              </a:r>
              <a:endParaRPr lang="en-US" sz="2400" b="1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7636" y="2204864"/>
              <a:ext cx="1800000" cy="14773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Invoice</a:t>
              </a:r>
              <a:b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</a:br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Raised</a:t>
              </a:r>
              <a:b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</a:br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£1,000</a:t>
              </a:r>
              <a:endParaRPr lang="en-US" sz="3000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rot="5400000">
              <a:off x="1205632" y="2114848"/>
              <a:ext cx="108000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86364" y="1735648"/>
            <a:ext cx="1800000" cy="2125400"/>
            <a:chOff x="6986364" y="1556792"/>
            <a:chExt cx="1800000" cy="2125400"/>
          </a:xfrm>
          <a:effectLst/>
        </p:grpSpPr>
        <p:cxnSp>
          <p:nvCxnSpPr>
            <p:cNvPr id="10" name="Straight Connector 9"/>
            <p:cNvCxnSpPr/>
            <p:nvPr/>
          </p:nvCxnSpPr>
          <p:spPr>
            <a:xfrm rot="5400000">
              <a:off x="7830368" y="2114848"/>
              <a:ext cx="108000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164288" y="1556792"/>
              <a:ext cx="1440000" cy="461665"/>
            </a:xfrm>
            <a:prstGeom prst="rect">
              <a:avLst/>
            </a:prstGeom>
            <a:noFill/>
            <a:effectLst>
              <a:outerShdw blurRad="50800" dist="38100" dir="2700000">
                <a:schemeClr val="bg1">
                  <a:lumMod val="75000"/>
                  <a:alpha val="43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Jan 10</a:t>
              </a:r>
              <a:r>
                <a:rPr lang="en-US" sz="2400" b="1" kern="2400" baseline="30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th</a:t>
              </a:r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 </a:t>
              </a:r>
              <a:endParaRPr lang="en-US" sz="2400" b="1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86364" y="2204864"/>
              <a:ext cx="1800000" cy="14773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Client Pays</a:t>
              </a:r>
              <a:b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</a:br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£1,000</a:t>
              </a:r>
              <a:endParaRPr lang="en-US" sz="3000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673996" y="1735648"/>
            <a:ext cx="1800000" cy="1676435"/>
            <a:chOff x="3673996" y="1556792"/>
            <a:chExt cx="1800000" cy="1676435"/>
          </a:xfrm>
          <a:effectLst/>
        </p:grpSpPr>
        <p:cxnSp>
          <p:nvCxnSpPr>
            <p:cNvPr id="14" name="Straight Connector 13"/>
            <p:cNvCxnSpPr/>
            <p:nvPr/>
          </p:nvCxnSpPr>
          <p:spPr>
            <a:xfrm rot="5400000">
              <a:off x="4518000" y="2114848"/>
              <a:ext cx="108000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851920" y="1556792"/>
              <a:ext cx="1440000" cy="461665"/>
            </a:xfrm>
            <a:prstGeom prst="rect">
              <a:avLst/>
            </a:prstGeom>
            <a:noFill/>
            <a:effectLst>
              <a:outerShdw blurRad="50800" dist="38100" dir="2700000">
                <a:schemeClr val="bg1">
                  <a:lumMod val="75000"/>
                  <a:alpha val="43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Dec 31</a:t>
              </a:r>
              <a:r>
                <a:rPr lang="en-US" sz="2400" b="1" kern="2400" baseline="30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st</a:t>
              </a:r>
              <a:r>
                <a:rPr lang="en-US" sz="2400" b="1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  </a:t>
              </a:r>
              <a:endParaRPr lang="en-US" sz="2400" b="1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73996" y="2217564"/>
              <a:ext cx="1800000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Year </a:t>
              </a:r>
              <a:b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</a:br>
              <a:r>
                <a:rPr lang="en-US" sz="3000" kern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cs typeface="Arial"/>
                </a:rPr>
                <a:t>End</a:t>
              </a:r>
              <a:endParaRPr lang="en-US" sz="3000" kern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09600" y="4450467"/>
            <a:ext cx="7924800" cy="113877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1800"/>
              </a:spcAft>
              <a:buClr>
                <a:schemeClr val="accent6">
                  <a:lumMod val="75000"/>
                </a:schemeClr>
              </a:buClr>
            </a:pPr>
            <a:r>
              <a:rPr lang="en-US" sz="3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How much income did the business make in the accounting period?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HOTEL INCOME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59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HOTEL INCOME </a:t>
            </a:r>
            <a:r>
              <a:rPr lang="en-US" dirty="0" smtClean="0"/>
              <a:t>EXAMPLE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 rot="5400000">
            <a:off x="2468000" y="3624146"/>
            <a:ext cx="3649200" cy="1588"/>
          </a:xfrm>
          <a:prstGeom prst="line">
            <a:avLst/>
          </a:prstGeom>
          <a:ln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2282146"/>
            <a:ext cx="4114800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4000" u="sng" kern="2400" dirty="0" smtClean="0">
                <a:solidFill>
                  <a:srgbClr val="595959"/>
                </a:solidFill>
                <a:latin typeface="Arial"/>
                <a:cs typeface="Arial"/>
              </a:rPr>
              <a:t>CASH</a:t>
            </a:r>
            <a:r>
              <a:rPr lang="en-US" sz="4000" kern="2400" dirty="0" smtClean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lang="en-US" sz="4000" kern="24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2282146"/>
            <a:ext cx="4114800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4000" u="sng" kern="2400" dirty="0" smtClean="0">
                <a:solidFill>
                  <a:srgbClr val="595959"/>
                </a:solidFill>
                <a:latin typeface="Arial"/>
                <a:cs typeface="Arial"/>
              </a:rPr>
              <a:t>ACCRUALS</a:t>
            </a:r>
            <a:r>
              <a:rPr lang="en-US" sz="4000" kern="2400" dirty="0" smtClean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lang="en-US" sz="4000" kern="24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577546"/>
            <a:ext cx="4114800" cy="12464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500" kern="2400" dirty="0" smtClean="0">
                <a:solidFill>
                  <a:srgbClr val="595959"/>
                </a:solidFill>
                <a:latin typeface="Arial"/>
                <a:cs typeface="Arial"/>
              </a:rPr>
              <a:t>£0</a:t>
            </a:r>
            <a:endParaRPr lang="en-US" sz="7500" kern="2400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84699" y="3577546"/>
            <a:ext cx="4114800" cy="12464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500" kern="2400" dirty="0" smtClean="0">
                <a:solidFill>
                  <a:srgbClr val="595959"/>
                </a:solidFill>
                <a:latin typeface="Arial"/>
                <a:cs typeface="Arial"/>
              </a:rPr>
              <a:t>£1,000</a:t>
            </a:r>
            <a:endParaRPr lang="en-US" sz="7500" kern="2400" dirty="0">
              <a:solidFill>
                <a:srgbClr val="595959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9137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HOTEL INCOME EXAMPLE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100" dirty="0" smtClean="0"/>
              <a:t>In its first year the hotel business generates £1m of income </a:t>
            </a:r>
          </a:p>
          <a:p>
            <a:pPr>
              <a:spcAft>
                <a:spcPts val="1800"/>
              </a:spcAft>
            </a:pPr>
            <a:r>
              <a:rPr lang="en-US" sz="2100" dirty="0" smtClean="0"/>
              <a:t>In the original example we said that all £1m was received as cash by the end of the accounting period</a:t>
            </a:r>
          </a:p>
          <a:p>
            <a:pPr>
              <a:spcAft>
                <a:spcPts val="1800"/>
              </a:spcAft>
            </a:pPr>
            <a:r>
              <a:rPr lang="en-US" sz="2100" dirty="0" smtClean="0"/>
              <a:t>However this time we will imagine that the hotel has some corporate customers</a:t>
            </a:r>
            <a:endParaRPr lang="en-US" sz="21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2100" dirty="0" smtClean="0">
                <a:solidFill>
                  <a:srgbClr val="595959"/>
                </a:solidFill>
              </a:rPr>
              <a:t>They are charged by invoice at the end of each month and have 30 days to pay each invoice  </a:t>
            </a:r>
          </a:p>
          <a:p>
            <a:pPr>
              <a:spcAft>
                <a:spcPts val="1800"/>
              </a:spcAft>
            </a:pPr>
            <a:r>
              <a:rPr lang="en-US" sz="2100" dirty="0" smtClean="0"/>
              <a:t>At the end of the December we issue invoices worth £100,000 for services they used in December</a:t>
            </a:r>
          </a:p>
          <a:p>
            <a:pPr>
              <a:spcAft>
                <a:spcPts val="1800"/>
              </a:spcAft>
            </a:pPr>
            <a:r>
              <a:rPr lang="en-US" sz="2100" dirty="0" smtClean="0"/>
              <a:t>The invoices are unpaid at the end of the accounting period</a:t>
            </a:r>
          </a:p>
        </p:txBody>
      </p:sp>
    </p:spTree>
    <p:extLst>
      <p:ext uri="{BB962C8B-B14F-4D97-AF65-F5344CB8AC3E}">
        <p14:creationId xmlns:p14="http://schemas.microsoft.com/office/powerpoint/2010/main" val="9954822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8.18.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338660"/>
            <a:ext cx="7200000" cy="569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463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879600"/>
            <a:ext cx="6618317" cy="408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621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111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8.32.5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000" y="203194"/>
            <a:ext cx="5939999" cy="58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36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8.44.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00" y="262936"/>
            <a:ext cx="6047999" cy="59161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545163"/>
            <a:ext cx="6618317" cy="4646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483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8.44.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00" y="262936"/>
            <a:ext cx="6047999" cy="591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76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MATCHING EXPENSES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Record expenses when they are </a:t>
            </a:r>
            <a:r>
              <a:rPr lang="en-US" sz="28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incurred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Record expenses in the accounting period they relate to 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Even if expenses are not actually paid for in that period</a:t>
            </a:r>
          </a:p>
        </p:txBody>
      </p:sp>
    </p:spTree>
    <p:extLst>
      <p:ext uri="{BB962C8B-B14F-4D97-AF65-F5344CB8AC3E}">
        <p14:creationId xmlns:p14="http://schemas.microsoft.com/office/powerpoint/2010/main" val="397428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MATCHING EXPENSES EXERCISE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000" dirty="0" smtClean="0"/>
              <a:t>The hotel had running costs (expenses) of £500,000 in its first year </a:t>
            </a:r>
          </a:p>
          <a:p>
            <a:pPr>
              <a:spcAft>
                <a:spcPts val="1800"/>
              </a:spcAft>
            </a:pPr>
            <a:r>
              <a:rPr lang="en-US" sz="2000" dirty="0" smtClean="0"/>
              <a:t>However some suppliers charge the hotel via invoice</a:t>
            </a:r>
          </a:p>
          <a:p>
            <a:pPr>
              <a:spcAft>
                <a:spcPts val="1800"/>
              </a:spcAft>
            </a:pPr>
            <a:r>
              <a:rPr lang="en-US" sz="2000" dirty="0" smtClean="0"/>
              <a:t>These invoices are received at the end of each month for products/services used in the same month</a:t>
            </a:r>
          </a:p>
          <a:p>
            <a:pPr>
              <a:spcAft>
                <a:spcPts val="1800"/>
              </a:spcAft>
            </a:pPr>
            <a:r>
              <a:rPr lang="en-US" sz="2000" dirty="0" smtClean="0">
                <a:solidFill>
                  <a:srgbClr val="595959"/>
                </a:solidFill>
              </a:rPr>
              <a:t>At the end of December the hotel received invoices with a total value of £50,000</a:t>
            </a:r>
          </a:p>
          <a:p>
            <a:pPr>
              <a:spcAft>
                <a:spcPts val="1800"/>
              </a:spcAft>
            </a:pPr>
            <a:r>
              <a:rPr lang="en-US" sz="2000" dirty="0" smtClean="0"/>
              <a:t>The invoices are unpaid at the end of the accounting period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000" b="1" dirty="0" smtClean="0"/>
              <a:t>Work in pairs to adjust the financial statement for the business</a:t>
            </a:r>
            <a:endParaRPr lang="en-US" sz="2000" dirty="0" smtClean="0"/>
          </a:p>
          <a:p>
            <a:pPr>
              <a:spcAft>
                <a:spcPts val="1800"/>
              </a:spcAft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658112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9.09.2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287861"/>
            <a:ext cx="7200000" cy="586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827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82700" y="2032000"/>
            <a:ext cx="6618317" cy="393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11-15 at 19.08.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335899"/>
            <a:ext cx="6660000" cy="55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83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3.01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219" y="279400"/>
            <a:ext cx="5725561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308100"/>
            <a:ext cx="6618317" cy="471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67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3.01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219" y="279400"/>
            <a:ext cx="5725561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07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3.05.0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0" y="304800"/>
            <a:ext cx="5760000" cy="57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231900"/>
            <a:ext cx="6618317" cy="489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999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3.05.0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0" y="304800"/>
            <a:ext cx="576000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194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PREPAYMENTS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Only record expenses that relate to a specific accounting period</a:t>
            </a:r>
            <a:endParaRPr lang="en-US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Expenditure for the next period is a </a:t>
            </a:r>
            <a:r>
              <a:rPr lang="en-US" sz="2800" i="1" dirty="0" smtClean="0">
                <a:solidFill>
                  <a:srgbClr val="595959"/>
                </a:solidFill>
              </a:rPr>
              <a:t>current</a:t>
            </a:r>
            <a:r>
              <a:rPr lang="en-US" sz="2800" dirty="0" smtClean="0">
                <a:solidFill>
                  <a:srgbClr val="595959"/>
                </a:solidFill>
              </a:rPr>
              <a:t> </a:t>
            </a:r>
            <a:r>
              <a:rPr lang="en-US" sz="2800" i="1" dirty="0" smtClean="0">
                <a:solidFill>
                  <a:srgbClr val="595959"/>
                </a:solidFill>
              </a:rPr>
              <a:t>asset</a:t>
            </a:r>
            <a:endParaRPr lang="en-US" sz="2800" dirty="0" smtClean="0">
              <a:solidFill>
                <a:srgbClr val="595959"/>
              </a:solidFill>
            </a:endParaRPr>
          </a:p>
          <a:p>
            <a:pPr>
              <a:spcAft>
                <a:spcPts val="1800"/>
              </a:spcAft>
            </a:pPr>
            <a:r>
              <a:rPr lang="en-US" sz="2800" dirty="0" smtClean="0"/>
              <a:t>Specifically known as a pre-payment</a:t>
            </a:r>
          </a:p>
        </p:txBody>
      </p:sp>
    </p:spTree>
    <p:extLst>
      <p:ext uri="{BB962C8B-B14F-4D97-AF65-F5344CB8AC3E}">
        <p14:creationId xmlns:p14="http://schemas.microsoft.com/office/powerpoint/2010/main" val="3424097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HOTEL PREPAYMENT EXAMPLE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 smtClean="0"/>
              <a:t>Accounting period runs from Jan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to Dec 31</a:t>
            </a:r>
            <a:r>
              <a:rPr lang="en-US" sz="2400" baseline="30000" dirty="0" smtClean="0"/>
              <a:t>st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Purchase an insurance policy costing £10,000 per year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This £10,000 is part of the £500,000 running costs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However do not buy policy until July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when hotel construction is completed 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At December 31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still have six months of cover</a:t>
            </a:r>
            <a:endParaRPr lang="en-US" sz="2400" dirty="0"/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£5,000 is expenditure (on P&amp;L account)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£5,000 is a prepayment (on balance sheet) </a:t>
            </a:r>
          </a:p>
        </p:txBody>
      </p:sp>
    </p:spTree>
    <p:extLst>
      <p:ext uri="{BB962C8B-B14F-4D97-AF65-F5344CB8AC3E}">
        <p14:creationId xmlns:p14="http://schemas.microsoft.com/office/powerpoint/2010/main" val="3148124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11-16 at 19.26.5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2" y="287863"/>
            <a:ext cx="6839996" cy="58720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68886" y="2031999"/>
            <a:ext cx="6959114" cy="41279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374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11-16 at 19.26.5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2" y="287863"/>
            <a:ext cx="6839996" cy="58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64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0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655" y="282300"/>
            <a:ext cx="5420690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308100"/>
            <a:ext cx="6618317" cy="471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54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0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655" y="282300"/>
            <a:ext cx="5420690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308100"/>
            <a:ext cx="6618317" cy="3365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76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0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655" y="282300"/>
            <a:ext cx="5420690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2933700"/>
            <a:ext cx="6618317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01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0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655" y="282300"/>
            <a:ext cx="542069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84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6.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46" y="317500"/>
            <a:ext cx="5489708" cy="57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231900"/>
            <a:ext cx="6618317" cy="489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80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6-07-24 at 13.46.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46" y="317500"/>
            <a:ext cx="5489708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49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ACCRUED EXPENSES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Expenses incurred but not yet paid for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Not to be confused with the broader concept of ‘accruals accounting’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Accruals are recorded as an </a:t>
            </a:r>
            <a:r>
              <a:rPr lang="en-US" sz="28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expense</a:t>
            </a:r>
            <a:r>
              <a:rPr lang="en-US" sz="2800" dirty="0" smtClean="0">
                <a:solidFill>
                  <a:srgbClr val="595959"/>
                </a:solidFill>
              </a:rPr>
              <a:t> on P&amp;L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Recorded as a </a:t>
            </a:r>
            <a:r>
              <a:rPr lang="en-US" sz="2800" i="1" dirty="0" smtClean="0">
                <a:solidFill>
                  <a:srgbClr val="7F7F7F"/>
                </a:solidFill>
              </a:rPr>
              <a:t>liability </a:t>
            </a:r>
            <a:r>
              <a:rPr lang="en-US" sz="2800" dirty="0" smtClean="0"/>
              <a:t>on balance sheet</a:t>
            </a:r>
            <a:endParaRPr lang="en-US" sz="2800" dirty="0" smtClean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55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HOTEL ACCRUALS EXERCISE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After the end of each accounting period the hotel pays an accountant to prepare accounts and a tax return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The accountant’s fees are £2,000 and these are paid after end of period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However the fees are still </a:t>
            </a:r>
            <a:r>
              <a:rPr lang="en-US" sz="2400" dirty="0" err="1" smtClean="0">
                <a:solidFill>
                  <a:srgbClr val="595959"/>
                </a:solidFill>
              </a:rPr>
              <a:t>recognised</a:t>
            </a:r>
            <a:r>
              <a:rPr lang="en-US" sz="2400" dirty="0" smtClean="0">
                <a:solidFill>
                  <a:srgbClr val="595959"/>
                </a:solidFill>
              </a:rPr>
              <a:t> as an expense within the accounting period </a:t>
            </a:r>
            <a:endParaRPr lang="en-US" sz="2400" b="1" dirty="0">
              <a:solidFill>
                <a:srgbClr val="595959"/>
              </a:solidFill>
            </a:endParaRPr>
          </a:p>
          <a:p>
            <a:pPr marL="0" indent="0">
              <a:spcAft>
                <a:spcPts val="1800"/>
              </a:spcAft>
              <a:buNone/>
            </a:pPr>
            <a:r>
              <a:rPr lang="en-US" sz="2400" b="1" dirty="0" smtClean="0">
                <a:solidFill>
                  <a:srgbClr val="595959"/>
                </a:solidFill>
              </a:rPr>
              <a:t>Work in pairs to adjust the financial statements</a:t>
            </a:r>
            <a:endParaRPr lang="en-US" sz="2400" dirty="0" smtClean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912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9.38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0" y="304795"/>
            <a:ext cx="6840000" cy="59089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68886" y="2032000"/>
            <a:ext cx="6959114" cy="4181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81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16 at 19.38.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0" y="304795"/>
            <a:ext cx="6840000" cy="590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31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4.4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42" y="304800"/>
            <a:ext cx="5213315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244600"/>
            <a:ext cx="6618317" cy="482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53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4.4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42" y="304800"/>
            <a:ext cx="5213315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1244600"/>
            <a:ext cx="6618317" cy="3467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73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4.4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42" y="304800"/>
            <a:ext cx="5213315" cy="57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2700" y="2781300"/>
            <a:ext cx="6618317" cy="19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03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4.4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42" y="304800"/>
            <a:ext cx="5213315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000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8.3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963" y="304800"/>
            <a:ext cx="5268074" cy="57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2700" y="1384300"/>
            <a:ext cx="6618317" cy="4746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03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5.28.3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963" y="304800"/>
            <a:ext cx="5268074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57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dirty="0" smtClean="0"/>
              <a:t>How you should </a:t>
            </a:r>
            <a:r>
              <a:rPr lang="en-US" sz="5000" dirty="0" err="1" smtClean="0"/>
              <a:t>categorise</a:t>
            </a:r>
            <a:r>
              <a:rPr lang="en-US" sz="5000" dirty="0" smtClean="0"/>
              <a:t> expenses?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164968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TWO TYPES OF EXPENSE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3300" b="1" dirty="0" smtClean="0"/>
              <a:t>Cost of Sales / Cost of Goods Sold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300" dirty="0" smtClean="0"/>
              <a:t>The </a:t>
            </a:r>
            <a:r>
              <a:rPr lang="en-US" sz="3300" i="1" dirty="0" smtClean="0"/>
              <a:t>direct costs</a:t>
            </a:r>
            <a:r>
              <a:rPr lang="en-US" sz="3300" dirty="0" smtClean="0"/>
              <a:t> of products and services</a:t>
            </a:r>
            <a:endParaRPr lang="en-US" sz="3300" dirty="0"/>
          </a:p>
          <a:p>
            <a:pPr marL="0" indent="0">
              <a:spcBef>
                <a:spcPts val="4272"/>
              </a:spcBef>
              <a:spcAft>
                <a:spcPts val="1800"/>
              </a:spcAft>
              <a:buNone/>
            </a:pPr>
            <a:r>
              <a:rPr lang="en-US" sz="3300" b="1" dirty="0" smtClean="0"/>
              <a:t>Overheads / Administrative Expenses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300" dirty="0" smtClean="0"/>
              <a:t>The </a:t>
            </a:r>
            <a:r>
              <a:rPr lang="en-US" sz="3300" i="1" dirty="0" smtClean="0"/>
              <a:t>indirect costs </a:t>
            </a:r>
            <a:r>
              <a:rPr lang="en-US" sz="3300" dirty="0" smtClean="0"/>
              <a:t>of running a business</a:t>
            </a:r>
          </a:p>
        </p:txBody>
      </p:sp>
    </p:spTree>
    <p:extLst>
      <p:ext uri="{BB962C8B-B14F-4D97-AF65-F5344CB8AC3E}">
        <p14:creationId xmlns:p14="http://schemas.microsoft.com/office/powerpoint/2010/main" val="23899981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HOTEL EXPENSES EXERCISE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Work in pairs to create two lists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One list of ‘Cost of Sales’ the hotel will incur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One list of ‘Overheads’ the hotel will incur</a:t>
            </a:r>
          </a:p>
        </p:txBody>
      </p:sp>
    </p:spTree>
    <p:extLst>
      <p:ext uri="{BB962C8B-B14F-4D97-AF65-F5344CB8AC3E}">
        <p14:creationId xmlns:p14="http://schemas.microsoft.com/office/powerpoint/2010/main" val="1691093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RECOGNISING EXPENSES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Overheads and cost of sales are separated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Cost of sales is first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Sales minus cost of sales is ‘Gross Profit’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Overheads are then deducted from gross profit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This figure is known as ‘Operating Profit’</a:t>
            </a:r>
          </a:p>
          <a:p>
            <a:pPr marL="0" indent="0">
              <a:spcAft>
                <a:spcPts val="1800"/>
              </a:spcAft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77650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7-24 at 15.48.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131" y="304800"/>
            <a:ext cx="548173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60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500" dirty="0" smtClean="0"/>
              <a:t>How you should </a:t>
            </a:r>
            <a:r>
              <a:rPr lang="en-US" sz="4500" dirty="0" err="1" smtClean="0"/>
              <a:t>categorise</a:t>
            </a:r>
            <a:r>
              <a:rPr lang="en-US" sz="4500" dirty="0"/>
              <a:t> </a:t>
            </a:r>
            <a:r>
              <a:rPr lang="en-US" sz="4500" dirty="0" smtClean="0"/>
              <a:t>assets and liabilities?</a:t>
            </a: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876305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CURRENT AND NON-CURRENT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3300" b="1" dirty="0" smtClean="0"/>
              <a:t>Current Assets / Liabilities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300" dirty="0" smtClean="0"/>
              <a:t>Have a lifespan of </a:t>
            </a:r>
            <a:r>
              <a:rPr lang="en-US" sz="33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less</a:t>
            </a:r>
            <a:r>
              <a:rPr lang="en-US" sz="3300" dirty="0" smtClean="0"/>
              <a:t> than one year</a:t>
            </a:r>
          </a:p>
          <a:p>
            <a:pPr marL="0" indent="0">
              <a:spcAft>
                <a:spcPts val="1800"/>
              </a:spcAft>
              <a:buNone/>
            </a:pPr>
            <a:endParaRPr lang="en-US" sz="33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3300" b="1" dirty="0" smtClean="0"/>
              <a:t>Non-current Assets / Liabilities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300" dirty="0" smtClean="0"/>
              <a:t>Have a lifespan of </a:t>
            </a:r>
            <a:r>
              <a:rPr lang="en-US" sz="33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more</a:t>
            </a:r>
            <a:r>
              <a:rPr lang="en-US" sz="3300" i="1" dirty="0" smtClean="0"/>
              <a:t> </a:t>
            </a:r>
            <a:r>
              <a:rPr lang="en-US" sz="3300" dirty="0" smtClean="0"/>
              <a:t>than one year</a:t>
            </a:r>
          </a:p>
        </p:txBody>
      </p:sp>
    </p:spTree>
    <p:extLst>
      <p:ext uri="{BB962C8B-B14F-4D97-AF65-F5344CB8AC3E}">
        <p14:creationId xmlns:p14="http://schemas.microsoft.com/office/powerpoint/2010/main" val="2200402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ASSETS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Cash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Trade debtors (unpaid customer invoices)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Prepayments (e.g. insurance policies)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Stock </a:t>
            </a:r>
            <a:endParaRPr lang="en-US" sz="2800" dirty="0"/>
          </a:p>
          <a:p>
            <a:pPr marL="0" indent="0" algn="ctr">
              <a:spcBef>
                <a:spcPts val="3672"/>
              </a:spcBef>
              <a:spcAft>
                <a:spcPts val="1800"/>
              </a:spcAft>
              <a:buNone/>
            </a:pPr>
            <a:r>
              <a:rPr lang="en-US" sz="2800" b="1" dirty="0" smtClean="0"/>
              <a:t>What are some examples of current liabilities?</a:t>
            </a:r>
          </a:p>
        </p:txBody>
      </p:sp>
    </p:spTree>
    <p:extLst>
      <p:ext uri="{BB962C8B-B14F-4D97-AF65-F5344CB8AC3E}">
        <p14:creationId xmlns:p14="http://schemas.microsoft.com/office/powerpoint/2010/main" val="2808224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NON-CURRENT ASSETS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17638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Land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Buildings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Equipment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Machinery</a:t>
            </a:r>
            <a:endParaRPr lang="en-US" sz="28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800" b="1" dirty="0" smtClean="0"/>
              <a:t>What are some examples of non-current liabilities?</a:t>
            </a:r>
          </a:p>
        </p:txBody>
      </p:sp>
    </p:spTree>
    <p:extLst>
      <p:ext uri="{BB962C8B-B14F-4D97-AF65-F5344CB8AC3E}">
        <p14:creationId xmlns:p14="http://schemas.microsoft.com/office/powerpoint/2010/main" val="3690277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7-24 at 16.02.5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91" y="317500"/>
            <a:ext cx="4280618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18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DEPRECIATION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The cost of fixed assets is spread over their expected lifespan 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For example a computer costs £1,000 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We expect it to have a useful life of 5 years 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After 5 years it has an expected value of £0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Computer is a fixed asset on the balance sheet</a:t>
            </a:r>
          </a:p>
          <a:p>
            <a:pPr>
              <a:spcAft>
                <a:spcPts val="1800"/>
              </a:spcAft>
            </a:pPr>
            <a:r>
              <a:rPr lang="en-US" sz="2400" dirty="0" smtClean="0">
                <a:solidFill>
                  <a:srgbClr val="595959"/>
                </a:solidFill>
              </a:rPr>
              <a:t>Each year transfer £200 from the balance sheet to the profit &amp; loss account </a:t>
            </a:r>
            <a:endParaRPr lang="en-US" sz="2400" dirty="0" smtClean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344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DEPRECIATION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There are different methods for calculating depreciation</a:t>
            </a:r>
          </a:p>
          <a:p>
            <a:pPr>
              <a:spcAft>
                <a:spcPts val="1800"/>
              </a:spcAft>
            </a:pPr>
            <a:r>
              <a:rPr lang="en-US" sz="2800" dirty="0">
                <a:solidFill>
                  <a:srgbClr val="595959"/>
                </a:solidFill>
              </a:rPr>
              <a:t>Only ‘material’ assets need to be depreciated </a:t>
            </a:r>
            <a:r>
              <a:rPr lang="en-US" sz="2800" dirty="0" smtClean="0">
                <a:solidFill>
                  <a:srgbClr val="595959"/>
                </a:solidFill>
              </a:rPr>
              <a:t>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Land and buildings generally do not depreciate</a:t>
            </a:r>
          </a:p>
          <a:p>
            <a:pPr>
              <a:spcAft>
                <a:spcPts val="1800"/>
              </a:spcAft>
            </a:pPr>
            <a:r>
              <a:rPr lang="en-US" sz="2800" dirty="0">
                <a:solidFill>
                  <a:srgbClr val="595959"/>
                </a:solidFill>
              </a:rPr>
              <a:t>Discuss your situation with an accountant</a:t>
            </a:r>
          </a:p>
          <a:p>
            <a:pPr marL="0" indent="0">
              <a:spcAft>
                <a:spcPts val="1800"/>
              </a:spcAft>
              <a:buNone/>
            </a:pPr>
            <a:endParaRPr lang="en-US" sz="2800" dirty="0" smtClean="0">
              <a:solidFill>
                <a:srgbClr val="595959"/>
              </a:solidFill>
            </a:endParaRPr>
          </a:p>
          <a:p>
            <a:pPr>
              <a:spcAft>
                <a:spcPts val="1800"/>
              </a:spcAft>
            </a:pPr>
            <a:endParaRPr lang="en-US" sz="2800" dirty="0" smtClean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738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700" dirty="0" smtClean="0"/>
              <a:t>What is management accounting?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15724436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ACCOUNTING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Detailed financial reports for internal use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Relate to past, present and future performance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Not legally required </a:t>
            </a:r>
          </a:p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srgbClr val="595959"/>
                </a:solidFill>
              </a:rPr>
              <a:t>Created in a format suitable for each business</a:t>
            </a:r>
            <a:endParaRPr lang="en-US" sz="2800" dirty="0" smtClean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773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WE DO IT?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To compare expected and actual performance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To create new forecasts of future performance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To make decisions about what to do next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To allocate costs across products and services</a:t>
            </a:r>
          </a:p>
        </p:txBody>
      </p:sp>
    </p:spTree>
    <p:extLst>
      <p:ext uri="{BB962C8B-B14F-4D97-AF65-F5344CB8AC3E}">
        <p14:creationId xmlns:p14="http://schemas.microsoft.com/office/powerpoint/2010/main" val="29033525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700" dirty="0" smtClean="0"/>
              <a:t>How should you allocate costs?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3277439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ALLOCATION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The cost of a product or service has two parts:</a:t>
            </a:r>
          </a:p>
          <a:p>
            <a:pPr lvl="1">
              <a:spcAft>
                <a:spcPts val="1800"/>
              </a:spcAft>
            </a:pPr>
            <a:r>
              <a:rPr lang="en-US" sz="2400" dirty="0" smtClean="0"/>
              <a:t>Cost of sales </a:t>
            </a:r>
          </a:p>
          <a:p>
            <a:pPr lvl="1">
              <a:spcAft>
                <a:spcPts val="1800"/>
              </a:spcAft>
            </a:pPr>
            <a:r>
              <a:rPr lang="en-US" sz="2400" dirty="0" smtClean="0"/>
              <a:t>A proportion of business overheads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Different products/services consume overheads at different rates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We need to find appropriate basis for allocating overhead costs</a:t>
            </a:r>
          </a:p>
        </p:txBody>
      </p:sp>
    </p:spTree>
    <p:extLst>
      <p:ext uri="{BB962C8B-B14F-4D97-AF65-F5344CB8AC3E}">
        <p14:creationId xmlns:p14="http://schemas.microsoft.com/office/powerpoint/2010/main" val="797083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THIS IMPORTANT?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700" dirty="0" smtClean="0"/>
              <a:t>Why is it important to allocate overhead costs appropriately?</a:t>
            </a:r>
            <a:endParaRPr lang="en-US" sz="4700" dirty="0"/>
          </a:p>
        </p:txBody>
      </p:sp>
    </p:spTree>
    <p:extLst>
      <p:ext uri="{BB962C8B-B14F-4D97-AF65-F5344CB8AC3E}">
        <p14:creationId xmlns:p14="http://schemas.microsoft.com/office/powerpoint/2010/main" val="5824617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THIS IMPORTANT?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Products and services may not be as profitable as they appear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We need to allocate costs appropriately in order to set prices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We want to ensure we avoid conflict among different members of staff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We need to allow for overhead costs when applying for grants</a:t>
            </a:r>
          </a:p>
        </p:txBody>
      </p:sp>
    </p:spTree>
    <p:extLst>
      <p:ext uri="{BB962C8B-B14F-4D97-AF65-F5344CB8AC3E}">
        <p14:creationId xmlns:p14="http://schemas.microsoft.com/office/powerpoint/2010/main" val="16519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DRIVERS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Need to identify </a:t>
            </a:r>
            <a:r>
              <a:rPr lang="en-US" sz="2800" i="1" dirty="0" smtClean="0"/>
              <a:t>cost drivers 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This is a basis for the absorption of overhead costs</a:t>
            </a:r>
          </a:p>
        </p:txBody>
      </p:sp>
    </p:spTree>
    <p:extLst>
      <p:ext uri="{BB962C8B-B14F-4D97-AF65-F5344CB8AC3E}">
        <p14:creationId xmlns:p14="http://schemas.microsoft.com/office/powerpoint/2010/main" val="2425363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DRIVER EXAMPLE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 dirty="0" smtClean="0"/>
              <a:t>A business has two products ‘A’ and ‘B’</a:t>
            </a:r>
          </a:p>
          <a:p>
            <a:pPr>
              <a:spcAft>
                <a:spcPts val="1800"/>
              </a:spcAft>
            </a:pPr>
            <a:r>
              <a:rPr lang="en-US" sz="2800" dirty="0" smtClean="0"/>
              <a:t>The finance manager has a salary of £30,000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800" b="1" dirty="0" smtClean="0"/>
              <a:t>How should we divide their salary between the two products?</a:t>
            </a:r>
          </a:p>
        </p:txBody>
      </p:sp>
    </p:spTree>
    <p:extLst>
      <p:ext uri="{BB962C8B-B14F-4D97-AF65-F5344CB8AC3E}">
        <p14:creationId xmlns:p14="http://schemas.microsoft.com/office/powerpoint/2010/main" val="3537528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DRIVER EXAMPLE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 smtClean="0"/>
              <a:t>One of the finance manager’s main jobs is to raise and manage invoices 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They raise 100 invoices in </a:t>
            </a:r>
            <a:r>
              <a:rPr lang="en-US" sz="2400" dirty="0"/>
              <a:t>a</a:t>
            </a:r>
            <a:r>
              <a:rPr lang="en-US" sz="2400" dirty="0" smtClean="0"/>
              <a:t> year – a cost of £300 per invoice (£30,000 / 100)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They raise 70 invoices for Product A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They raise 30 invoices to Product B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Allocate £21,000 of cost to Product A 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Allocate £9,000 of cost to Product B</a:t>
            </a:r>
          </a:p>
          <a:p>
            <a:pPr>
              <a:spcAft>
                <a:spcPts val="1800"/>
              </a:spcAft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566783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ALLOCATION EXERCISE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 smtClean="0"/>
              <a:t>Review the description of the overhead costs for an imaginary social enterprise </a:t>
            </a:r>
          </a:p>
          <a:p>
            <a:pPr>
              <a:spcAft>
                <a:spcPts val="1800"/>
              </a:spcAft>
            </a:pPr>
            <a:r>
              <a:rPr lang="en-US" sz="2400" dirty="0" smtClean="0"/>
              <a:t>Decide how you would allocate these costs between its two products </a:t>
            </a:r>
          </a:p>
        </p:txBody>
      </p:sp>
    </p:spTree>
    <p:extLst>
      <p:ext uri="{BB962C8B-B14F-4D97-AF65-F5344CB8AC3E}">
        <p14:creationId xmlns:p14="http://schemas.microsoft.com/office/powerpoint/2010/main" val="218960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SUGGESTED ANSWERS</a:t>
            </a:r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422400"/>
            <a:ext cx="8229600" cy="3001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Tx/>
              <a:buBlip>
                <a:blip r:embed="rId2"/>
              </a:buBlip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dirty="0" smtClean="0"/>
              <a:t>Allocate office costs by FTE headcount </a:t>
            </a:r>
          </a:p>
          <a:p>
            <a:pPr lvl="1">
              <a:spcAft>
                <a:spcPts val="1800"/>
              </a:spcAft>
              <a:buFont typeface="Arial"/>
              <a:buChar char="•"/>
            </a:pPr>
            <a:r>
              <a:rPr lang="en-US" dirty="0" smtClean="0"/>
              <a:t>Project A: £16,000</a:t>
            </a:r>
          </a:p>
          <a:p>
            <a:pPr lvl="1">
              <a:spcAft>
                <a:spcPts val="1800"/>
              </a:spcAft>
              <a:buFont typeface="Arial"/>
              <a:buChar char="•"/>
            </a:pPr>
            <a:r>
              <a:rPr lang="en-US" dirty="0" smtClean="0"/>
              <a:t>Project B: £18,000</a:t>
            </a:r>
          </a:p>
          <a:p>
            <a:pPr>
              <a:spcAft>
                <a:spcPts val="1800"/>
              </a:spcAft>
            </a:pPr>
            <a:r>
              <a:rPr lang="en-US" dirty="0" smtClean="0"/>
              <a:t>Allocate governance costs by expenditure</a:t>
            </a:r>
            <a:endParaRPr lang="en-US" dirty="0"/>
          </a:p>
          <a:p>
            <a:pPr lvl="1">
              <a:spcAft>
                <a:spcPts val="1800"/>
              </a:spcAft>
              <a:buFont typeface="Arial"/>
              <a:buChar char="•"/>
            </a:pPr>
            <a:r>
              <a:rPr lang="en-US" dirty="0" smtClean="0"/>
              <a:t>Project A: £2,000</a:t>
            </a:r>
          </a:p>
          <a:p>
            <a:pPr lvl="1">
              <a:spcAft>
                <a:spcPts val="1800"/>
              </a:spcAft>
              <a:buFont typeface="Arial"/>
              <a:buChar char="•"/>
            </a:pPr>
            <a:r>
              <a:rPr lang="en-US" dirty="0" smtClean="0"/>
              <a:t>Project B: £3,000</a:t>
            </a:r>
          </a:p>
        </p:txBody>
      </p:sp>
    </p:spTree>
    <p:extLst>
      <p:ext uri="{BB962C8B-B14F-4D97-AF65-F5344CB8AC3E}">
        <p14:creationId xmlns:p14="http://schemas.microsoft.com/office/powerpoint/2010/main" val="2509906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115245" y="4876369"/>
            <a:ext cx="4613745" cy="5266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b="0" i="0" kern="1200">
                <a:solidFill>
                  <a:srgbClr val="FFFFFF"/>
                </a:solidFill>
                <a:latin typeface="Gotham Rounded Medium"/>
                <a:ea typeface="+mn-ea"/>
                <a:cs typeface="Gotham Rounded Medium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Facebook.com</a:t>
            </a:r>
            <a:r>
              <a:rPr lang="en-GB" dirty="0" smtClean="0"/>
              <a:t>/</a:t>
            </a:r>
            <a:r>
              <a:rPr lang="en-GB" dirty="0" err="1" smtClean="0"/>
              <a:t>UnLtd</a:t>
            </a:r>
            <a:endParaRPr lang="en-US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115245" y="4052484"/>
            <a:ext cx="4613745" cy="5266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b="0" i="0" kern="1200">
                <a:solidFill>
                  <a:srgbClr val="FFFFFF"/>
                </a:solidFill>
                <a:latin typeface="Gotham Rounded Medium"/>
                <a:ea typeface="+mn-ea"/>
                <a:cs typeface="Gotham Rounded Medium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Twitter.com</a:t>
            </a:r>
            <a:r>
              <a:rPr lang="en-GB" dirty="0" smtClean="0"/>
              <a:t>/</a:t>
            </a:r>
            <a:r>
              <a:rPr lang="en-GB" dirty="0" err="1" smtClean="0"/>
              <a:t>UnLtd</a:t>
            </a:r>
            <a:endParaRPr lang="en-US" dirty="0"/>
          </a:p>
        </p:txBody>
      </p:sp>
      <p:sp>
        <p:nvSpPr>
          <p:cNvPr id="4" name="Title Placeholder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 smtClean="0">
                <a:solidFill>
                  <a:srgbClr val="FFFFFF"/>
                </a:solidFill>
                <a:latin typeface="Arial Black"/>
                <a:cs typeface="Arial Black"/>
              </a:rPr>
              <a:t>KEEP IN TOUCH</a:t>
            </a:r>
            <a:endParaRPr lang="en-US" dirty="0">
              <a:solidFill>
                <a:srgbClr val="FFFFFF"/>
              </a:solidFill>
              <a:latin typeface="Arial Black"/>
              <a:cs typeface="Arial Black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57200" y="3266750"/>
            <a:ext cx="6898032" cy="5266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b="0" i="0" kern="1200">
                <a:solidFill>
                  <a:srgbClr val="FFFFFF"/>
                </a:solidFill>
                <a:latin typeface="Gotham Rounded Medium"/>
                <a:ea typeface="+mn-ea"/>
                <a:cs typeface="Gotham Rounded Medium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www.unltd.org.uk</a:t>
            </a:r>
            <a:r>
              <a:rPr lang="en-GB" dirty="0" smtClean="0"/>
              <a:t>/URLHERE</a:t>
            </a:r>
            <a:endParaRPr lang="en-US" dirty="0"/>
          </a:p>
        </p:txBody>
      </p:sp>
      <p:pic>
        <p:nvPicPr>
          <p:cNvPr id="9" name="Picture 8" descr="twitter-01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5" y="4169159"/>
            <a:ext cx="380350" cy="310561"/>
          </a:xfrm>
          <a:prstGeom prst="rect">
            <a:avLst/>
          </a:prstGeom>
        </p:spPr>
      </p:pic>
      <p:pic>
        <p:nvPicPr>
          <p:cNvPr id="10" name="Picture 9" descr="twitter-02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934171"/>
            <a:ext cx="436310" cy="356253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457199" y="1740974"/>
            <a:ext cx="8314461" cy="78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b="0" i="0" kern="1200">
                <a:solidFill>
                  <a:srgbClr val="FFFFFF"/>
                </a:solidFill>
                <a:latin typeface="Gotham Rounded Medium"/>
                <a:ea typeface="+mn-ea"/>
                <a:cs typeface="Gotham Rounded Medium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smtClean="0">
                <a:latin typeface="Arial"/>
                <a:cs typeface="Arial"/>
              </a:rPr>
              <a:t>Thank you for coming today, if you have any questions or would like to find out more information, please contact us using the below details:</a:t>
            </a: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7558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Front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ck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General Cont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13020</TotalTime>
  <Words>1835</Words>
  <Application>Microsoft Macintosh PowerPoint</Application>
  <PresentationFormat>On-screen Show (4:3)</PresentationFormat>
  <Paragraphs>348</Paragraphs>
  <Slides>127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Front Page</vt:lpstr>
      <vt:lpstr>Back Page</vt:lpstr>
      <vt:lpstr>General Content</vt:lpstr>
      <vt:lpstr>INTRODUCTION TO ACCOUNTING</vt:lpstr>
      <vt:lpstr>KEY QUESTIONS</vt:lpstr>
      <vt:lpstr>What is accounting?</vt:lpstr>
      <vt:lpstr>OBJECTIVES OF ACCOUNTING</vt:lpstr>
      <vt:lpstr>TWO ELEMENTS OF ACCOUNTING</vt:lpstr>
      <vt:lpstr>TWO TYPES OF ACCOUNTING</vt:lpstr>
      <vt:lpstr>WHAT IS PREPARED?</vt:lpstr>
      <vt:lpstr>WHEN ARE DOCUMENTS PRODUCED?</vt:lpstr>
      <vt:lpstr>DO YOU HAVE TO PRODUCE THEM?</vt:lpstr>
      <vt:lpstr>WHAT TIME FRAME DO THEY COVER?</vt:lpstr>
      <vt:lpstr>HOW ARE THEY PREPARED?</vt:lpstr>
      <vt:lpstr>What is financial accounting?</vt:lpstr>
      <vt:lpstr>WHAT IS FINANCIAL ACCOUNTING?</vt:lpstr>
      <vt:lpstr>PowerPoint Presentation</vt:lpstr>
      <vt:lpstr>CASH ACCOUNTING</vt:lpstr>
      <vt:lpstr>CASH BOOK EXAMPLE</vt:lpstr>
      <vt:lpstr>PowerPoint Presentation</vt:lpstr>
      <vt:lpstr>PowerPoint Presentation</vt:lpstr>
      <vt:lpstr>PowerPoint Presentation</vt:lpstr>
      <vt:lpstr>THE LIMITS OF CASH ACCOUNTING</vt:lpstr>
      <vt:lpstr>What is the accounting equation?</vt:lpstr>
      <vt:lpstr>A BUSINESS HAS THREE THINGS</vt:lpstr>
      <vt:lpstr>THE ACCOUNTING EQUATION</vt:lpstr>
      <vt:lpstr>THE ACCOUNTING EQUATION</vt:lpstr>
      <vt:lpstr>THE ACCOUNTING EQUATION</vt:lpstr>
      <vt:lpstr>THE ACCOUNTING EQUATION</vt:lpstr>
      <vt:lpstr>ASSET, LIABILITY OR CAPITAL?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you create financial statements?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FINANCIAL STATEMENTS</vt:lpstr>
      <vt:lpstr>What is the matching principle?</vt:lpstr>
      <vt:lpstr>THE MATCHING PRINCIPLE</vt:lpstr>
      <vt:lpstr>MATCHING INCOME</vt:lpstr>
      <vt:lpstr>HOTEL INCOME EXAMPLE</vt:lpstr>
      <vt:lpstr>HOTEL INCOME EXAMPLE</vt:lpstr>
      <vt:lpstr>HOTEL INCOME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MATCHING EXPENSES</vt:lpstr>
      <vt:lpstr>MATCHING EXPENSES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PREPAYMENTS</vt:lpstr>
      <vt:lpstr>HOTEL PREPAYMENT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ACCRUED EXPENSES</vt:lpstr>
      <vt:lpstr>HOTEL ACCRUALS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you should categorise expenses?</vt:lpstr>
      <vt:lpstr>TWO TYPES OF EXPENSE</vt:lpstr>
      <vt:lpstr>HOTEL EXPENSES EXERCISE</vt:lpstr>
      <vt:lpstr>RECOGNISING EXPENSES</vt:lpstr>
      <vt:lpstr>PowerPoint Presentation</vt:lpstr>
      <vt:lpstr>How you should categorise assets and liabilities?</vt:lpstr>
      <vt:lpstr>CURRENT AND NON-CURRENT</vt:lpstr>
      <vt:lpstr>CURRENT ASSETS</vt:lpstr>
      <vt:lpstr>NON-CURRENT ASSETS</vt:lpstr>
      <vt:lpstr>PowerPoint Presentation</vt:lpstr>
      <vt:lpstr>DEPRECIATION</vt:lpstr>
      <vt:lpstr>DEPRECIATION</vt:lpstr>
      <vt:lpstr>What is management accounting?</vt:lpstr>
      <vt:lpstr>MANAGEMENT ACCOUNTING</vt:lpstr>
      <vt:lpstr>WHY DO WE DO IT?</vt:lpstr>
      <vt:lpstr>How should you allocate costs?</vt:lpstr>
      <vt:lpstr>COST ALLOCATION</vt:lpstr>
      <vt:lpstr>WHY IS THIS IMPORTANT?</vt:lpstr>
      <vt:lpstr>WHY IS THIS IMPORTANT?</vt:lpstr>
      <vt:lpstr>COST DRIVERS</vt:lpstr>
      <vt:lpstr>COST DRIVER EXAMPLE</vt:lpstr>
      <vt:lpstr>COST DRIVER EXAMPLE</vt:lpstr>
      <vt:lpstr>COST ALLOCATION EXERCISE</vt:lpstr>
      <vt:lpstr>SUGGESTED ANSWERS</vt:lpstr>
      <vt:lpstr>PowerPoint Presentation</vt:lpstr>
    </vt:vector>
  </TitlesOfParts>
  <Company>Blue Stag Studio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Garrett-Williams</dc:creator>
  <cp:lastModifiedBy>Chris Skilton</cp:lastModifiedBy>
  <cp:revision>318</cp:revision>
  <dcterms:created xsi:type="dcterms:W3CDTF">2016-05-18T10:12:09Z</dcterms:created>
  <dcterms:modified xsi:type="dcterms:W3CDTF">2017-01-25T10:04:58Z</dcterms:modified>
</cp:coreProperties>
</file>
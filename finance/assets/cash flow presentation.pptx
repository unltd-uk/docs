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7C6421-46D7-48D1-8CCF-D4ABCFFCC152}" v="7" dt="2022-08-25T11:00:06.1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870" autoAdjust="0"/>
  </p:normalViewPr>
  <p:slideViewPr>
    <p:cSldViewPr snapToGrid="0">
      <p:cViewPr varScale="1">
        <p:scale>
          <a:sx n="106" d="100"/>
          <a:sy n="106" d="100"/>
        </p:scale>
        <p:origin x="7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Lages" userId="12853082-9597-4291-8662-70945ac8e26b" providerId="ADAL" clId="{047C6421-46D7-48D1-8CCF-D4ABCFFCC152}"/>
    <pc:docChg chg="custSel modSld">
      <pc:chgData name="Tim Lages" userId="12853082-9597-4291-8662-70945ac8e26b" providerId="ADAL" clId="{047C6421-46D7-48D1-8CCF-D4ABCFFCC152}" dt="2022-08-25T11:07:21.621" v="74" actId="1076"/>
      <pc:docMkLst>
        <pc:docMk/>
      </pc:docMkLst>
      <pc:sldChg chg="delSp mod">
        <pc:chgData name="Tim Lages" userId="12853082-9597-4291-8662-70945ac8e26b" providerId="ADAL" clId="{047C6421-46D7-48D1-8CCF-D4ABCFFCC152}" dt="2022-08-25T11:05:36.666" v="73" actId="478"/>
        <pc:sldMkLst>
          <pc:docMk/>
          <pc:sldMk cId="525207725" sldId="256"/>
        </pc:sldMkLst>
        <pc:spChg chg="del">
          <ac:chgData name="Tim Lages" userId="12853082-9597-4291-8662-70945ac8e26b" providerId="ADAL" clId="{047C6421-46D7-48D1-8CCF-D4ABCFFCC152}" dt="2022-08-25T11:05:36.666" v="73" actId="478"/>
          <ac:spMkLst>
            <pc:docMk/>
            <pc:sldMk cId="525207725" sldId="256"/>
            <ac:spMk id="3" creationId="{CA35125F-DF79-4430-8E3D-BEA64A470E57}"/>
          </ac:spMkLst>
        </pc:spChg>
      </pc:sldChg>
      <pc:sldChg chg="modSp mod">
        <pc:chgData name="Tim Lages" userId="12853082-9597-4291-8662-70945ac8e26b" providerId="ADAL" clId="{047C6421-46D7-48D1-8CCF-D4ABCFFCC152}" dt="2022-08-25T10:12:16.729" v="2" actId="5793"/>
        <pc:sldMkLst>
          <pc:docMk/>
          <pc:sldMk cId="1263469414" sldId="257"/>
        </pc:sldMkLst>
        <pc:spChg chg="mod">
          <ac:chgData name="Tim Lages" userId="12853082-9597-4291-8662-70945ac8e26b" providerId="ADAL" clId="{047C6421-46D7-48D1-8CCF-D4ABCFFCC152}" dt="2022-08-25T10:12:16.729" v="2" actId="5793"/>
          <ac:spMkLst>
            <pc:docMk/>
            <pc:sldMk cId="1263469414" sldId="257"/>
            <ac:spMk id="3" creationId="{3CB914A8-1946-473B-9D29-30D8E52D7E7E}"/>
          </ac:spMkLst>
        </pc:spChg>
      </pc:sldChg>
      <pc:sldChg chg="addSp modSp mod">
        <pc:chgData name="Tim Lages" userId="12853082-9597-4291-8662-70945ac8e26b" providerId="ADAL" clId="{047C6421-46D7-48D1-8CCF-D4ABCFFCC152}" dt="2022-08-25T11:07:21.621" v="74" actId="1076"/>
        <pc:sldMkLst>
          <pc:docMk/>
          <pc:sldMk cId="4024032030" sldId="258"/>
        </pc:sldMkLst>
        <pc:spChg chg="mod">
          <ac:chgData name="Tim Lages" userId="12853082-9597-4291-8662-70945ac8e26b" providerId="ADAL" clId="{047C6421-46D7-48D1-8CCF-D4ABCFFCC152}" dt="2022-08-25T11:07:21.621" v="74" actId="1076"/>
          <ac:spMkLst>
            <pc:docMk/>
            <pc:sldMk cId="4024032030" sldId="258"/>
            <ac:spMk id="2" creationId="{679B0D22-91CC-4356-8CEE-8968D8CD9746}"/>
          </ac:spMkLst>
        </pc:spChg>
        <pc:spChg chg="mod">
          <ac:chgData name="Tim Lages" userId="12853082-9597-4291-8662-70945ac8e26b" providerId="ADAL" clId="{047C6421-46D7-48D1-8CCF-D4ABCFFCC152}" dt="2022-08-25T10:58:32.065" v="13" actId="27636"/>
          <ac:spMkLst>
            <pc:docMk/>
            <pc:sldMk cId="4024032030" sldId="258"/>
            <ac:spMk id="3" creationId="{ED65733D-8409-422C-93BD-32EAD86E3A56}"/>
          </ac:spMkLst>
        </pc:spChg>
        <pc:spChg chg="add mod">
          <ac:chgData name="Tim Lages" userId="12853082-9597-4291-8662-70945ac8e26b" providerId="ADAL" clId="{047C6421-46D7-48D1-8CCF-D4ABCFFCC152}" dt="2022-08-25T11:01:12.886" v="72" actId="14100"/>
          <ac:spMkLst>
            <pc:docMk/>
            <pc:sldMk cId="4024032030" sldId="258"/>
            <ac:spMk id="9" creationId="{61E0A932-BC02-44FD-9ABD-0CDE15A6B380}"/>
          </ac:spMkLst>
        </pc:spChg>
        <pc:picChg chg="add mod">
          <ac:chgData name="Tim Lages" userId="12853082-9597-4291-8662-70945ac8e26b" providerId="ADAL" clId="{047C6421-46D7-48D1-8CCF-D4ABCFFCC152}" dt="2022-08-25T10:58:43.606" v="14" actId="1076"/>
          <ac:picMkLst>
            <pc:docMk/>
            <pc:sldMk cId="4024032030" sldId="258"/>
            <ac:picMk id="1026" creationId="{B40496CD-1D8E-46E4-959A-E91AA6319967}"/>
          </ac:picMkLst>
        </pc:picChg>
        <pc:cxnChg chg="add mod">
          <ac:chgData name="Tim Lages" userId="12853082-9597-4291-8662-70945ac8e26b" providerId="ADAL" clId="{047C6421-46D7-48D1-8CCF-D4ABCFFCC152}" dt="2022-08-25T10:59:50.555" v="43" actId="692"/>
          <ac:cxnSpMkLst>
            <pc:docMk/>
            <pc:sldMk cId="4024032030" sldId="258"/>
            <ac:cxnSpMk id="5" creationId="{C2635F3F-D116-499F-B95E-32574D815A0A}"/>
          </ac:cxnSpMkLst>
        </pc:cxnChg>
        <pc:cxnChg chg="add mod">
          <ac:chgData name="Tim Lages" userId="12853082-9597-4291-8662-70945ac8e26b" providerId="ADAL" clId="{047C6421-46D7-48D1-8CCF-D4ABCFFCC152}" dt="2022-08-25T10:59:59.047" v="47" actId="14100"/>
          <ac:cxnSpMkLst>
            <pc:docMk/>
            <pc:sldMk cId="4024032030" sldId="258"/>
            <ac:cxnSpMk id="7" creationId="{605AB1F2-1D59-48CE-BDD8-1BF5AC034F2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28B5E-17A4-4F16-801F-48BFB41A33D6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FCEF9F-AA44-4FE1-85A0-D4E8F5D3198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313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xero.com/uk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quickbooks.intuit.com/uk/" TargetMode="External"/><Relationship Id="rId5" Type="http://schemas.openxmlformats.org/officeDocument/2006/relationships/hyperlink" Target="https://stripe.com/en-gb/billing%20/" TargetMode="External"/><Relationship Id="rId4" Type="http://schemas.openxmlformats.org/officeDocument/2006/relationships/hyperlink" Target="https://www.crunch.co.uk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en-GB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Don’t let customers delay payments</a:t>
            </a:r>
            <a:r>
              <a:rPr lang="en-GB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  If you are owed money, expect to be paid, and be persistent about it.  This persistence should be underpinned by: prompt invoicing, clear payment terms, providing due dates and establishing late fees.  The longest you’ll want your payment date is 30 days post issuing the invoice – don’t go any longer than this.  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Negotiate your bills-in payment terms to extend as long as possible.</a:t>
            </a:r>
            <a:r>
              <a:rPr lang="en-GB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You may want your customers to pay you as fast as possible, but the opposite is also true, obviously you want a reputation for paying your bills on time. But that does not mean that you cannot negotiate favourable terms. Try to get 60 or 90-day if possible.  This can give you much greater flexibility and will most likely help you in managing any cash flow issues you might have.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Use a cash flow management tool or accounting software</a:t>
            </a:r>
            <a:r>
              <a:rPr lang="en-GB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  Electronically managing your income and expenditure will make your life a lot easier.  It’ll save you time and money in the long run and really set you up for growth.  Here are some of the typical ones people use: </a:t>
            </a:r>
            <a:r>
              <a:rPr lang="en-GB" sz="12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3"/>
              </a:rPr>
              <a:t>https://www.xero.com/uk/</a:t>
            </a:r>
            <a:r>
              <a:rPr lang="en-GB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/ </a:t>
            </a:r>
            <a:r>
              <a:rPr lang="en-GB" sz="12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4"/>
              </a:rPr>
              <a:t>https://www.crunch.co.uk/</a:t>
            </a:r>
            <a:r>
              <a:rPr lang="en-GB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/ </a:t>
            </a:r>
            <a:r>
              <a:rPr lang="en-GB" sz="12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5"/>
              </a:rPr>
              <a:t>https://stripe.com/en-gb/billing /</a:t>
            </a:r>
            <a:r>
              <a:rPr lang="en-GB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r>
              <a:rPr lang="en-GB" sz="1200" u="sng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hlinkClick r:id="rId6"/>
              </a:rPr>
              <a:t>https://quickbooks.intuit.com/uk/</a:t>
            </a:r>
            <a:r>
              <a:rPr lang="en-GB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Incentivise customers.</a:t>
            </a:r>
            <a:r>
              <a:rPr lang="en-GB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Give customers incentives to pay quickly e.g. a discount for immediate payment.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1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Build reserves.</a:t>
            </a:r>
            <a:r>
              <a:rPr lang="en-GB" sz="1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“Reserves” are just another name for “cash in the bank”.  Typical practice is to have 3 to 6 months’ worth of operating expenses in reserves.  To give an example, if it costs you £2000 a month to run your business, you should have £6000 to £12000 in the bank.  This practice is important as it helps you cover major cash flow challenges you may face e.g. loss of a key customer, unexpected bill, funding growth……a pandemic! </a:t>
            </a:r>
            <a:endParaRPr lang="en-GB" sz="12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NOTE: All of this needs to be underpinned by having the correct pricing structure and strategy in place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FCEF9F-AA44-4FE1-85A0-D4E8F5D3198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44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2B184-AB68-440D-A771-64D9B8E02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0CBE6-2121-4CE7-94B7-E6171E698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8FABA-9250-4022-AF6E-654B36555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FA89B-5234-4041-B57F-904D17D34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D855B-5B28-4E0D-8F83-7AFF07B1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905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7CBFE-669B-4C75-A4DF-8FC56489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B1922-AF85-415C-9F59-9D970D550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A0C2C-6051-44E0-946B-A76DAF7DE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29C32-2F4D-481C-8DCE-5DF2BDBD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CC353E-7F54-4184-B86B-5BE8A7DC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756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483E1-F51F-4917-A2ED-BB80ECD07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21862-129C-41B3-B5A0-21A532BFB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3E054-AADA-4473-994A-650A45F52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8D7C8-A1C7-4F85-BDA4-2CC5CB0DD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9E80D-DF5B-4B00-95DF-CD2BA86D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662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9E3BB-C587-4BE0-A62D-5613AE99A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BBEEC-EE56-44C7-B324-4D830FC078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9780C-C319-4865-AD3B-CD44C0A532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7078E-E7BC-40CD-968E-F23770C22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3F8B8-FEAF-4122-A9D7-06DDCCF2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8ACAE-E515-446F-BC57-F086234E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896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85561-E9C2-4BD2-BCAF-0DB4F5812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4D3618-9F76-4201-9866-053D91238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9A700-2663-46AA-BA50-B1FB70591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956484-52CD-4C83-8BED-0EDE9605E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035DC-E5A2-4365-B15D-BEBEEF436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C60064-350A-4684-B724-F95B8365B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1E3B29-3B19-40D7-AFD7-EF8DA6DD1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50022B-517B-43F7-B1D1-9B1ABDC66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23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D9F9-0660-44A1-BDB9-2E5AEDC70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7EE666-EB99-422E-BEC0-1187FF431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FD34F-30AD-4825-8148-BA071611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6281C-25BE-438B-8CFD-8BE98015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521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B6DEA1-7362-4543-AFDB-4AC39E9C1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AF892E-50C1-4F14-BA85-42197A3F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BA74DE-99C3-4121-B17C-C07E084E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373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FCA1-2402-4500-AA55-A51581CA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59D9D-7219-4CE3-B805-3DC4160EB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40785-DA3F-497B-AA0A-FC7ECD4E56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6DF8B-F9EE-4E36-92DC-5ABDF9F41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E5970-8B0F-478B-A292-0AF01862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EF5FE-AFB8-4A17-AEDC-6A34C5D3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80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811A4-605F-42F2-A4A8-40B49E8D7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AF22EBA-A23A-4D1A-BB30-AE33425E02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040C57-3FC9-4562-9299-9063055EE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AD002-80EA-45B8-A48F-93E2F58DE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FD7B9-6E21-4904-AB32-03DB26B9A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D14C6-7818-4CE2-AAB2-421661EC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751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DE27-2633-4229-A921-5F1FEDB78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1BBC2-E5F8-4425-8954-A92FFCCCB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85110-1619-4593-8AB6-78E743925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03F39-81C6-4AD9-9DA8-68AC4333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F839D-654B-4E36-9BF1-1D7CC92A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290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7C6180-C0A3-4911-918C-451E250FE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4D182E-4351-4CD6-B9B2-4CFD178DE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BB2BB0-03EA-414E-85FF-0D4A2F3C3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296D1-644F-44D3-AA47-02D78A93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67DB5-A546-42B6-8A42-FD9BD2DAD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294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6F81F5-ED15-4B7A-B7F6-5F70C907E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3FE341-0256-4175-9E33-E735FFDA8B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6CE48-BBBB-47B3-A95D-2F68F0E4A0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93137-5979-49B8-84E1-CCB5188A2AFC}" type="datetimeFigureOut">
              <a:rPr lang="en-GB" smtClean="0"/>
              <a:t>25/08/2022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0A82E-079B-450C-B23B-C120538634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CF793-AEEB-485A-B993-21CDC6799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7A395B-DC7A-4491-9ADA-09B1AD82ED9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14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DA08-CDB5-437C-BC85-B628AE9981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Cash Flow Management Top Tips</a:t>
            </a:r>
          </a:p>
        </p:txBody>
      </p:sp>
    </p:spTree>
    <p:extLst>
      <p:ext uri="{BB962C8B-B14F-4D97-AF65-F5344CB8AC3E}">
        <p14:creationId xmlns:p14="http://schemas.microsoft.com/office/powerpoint/2010/main" val="525207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765C3-0AD0-4C8E-907B-C6978199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Let’s not overcomplicate it…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14A8-1946-473B-9D29-30D8E52D7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731" y="1825625"/>
            <a:ext cx="11491546" cy="4311406"/>
          </a:xfrm>
        </p:spPr>
        <p:txBody>
          <a:bodyPr numCol="3"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INCOME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: make sure you know what customers owe you and get that money in as quickly as possible.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GB" sz="2400" b="1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GB" sz="24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GB" sz="2400" b="1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GB" sz="24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GB" sz="24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GB" sz="24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EXPENDITURE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: keep up with what you owe others (landlords, suppliers, employees, etc.) and make sure that they are paid on time.  Don’t incur more costs than you can afford to pay. 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GB" sz="2400" b="1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GB" sz="2400" b="1" dirty="0"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endParaRPr lang="en-GB" sz="2400" b="1" dirty="0"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IDENTIFY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: know when there are shortfalls and take the necessary steps to fix them as quickly as possible.</a:t>
            </a:r>
            <a:endParaRPr lang="en-GB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1026" name="Picture 2" descr="Funny Billing Quotes. QuotesGram">
            <a:extLst>
              <a:ext uri="{FF2B5EF4-FFF2-40B4-BE49-F238E27FC236}">
                <a16:creationId xmlns:a16="http://schemas.microsoft.com/office/drawing/2014/main" id="{708DC4C7-A355-40B3-A9D5-C667583616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9" t="15506" r="7529" b="6742"/>
          <a:stretch/>
        </p:blipFill>
        <p:spPr bwMode="auto">
          <a:xfrm>
            <a:off x="533400" y="4151869"/>
            <a:ext cx="3667125" cy="234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F5C9F31-8606-4FB5-8EBE-E69CB26AE9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5" t="11012" r="2124" b="7284"/>
          <a:stretch/>
        </p:blipFill>
        <p:spPr bwMode="auto">
          <a:xfrm>
            <a:off x="4321419" y="4516994"/>
            <a:ext cx="3899599" cy="2341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op 3 Tips for Solving Your Cash Flow Problems">
            <a:extLst>
              <a:ext uri="{FF2B5EF4-FFF2-40B4-BE49-F238E27FC236}">
                <a16:creationId xmlns:a16="http://schemas.microsoft.com/office/drawing/2014/main" id="{ADF63AE6-9D3C-49BC-B1C5-4AB7A47001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29" t="907" r="2948" b="5325"/>
          <a:stretch/>
        </p:blipFill>
        <p:spPr bwMode="auto">
          <a:xfrm>
            <a:off x="8511409" y="4686300"/>
            <a:ext cx="3408457" cy="2041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346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B0D22-91CC-4356-8CEE-8968D8CD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08" y="365125"/>
            <a:ext cx="10515600" cy="1325563"/>
          </a:xfrm>
        </p:spPr>
        <p:txBody>
          <a:bodyPr/>
          <a:lstStyle/>
          <a:p>
            <a:r>
              <a:rPr lang="en-GB" dirty="0"/>
              <a:t>How do you make this happen?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5733D-8409-422C-93BD-32EAD86E3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89800" cy="466725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Don’t let customers delay payments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  </a:t>
            </a:r>
          </a:p>
          <a:p>
            <a:pPr marL="342900" lvl="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Negotiate your bills-in payment terms to extend as long as possible.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</a:t>
            </a:r>
          </a:p>
          <a:p>
            <a:pPr marL="342900" lvl="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Use a cash flow management tool or accounting software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  </a:t>
            </a:r>
          </a:p>
          <a:p>
            <a:pPr marL="342900" lvl="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Incentivise customers.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</a:t>
            </a:r>
          </a:p>
          <a:p>
            <a:pPr marL="342900" lvl="0" indent="-342900">
              <a:lnSpc>
                <a:spcPct val="160000"/>
              </a:lnSpc>
              <a:buFont typeface="+mj-lt"/>
              <a:buAutoNum type="arabicPeriod"/>
            </a:pPr>
            <a:r>
              <a:rPr lang="en-GB" sz="24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Build reserves.</a:t>
            </a:r>
            <a:r>
              <a:rPr lang="en-GB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  </a:t>
            </a:r>
            <a:endParaRPr lang="en-GB" sz="3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40496CD-1D8E-46E4-959A-E91AA6319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8353" y="365125"/>
            <a:ext cx="4064000" cy="6149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2635F3F-D116-499F-B95E-32574D815A0A}"/>
              </a:ext>
            </a:extLst>
          </p:cNvPr>
          <p:cNvCxnSpPr/>
          <p:nvPr/>
        </p:nvCxnSpPr>
        <p:spPr>
          <a:xfrm flipV="1">
            <a:off x="8128000" y="1027906"/>
            <a:ext cx="3868530" cy="462964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05AB1F2-1D59-48CE-BDD8-1BF5AC034F2B}"/>
              </a:ext>
            </a:extLst>
          </p:cNvPr>
          <p:cNvCxnSpPr>
            <a:cxnSpLocks/>
          </p:cNvCxnSpPr>
          <p:nvPr/>
        </p:nvCxnSpPr>
        <p:spPr>
          <a:xfrm>
            <a:off x="8128000" y="1027906"/>
            <a:ext cx="3759200" cy="442115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1E0A932-BC02-44FD-9ABD-0CDE15A6B380}"/>
              </a:ext>
            </a:extLst>
          </p:cNvPr>
          <p:cNvSpPr txBox="1"/>
          <p:nvPr/>
        </p:nvSpPr>
        <p:spPr>
          <a:xfrm rot="238929">
            <a:off x="9001296" y="417913"/>
            <a:ext cx="31550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>
                <a:solidFill>
                  <a:srgbClr val="FF0000"/>
                </a:solidFill>
                <a:latin typeface="Bradley Hand ITC" panose="03070402050302030203" pitchFamily="66" charset="0"/>
              </a:rPr>
              <a:t>BUSINESS</a:t>
            </a:r>
          </a:p>
        </p:txBody>
      </p:sp>
    </p:spTree>
    <p:extLst>
      <p:ext uri="{BB962C8B-B14F-4D97-AF65-F5344CB8AC3E}">
        <p14:creationId xmlns:p14="http://schemas.microsoft.com/office/powerpoint/2010/main" val="402403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518</Words>
  <Application>Microsoft Office PowerPoint</Application>
  <PresentationFormat>Widescreen</PresentationFormat>
  <Paragraphs>29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Bradley Hand ITC</vt:lpstr>
      <vt:lpstr>Calibri</vt:lpstr>
      <vt:lpstr>Calibri Light</vt:lpstr>
      <vt:lpstr>Office Theme</vt:lpstr>
      <vt:lpstr>Cash Flow Management Top Tips</vt:lpstr>
      <vt:lpstr>Let’s not overcomplicate it…</vt:lpstr>
      <vt:lpstr>How do you make this happen?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 Flow Management Top Tips</dc:title>
  <dc:creator>Tim Lages</dc:creator>
  <cp:lastModifiedBy>Tim Lages</cp:lastModifiedBy>
  <cp:revision>1</cp:revision>
  <dcterms:created xsi:type="dcterms:W3CDTF">2022-08-24T13:39:15Z</dcterms:created>
  <dcterms:modified xsi:type="dcterms:W3CDTF">2022-08-25T11:07:30Z</dcterms:modified>
</cp:coreProperties>
</file>
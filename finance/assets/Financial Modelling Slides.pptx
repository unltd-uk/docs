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1" r:id="rId3"/>
    <p:sldId id="264" r:id="rId4"/>
    <p:sldId id="265" r:id="rId5"/>
    <p:sldId id="266" r:id="rId6"/>
    <p:sldId id="263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006" autoAdjust="0"/>
  </p:normalViewPr>
  <p:slideViewPr>
    <p:cSldViewPr snapToGrid="0" showGuides="1">
      <p:cViewPr varScale="1">
        <p:scale>
          <a:sx n="109" d="100"/>
          <a:sy n="109" d="100"/>
        </p:scale>
        <p:origin x="67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47277-3B69-4185-A7BC-7204912B0504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1C76F-8F1B-4AD7-B4D7-9236C6A8DA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18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first 5 minutes we’ll start really slowly – for those of you that know what you are doing or done a little bit of this before the information will be too basic but keep with us as I’ll be layering on complexity as we go!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1C76F-8F1B-4AD7-B4D7-9236C6A8DA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772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first 5 minutes we’ll start really slowly – for those of you that know what you are doing or done a little bit of this before the information will be too basic but keep with us as I’ll be layering on complexity as we go!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1C76F-8F1B-4AD7-B4D7-9236C6A8DA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772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2E74-D4C6-4AAE-8AD1-106BE6196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37400-874E-4BD7-A363-753FCB9B1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EF129-0400-4C83-8A9C-53034DFF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7D58F-E2DA-48D3-8F00-4F969D3F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26514-6CC4-40F5-909E-8DE6B4A0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594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ED72-9C86-4A53-9EA4-FC62A181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3AD78-11AB-459A-91F5-9D993C075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85B7-E6B7-414A-A225-8CF0EF9D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4F350-A805-4A98-B5CF-117D4216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C9BC7-14DD-447E-B7C3-A51700D0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01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FA86-79C9-4CEF-B76B-55454287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1AA4-5647-4A57-8611-686C1D6AE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18566-A256-4B08-9633-D0E4778A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0C860-5E36-4F3C-AA68-9631C969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02F86-1A77-4F78-B0FE-FCAC4375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66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9F6D-E9A7-421D-9A29-DCE0F1269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9C03E-CB9C-4D93-9EAA-BCC94EC6D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60286-13B9-49CA-92A6-A51AA147F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C6902-F862-4419-9E01-47B077F2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F2CFD-2F5D-4B7A-80FB-CEC83C0FD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82CA9-A91C-42AE-8D40-57B498EF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72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128F-5544-481A-8700-C0BC95DF3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6E613-53D2-42F8-8BB2-27AA0B969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36DDA-9D0B-41AB-9F6F-80BAF56C3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9C0B41-9627-4F39-BBF5-2BFC2A3B2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A2BA8-1EC3-4478-998C-B29A5AC93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B1B533-93B4-4415-A7C8-2D226374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50EB4-2096-4B33-9C99-F9328E544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2D97C-9D06-4E28-B91A-BF61C449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017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4F74-E21B-45D9-A152-19220B20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6C1A5-305D-454E-BF99-A936D784F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CC3FB-4C4D-43FF-BF34-92CAD4DED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AB6E2-7AD8-4A9B-B4EA-09DB14CF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226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1819B-6F6B-4FB1-BC30-84080E760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04085-4810-45A0-B481-0C4C94A4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1F83C-1BA9-4365-A065-BA5F18D7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17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4B3B5-B6EE-477C-9C9B-635C0FE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9CFC-94F8-42F9-BBD0-330FE2BE5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15142-DD3D-41EB-A294-DC06D737F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0B126-7C83-41BE-97F4-0D10163F6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48FA5-E316-48DD-9F31-267294079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C2737-0273-495B-A1DE-6089163F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33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A45D-EB5B-4B5C-AFD5-ADBB6B6F2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D685D-FE69-4CC6-B951-8107F3D3E2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C1D57-CF72-4993-BEA6-2FA7BD7DE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4A7A7-A5FA-4E70-9E6F-D886397D8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E5FC3-C3CE-41FD-9287-E03CB1710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C4DDA-0460-4BD3-BB6B-9F486485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999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1D9C-60B2-45C3-801F-E6977559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1ABAD-E2AB-4EC3-AF97-CF908021E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57701-B146-4786-B965-3BF0CB17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48BFA-D795-41C8-BA5D-0E972A4F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1D635-B409-4541-8946-A9E95218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12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11A69-1597-4EB6-AA65-4B301C415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2D2E8-48AB-4E89-84C7-771B50AA2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AB84-B00F-4C2E-9A6F-9A80AB9C7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B26AC-3A48-439E-81A7-37427EA93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F3485-F7CA-4CB8-B592-87977BD3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53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5A2EF-E456-4BA7-B423-7EB64D0D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78F5F-0717-45AB-9AF1-2C4E32E2C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D6ED0-D6CD-4C84-9C86-AE5746F649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825D3-D8D5-4746-9EE7-D4107584423E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5C2A6-2A91-4BA5-829F-C5A052F99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D9591-09EF-4F6F-A8F9-6648CE9C0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14212-7650-453F-8707-70318932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98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E7CA-3F3C-4E17-BD54-EC65FD2D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Financial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6B222-E6F1-4E57-96FD-0AB30C7B1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financial modelling can help with: </a:t>
            </a:r>
          </a:p>
          <a:p>
            <a:pPr lvl="1"/>
            <a:r>
              <a:rPr lang="en-GB" dirty="0"/>
              <a:t>Budgeting and forecasting</a:t>
            </a:r>
          </a:p>
          <a:p>
            <a:pPr lvl="1"/>
            <a:r>
              <a:rPr lang="en-GB" dirty="0"/>
              <a:t>Measuring results and performance</a:t>
            </a:r>
          </a:p>
          <a:p>
            <a:pPr lvl="1"/>
            <a:r>
              <a:rPr lang="en-GB" dirty="0"/>
              <a:t>Strategic planning</a:t>
            </a:r>
          </a:p>
          <a:p>
            <a:pPr lvl="1"/>
            <a:r>
              <a:rPr lang="en-GB" dirty="0"/>
              <a:t>Scenario planning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367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E7CA-3F3C-4E17-BD54-EC65FD2D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Financial Modelling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6B222-E6F1-4E57-96FD-0AB30C7B1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will we cover today?</a:t>
            </a:r>
          </a:p>
          <a:p>
            <a:pPr lvl="1"/>
            <a:r>
              <a:rPr lang="en-GB" dirty="0"/>
              <a:t>How to read a basic monthly cash flow forecast </a:t>
            </a:r>
          </a:p>
          <a:p>
            <a:pPr lvl="1"/>
            <a:r>
              <a:rPr lang="en-GB" dirty="0"/>
              <a:t>How to complete a basic monthly case flow forecast </a:t>
            </a:r>
          </a:p>
          <a:p>
            <a:pPr lvl="1"/>
            <a:r>
              <a:rPr lang="en-GB" dirty="0"/>
              <a:t>Work through an example I’ve prepared </a:t>
            </a:r>
          </a:p>
          <a:p>
            <a:pPr lvl="1"/>
            <a:endParaRPr lang="en-GB" dirty="0"/>
          </a:p>
          <a:p>
            <a:r>
              <a:rPr lang="en-GB" dirty="0"/>
              <a:t>What won’t we cover?</a:t>
            </a:r>
          </a:p>
          <a:p>
            <a:pPr lvl="1"/>
            <a:r>
              <a:rPr lang="en-GB" dirty="0"/>
              <a:t>All 3 financial statements, namely: profit and loss accounts and balance sheets</a:t>
            </a:r>
          </a:p>
          <a:p>
            <a:pPr lvl="1"/>
            <a:r>
              <a:rPr lang="en-GB" dirty="0"/>
              <a:t>How to use excel </a:t>
            </a:r>
          </a:p>
          <a:p>
            <a:pPr lvl="1"/>
            <a:r>
              <a:rPr lang="en-GB" dirty="0"/>
              <a:t>Financial analysis (gross profit margin, break even analysis etc) </a:t>
            </a:r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7035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E7CA-3F3C-4E17-BD54-EC65FD2D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Financial Modelling – Income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F827A4-B5A0-426A-8121-F3ADDBCD1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4928135"/>
            <a:ext cx="10622280" cy="156474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Takeaways:</a:t>
            </a:r>
          </a:p>
          <a:p>
            <a:pPr lvl="1"/>
            <a:r>
              <a:rPr lang="en-GB" dirty="0"/>
              <a:t>Identify different business lines, products or services </a:t>
            </a:r>
          </a:p>
          <a:p>
            <a:pPr lvl="1"/>
            <a:r>
              <a:rPr lang="en-GB" dirty="0"/>
              <a:t>Monthly, yearly and business line totals</a:t>
            </a:r>
          </a:p>
          <a:p>
            <a:pPr lvl="1"/>
            <a:r>
              <a:rPr lang="en-GB" dirty="0"/>
              <a:t>Changes to income </a:t>
            </a:r>
          </a:p>
          <a:p>
            <a:pPr lvl="1"/>
            <a:r>
              <a:rPr lang="en-GB" dirty="0"/>
              <a:t>If helpful remember the principal of “what is 1?”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AF333-46BE-45C3-886D-02F798E4E0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625" t="20715" r="10000" b="39351"/>
          <a:stretch/>
        </p:blipFill>
        <p:spPr>
          <a:xfrm>
            <a:off x="198120" y="1493520"/>
            <a:ext cx="11739590" cy="318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0B48-1214-4FBE-B389-C5110EEDB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Financial Modelling - Expenditure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57701-891F-428C-84D5-9839B7E9B2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790" t="32886" r="9921" b="20755"/>
          <a:stretch/>
        </p:blipFill>
        <p:spPr>
          <a:xfrm>
            <a:off x="91481" y="1281036"/>
            <a:ext cx="12009037" cy="3869356"/>
          </a:xfrm>
          <a:prstGeom prst="rect">
            <a:avLst/>
          </a:prstGeo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852431B-A3CA-4E53-9A29-5F9FD4A13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5184177"/>
            <a:ext cx="10622280" cy="156474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Takeaways:</a:t>
            </a:r>
          </a:p>
          <a:p>
            <a:pPr lvl="1"/>
            <a:r>
              <a:rPr lang="en-GB" dirty="0"/>
              <a:t>Identify different areas of expenditures or costs</a:t>
            </a:r>
          </a:p>
          <a:p>
            <a:pPr lvl="1"/>
            <a:r>
              <a:rPr lang="en-GB" dirty="0"/>
              <a:t>Monthly, yearly and business line totals</a:t>
            </a:r>
          </a:p>
          <a:p>
            <a:pPr lvl="1"/>
            <a:r>
              <a:rPr lang="en-GB" dirty="0"/>
              <a:t>Changes to expenditures (and how this relates to income/growth of the business)</a:t>
            </a:r>
          </a:p>
          <a:p>
            <a:pPr lvl="1"/>
            <a:r>
              <a:rPr lang="en-GB" dirty="0"/>
              <a:t>Something to think about for the future: the difference between fixed costs and variable costs</a:t>
            </a:r>
          </a:p>
        </p:txBody>
      </p:sp>
    </p:spTree>
    <p:extLst>
      <p:ext uri="{BB962C8B-B14F-4D97-AF65-F5344CB8AC3E}">
        <p14:creationId xmlns:p14="http://schemas.microsoft.com/office/powerpoint/2010/main" val="54398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6CC9-E4E0-4504-ADF9-22975C66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Financial Modelling – Totals/Cash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22B6B-990D-4644-9508-ED296B704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5292"/>
            <a:ext cx="10515600" cy="177411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This shows the changes to your cash position month by month</a:t>
            </a:r>
          </a:p>
          <a:p>
            <a:r>
              <a:rPr lang="en-GB" dirty="0"/>
              <a:t>Retained earnings = income – expenditure</a:t>
            </a:r>
          </a:p>
          <a:p>
            <a:r>
              <a:rPr lang="en-GB" dirty="0"/>
              <a:t>Cash B/F = the starting cash position of each month/year</a:t>
            </a:r>
          </a:p>
          <a:p>
            <a:r>
              <a:rPr lang="en-GB" dirty="0"/>
              <a:t>Cash C/F = the cash position at the end of each month/year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21A16-5D95-44EA-85C3-C283EE303B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32" t="79245" r="10079" b="13068"/>
          <a:stretch/>
        </p:blipFill>
        <p:spPr>
          <a:xfrm>
            <a:off x="813669" y="2685398"/>
            <a:ext cx="10540131" cy="56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3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83579-69E1-4206-AF41-B619266FA3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GB" dirty="0"/>
              <a:t>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7453B-01C7-4CBC-93F4-A8F8059AF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Business: a cake shop and catering company</a:t>
            </a:r>
          </a:p>
          <a:p>
            <a:r>
              <a:rPr lang="en-GB" sz="2800" dirty="0"/>
              <a:t>Over time we will see the company grow.  Taking on new employees and offering new products and services.</a:t>
            </a:r>
          </a:p>
        </p:txBody>
      </p:sp>
    </p:spTree>
    <p:extLst>
      <p:ext uri="{BB962C8B-B14F-4D97-AF65-F5344CB8AC3E}">
        <p14:creationId xmlns:p14="http://schemas.microsoft.com/office/powerpoint/2010/main" val="2269955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 descr="A city block">
            <a:extLst>
              <a:ext uri="{FF2B5EF4-FFF2-40B4-BE49-F238E27FC236}">
                <a16:creationId xmlns:a16="http://schemas.microsoft.com/office/drawing/2014/main" id="{44AD8E93-4090-4162-B1E9-2DA78D5F6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1308" y="2935108"/>
            <a:ext cx="2991125" cy="1682508"/>
          </a:xfrm>
          <a:prstGeom prst="rect">
            <a:avLst/>
          </a:prstGeom>
        </p:spPr>
      </p:pic>
      <p:pic>
        <p:nvPicPr>
          <p:cNvPr id="5" name="Graphic 4" descr="Laptop with phone and calculator">
            <a:extLst>
              <a:ext uri="{FF2B5EF4-FFF2-40B4-BE49-F238E27FC236}">
                <a16:creationId xmlns:a16="http://schemas.microsoft.com/office/drawing/2014/main" id="{048DC8B9-F80C-4761-A741-CD328AE5E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207" y="2276283"/>
            <a:ext cx="1317649" cy="1317649"/>
          </a:xfrm>
          <a:prstGeom prst="rect">
            <a:avLst/>
          </a:prstGeom>
        </p:spPr>
      </p:pic>
      <p:pic>
        <p:nvPicPr>
          <p:cNvPr id="7" name="Graphic 6" descr="A cake with candles and fruit">
            <a:extLst>
              <a:ext uri="{FF2B5EF4-FFF2-40B4-BE49-F238E27FC236}">
                <a16:creationId xmlns:a16="http://schemas.microsoft.com/office/drawing/2014/main" id="{FF266B6D-C9FC-4CA6-B6C9-72C3A3CB3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8186" y="1783293"/>
            <a:ext cx="1682508" cy="1682508"/>
          </a:xfrm>
          <a:prstGeom prst="rect">
            <a:avLst/>
          </a:prstGeom>
        </p:spPr>
      </p:pic>
      <p:pic>
        <p:nvPicPr>
          <p:cNvPr id="13" name="Graphic 12" descr="Microscope with chemical flasks">
            <a:extLst>
              <a:ext uri="{FF2B5EF4-FFF2-40B4-BE49-F238E27FC236}">
                <a16:creationId xmlns:a16="http://schemas.microsoft.com/office/drawing/2014/main" id="{2CED08FD-75C4-47D1-BFEF-8E1C8254DE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3046178"/>
            <a:ext cx="1317649" cy="1317649"/>
          </a:xfrm>
          <a:prstGeom prst="rect">
            <a:avLst/>
          </a:prstGeom>
        </p:spPr>
      </p:pic>
      <p:pic>
        <p:nvPicPr>
          <p:cNvPr id="21" name="Graphic 20" descr="Graph and note paper with pencils">
            <a:extLst>
              <a:ext uri="{FF2B5EF4-FFF2-40B4-BE49-F238E27FC236}">
                <a16:creationId xmlns:a16="http://schemas.microsoft.com/office/drawing/2014/main" id="{8BDE353C-DE6B-4449-82BC-704753CC26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4643" y="3146365"/>
            <a:ext cx="1196758" cy="1196758"/>
          </a:xfrm>
          <a:prstGeom prst="rect">
            <a:avLst/>
          </a:prstGeom>
        </p:spPr>
      </p:pic>
      <p:pic>
        <p:nvPicPr>
          <p:cNvPr id="24" name="Graphic 23" descr="A cake with candles and fruit">
            <a:extLst>
              <a:ext uri="{FF2B5EF4-FFF2-40B4-BE49-F238E27FC236}">
                <a16:creationId xmlns:a16="http://schemas.microsoft.com/office/drawing/2014/main" id="{13983FB3-1F60-43D1-AACC-2D6587D265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96418" y="4727682"/>
            <a:ext cx="1682508" cy="1682508"/>
          </a:xfrm>
          <a:prstGeom prst="rect">
            <a:avLst/>
          </a:prstGeom>
        </p:spPr>
      </p:pic>
      <p:pic>
        <p:nvPicPr>
          <p:cNvPr id="25" name="Graphic 24" descr="Balloon animal poodle">
            <a:extLst>
              <a:ext uri="{FF2B5EF4-FFF2-40B4-BE49-F238E27FC236}">
                <a16:creationId xmlns:a16="http://schemas.microsoft.com/office/drawing/2014/main" id="{6EC64461-C5FA-4928-8A8F-79EFA528AF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97980" y="5568936"/>
            <a:ext cx="1121672" cy="1121672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4A92806-4234-4223-9876-5B6885DD4851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2281401" y="3744744"/>
            <a:ext cx="3415017" cy="1824192"/>
          </a:xfrm>
          <a:prstGeom prst="straightConnector1">
            <a:avLst/>
          </a:prstGeom>
          <a:ln w="1143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1AA6D2E-F0B5-45D1-BA0A-1814D55EA81F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2281401" y="3744744"/>
            <a:ext cx="2859907" cy="31618"/>
          </a:xfrm>
          <a:prstGeom prst="straightConnector1">
            <a:avLst/>
          </a:prstGeom>
          <a:ln w="1143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Loan with solid fill">
            <a:extLst>
              <a:ext uri="{FF2B5EF4-FFF2-40B4-BE49-F238E27FC236}">
                <a16:creationId xmlns:a16="http://schemas.microsoft.com/office/drawing/2014/main" id="{F398179D-84F6-4747-9B77-D13F8847DB7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89171" y="177494"/>
            <a:ext cx="914400" cy="914400"/>
          </a:xfrm>
          <a:prstGeom prst="rect">
            <a:avLst/>
          </a:prstGeom>
        </p:spPr>
      </p:pic>
      <p:pic>
        <p:nvPicPr>
          <p:cNvPr id="30" name="Graphic 29" descr="A cake with candles and fruit">
            <a:extLst>
              <a:ext uri="{FF2B5EF4-FFF2-40B4-BE49-F238E27FC236}">
                <a16:creationId xmlns:a16="http://schemas.microsoft.com/office/drawing/2014/main" id="{D76BDE3A-6484-4F70-BDC4-28CB86469C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8338" y="-49894"/>
            <a:ext cx="1682508" cy="1682508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8BAAE9-BA4D-4149-9E3B-71631A070ECD}"/>
              </a:ext>
            </a:extLst>
          </p:cNvPr>
          <p:cNvCxnSpPr>
            <a:cxnSpLocks/>
            <a:stCxn id="21" idx="3"/>
            <a:endCxn id="12" idx="1"/>
          </p:cNvCxnSpPr>
          <p:nvPr/>
        </p:nvCxnSpPr>
        <p:spPr>
          <a:xfrm flipV="1">
            <a:off x="2281401" y="634694"/>
            <a:ext cx="3207770" cy="3110050"/>
          </a:xfrm>
          <a:prstGeom prst="straightConnector1">
            <a:avLst/>
          </a:prstGeom>
          <a:ln w="1143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Food Delivery with solid fill">
            <a:extLst>
              <a:ext uri="{FF2B5EF4-FFF2-40B4-BE49-F238E27FC236}">
                <a16:creationId xmlns:a16="http://schemas.microsoft.com/office/drawing/2014/main" id="{A4874093-AAAE-4C71-AB06-EDD8D45D1C3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074509" y="1365202"/>
            <a:ext cx="914400" cy="914400"/>
          </a:xfrm>
          <a:prstGeom prst="rect">
            <a:avLst/>
          </a:prstGeom>
        </p:spPr>
      </p:pic>
      <p:pic>
        <p:nvPicPr>
          <p:cNvPr id="38" name="Graphic 37" descr="Food Delivery with solid fill">
            <a:extLst>
              <a:ext uri="{FF2B5EF4-FFF2-40B4-BE49-F238E27FC236}">
                <a16:creationId xmlns:a16="http://schemas.microsoft.com/office/drawing/2014/main" id="{2FA3BC07-C339-403E-B364-53FF68D9062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00228" y="2954395"/>
            <a:ext cx="914400" cy="914400"/>
          </a:xfrm>
          <a:prstGeom prst="rect">
            <a:avLst/>
          </a:prstGeom>
        </p:spPr>
      </p:pic>
      <p:pic>
        <p:nvPicPr>
          <p:cNvPr id="39" name="Graphic 38" descr="Food Delivery with solid fill">
            <a:extLst>
              <a:ext uri="{FF2B5EF4-FFF2-40B4-BE49-F238E27FC236}">
                <a16:creationId xmlns:a16="http://schemas.microsoft.com/office/drawing/2014/main" id="{1B45510D-4DE3-4082-8AC2-3A02A3D69BB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00228" y="4554380"/>
            <a:ext cx="914400" cy="914400"/>
          </a:xfrm>
          <a:prstGeom prst="rect">
            <a:avLst/>
          </a:prstGeom>
        </p:spPr>
      </p:pic>
      <p:pic>
        <p:nvPicPr>
          <p:cNvPr id="34" name="Graphic 33" descr="Bar graph with upward trend with solid fill">
            <a:extLst>
              <a:ext uri="{FF2B5EF4-FFF2-40B4-BE49-F238E27FC236}">
                <a16:creationId xmlns:a16="http://schemas.microsoft.com/office/drawing/2014/main" id="{2293BE20-2CA7-4346-85F9-E38288685C0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28161" y="2212121"/>
            <a:ext cx="914400" cy="914400"/>
          </a:xfrm>
          <a:prstGeom prst="rect">
            <a:avLst/>
          </a:prstGeom>
        </p:spPr>
      </p:pic>
      <p:pic>
        <p:nvPicPr>
          <p:cNvPr id="41" name="Graphic 40" descr="Business Growth with solid fill">
            <a:extLst>
              <a:ext uri="{FF2B5EF4-FFF2-40B4-BE49-F238E27FC236}">
                <a16:creationId xmlns:a16="http://schemas.microsoft.com/office/drawing/2014/main" id="{AA043AA4-E188-4A90-B993-5893E9CFA38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54836" y="2579395"/>
            <a:ext cx="914400" cy="914400"/>
          </a:xfrm>
          <a:prstGeom prst="rect">
            <a:avLst/>
          </a:prstGeom>
        </p:spPr>
      </p:pic>
      <p:pic>
        <p:nvPicPr>
          <p:cNvPr id="44" name="Graphic 43" descr="Group brainstorm with solid fill">
            <a:extLst>
              <a:ext uri="{FF2B5EF4-FFF2-40B4-BE49-F238E27FC236}">
                <a16:creationId xmlns:a16="http://schemas.microsoft.com/office/drawing/2014/main" id="{18F849FD-F40A-419F-B23B-44CA4A06488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941732" y="2901441"/>
            <a:ext cx="914400" cy="914400"/>
          </a:xfrm>
          <a:prstGeom prst="rect">
            <a:avLst/>
          </a:prstGeom>
        </p:spPr>
      </p:pic>
      <p:pic>
        <p:nvPicPr>
          <p:cNvPr id="47" name="Graphic 46" descr="Postit Notes with solid fill">
            <a:extLst>
              <a:ext uri="{FF2B5EF4-FFF2-40B4-BE49-F238E27FC236}">
                <a16:creationId xmlns:a16="http://schemas.microsoft.com/office/drawing/2014/main" id="{9FC3CAD1-1B41-48EF-9C46-8CF26A9341B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981593" y="3287544"/>
            <a:ext cx="914400" cy="914400"/>
          </a:xfrm>
          <a:prstGeom prst="rect">
            <a:avLst/>
          </a:prstGeom>
        </p:spPr>
      </p:pic>
      <p:pic>
        <p:nvPicPr>
          <p:cNvPr id="49" name="Graphic 48" descr="Social network with solid fill">
            <a:extLst>
              <a:ext uri="{FF2B5EF4-FFF2-40B4-BE49-F238E27FC236}">
                <a16:creationId xmlns:a16="http://schemas.microsoft.com/office/drawing/2014/main" id="{85C7CC98-44EE-4AC3-A561-E35761B4E3B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605605" y="4270482"/>
            <a:ext cx="914400" cy="914400"/>
          </a:xfrm>
          <a:prstGeom prst="rect">
            <a:avLst/>
          </a:prstGeom>
        </p:spPr>
      </p:pic>
      <p:pic>
        <p:nvPicPr>
          <p:cNvPr id="51" name="Graphic 50" descr="Upward trend with solid fill">
            <a:extLst>
              <a:ext uri="{FF2B5EF4-FFF2-40B4-BE49-F238E27FC236}">
                <a16:creationId xmlns:a16="http://schemas.microsoft.com/office/drawing/2014/main" id="{9A933AEC-CD90-4148-8785-285108D34C5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380297" y="3846691"/>
            <a:ext cx="914400" cy="914400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66479CC-CCDC-46C4-B9DE-3020FBD6A771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8132433" y="3776362"/>
            <a:ext cx="1247864" cy="0"/>
          </a:xfrm>
          <a:prstGeom prst="straightConnector1">
            <a:avLst/>
          </a:prstGeom>
          <a:ln w="1143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392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E7CA-3F3C-4E17-BD54-EC65FD2D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Financial Modelling – 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6B222-E6F1-4E57-96FD-0AB30C7B1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Purpose:</a:t>
            </a:r>
          </a:p>
          <a:p>
            <a:pPr lvl="1"/>
            <a:r>
              <a:rPr lang="en-GB" dirty="0"/>
              <a:t>Budgeting and forecasting</a:t>
            </a:r>
          </a:p>
          <a:p>
            <a:pPr lvl="1"/>
            <a:r>
              <a:rPr lang="en-GB" dirty="0"/>
              <a:t>Measuring results and performance</a:t>
            </a:r>
          </a:p>
          <a:p>
            <a:pPr lvl="1"/>
            <a:r>
              <a:rPr lang="en-GB" dirty="0"/>
              <a:t>Strategic planning </a:t>
            </a:r>
          </a:p>
          <a:p>
            <a:pPr lvl="1"/>
            <a:r>
              <a:rPr lang="en-GB" dirty="0"/>
              <a:t>Scenario planning</a:t>
            </a:r>
          </a:p>
          <a:p>
            <a:r>
              <a:rPr lang="en-GB" dirty="0"/>
              <a:t>Any questions?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967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1878</TotalTime>
  <Words>373</Words>
  <Application>Microsoft Office PowerPoint</Application>
  <PresentationFormat>Widescreen</PresentationFormat>
  <Paragraphs>51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Financial Modelling</vt:lpstr>
      <vt:lpstr>Financial Modelling </vt:lpstr>
      <vt:lpstr>Financial Modelling – Income</vt:lpstr>
      <vt:lpstr>Financial Modelling - Expenditure</vt:lpstr>
      <vt:lpstr>Financial Modelling – Totals/Cash Position</vt:lpstr>
      <vt:lpstr>EXAMPLE</vt:lpstr>
      <vt:lpstr>PowerPoint Presentation</vt:lpstr>
      <vt:lpstr>Financial Modelling – 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Modelling </dc:title>
  <dc:creator>Tim Lages</dc:creator>
  <cp:lastModifiedBy>Tim Lages</cp:lastModifiedBy>
  <cp:revision>4</cp:revision>
  <dcterms:created xsi:type="dcterms:W3CDTF">2021-04-13T09:15:05Z</dcterms:created>
  <dcterms:modified xsi:type="dcterms:W3CDTF">2021-04-30T15:47:58Z</dcterms:modified>
</cp:coreProperties>
</file>
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97" r:id="rId2"/>
    <p:sldId id="29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368" autoAdjust="0"/>
    <p:restoredTop sz="94660"/>
  </p:normalViewPr>
  <p:slideViewPr>
    <p:cSldViewPr snapToGrid="0">
      <p:cViewPr>
        <p:scale>
          <a:sx n="80" d="100"/>
          <a:sy n="80" d="100"/>
        </p:scale>
        <p:origin x="2346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6EC16-EA75-4710-A304-778EC67F9C93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4C5F1-D53A-4BC0-85BB-7277C9D6C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69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251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E6BF2-2680-46EB-BE20-25975E143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9ABCE-A042-47A4-AAA9-4D1CFF126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F496D-F703-43BC-87C3-B46F032A3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62CC-87A0-4813-A7F9-3FB2108908D0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B98B3-D743-497A-BD9E-80A8EC9B9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3006-142D-46EA-8136-91A8B7373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F4B05-E55A-4AD7-9D03-117BDDBBA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24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E249E-E417-42EC-9BC4-47C5F0368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5F27F-E0B1-4420-A780-841EB01F2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38E14-A3DD-48ED-ABFD-4C9E057F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62CC-87A0-4813-A7F9-3FB2108908D0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7DBB7-C090-4BC3-AF85-F73535EA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DF696-3CD9-4883-82FB-2978B5DA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F4B05-E55A-4AD7-9D03-117BDDBBA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71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656B9-9190-404C-BB9F-1A7783B28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14664-69EF-452A-826D-D785AFBBF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6C28A-A911-4F2A-8DF9-CADA8C783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62CC-87A0-4813-A7F9-3FB2108908D0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60FFF-ED96-43E2-AD3E-27FBA1B1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0DE16-16F5-446B-9B00-FF25809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F4B05-E55A-4AD7-9D03-117BDDBBA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346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10DA-B8B5-4CD5-A15B-E205AA03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EF719-6B74-4BAD-A552-F14649789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04C32-6EDA-47ED-8AA4-C591100B4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7EBC2-F6E6-41B4-A685-D62E9DE92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62CC-87A0-4813-A7F9-3FB2108908D0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DD4AD-C357-4A6A-9941-F6CA3387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5AF65-EE73-4A4E-871E-3D9880DD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F4B05-E55A-4AD7-9D03-117BDDBBA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24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A9E9-F1E6-4185-BA07-28BB3A910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D151C-3DE1-42C9-88D5-C6654A6C0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750AA-9E58-4E1C-9390-78785CF5A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B2121-0F05-42AD-A9A2-DD75FCAD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EB7F1-8A12-4CF6-B7B5-06BDEF30A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9D349-7314-4B35-9AAD-F2518328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62CC-87A0-4813-A7F9-3FB2108908D0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47BBF7-2F70-45A4-9037-D7EA90A1D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A1DAE-A783-467F-93E6-77D51F7E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F4B05-E55A-4AD7-9D03-117BDDBBA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532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D58B-DC6B-4CD2-9A87-D783C677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3A0F6A-22B8-45DE-A98C-A53E5909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62CC-87A0-4813-A7F9-3FB2108908D0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BDB077-954C-4F83-B803-76F950F6A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0E9F2-0C65-45A6-9948-F6D6CD5D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F4B05-E55A-4AD7-9D03-117BDDBBA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909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8EB9B8-62CA-4BC0-AAA1-6853D4F6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62CC-87A0-4813-A7F9-3FB2108908D0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1A644-CBED-4BE1-B529-B708F5BC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926DA-A92F-4D5C-B0B8-E2A0DCE0F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F4B05-E55A-4AD7-9D03-117BDDBBA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4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7B7A5-9216-438B-921C-E772FAA0B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D851A-F4E8-4EA1-9800-7CEBDEEC3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41C40-2129-4D53-A065-FCBA49F38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BDA6C-1CE6-44D8-8FFC-9F9F90DDE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62CC-87A0-4813-A7F9-3FB2108908D0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E54DB-17EC-4E20-8779-7EB1F556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E0B28-7225-4571-B472-7259B9E0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F4B05-E55A-4AD7-9D03-117BDDBBA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75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624B-B02A-4FA8-BCD3-76A921402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80152B-24A5-4AC2-957F-91134F210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EFEDC-BC79-41B2-85BA-B5B074E52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53251-69B2-4041-97E7-D82FC3867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62CC-87A0-4813-A7F9-3FB2108908D0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4E3BD-9E8F-4F16-845C-392D369D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C71A3-2194-4292-B4E9-B455FFDB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F4B05-E55A-4AD7-9D03-117BDDBBA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861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78B77-EA4D-43BE-BB20-43080423C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810F1-109B-4520-86FC-C219F0E2C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ACC0E-140D-47FB-8199-5E5E604D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62CC-87A0-4813-A7F9-3FB2108908D0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5FDF9-FBCD-43C9-8BE0-9337A82BE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D3A8A-0A58-4883-B534-8F22F99A9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F4B05-E55A-4AD7-9D03-117BDDBBA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223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A5F00-DD40-40D2-AE38-1811B0E29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DC10E-4356-4224-A5A4-38B26855E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865E-39C0-45E8-8A60-A04AB2EC1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62CC-87A0-4813-A7F9-3FB2108908D0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C288-B0B3-4633-917E-E0E3A3B2C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7D9A0-EDB1-4DA1-9B72-3848C4C2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F4B05-E55A-4AD7-9D03-117BDDBBA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269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C073B-9002-45FF-8A60-D00AF5498BE3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0FB5-D502-4438-886F-18082FA237F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2217E-25DD-4960-ABE0-F9AA2F3DC9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9062" y="2369370"/>
            <a:ext cx="10644738" cy="1912173"/>
          </a:xfrm>
        </p:spPr>
        <p:txBody>
          <a:bodyPr/>
          <a:lstStyle>
            <a:lvl1pPr marL="0" indent="0">
              <a:buNone/>
              <a:defRPr sz="4400">
                <a:solidFill>
                  <a:srgbClr val="491A66"/>
                </a:solidFill>
                <a:latin typeface="+mj-lt"/>
              </a:defRPr>
            </a:lvl1pPr>
            <a:lvl2pPr marL="457200" indent="0">
              <a:buNone/>
              <a:defRPr sz="4400">
                <a:solidFill>
                  <a:srgbClr val="F37023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6A4557-7DDE-4427-A339-35D9B01A0F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989" y="6084979"/>
            <a:ext cx="1641907" cy="47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8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937D55-55C2-48D2-83B4-FF5A254B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26ADF-862C-4093-8DFA-7EB0B2127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A73DD-5E50-4964-B049-9818B0FE97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B62CC-87A0-4813-A7F9-3FB2108908D0}" type="datetimeFigureOut">
              <a:rPr lang="en-GB" smtClean="0"/>
              <a:t>15/07/2019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847EE-12E2-46CE-8B2B-E357AAFC4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AAE73-FE3F-4585-A4F2-B0F0221C5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F4B05-E55A-4AD7-9D03-117BDDBBA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43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7FD522-9B26-4831-A53F-4583BB5949C9}"/>
              </a:ext>
            </a:extLst>
          </p:cNvPr>
          <p:cNvSpPr/>
          <p:nvPr/>
        </p:nvSpPr>
        <p:spPr>
          <a:xfrm>
            <a:off x="4319820" y="2867617"/>
            <a:ext cx="2472177" cy="88038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prstClr val="white"/>
                </a:solidFill>
                <a:latin typeface="Gotham Book"/>
              </a:rPr>
              <a:t>Recruitment barriers for ND candidates are reduced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597BD3D-6BE0-4498-9241-EB1A3D50CD4A}"/>
              </a:ext>
            </a:extLst>
          </p:cNvPr>
          <p:cNvSpPr/>
          <p:nvPr/>
        </p:nvSpPr>
        <p:spPr>
          <a:xfrm>
            <a:off x="5058384" y="32518"/>
            <a:ext cx="1666567" cy="3115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Bespoke services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FF4C399-0F12-42CD-90A4-460792C80DD0}"/>
              </a:ext>
            </a:extLst>
          </p:cNvPr>
          <p:cNvSpPr/>
          <p:nvPr/>
        </p:nvSpPr>
        <p:spPr>
          <a:xfrm>
            <a:off x="6719687" y="32518"/>
            <a:ext cx="1666567" cy="31154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Outcomes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853A3DA-E789-471E-8D71-F905BC1AB6EA}"/>
              </a:ext>
            </a:extLst>
          </p:cNvPr>
          <p:cNvSpPr/>
          <p:nvPr/>
        </p:nvSpPr>
        <p:spPr>
          <a:xfrm>
            <a:off x="8382531" y="33331"/>
            <a:ext cx="1666567" cy="311546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636363">
                    <a:lumMod val="60000"/>
                    <a:lumOff val="40000"/>
                  </a:srgbClr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Objectives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636363">
                  <a:lumMod val="60000"/>
                  <a:lumOff val="40000"/>
                </a:srgbClr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DD6AEB33-1661-4BE4-8858-765D980DB1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570" y="-69312"/>
            <a:ext cx="5121298" cy="697680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Theory Of Change – Exceptional Individuals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537F2A-64D1-4898-BFBB-D5DF90323F0B}"/>
              </a:ext>
            </a:extLst>
          </p:cNvPr>
          <p:cNvSpPr/>
          <p:nvPr/>
        </p:nvSpPr>
        <p:spPr>
          <a:xfrm>
            <a:off x="7163290" y="3049208"/>
            <a:ext cx="2964267" cy="74906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prstClr val="white"/>
                </a:solidFill>
                <a:latin typeface="Gotham Book"/>
              </a:rPr>
              <a:t>ND people are more aware of their career potential and are more confident to achieve goals, both personally and professionally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A2D6B8A-50F3-4531-9AB8-C04E1A1A00AB}"/>
              </a:ext>
            </a:extLst>
          </p:cNvPr>
          <p:cNvSpPr/>
          <p:nvPr/>
        </p:nvSpPr>
        <p:spPr>
          <a:xfrm>
            <a:off x="4292472" y="4492566"/>
            <a:ext cx="2472177" cy="88038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Skills and confidence of ND employees are improved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BF2726B-9954-49EC-940E-6A9693BFACA6}"/>
              </a:ext>
            </a:extLst>
          </p:cNvPr>
          <p:cNvSpPr/>
          <p:nvPr/>
        </p:nvSpPr>
        <p:spPr>
          <a:xfrm>
            <a:off x="7151885" y="1842493"/>
            <a:ext cx="2964267" cy="74906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prstClr val="white"/>
                </a:solidFill>
                <a:latin typeface="Gotham Book"/>
              </a:rPr>
              <a:t>More businesses are employing ND people into an inclusive working culture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1D0B609-E905-4430-90B6-47A83DA90AE9}"/>
              </a:ext>
            </a:extLst>
          </p:cNvPr>
          <p:cNvSpPr/>
          <p:nvPr/>
        </p:nvSpPr>
        <p:spPr>
          <a:xfrm>
            <a:off x="10166529" y="2956013"/>
            <a:ext cx="1771048" cy="1109442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Promoting an inclusive working culture for ND people everywhere, allowing them to achieve their full potential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ADC9875-BE11-4CA8-8342-E2362BC1AA64}"/>
              </a:ext>
            </a:extLst>
          </p:cNvPr>
          <p:cNvSpPr/>
          <p:nvPr/>
        </p:nvSpPr>
        <p:spPr>
          <a:xfrm>
            <a:off x="10043834" y="21795"/>
            <a:ext cx="1666567" cy="31154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rgbClr val="636363">
                    <a:lumMod val="60000"/>
                    <a:lumOff val="40000"/>
                  </a:srgbClr>
                </a:solidFill>
                <a:latin typeface="Gotham Book"/>
              </a:rPr>
              <a:t>Impact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8C8F18D-0202-40D9-8BAD-8DF0A3D33F73}"/>
              </a:ext>
            </a:extLst>
          </p:cNvPr>
          <p:cNvSpPr/>
          <p:nvPr/>
        </p:nvSpPr>
        <p:spPr>
          <a:xfrm>
            <a:off x="528027" y="3583658"/>
            <a:ext cx="2964267" cy="472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prstClr val="white"/>
                </a:solidFill>
                <a:latin typeface="Gotham Book"/>
              </a:rPr>
              <a:t>Academy…</a:t>
            </a: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ok"/>
              <a:ea typeface="+mn-ea"/>
              <a:cs typeface="+mn-cs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16EA1E3-D74D-48EF-B45C-7CBAFD10C067}"/>
              </a:ext>
            </a:extLst>
          </p:cNvPr>
          <p:cNvSpPr/>
          <p:nvPr/>
        </p:nvSpPr>
        <p:spPr>
          <a:xfrm>
            <a:off x="528027" y="3071555"/>
            <a:ext cx="2964267" cy="472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Work Placements…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8529919-4013-4927-BE87-6B9DDE455011}"/>
              </a:ext>
            </a:extLst>
          </p:cNvPr>
          <p:cNvSpPr/>
          <p:nvPr/>
        </p:nvSpPr>
        <p:spPr>
          <a:xfrm>
            <a:off x="553355" y="1314000"/>
            <a:ext cx="2964267" cy="4133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defRPr/>
            </a:pPr>
            <a:r>
              <a:rPr lang="en-GB" sz="1200" dirty="0">
                <a:solidFill>
                  <a:prstClr val="white"/>
                </a:solidFill>
              </a:rPr>
              <a:t>Audits of workplaces to ensure they are ND friendly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6B8F6F9-F422-4DF2-B603-EDDA2F5B0D56}"/>
              </a:ext>
            </a:extLst>
          </p:cNvPr>
          <p:cNvSpPr/>
          <p:nvPr/>
        </p:nvSpPr>
        <p:spPr>
          <a:xfrm>
            <a:off x="528027" y="805217"/>
            <a:ext cx="2964267" cy="472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Workshops ….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8E07ABB-69FB-4546-AB63-B38FDC4EB1A2}"/>
              </a:ext>
            </a:extLst>
          </p:cNvPr>
          <p:cNvSpPr/>
          <p:nvPr/>
        </p:nvSpPr>
        <p:spPr>
          <a:xfrm>
            <a:off x="528027" y="2554349"/>
            <a:ext cx="2964267" cy="472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1-2-1 Support for ND candidates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0EB2140-FB68-4370-AC34-1D8069E90DE4}"/>
              </a:ext>
            </a:extLst>
          </p:cNvPr>
          <p:cNvSpPr/>
          <p:nvPr/>
        </p:nvSpPr>
        <p:spPr>
          <a:xfrm>
            <a:off x="553355" y="4765255"/>
            <a:ext cx="2964267" cy="470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Continued in-work support for ND employees and businesses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83CD883-D412-414B-9D69-FF9EA0A99B4A}"/>
              </a:ext>
            </a:extLst>
          </p:cNvPr>
          <p:cNvSpPr/>
          <p:nvPr/>
        </p:nvSpPr>
        <p:spPr>
          <a:xfrm>
            <a:off x="38077" y="876070"/>
            <a:ext cx="380416" cy="99496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200" dirty="0"/>
              <a:t>Consulting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6DC7C70-EB79-43EB-BCF2-57608BE1AA83}"/>
              </a:ext>
            </a:extLst>
          </p:cNvPr>
          <p:cNvSpPr/>
          <p:nvPr/>
        </p:nvSpPr>
        <p:spPr>
          <a:xfrm>
            <a:off x="38077" y="5417485"/>
            <a:ext cx="380416" cy="1203645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200" dirty="0"/>
              <a:t>Advocacy/ Education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80CDB1D-DB9E-448C-985C-C79544E9831C}"/>
              </a:ext>
            </a:extLst>
          </p:cNvPr>
          <p:cNvSpPr/>
          <p:nvPr/>
        </p:nvSpPr>
        <p:spPr>
          <a:xfrm>
            <a:off x="4319820" y="1060269"/>
            <a:ext cx="2472177" cy="88038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prstClr val="white"/>
                </a:solidFill>
                <a:latin typeface="Gotham Book"/>
              </a:rPr>
              <a:t>Corporates and SMEs change internal policies and procedures to attract and maintain ND workers 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11883265-EB45-4FA2-885E-E4F088307694}"/>
              </a:ext>
            </a:extLst>
          </p:cNvPr>
          <p:cNvSpPr/>
          <p:nvPr/>
        </p:nvSpPr>
        <p:spPr>
          <a:xfrm>
            <a:off x="553354" y="5632272"/>
            <a:ext cx="2964267" cy="6902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Speaking events &amp; workshops sharing education around ND needs/support in the workplace</a:t>
            </a:r>
          </a:p>
        </p:txBody>
      </p: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FEFEF963-B0AD-46D2-8B13-7B2982BDF4FF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3492294" y="1041473"/>
            <a:ext cx="865946" cy="54318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5316FF4F-39E6-4D01-9241-737392266759}"/>
              </a:ext>
            </a:extLst>
          </p:cNvPr>
          <p:cNvCxnSpPr>
            <a:cxnSpLocks/>
          </p:cNvCxnSpPr>
          <p:nvPr/>
        </p:nvCxnSpPr>
        <p:spPr>
          <a:xfrm flipV="1">
            <a:off x="3524655" y="1581467"/>
            <a:ext cx="833585" cy="1146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66EB90B3-E761-46F8-8F60-44E437D631DC}"/>
              </a:ext>
            </a:extLst>
          </p:cNvPr>
          <p:cNvCxnSpPr>
            <a:cxnSpLocks/>
            <a:stCxn id="61" idx="3"/>
            <a:endCxn id="9" idx="1"/>
          </p:cNvCxnSpPr>
          <p:nvPr/>
        </p:nvCxnSpPr>
        <p:spPr>
          <a:xfrm>
            <a:off x="3492294" y="2790605"/>
            <a:ext cx="827526" cy="51720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7A44726A-1188-449C-A2BE-47185BBAB07D}"/>
              </a:ext>
            </a:extLst>
          </p:cNvPr>
          <p:cNvCxnSpPr>
            <a:cxnSpLocks/>
            <a:stCxn id="56" idx="3"/>
            <a:endCxn id="9" idx="1"/>
          </p:cNvCxnSpPr>
          <p:nvPr/>
        </p:nvCxnSpPr>
        <p:spPr>
          <a:xfrm>
            <a:off x="3492294" y="3307811"/>
            <a:ext cx="827526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ED8130BD-0C66-48E3-A006-E564DA031FD3}"/>
              </a:ext>
            </a:extLst>
          </p:cNvPr>
          <p:cNvCxnSpPr>
            <a:cxnSpLocks/>
          </p:cNvCxnSpPr>
          <p:nvPr/>
        </p:nvCxnSpPr>
        <p:spPr>
          <a:xfrm flipV="1">
            <a:off x="3492294" y="3315637"/>
            <a:ext cx="827526" cy="41689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4" name="Arrow: Bent 223">
            <a:extLst>
              <a:ext uri="{FF2B5EF4-FFF2-40B4-BE49-F238E27FC236}">
                <a16:creationId xmlns:a16="http://schemas.microsoft.com/office/drawing/2014/main" id="{A32EDEB2-ADC3-4855-BA6D-4EBE24BC8101}"/>
              </a:ext>
            </a:extLst>
          </p:cNvPr>
          <p:cNvSpPr/>
          <p:nvPr/>
        </p:nvSpPr>
        <p:spPr>
          <a:xfrm rot="5400000">
            <a:off x="10357644" y="2154935"/>
            <a:ext cx="680484" cy="532549"/>
          </a:xfrm>
          <a:prstGeom prst="bentArrow">
            <a:avLst>
              <a:gd name="adj1" fmla="val 17013"/>
              <a:gd name="adj2" fmla="val 25000"/>
              <a:gd name="adj3" fmla="val 25000"/>
              <a:gd name="adj4" fmla="val 43750"/>
            </a:avLst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225" name="Arrow: Bent 224">
            <a:extLst>
              <a:ext uri="{FF2B5EF4-FFF2-40B4-BE49-F238E27FC236}">
                <a16:creationId xmlns:a16="http://schemas.microsoft.com/office/drawing/2014/main" id="{68A750BC-86B1-4E5A-8361-F4E7D58CE3B0}"/>
              </a:ext>
            </a:extLst>
          </p:cNvPr>
          <p:cNvSpPr/>
          <p:nvPr/>
        </p:nvSpPr>
        <p:spPr>
          <a:xfrm rot="16200000" flipV="1">
            <a:off x="10307264" y="4341032"/>
            <a:ext cx="680484" cy="532549"/>
          </a:xfrm>
          <a:prstGeom prst="bentArrow">
            <a:avLst>
              <a:gd name="adj1" fmla="val 17013"/>
              <a:gd name="adj2" fmla="val 25000"/>
              <a:gd name="adj3" fmla="val 25000"/>
              <a:gd name="adj4" fmla="val 43750"/>
            </a:avLst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48E9DB5-49E1-4957-88A3-8341FA6431BB}"/>
              </a:ext>
            </a:extLst>
          </p:cNvPr>
          <p:cNvSpPr/>
          <p:nvPr/>
        </p:nvSpPr>
        <p:spPr>
          <a:xfrm>
            <a:off x="48658" y="2566533"/>
            <a:ext cx="380416" cy="99496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200" dirty="0"/>
              <a:t>Recruitment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0515137-45DC-4A76-BC14-01E30311C81E}"/>
              </a:ext>
            </a:extLst>
          </p:cNvPr>
          <p:cNvSpPr/>
          <p:nvPr/>
        </p:nvSpPr>
        <p:spPr>
          <a:xfrm>
            <a:off x="553355" y="1782747"/>
            <a:ext cx="2964267" cy="472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Guides &amp; Information for businesses when recruiting ND employees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314F0C9-8A99-4418-9286-DE852674090B}"/>
              </a:ext>
            </a:extLst>
          </p:cNvPr>
          <p:cNvSpPr/>
          <p:nvPr/>
        </p:nvSpPr>
        <p:spPr>
          <a:xfrm>
            <a:off x="553355" y="4206254"/>
            <a:ext cx="2964267" cy="472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ok"/>
                <a:ea typeface="+mn-ea"/>
                <a:cs typeface="+mn-cs"/>
              </a:rPr>
              <a:t>Workplace Needs Assessment for businesses employing ND employees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298B13D-8499-4658-AAFC-DBC07DF59150}"/>
              </a:ext>
            </a:extLst>
          </p:cNvPr>
          <p:cNvSpPr/>
          <p:nvPr/>
        </p:nvSpPr>
        <p:spPr>
          <a:xfrm>
            <a:off x="38077" y="4153381"/>
            <a:ext cx="380416" cy="99496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200" dirty="0"/>
              <a:t>Employment Support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7F3AC45-5B57-4D29-BA49-CAF0F459F1FE}"/>
              </a:ext>
            </a:extLst>
          </p:cNvPr>
          <p:cNvSpPr/>
          <p:nvPr/>
        </p:nvSpPr>
        <p:spPr>
          <a:xfrm>
            <a:off x="7163290" y="4331572"/>
            <a:ext cx="2964267" cy="74906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GB" sz="1200" dirty="0">
                <a:solidFill>
                  <a:prstClr val="white"/>
                </a:solidFill>
                <a:latin typeface="Gotham Book"/>
              </a:rPr>
              <a:t>Wider society understands the benefits of an ND workforce, as well as the adjustments required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7C683E61-0260-4FD6-9A90-01E28B9FA174}"/>
              </a:ext>
            </a:extLst>
          </p:cNvPr>
          <p:cNvCxnSpPr>
            <a:cxnSpLocks/>
          </p:cNvCxnSpPr>
          <p:nvPr/>
        </p:nvCxnSpPr>
        <p:spPr>
          <a:xfrm flipV="1">
            <a:off x="3492294" y="1593307"/>
            <a:ext cx="872979" cy="57196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F10428C4-CF4B-4FD3-9B3A-C4AC45E7483D}"/>
              </a:ext>
            </a:extLst>
          </p:cNvPr>
          <p:cNvCxnSpPr>
            <a:cxnSpLocks/>
          </p:cNvCxnSpPr>
          <p:nvPr/>
        </p:nvCxnSpPr>
        <p:spPr>
          <a:xfrm flipV="1">
            <a:off x="3504549" y="4739917"/>
            <a:ext cx="763630" cy="414856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A6073A38-3E26-4F4E-9717-CB75A30DCBB1}"/>
              </a:ext>
            </a:extLst>
          </p:cNvPr>
          <p:cNvCxnSpPr>
            <a:cxnSpLocks/>
          </p:cNvCxnSpPr>
          <p:nvPr/>
        </p:nvCxnSpPr>
        <p:spPr>
          <a:xfrm>
            <a:off x="3488262" y="4420942"/>
            <a:ext cx="779917" cy="30911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0" name="Arrow: Down 229">
            <a:extLst>
              <a:ext uri="{FF2B5EF4-FFF2-40B4-BE49-F238E27FC236}">
                <a16:creationId xmlns:a16="http://schemas.microsoft.com/office/drawing/2014/main" id="{B1D78172-86EA-4EE0-AAFC-FB27EA7A9F39}"/>
              </a:ext>
            </a:extLst>
          </p:cNvPr>
          <p:cNvSpPr/>
          <p:nvPr/>
        </p:nvSpPr>
        <p:spPr>
          <a:xfrm>
            <a:off x="4983541" y="2017669"/>
            <a:ext cx="231236" cy="67327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B24083E2-D6B0-440B-B74D-5558EE291704}"/>
              </a:ext>
            </a:extLst>
          </p:cNvPr>
          <p:cNvSpPr/>
          <p:nvPr/>
        </p:nvSpPr>
        <p:spPr>
          <a:xfrm>
            <a:off x="5003583" y="3838041"/>
            <a:ext cx="231236" cy="60446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A41EBE3E-F8EE-4177-BA40-6AFEC26C53BD}"/>
              </a:ext>
            </a:extLst>
          </p:cNvPr>
          <p:cNvCxnSpPr>
            <a:cxnSpLocks/>
          </p:cNvCxnSpPr>
          <p:nvPr/>
        </p:nvCxnSpPr>
        <p:spPr>
          <a:xfrm flipV="1">
            <a:off x="3524655" y="5154774"/>
            <a:ext cx="795165" cy="661753"/>
          </a:xfrm>
          <a:prstGeom prst="bentConnector3">
            <a:avLst>
              <a:gd name="adj1" fmla="val 4546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239" name="Right Brace 238">
            <a:extLst>
              <a:ext uri="{FF2B5EF4-FFF2-40B4-BE49-F238E27FC236}">
                <a16:creationId xmlns:a16="http://schemas.microsoft.com/office/drawing/2014/main" id="{A98BDA60-0C18-4EF9-A7C0-DA93C210EA6E}"/>
              </a:ext>
            </a:extLst>
          </p:cNvPr>
          <p:cNvSpPr/>
          <p:nvPr/>
        </p:nvSpPr>
        <p:spPr bwMode="white">
          <a:xfrm>
            <a:off x="6833177" y="1543569"/>
            <a:ext cx="291141" cy="3642460"/>
          </a:xfrm>
          <a:custGeom>
            <a:avLst/>
            <a:gdLst>
              <a:gd name="connsiteX0" fmla="*/ 0 w 267058"/>
              <a:gd name="connsiteY0" fmla="*/ 0 h 3642460"/>
              <a:gd name="connsiteX1" fmla="*/ 133529 w 267058"/>
              <a:gd name="connsiteY1" fmla="*/ 22254 h 3642460"/>
              <a:gd name="connsiteX2" fmla="*/ 133529 w 267058"/>
              <a:gd name="connsiteY2" fmla="*/ 1798976 h 3642460"/>
              <a:gd name="connsiteX3" fmla="*/ 267058 w 267058"/>
              <a:gd name="connsiteY3" fmla="*/ 1821230 h 3642460"/>
              <a:gd name="connsiteX4" fmla="*/ 133529 w 267058"/>
              <a:gd name="connsiteY4" fmla="*/ 1843484 h 3642460"/>
              <a:gd name="connsiteX5" fmla="*/ 133529 w 267058"/>
              <a:gd name="connsiteY5" fmla="*/ 3620206 h 3642460"/>
              <a:gd name="connsiteX6" fmla="*/ 0 w 267058"/>
              <a:gd name="connsiteY6" fmla="*/ 3642460 h 3642460"/>
              <a:gd name="connsiteX7" fmla="*/ 0 w 267058"/>
              <a:gd name="connsiteY7" fmla="*/ 0 h 3642460"/>
              <a:gd name="connsiteX0" fmla="*/ 0 w 267058"/>
              <a:gd name="connsiteY0" fmla="*/ 0 h 3642460"/>
              <a:gd name="connsiteX1" fmla="*/ 133529 w 267058"/>
              <a:gd name="connsiteY1" fmla="*/ 22254 h 3642460"/>
              <a:gd name="connsiteX2" fmla="*/ 133529 w 267058"/>
              <a:gd name="connsiteY2" fmla="*/ 1798976 h 3642460"/>
              <a:gd name="connsiteX3" fmla="*/ 267058 w 267058"/>
              <a:gd name="connsiteY3" fmla="*/ 1821230 h 3642460"/>
              <a:gd name="connsiteX4" fmla="*/ 133529 w 267058"/>
              <a:gd name="connsiteY4" fmla="*/ 1843484 h 3642460"/>
              <a:gd name="connsiteX5" fmla="*/ 133529 w 267058"/>
              <a:gd name="connsiteY5" fmla="*/ 3620206 h 3642460"/>
              <a:gd name="connsiteX6" fmla="*/ 0 w 267058"/>
              <a:gd name="connsiteY6" fmla="*/ 3642460 h 3642460"/>
              <a:gd name="connsiteX0" fmla="*/ 0 w 267082"/>
              <a:gd name="connsiteY0" fmla="*/ 0 h 3642460"/>
              <a:gd name="connsiteX1" fmla="*/ 133529 w 267082"/>
              <a:gd name="connsiteY1" fmla="*/ 22254 h 3642460"/>
              <a:gd name="connsiteX2" fmla="*/ 133529 w 267082"/>
              <a:gd name="connsiteY2" fmla="*/ 1798976 h 3642460"/>
              <a:gd name="connsiteX3" fmla="*/ 267058 w 267082"/>
              <a:gd name="connsiteY3" fmla="*/ 1821230 h 3642460"/>
              <a:gd name="connsiteX4" fmla="*/ 133529 w 267082"/>
              <a:gd name="connsiteY4" fmla="*/ 1843484 h 3642460"/>
              <a:gd name="connsiteX5" fmla="*/ 133529 w 267082"/>
              <a:gd name="connsiteY5" fmla="*/ 3620206 h 3642460"/>
              <a:gd name="connsiteX6" fmla="*/ 0 w 267082"/>
              <a:gd name="connsiteY6" fmla="*/ 3642460 h 3642460"/>
              <a:gd name="connsiteX7" fmla="*/ 0 w 267082"/>
              <a:gd name="connsiteY7" fmla="*/ 0 h 3642460"/>
              <a:gd name="connsiteX0" fmla="*/ 0 w 267082"/>
              <a:gd name="connsiteY0" fmla="*/ 0 h 3642460"/>
              <a:gd name="connsiteX1" fmla="*/ 133529 w 267082"/>
              <a:gd name="connsiteY1" fmla="*/ 22254 h 3642460"/>
              <a:gd name="connsiteX2" fmla="*/ 133529 w 267082"/>
              <a:gd name="connsiteY2" fmla="*/ 1798976 h 3642460"/>
              <a:gd name="connsiteX3" fmla="*/ 267058 w 267082"/>
              <a:gd name="connsiteY3" fmla="*/ 1821230 h 3642460"/>
              <a:gd name="connsiteX4" fmla="*/ 145560 w 267082"/>
              <a:gd name="connsiteY4" fmla="*/ 1951768 h 3642460"/>
              <a:gd name="connsiteX5" fmla="*/ 133529 w 267082"/>
              <a:gd name="connsiteY5" fmla="*/ 3620206 h 3642460"/>
              <a:gd name="connsiteX6" fmla="*/ 0 w 267082"/>
              <a:gd name="connsiteY6" fmla="*/ 3642460 h 3642460"/>
              <a:gd name="connsiteX0" fmla="*/ 0 w 267082"/>
              <a:gd name="connsiteY0" fmla="*/ 0 h 3642460"/>
              <a:gd name="connsiteX1" fmla="*/ 133529 w 267082"/>
              <a:gd name="connsiteY1" fmla="*/ 22254 h 3642460"/>
              <a:gd name="connsiteX2" fmla="*/ 133529 w 267082"/>
              <a:gd name="connsiteY2" fmla="*/ 1798976 h 3642460"/>
              <a:gd name="connsiteX3" fmla="*/ 267058 w 267082"/>
              <a:gd name="connsiteY3" fmla="*/ 1821230 h 3642460"/>
              <a:gd name="connsiteX4" fmla="*/ 133529 w 267082"/>
              <a:gd name="connsiteY4" fmla="*/ 1843484 h 3642460"/>
              <a:gd name="connsiteX5" fmla="*/ 133529 w 267082"/>
              <a:gd name="connsiteY5" fmla="*/ 3620206 h 3642460"/>
              <a:gd name="connsiteX6" fmla="*/ 0 w 267082"/>
              <a:gd name="connsiteY6" fmla="*/ 3642460 h 3642460"/>
              <a:gd name="connsiteX7" fmla="*/ 0 w 267082"/>
              <a:gd name="connsiteY7" fmla="*/ 0 h 3642460"/>
              <a:gd name="connsiteX0" fmla="*/ 0 w 267082"/>
              <a:gd name="connsiteY0" fmla="*/ 0 h 3642460"/>
              <a:gd name="connsiteX1" fmla="*/ 133529 w 267082"/>
              <a:gd name="connsiteY1" fmla="*/ 22254 h 3642460"/>
              <a:gd name="connsiteX2" fmla="*/ 133529 w 267082"/>
              <a:gd name="connsiteY2" fmla="*/ 1798976 h 3642460"/>
              <a:gd name="connsiteX3" fmla="*/ 267058 w 267082"/>
              <a:gd name="connsiteY3" fmla="*/ 1941545 h 3642460"/>
              <a:gd name="connsiteX4" fmla="*/ 145560 w 267082"/>
              <a:gd name="connsiteY4" fmla="*/ 1951768 h 3642460"/>
              <a:gd name="connsiteX5" fmla="*/ 133529 w 267082"/>
              <a:gd name="connsiteY5" fmla="*/ 3620206 h 3642460"/>
              <a:gd name="connsiteX6" fmla="*/ 0 w 267082"/>
              <a:gd name="connsiteY6" fmla="*/ 3642460 h 3642460"/>
              <a:gd name="connsiteX0" fmla="*/ 0 w 267082"/>
              <a:gd name="connsiteY0" fmla="*/ 0 h 3642460"/>
              <a:gd name="connsiteX1" fmla="*/ 133529 w 267082"/>
              <a:gd name="connsiteY1" fmla="*/ 22254 h 3642460"/>
              <a:gd name="connsiteX2" fmla="*/ 133529 w 267082"/>
              <a:gd name="connsiteY2" fmla="*/ 1798976 h 3642460"/>
              <a:gd name="connsiteX3" fmla="*/ 267058 w 267082"/>
              <a:gd name="connsiteY3" fmla="*/ 1821230 h 3642460"/>
              <a:gd name="connsiteX4" fmla="*/ 133529 w 267082"/>
              <a:gd name="connsiteY4" fmla="*/ 1843484 h 3642460"/>
              <a:gd name="connsiteX5" fmla="*/ 133529 w 267082"/>
              <a:gd name="connsiteY5" fmla="*/ 3620206 h 3642460"/>
              <a:gd name="connsiteX6" fmla="*/ 0 w 267082"/>
              <a:gd name="connsiteY6" fmla="*/ 3642460 h 3642460"/>
              <a:gd name="connsiteX7" fmla="*/ 0 w 267082"/>
              <a:gd name="connsiteY7" fmla="*/ 0 h 3642460"/>
              <a:gd name="connsiteX0" fmla="*/ 0 w 267082"/>
              <a:gd name="connsiteY0" fmla="*/ 0 h 3642460"/>
              <a:gd name="connsiteX1" fmla="*/ 133529 w 267082"/>
              <a:gd name="connsiteY1" fmla="*/ 22254 h 3642460"/>
              <a:gd name="connsiteX2" fmla="*/ 133529 w 267082"/>
              <a:gd name="connsiteY2" fmla="*/ 1798976 h 3642460"/>
              <a:gd name="connsiteX3" fmla="*/ 267058 w 267082"/>
              <a:gd name="connsiteY3" fmla="*/ 1941545 h 3642460"/>
              <a:gd name="connsiteX4" fmla="*/ 145560 w 267082"/>
              <a:gd name="connsiteY4" fmla="*/ 1903641 h 3642460"/>
              <a:gd name="connsiteX5" fmla="*/ 133529 w 267082"/>
              <a:gd name="connsiteY5" fmla="*/ 3620206 h 3642460"/>
              <a:gd name="connsiteX6" fmla="*/ 0 w 267082"/>
              <a:gd name="connsiteY6" fmla="*/ 3642460 h 3642460"/>
              <a:gd name="connsiteX0" fmla="*/ 0 w 267082"/>
              <a:gd name="connsiteY0" fmla="*/ 0 h 3642460"/>
              <a:gd name="connsiteX1" fmla="*/ 133529 w 267082"/>
              <a:gd name="connsiteY1" fmla="*/ 22254 h 3642460"/>
              <a:gd name="connsiteX2" fmla="*/ 133529 w 267082"/>
              <a:gd name="connsiteY2" fmla="*/ 1798976 h 3642460"/>
              <a:gd name="connsiteX3" fmla="*/ 267058 w 267082"/>
              <a:gd name="connsiteY3" fmla="*/ 1700914 h 3642460"/>
              <a:gd name="connsiteX4" fmla="*/ 133529 w 267082"/>
              <a:gd name="connsiteY4" fmla="*/ 1843484 h 3642460"/>
              <a:gd name="connsiteX5" fmla="*/ 133529 w 267082"/>
              <a:gd name="connsiteY5" fmla="*/ 3620206 h 3642460"/>
              <a:gd name="connsiteX6" fmla="*/ 0 w 267082"/>
              <a:gd name="connsiteY6" fmla="*/ 3642460 h 3642460"/>
              <a:gd name="connsiteX7" fmla="*/ 0 w 267082"/>
              <a:gd name="connsiteY7" fmla="*/ 0 h 3642460"/>
              <a:gd name="connsiteX0" fmla="*/ 0 w 267082"/>
              <a:gd name="connsiteY0" fmla="*/ 0 h 3642460"/>
              <a:gd name="connsiteX1" fmla="*/ 133529 w 267082"/>
              <a:gd name="connsiteY1" fmla="*/ 22254 h 3642460"/>
              <a:gd name="connsiteX2" fmla="*/ 133529 w 267082"/>
              <a:gd name="connsiteY2" fmla="*/ 1798976 h 3642460"/>
              <a:gd name="connsiteX3" fmla="*/ 267058 w 267082"/>
              <a:gd name="connsiteY3" fmla="*/ 1941545 h 3642460"/>
              <a:gd name="connsiteX4" fmla="*/ 145560 w 267082"/>
              <a:gd name="connsiteY4" fmla="*/ 1903641 h 3642460"/>
              <a:gd name="connsiteX5" fmla="*/ 133529 w 267082"/>
              <a:gd name="connsiteY5" fmla="*/ 3620206 h 3642460"/>
              <a:gd name="connsiteX6" fmla="*/ 0 w 267082"/>
              <a:gd name="connsiteY6" fmla="*/ 3642460 h 3642460"/>
              <a:gd name="connsiteX0" fmla="*/ 0 w 291141"/>
              <a:gd name="connsiteY0" fmla="*/ 0 h 3642460"/>
              <a:gd name="connsiteX1" fmla="*/ 133529 w 291141"/>
              <a:gd name="connsiteY1" fmla="*/ 22254 h 3642460"/>
              <a:gd name="connsiteX2" fmla="*/ 133529 w 291141"/>
              <a:gd name="connsiteY2" fmla="*/ 1798976 h 3642460"/>
              <a:gd name="connsiteX3" fmla="*/ 267058 w 291141"/>
              <a:gd name="connsiteY3" fmla="*/ 1700914 h 3642460"/>
              <a:gd name="connsiteX4" fmla="*/ 133529 w 291141"/>
              <a:gd name="connsiteY4" fmla="*/ 1843484 h 3642460"/>
              <a:gd name="connsiteX5" fmla="*/ 133529 w 291141"/>
              <a:gd name="connsiteY5" fmla="*/ 3620206 h 3642460"/>
              <a:gd name="connsiteX6" fmla="*/ 0 w 291141"/>
              <a:gd name="connsiteY6" fmla="*/ 3642460 h 3642460"/>
              <a:gd name="connsiteX7" fmla="*/ 0 w 291141"/>
              <a:gd name="connsiteY7" fmla="*/ 0 h 3642460"/>
              <a:gd name="connsiteX0" fmla="*/ 0 w 291141"/>
              <a:gd name="connsiteY0" fmla="*/ 0 h 3642460"/>
              <a:gd name="connsiteX1" fmla="*/ 133529 w 291141"/>
              <a:gd name="connsiteY1" fmla="*/ 22254 h 3642460"/>
              <a:gd name="connsiteX2" fmla="*/ 133529 w 291141"/>
              <a:gd name="connsiteY2" fmla="*/ 1798976 h 3642460"/>
              <a:gd name="connsiteX3" fmla="*/ 291121 w 291141"/>
              <a:gd name="connsiteY3" fmla="*/ 1833261 h 3642460"/>
              <a:gd name="connsiteX4" fmla="*/ 145560 w 291141"/>
              <a:gd name="connsiteY4" fmla="*/ 1903641 h 3642460"/>
              <a:gd name="connsiteX5" fmla="*/ 133529 w 291141"/>
              <a:gd name="connsiteY5" fmla="*/ 3620206 h 3642460"/>
              <a:gd name="connsiteX6" fmla="*/ 0 w 291141"/>
              <a:gd name="connsiteY6" fmla="*/ 3642460 h 3642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141" h="3642460" stroke="0" extrusionOk="0">
                <a:moveTo>
                  <a:pt x="0" y="0"/>
                </a:moveTo>
                <a:cubicBezTo>
                  <a:pt x="73746" y="0"/>
                  <a:pt x="133529" y="9963"/>
                  <a:pt x="133529" y="22254"/>
                </a:cubicBezTo>
                <a:lnTo>
                  <a:pt x="133529" y="1798976"/>
                </a:lnTo>
                <a:cubicBezTo>
                  <a:pt x="133529" y="1811267"/>
                  <a:pt x="193312" y="1700914"/>
                  <a:pt x="267058" y="1700914"/>
                </a:cubicBezTo>
                <a:cubicBezTo>
                  <a:pt x="193312" y="1700914"/>
                  <a:pt x="133529" y="1831193"/>
                  <a:pt x="133529" y="1843484"/>
                </a:cubicBezTo>
                <a:lnTo>
                  <a:pt x="133529" y="3620206"/>
                </a:lnTo>
                <a:cubicBezTo>
                  <a:pt x="133529" y="3632497"/>
                  <a:pt x="73746" y="3642460"/>
                  <a:pt x="0" y="3642460"/>
                </a:cubicBezTo>
                <a:lnTo>
                  <a:pt x="0" y="0"/>
                </a:lnTo>
                <a:close/>
              </a:path>
              <a:path w="291141" h="3642460" fill="none">
                <a:moveTo>
                  <a:pt x="0" y="0"/>
                </a:moveTo>
                <a:cubicBezTo>
                  <a:pt x="73746" y="0"/>
                  <a:pt x="133529" y="9963"/>
                  <a:pt x="133529" y="22254"/>
                </a:cubicBezTo>
                <a:lnTo>
                  <a:pt x="133529" y="1798976"/>
                </a:lnTo>
                <a:cubicBezTo>
                  <a:pt x="133529" y="1811267"/>
                  <a:pt x="289116" y="1815817"/>
                  <a:pt x="291121" y="1833261"/>
                </a:cubicBezTo>
                <a:cubicBezTo>
                  <a:pt x="293126" y="1850705"/>
                  <a:pt x="145560" y="1891350"/>
                  <a:pt x="145560" y="1903641"/>
                </a:cubicBezTo>
                <a:cubicBezTo>
                  <a:pt x="145560" y="2495882"/>
                  <a:pt x="133529" y="3027965"/>
                  <a:pt x="133529" y="3620206"/>
                </a:cubicBezTo>
                <a:cubicBezTo>
                  <a:pt x="133529" y="3632497"/>
                  <a:pt x="73746" y="3642460"/>
                  <a:pt x="0" y="3642460"/>
                </a:cubicBezTo>
              </a:path>
            </a:pathLst>
          </a:custGeom>
          <a:solidFill>
            <a:schemeClr val="bg1"/>
          </a:solidFill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0" name="Arrow: Up 239">
            <a:extLst>
              <a:ext uri="{FF2B5EF4-FFF2-40B4-BE49-F238E27FC236}">
                <a16:creationId xmlns:a16="http://schemas.microsoft.com/office/drawing/2014/main" id="{0B65500B-DE99-430B-976F-B6940865C803}"/>
              </a:ext>
            </a:extLst>
          </p:cNvPr>
          <p:cNvSpPr/>
          <p:nvPr/>
        </p:nvSpPr>
        <p:spPr>
          <a:xfrm>
            <a:off x="5893091" y="2018081"/>
            <a:ext cx="231237" cy="673279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Arrow: Up 80">
            <a:extLst>
              <a:ext uri="{FF2B5EF4-FFF2-40B4-BE49-F238E27FC236}">
                <a16:creationId xmlns:a16="http://schemas.microsoft.com/office/drawing/2014/main" id="{99048D5D-C6D1-4751-96E6-A481A5EEEC2E}"/>
              </a:ext>
            </a:extLst>
          </p:cNvPr>
          <p:cNvSpPr/>
          <p:nvPr/>
        </p:nvSpPr>
        <p:spPr>
          <a:xfrm>
            <a:off x="5866537" y="3825017"/>
            <a:ext cx="216083" cy="595925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row: Down 82">
            <a:extLst>
              <a:ext uri="{FF2B5EF4-FFF2-40B4-BE49-F238E27FC236}">
                <a16:creationId xmlns:a16="http://schemas.microsoft.com/office/drawing/2014/main" id="{C3934CDD-5072-4AEF-9989-7914B83B52B0}"/>
              </a:ext>
            </a:extLst>
          </p:cNvPr>
          <p:cNvSpPr/>
          <p:nvPr/>
        </p:nvSpPr>
        <p:spPr>
          <a:xfrm>
            <a:off x="8189217" y="2642581"/>
            <a:ext cx="193314" cy="31343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Arrow: Down 83">
            <a:extLst>
              <a:ext uri="{FF2B5EF4-FFF2-40B4-BE49-F238E27FC236}">
                <a16:creationId xmlns:a16="http://schemas.microsoft.com/office/drawing/2014/main" id="{CAE9A8D3-81DE-4127-B6BD-C59D8CC1B20B}"/>
              </a:ext>
            </a:extLst>
          </p:cNvPr>
          <p:cNvSpPr/>
          <p:nvPr/>
        </p:nvSpPr>
        <p:spPr>
          <a:xfrm>
            <a:off x="8218699" y="3882784"/>
            <a:ext cx="231236" cy="38428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Arrow: Up 85">
            <a:extLst>
              <a:ext uri="{FF2B5EF4-FFF2-40B4-BE49-F238E27FC236}">
                <a16:creationId xmlns:a16="http://schemas.microsoft.com/office/drawing/2014/main" id="{2B67BEAF-B01E-4A6A-8009-C87BD49FED51}"/>
              </a:ext>
            </a:extLst>
          </p:cNvPr>
          <p:cNvSpPr/>
          <p:nvPr/>
        </p:nvSpPr>
        <p:spPr>
          <a:xfrm>
            <a:off x="8871520" y="3887710"/>
            <a:ext cx="226034" cy="368213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Arrow: Up 86">
            <a:extLst>
              <a:ext uri="{FF2B5EF4-FFF2-40B4-BE49-F238E27FC236}">
                <a16:creationId xmlns:a16="http://schemas.microsoft.com/office/drawing/2014/main" id="{756FAB70-08B8-4947-928A-462153425865}"/>
              </a:ext>
            </a:extLst>
          </p:cNvPr>
          <p:cNvSpPr/>
          <p:nvPr/>
        </p:nvSpPr>
        <p:spPr>
          <a:xfrm>
            <a:off x="8858231" y="2634398"/>
            <a:ext cx="193313" cy="339162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23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E4BC13-ABEF-4F72-B2AB-7AF1295AB8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9062" y="433138"/>
            <a:ext cx="10644738" cy="5931568"/>
          </a:xfrm>
        </p:spPr>
        <p:txBody>
          <a:bodyPr/>
          <a:lstStyle/>
          <a:p>
            <a:r>
              <a:rPr lang="en-GB" dirty="0"/>
              <a:t>Data points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dirty="0"/>
              <a:t>Number of workshops held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dirty="0"/>
              <a:t>Knowledge level before and after workshops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dirty="0"/>
              <a:t>Time spent in new job role (6 month + is ideal)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dirty="0"/>
              <a:t>No. of corporates worked with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dirty="0"/>
              <a:t>No. of corporates who would recommend EI to others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dirty="0"/>
              <a:t>No. of work placements found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dirty="0"/>
              <a:t>Level of engagement in social media (harder to measure)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dirty="0"/>
              <a:t>Data from 1-2-1 surveys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dirty="0"/>
              <a:t>No. of references in publications (media publications, academic etc)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dirty="0"/>
              <a:t>£ pulled down from ‘access to work’ scheme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060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258</Words>
  <Application>Microsoft Office PowerPoint</Application>
  <PresentationFormat>Widescreen</PresentationFormat>
  <Paragraphs>37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Gotham Book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Camilla Elwood</dc:creator>
  <cp:lastModifiedBy>Camilla Elwood</cp:lastModifiedBy>
  <cp:revision>11</cp:revision>
  <dcterms:created xsi:type="dcterms:W3CDTF">2019-07-15T14:46:16Z</dcterms:created>
  <dcterms:modified xsi:type="dcterms:W3CDTF">2019-07-16T11:35:23Z</dcterms:modified>
</cp:coreProperties>
</file>
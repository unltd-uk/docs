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
  </p:notesMasterIdLst>
  <p:handoutMasterIdLst>
    <p:handoutMasterId r:id="rId9"/>
  </p:handoutMasterIdLst>
  <p:sldIdLst>
    <p:sldId id="257" r:id="rId2"/>
    <p:sldId id="296" r:id="rId3"/>
    <p:sldId id="269" r:id="rId4"/>
    <p:sldId id="297" r:id="rId5"/>
    <p:sldId id="298" r:id="rId6"/>
    <p:sldId id="29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91A66"/>
    <a:srgbClr val="472665"/>
    <a:srgbClr val="F370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894" autoAdjust="0"/>
  </p:normalViewPr>
  <p:slideViewPr>
    <p:cSldViewPr snapToGrid="0">
      <p:cViewPr varScale="1">
        <p:scale>
          <a:sx n="114" d="100"/>
          <a:sy n="114" d="100"/>
        </p:scale>
        <p:origin x="354" y="120"/>
      </p:cViewPr>
      <p:guideLst/>
    </p:cSldViewPr>
  </p:slideViewPr>
  <p:notesTextViewPr>
    <p:cViewPr>
      <p:scale>
        <a:sx n="1" d="1"/>
        <a:sy n="1" d="1"/>
      </p:scale>
      <p:origin x="0" y="0"/>
    </p:cViewPr>
  </p:notesTextViewPr>
  <p:notesViewPr>
    <p:cSldViewPr snapToGrid="0" showGuides="1">
      <p:cViewPr varScale="1">
        <p:scale>
          <a:sx n="69" d="100"/>
          <a:sy n="69" d="100"/>
        </p:scale>
        <p:origin x="2784"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4F0777-E9D5-44EE-87B8-929B5F25714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9D3F718-09DA-407F-A69F-73CFB42528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26161A-5954-455B-8CA2-ABDFA4CF1D96}" type="datetimeFigureOut">
              <a:rPr lang="en-GB" smtClean="0"/>
              <a:t>29/11/2018</a:t>
            </a:fld>
            <a:endParaRPr lang="en-GB"/>
          </a:p>
        </p:txBody>
      </p:sp>
      <p:sp>
        <p:nvSpPr>
          <p:cNvPr id="4" name="Footer Placeholder 3">
            <a:extLst>
              <a:ext uri="{FF2B5EF4-FFF2-40B4-BE49-F238E27FC236}">
                <a16:creationId xmlns:a16="http://schemas.microsoft.com/office/drawing/2014/main" id="{2A5EBED4-43C0-491D-BB8D-00EA61982A9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D604783-7143-4C7C-945B-9F7D8B5A53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5EA01D-0DAD-4591-8474-22CCBD0FDF4F}" type="slidenum">
              <a:rPr lang="en-GB" smtClean="0"/>
              <a:t>‹#›</a:t>
            </a:fld>
            <a:endParaRPr lang="en-GB"/>
          </a:p>
        </p:txBody>
      </p:sp>
    </p:spTree>
    <p:extLst>
      <p:ext uri="{BB962C8B-B14F-4D97-AF65-F5344CB8AC3E}">
        <p14:creationId xmlns:p14="http://schemas.microsoft.com/office/powerpoint/2010/main" val="146928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03C47D-AC40-4C57-B801-0B1A733141B1}" type="datetimeFigureOut">
              <a:rPr lang="en-GB" smtClean="0"/>
              <a:t>29/11/2018</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474DD8-23EF-45F8-B399-8BBD2E29D92B}" type="slidenum">
              <a:rPr lang="en-GB" smtClean="0"/>
              <a:t>‹#›</a:t>
            </a:fld>
            <a:endParaRPr lang="en-GB"/>
          </a:p>
        </p:txBody>
      </p:sp>
    </p:spTree>
    <p:extLst>
      <p:ext uri="{BB962C8B-B14F-4D97-AF65-F5344CB8AC3E}">
        <p14:creationId xmlns:p14="http://schemas.microsoft.com/office/powerpoint/2010/main" val="3229767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Social Impact Management (SIM) is essentially the way in which you understand, measure and then leverage your social impact. </a:t>
            </a:r>
            <a:r>
              <a:rPr lang="en-GB" dirty="0">
                <a:solidFill>
                  <a:schemeClr val="tx1">
                    <a:lumMod val="75000"/>
                  </a:schemeClr>
                </a:solidFill>
              </a:rPr>
              <a:t>The Social Impact Management Cycle (SIM-C) must be proportional to the size of your enterprise. </a:t>
            </a:r>
            <a:endParaRPr lang="en-GB" dirty="0"/>
          </a:p>
          <a:p>
            <a:endParaRPr lang="en-GB" dirty="0"/>
          </a:p>
          <a:p>
            <a:r>
              <a:rPr lang="en-GB" dirty="0"/>
              <a:t>The Social Impact Management Cycle (SIM-C) is an illustration of the 3 stages of impact management which should be set clearly for social impact management to contribute to your work. The key tools for each stage will be explained in the upcoming ‘How’ section. </a:t>
            </a:r>
          </a:p>
          <a:p>
            <a:endParaRPr lang="en-GB" b="0" u="none" dirty="0"/>
          </a:p>
          <a:p>
            <a:r>
              <a:rPr lang="en-GB" b="0" u="none" dirty="0"/>
              <a:t>As we break down our approach to Social Impact Management (SIM), we will show you how your SIM will compliment your core business activities. </a:t>
            </a:r>
          </a:p>
          <a:p>
            <a:endParaRPr lang="en-GB" b="0" u="none" dirty="0"/>
          </a:p>
          <a:p>
            <a:r>
              <a:rPr lang="en-GB" b="0" u="none" dirty="0"/>
              <a:t>But here are the key takeaways: </a:t>
            </a:r>
          </a:p>
          <a:p>
            <a:endParaRPr lang="en-GB" b="0" u="none" dirty="0"/>
          </a:p>
          <a:p>
            <a:pPr marL="171450" indent="-171450">
              <a:buFontTx/>
              <a:buChar char="-"/>
            </a:pPr>
            <a:r>
              <a:rPr lang="en-GB" b="1" u="none" dirty="0"/>
              <a:t>Proportional: </a:t>
            </a:r>
            <a:r>
              <a:rPr lang="en-GB" b="0" u="none" dirty="0"/>
              <a:t>This cycle can be scaled to managing a huge project costing millions… all the way down to testing a single idea… the steps in the cycle just need to operate at different scales. </a:t>
            </a:r>
          </a:p>
          <a:p>
            <a:pPr marL="0" indent="0">
              <a:buFontTx/>
              <a:buNone/>
            </a:pPr>
            <a:endParaRPr lang="en-GB" b="0" u="none" dirty="0"/>
          </a:p>
          <a:p>
            <a:pPr marL="171450" indent="-171450">
              <a:buFontTx/>
              <a:buChar char="-"/>
            </a:pPr>
            <a:r>
              <a:rPr lang="en-GB" b="1" u="none" dirty="0"/>
              <a:t>Integrating: </a:t>
            </a:r>
            <a:r>
              <a:rPr lang="en-GB" b="0" u="none" dirty="0"/>
              <a:t>This work can’t run as a separate add on to your already busy lives… we’ve pulled it out here but this needs to integrate with your core business activities .</a:t>
            </a:r>
          </a:p>
          <a:p>
            <a:pPr marL="0" indent="0">
              <a:buFontTx/>
              <a:buNone/>
            </a:pPr>
            <a:endParaRPr lang="en-GB" b="0" u="none" dirty="0"/>
          </a:p>
          <a:p>
            <a:pPr marL="171450" indent="-171450">
              <a:buFontTx/>
              <a:buChar char="-"/>
            </a:pPr>
            <a:r>
              <a:rPr lang="en-GB" b="1" u="none" dirty="0"/>
              <a:t>Have a reason: </a:t>
            </a:r>
            <a:r>
              <a:rPr lang="en-GB" b="0" u="none" dirty="0"/>
              <a:t>don’t ever start measuring impact until you know why you are doing it and what you will do with that data… </a:t>
            </a:r>
            <a:endParaRPr lang="en-GB" b="1"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474DD8-23EF-45F8-B399-8BBD2E29D92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1394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Online system will depend on the type of data (quant/</a:t>
            </a:r>
            <a:r>
              <a:rPr lang="en-GB" dirty="0" err="1"/>
              <a:t>qual</a:t>
            </a:r>
            <a:r>
              <a:rPr lang="en-GB" dirty="0"/>
              <a:t>), volume and source… we need to think about this in terms of prioritising RRs impact area… recidivism, in-prison well-being, employability etc. </a:t>
            </a:r>
          </a:p>
        </p:txBody>
      </p:sp>
      <p:sp>
        <p:nvSpPr>
          <p:cNvPr id="4" name="Slide Number Placeholder 3"/>
          <p:cNvSpPr>
            <a:spLocks noGrp="1"/>
          </p:cNvSpPr>
          <p:nvPr>
            <p:ph type="sldNum" sz="quarter" idx="10"/>
          </p:nvPr>
        </p:nvSpPr>
        <p:spPr/>
        <p:txBody>
          <a:bodyPr/>
          <a:lstStyle/>
          <a:p>
            <a:fld id="{40474DD8-23EF-45F8-B399-8BBD2E29D92B}" type="slidenum">
              <a:rPr lang="en-GB" smtClean="0"/>
              <a:t>3</a:t>
            </a:fld>
            <a:endParaRPr lang="en-GB"/>
          </a:p>
        </p:txBody>
      </p:sp>
    </p:spTree>
    <p:extLst>
      <p:ext uri="{BB962C8B-B14F-4D97-AF65-F5344CB8AC3E}">
        <p14:creationId xmlns:p14="http://schemas.microsoft.com/office/powerpoint/2010/main" val="827030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0474DD8-23EF-45F8-B399-8BBD2E29D92B}" type="slidenum">
              <a:rPr lang="en-GB" smtClean="0"/>
              <a:t>4</a:t>
            </a:fld>
            <a:endParaRPr lang="en-GB"/>
          </a:p>
        </p:txBody>
      </p:sp>
    </p:spTree>
    <p:extLst>
      <p:ext uri="{BB962C8B-B14F-4D97-AF65-F5344CB8AC3E}">
        <p14:creationId xmlns:p14="http://schemas.microsoft.com/office/powerpoint/2010/main" val="1233251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491A66"/>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3CECCCB-7472-448F-B092-773C478B208C}"/>
              </a:ext>
            </a:extLst>
          </p:cNvPr>
          <p:cNvSpPr>
            <a:spLocks noGrp="1"/>
          </p:cNvSpPr>
          <p:nvPr>
            <p:ph type="body" sz="quarter" idx="10" hasCustomPrompt="1"/>
          </p:nvPr>
        </p:nvSpPr>
        <p:spPr>
          <a:xfrm>
            <a:off x="2087563" y="1925638"/>
            <a:ext cx="8369300" cy="2871787"/>
          </a:xfrm>
        </p:spPr>
        <p:txBody>
          <a:bodyPr anchor="ctr"/>
          <a:lstStyle>
            <a:lvl1pPr marL="0" indent="0" algn="ctr">
              <a:buNone/>
              <a:defRPr sz="11500">
                <a:solidFill>
                  <a:schemeClr val="bg1"/>
                </a:solidFill>
                <a:latin typeface="Gotham Black" pitchFamily="50" charset="0"/>
              </a:defRPr>
            </a:lvl1pPr>
            <a:lvl2pPr>
              <a:defRPr>
                <a:solidFill>
                  <a:schemeClr val="bg1"/>
                </a:solidFill>
                <a:latin typeface="Gotham Black" pitchFamily="50" charset="0"/>
              </a:defRPr>
            </a:lvl2pPr>
            <a:lvl3pPr>
              <a:defRPr>
                <a:solidFill>
                  <a:schemeClr val="bg1"/>
                </a:solidFill>
                <a:latin typeface="Gotham Black" pitchFamily="50" charset="0"/>
              </a:defRPr>
            </a:lvl3pPr>
            <a:lvl4pPr>
              <a:defRPr>
                <a:solidFill>
                  <a:schemeClr val="bg1"/>
                </a:solidFill>
                <a:latin typeface="Gotham Black" pitchFamily="50" charset="0"/>
              </a:defRPr>
            </a:lvl4pPr>
            <a:lvl5pPr>
              <a:defRPr>
                <a:solidFill>
                  <a:schemeClr val="bg1"/>
                </a:solidFill>
                <a:latin typeface="Gotham Black" pitchFamily="50" charset="0"/>
              </a:defRPr>
            </a:lvl5pPr>
          </a:lstStyle>
          <a:p>
            <a:pPr lvl="0"/>
            <a:r>
              <a:rPr lang="en-GB" dirty="0"/>
              <a:t>TITLE</a:t>
            </a:r>
          </a:p>
        </p:txBody>
      </p:sp>
    </p:spTree>
    <p:extLst>
      <p:ext uri="{BB962C8B-B14F-4D97-AF65-F5344CB8AC3E}">
        <p14:creationId xmlns:p14="http://schemas.microsoft.com/office/powerpoint/2010/main" val="2366372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B6C073B-9002-45FF-8A60-D00AF5498BE3}" type="datetimeFigureOut">
              <a:rPr lang="en-GB" smtClean="0"/>
              <a:t>29/11/2018</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541F0FB5-D502-4438-886F-18082FA237F4}" type="slidenum">
              <a:rPr lang="en-GB" smtClean="0"/>
              <a:t>‹#›</a:t>
            </a:fld>
            <a:endParaRPr lang="en-GB" dirty="0"/>
          </a:p>
        </p:txBody>
      </p:sp>
      <p:sp>
        <p:nvSpPr>
          <p:cNvPr id="11" name="Text Placeholder 10">
            <a:extLst>
              <a:ext uri="{FF2B5EF4-FFF2-40B4-BE49-F238E27FC236}">
                <a16:creationId xmlns:a16="http://schemas.microsoft.com/office/drawing/2014/main" id="{BA62217E-25DD-4960-ABE0-F9AA2F3DC9A2}"/>
              </a:ext>
            </a:extLst>
          </p:cNvPr>
          <p:cNvSpPr>
            <a:spLocks noGrp="1"/>
          </p:cNvSpPr>
          <p:nvPr>
            <p:ph type="body" sz="quarter" idx="13"/>
          </p:nvPr>
        </p:nvSpPr>
        <p:spPr>
          <a:xfrm>
            <a:off x="709062" y="2369370"/>
            <a:ext cx="10644738" cy="1912173"/>
          </a:xfrm>
        </p:spPr>
        <p:txBody>
          <a:bodyPr/>
          <a:lstStyle>
            <a:lvl1pPr marL="0" indent="0">
              <a:buNone/>
              <a:defRPr sz="4400">
                <a:solidFill>
                  <a:srgbClr val="491A66"/>
                </a:solidFill>
                <a:latin typeface="+mj-lt"/>
              </a:defRPr>
            </a:lvl1pPr>
            <a:lvl2pPr marL="457200" indent="0">
              <a:buNone/>
              <a:defRPr sz="4400">
                <a:solidFill>
                  <a:srgbClr val="F37023"/>
                </a:solidFill>
              </a:defRPr>
            </a:lvl2pPr>
          </a:lstStyle>
          <a:p>
            <a:pPr lvl="0"/>
            <a:r>
              <a:rPr lang="en-US"/>
              <a:t>Edit Master text styles</a:t>
            </a:r>
          </a:p>
          <a:p>
            <a:pPr lvl="1"/>
            <a:r>
              <a:rPr lang="en-US"/>
              <a:t>Second level</a:t>
            </a:r>
          </a:p>
        </p:txBody>
      </p:sp>
      <p:pic>
        <p:nvPicPr>
          <p:cNvPr id="14" name="Picture 13">
            <a:extLst>
              <a:ext uri="{FF2B5EF4-FFF2-40B4-BE49-F238E27FC236}">
                <a16:creationId xmlns:a16="http://schemas.microsoft.com/office/drawing/2014/main" id="{7D6A4557-7DDE-4427-A339-35D9B01A0F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23989" y="6084979"/>
            <a:ext cx="1641907" cy="477186"/>
          </a:xfrm>
          <a:prstGeom prst="rect">
            <a:avLst/>
          </a:prstGeom>
        </p:spPr>
      </p:pic>
    </p:spTree>
    <p:extLst>
      <p:ext uri="{BB962C8B-B14F-4D97-AF65-F5344CB8AC3E}">
        <p14:creationId xmlns:p14="http://schemas.microsoft.com/office/powerpoint/2010/main" val="1868204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p:bg>
      <p:bgPr>
        <a:solidFill>
          <a:srgbClr val="491A6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C6BF4-2260-497D-9E09-38C2E01E2987}"/>
              </a:ext>
            </a:extLst>
          </p:cNvPr>
          <p:cNvSpPr>
            <a:spLocks noGrp="1"/>
          </p:cNvSpPr>
          <p:nvPr>
            <p:ph type="title"/>
          </p:nvPr>
        </p:nvSpPr>
        <p:spPr>
          <a:xfrm>
            <a:off x="429300" y="341299"/>
            <a:ext cx="10515600" cy="1325563"/>
          </a:xfrm>
        </p:spPr>
        <p:txBody>
          <a:bodyPr/>
          <a:lstStyle>
            <a:lvl1pPr>
              <a:defRPr>
                <a:solidFill>
                  <a:schemeClr val="bg1"/>
                </a:solidFill>
              </a:defRPr>
            </a:lvl1pPr>
          </a:lstStyle>
          <a:p>
            <a:r>
              <a:rPr lang="en-US"/>
              <a:t>Click to edit Master title style</a:t>
            </a:r>
            <a:endParaRPr lang="en-GB" dirty="0"/>
          </a:p>
        </p:txBody>
      </p:sp>
      <p:sp>
        <p:nvSpPr>
          <p:cNvPr id="6" name="Content Placeholder 5">
            <a:extLst>
              <a:ext uri="{FF2B5EF4-FFF2-40B4-BE49-F238E27FC236}">
                <a16:creationId xmlns:a16="http://schemas.microsoft.com/office/drawing/2014/main" id="{CAC3FAB3-9996-49B2-8382-3B04639DFB3A}"/>
              </a:ext>
            </a:extLst>
          </p:cNvPr>
          <p:cNvSpPr>
            <a:spLocks noGrp="1"/>
          </p:cNvSpPr>
          <p:nvPr>
            <p:ph sz="quarter" idx="10" hasCustomPrompt="1"/>
          </p:nvPr>
        </p:nvSpPr>
        <p:spPr>
          <a:xfrm>
            <a:off x="429300" y="1968014"/>
            <a:ext cx="10515600" cy="4013238"/>
          </a:xfrm>
        </p:spPr>
        <p:txBody>
          <a:bodyPr/>
          <a:lstStyle>
            <a:lvl1pPr marL="228600" indent="-228600">
              <a:buFontTx/>
              <a:buBlip>
                <a:blip r:embed="rId2"/>
              </a:buBlip>
              <a:defRPr>
                <a:solidFill>
                  <a:schemeClr val="bg1"/>
                </a:solidFill>
              </a:defRPr>
            </a:lvl1pPr>
            <a:lvl2pPr marL="800100" indent="-342900">
              <a:buFontTx/>
              <a:buBlip>
                <a:blip r:embed="rId2"/>
              </a:buBlip>
              <a:defRPr>
                <a:solidFill>
                  <a:schemeClr val="bg1"/>
                </a:solidFill>
              </a:defRPr>
            </a:lvl2pPr>
            <a:lvl3pPr marL="1257300" indent="-342900">
              <a:buFontTx/>
              <a:buBlip>
                <a:blip r:embed="rId2"/>
              </a:buBlip>
              <a:defRPr>
                <a:solidFill>
                  <a:schemeClr val="bg1"/>
                </a:solidFill>
              </a:defRPr>
            </a:lvl3pPr>
            <a:lvl4pPr marL="1657350" indent="-285750">
              <a:buFontTx/>
              <a:buBlip>
                <a:blip r:embed="rId2"/>
              </a:buBlip>
              <a:defRPr>
                <a:solidFill>
                  <a:schemeClr val="bg1"/>
                </a:solidFill>
              </a:defRPr>
            </a:lvl4pPr>
            <a:lvl5pPr marL="2114550" indent="-285750">
              <a:buFontTx/>
              <a:buBlip>
                <a:blip r:embed="rId2"/>
              </a:buBlip>
              <a:defRPr>
                <a:solidFill>
                  <a:schemeClr val="bg1"/>
                </a:solidFill>
              </a:defRPr>
            </a:lvl5pPr>
          </a:lstStyle>
          <a:p>
            <a:pPr lvl="0"/>
            <a:r>
              <a:rPr lang="en-US" dirty="0"/>
              <a:t>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94149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E61E-3F26-4FE3-879F-DC5A96623F6F}"/>
              </a:ext>
            </a:extLst>
          </p:cNvPr>
          <p:cNvSpPr>
            <a:spLocks noGrp="1"/>
          </p:cNvSpPr>
          <p:nvPr>
            <p:ph type="title"/>
          </p:nvPr>
        </p:nvSpPr>
        <p:spPr>
          <a:xfrm>
            <a:off x="437304" y="354368"/>
            <a:ext cx="10515600" cy="1325563"/>
          </a:xfrm>
        </p:spPr>
        <p:txBody>
          <a:bodyPr/>
          <a:lstStyle>
            <a:lvl1pPr>
              <a:defRPr>
                <a:solidFill>
                  <a:srgbClr val="491A66"/>
                </a:solidFill>
              </a:defRPr>
            </a:lvl1pPr>
          </a:lstStyle>
          <a:p>
            <a:r>
              <a:rPr lang="en-US"/>
              <a:t>Click to edit Master title style</a:t>
            </a:r>
            <a:endParaRPr lang="en-GB" dirty="0"/>
          </a:p>
        </p:txBody>
      </p:sp>
      <p:sp>
        <p:nvSpPr>
          <p:cNvPr id="12" name="Content Placeholder 5">
            <a:extLst>
              <a:ext uri="{FF2B5EF4-FFF2-40B4-BE49-F238E27FC236}">
                <a16:creationId xmlns:a16="http://schemas.microsoft.com/office/drawing/2014/main" id="{30731C49-F76A-4D7B-8FC0-9C92058A7A70}"/>
              </a:ext>
            </a:extLst>
          </p:cNvPr>
          <p:cNvSpPr>
            <a:spLocks noGrp="1"/>
          </p:cNvSpPr>
          <p:nvPr>
            <p:ph sz="quarter" idx="10" hasCustomPrompt="1"/>
          </p:nvPr>
        </p:nvSpPr>
        <p:spPr>
          <a:xfrm>
            <a:off x="429300" y="1968014"/>
            <a:ext cx="10515600" cy="4013238"/>
          </a:xfrm>
        </p:spPr>
        <p:txBody>
          <a:bodyPr/>
          <a:lstStyle>
            <a:lvl1pPr marL="228600" indent="-228600">
              <a:buFontTx/>
              <a:buBlip>
                <a:blip r:embed="rId2"/>
              </a:buBlip>
              <a:defRPr/>
            </a:lvl1pPr>
            <a:lvl2pPr marL="800100" indent="-342900">
              <a:buFontTx/>
              <a:buBlip>
                <a:blip r:embed="rId2"/>
              </a:buBlip>
              <a:defRPr/>
            </a:lvl2pPr>
            <a:lvl3pPr marL="1257300" indent="-342900">
              <a:buFontTx/>
              <a:buBlip>
                <a:blip r:embed="rId2"/>
              </a:buBlip>
              <a:defRPr/>
            </a:lvl3pPr>
            <a:lvl4pPr marL="1657350" indent="-285750">
              <a:buFontTx/>
              <a:buBlip>
                <a:blip r:embed="rId2"/>
              </a:buBlip>
              <a:defRPr/>
            </a:lvl4pPr>
            <a:lvl5pPr marL="2114550" indent="-285750">
              <a:buFontTx/>
              <a:buBlip>
                <a:blip r:embed="rId2"/>
              </a:buBlip>
              <a:defRPr/>
            </a:lvl5pPr>
          </a:lstStyle>
          <a:p>
            <a:pPr lvl="0"/>
            <a:r>
              <a:rPr lang="en-US" dirty="0"/>
              <a:t>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315341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study">
    <p:bg>
      <p:bgPr>
        <a:solidFill>
          <a:schemeClr val="accent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C9AFB1-1EFD-4868-86E1-7B65C6E929F1}"/>
              </a:ext>
            </a:extLst>
          </p:cNvPr>
          <p:cNvSpPr>
            <a:spLocks noGrp="1"/>
          </p:cNvSpPr>
          <p:nvPr>
            <p:ph type="title" hasCustomPrompt="1"/>
          </p:nvPr>
        </p:nvSpPr>
        <p:spPr>
          <a:xfrm>
            <a:off x="6691256" y="296890"/>
            <a:ext cx="5238276" cy="714329"/>
          </a:xfrm>
        </p:spPr>
        <p:txBody>
          <a:bodyPr/>
          <a:lstStyle>
            <a:lvl1pPr>
              <a:defRPr>
                <a:solidFill>
                  <a:schemeClr val="bg1"/>
                </a:solidFill>
              </a:defRPr>
            </a:lvl1pPr>
          </a:lstStyle>
          <a:p>
            <a:r>
              <a:rPr lang="en-US" dirty="0"/>
              <a:t>Case study title</a:t>
            </a:r>
            <a:endParaRPr lang="en-GB" dirty="0"/>
          </a:p>
        </p:txBody>
      </p:sp>
      <p:sp>
        <p:nvSpPr>
          <p:cNvPr id="8" name="Text Placeholder 7">
            <a:extLst>
              <a:ext uri="{FF2B5EF4-FFF2-40B4-BE49-F238E27FC236}">
                <a16:creationId xmlns:a16="http://schemas.microsoft.com/office/drawing/2014/main" id="{ED2568EF-5343-4C6C-AE6C-6F7A820DEEC3}"/>
              </a:ext>
            </a:extLst>
          </p:cNvPr>
          <p:cNvSpPr>
            <a:spLocks noGrp="1"/>
          </p:cNvSpPr>
          <p:nvPr>
            <p:ph type="body" sz="quarter" idx="11"/>
          </p:nvPr>
        </p:nvSpPr>
        <p:spPr>
          <a:xfrm>
            <a:off x="6765925" y="1204913"/>
            <a:ext cx="5164138" cy="4754562"/>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99097700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U shape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2146300"/>
            <a:ext cx="12192000" cy="4711700"/>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8746601"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4601765"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56930"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2" name="Text Placeholder 5">
            <a:extLst>
              <a:ext uri="{FF2B5EF4-FFF2-40B4-BE49-F238E27FC236}">
                <a16:creationId xmlns:a16="http://schemas.microsoft.com/office/drawing/2014/main" id="{F2373825-CB96-426B-8496-7664CEBF187C}"/>
              </a:ext>
            </a:extLst>
          </p:cNvPr>
          <p:cNvSpPr>
            <a:spLocks noGrp="1"/>
          </p:cNvSpPr>
          <p:nvPr>
            <p:ph type="body" sz="quarter" idx="10" hasCustomPrompt="1"/>
          </p:nvPr>
        </p:nvSpPr>
        <p:spPr>
          <a:xfrm>
            <a:off x="456094" y="2167167"/>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56094" y="2742552"/>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2745926"/>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8"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2739827"/>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Tree>
    <p:extLst>
      <p:ext uri="{BB962C8B-B14F-4D97-AF65-F5344CB8AC3E}">
        <p14:creationId xmlns:p14="http://schemas.microsoft.com/office/powerpoint/2010/main" val="103544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hree U shapes">
    <p:spTree>
      <p:nvGrpSpPr>
        <p:cNvPr id="1" name=""/>
        <p:cNvGrpSpPr/>
        <p:nvPr/>
      </p:nvGrpSpPr>
      <p:grpSpPr>
        <a:xfrm>
          <a:off x="0" y="0"/>
          <a:ext cx="0" cy="0"/>
          <a:chOff x="0" y="0"/>
          <a:chExt cx="0" cy="0"/>
        </a:xfrm>
      </p:grpSpPr>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8746601"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4601765"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56930" y="2066541"/>
            <a:ext cx="2988469" cy="3184271"/>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2" name="Text Placeholder 5">
            <a:extLst>
              <a:ext uri="{FF2B5EF4-FFF2-40B4-BE49-F238E27FC236}">
                <a16:creationId xmlns:a16="http://schemas.microsoft.com/office/drawing/2014/main" id="{F2373825-CB96-426B-8496-7664CEBF187C}"/>
              </a:ext>
            </a:extLst>
          </p:cNvPr>
          <p:cNvSpPr>
            <a:spLocks noGrp="1"/>
          </p:cNvSpPr>
          <p:nvPr>
            <p:ph type="body" sz="quarter" idx="10" hasCustomPrompt="1"/>
          </p:nvPr>
        </p:nvSpPr>
        <p:spPr>
          <a:xfrm>
            <a:off x="456094" y="2167167"/>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56094" y="2742552"/>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2745926"/>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8" y="2164442"/>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2739827"/>
            <a:ext cx="2990140" cy="2296684"/>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Tree>
    <p:extLst>
      <p:ext uri="{BB962C8B-B14F-4D97-AF65-F5344CB8AC3E}">
        <p14:creationId xmlns:p14="http://schemas.microsoft.com/office/powerpoint/2010/main" val="3795891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ur U shape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2146300"/>
            <a:ext cx="12192000" cy="4711700"/>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6517452" y="1985993"/>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356692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89168" y="2004139"/>
            <a:ext cx="2106346" cy="2426956"/>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4" name="Flowchart: Delay 13">
            <a:extLst>
              <a:ext uri="{FF2B5EF4-FFF2-40B4-BE49-F238E27FC236}">
                <a16:creationId xmlns:a16="http://schemas.microsoft.com/office/drawing/2014/main" id="{A96B9533-2492-474A-8F8E-2B7DB44FB3C9}"/>
              </a:ext>
            </a:extLst>
          </p:cNvPr>
          <p:cNvSpPr/>
          <p:nvPr userDrawn="1"/>
        </p:nvSpPr>
        <p:spPr>
          <a:xfrm rot="5400000">
            <a:off x="954396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946712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948705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5" name="Text Placeholder 5">
            <a:extLst>
              <a:ext uri="{FF2B5EF4-FFF2-40B4-BE49-F238E27FC236}">
                <a16:creationId xmlns:a16="http://schemas.microsoft.com/office/drawing/2014/main" id="{26A48FFB-74C0-4F14-A9CA-61518820A8C3}"/>
              </a:ext>
            </a:extLst>
          </p:cNvPr>
          <p:cNvSpPr>
            <a:spLocks noGrp="1"/>
          </p:cNvSpPr>
          <p:nvPr>
            <p:ph type="body" sz="quarter" idx="16" hasCustomPrompt="1"/>
          </p:nvPr>
        </p:nvSpPr>
        <p:spPr>
          <a:xfrm>
            <a:off x="6433132"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18" name="Text Placeholder 5">
            <a:extLst>
              <a:ext uri="{FF2B5EF4-FFF2-40B4-BE49-F238E27FC236}">
                <a16:creationId xmlns:a16="http://schemas.microsoft.com/office/drawing/2014/main" id="{E33E1632-58E6-4E54-882D-21A335D4A38C}"/>
              </a:ext>
            </a:extLst>
          </p:cNvPr>
          <p:cNvSpPr>
            <a:spLocks noGrp="1"/>
          </p:cNvSpPr>
          <p:nvPr>
            <p:ph type="body" sz="quarter" idx="17" hasCustomPrompt="1"/>
          </p:nvPr>
        </p:nvSpPr>
        <p:spPr>
          <a:xfrm>
            <a:off x="6453059"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9" name="Text Placeholder 5">
            <a:extLst>
              <a:ext uri="{FF2B5EF4-FFF2-40B4-BE49-F238E27FC236}">
                <a16:creationId xmlns:a16="http://schemas.microsoft.com/office/drawing/2014/main" id="{D0D64113-B1DC-47E6-83DD-9AF945602EFE}"/>
              </a:ext>
            </a:extLst>
          </p:cNvPr>
          <p:cNvSpPr>
            <a:spLocks noGrp="1"/>
          </p:cNvSpPr>
          <p:nvPr>
            <p:ph type="body" sz="quarter" idx="18" hasCustomPrompt="1"/>
          </p:nvPr>
        </p:nvSpPr>
        <p:spPr>
          <a:xfrm>
            <a:off x="3522079"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0" name="Text Placeholder 5">
            <a:extLst>
              <a:ext uri="{FF2B5EF4-FFF2-40B4-BE49-F238E27FC236}">
                <a16:creationId xmlns:a16="http://schemas.microsoft.com/office/drawing/2014/main" id="{C0EE6394-CAF7-43E7-BCA9-C54E44FB10CC}"/>
              </a:ext>
            </a:extLst>
          </p:cNvPr>
          <p:cNvSpPr>
            <a:spLocks noGrp="1"/>
          </p:cNvSpPr>
          <p:nvPr>
            <p:ph type="body" sz="quarter" idx="19" hasCustomPrompt="1"/>
          </p:nvPr>
        </p:nvSpPr>
        <p:spPr>
          <a:xfrm>
            <a:off x="3542006"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22" name="Text Placeholder 5">
            <a:extLst>
              <a:ext uri="{FF2B5EF4-FFF2-40B4-BE49-F238E27FC236}">
                <a16:creationId xmlns:a16="http://schemas.microsoft.com/office/drawing/2014/main" id="{55EEB46E-41F4-4586-B4A5-010399555F94}"/>
              </a:ext>
            </a:extLst>
          </p:cNvPr>
          <p:cNvSpPr>
            <a:spLocks noGrp="1"/>
          </p:cNvSpPr>
          <p:nvPr>
            <p:ph type="body" sz="quarter" idx="20" hasCustomPrompt="1"/>
          </p:nvPr>
        </p:nvSpPr>
        <p:spPr>
          <a:xfrm>
            <a:off x="39675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3" name="Text Placeholder 5">
            <a:extLst>
              <a:ext uri="{FF2B5EF4-FFF2-40B4-BE49-F238E27FC236}">
                <a16:creationId xmlns:a16="http://schemas.microsoft.com/office/drawing/2014/main" id="{6235E8B4-1E7D-4065-AE29-1EE0BD428A6E}"/>
              </a:ext>
            </a:extLst>
          </p:cNvPr>
          <p:cNvSpPr>
            <a:spLocks noGrp="1"/>
          </p:cNvSpPr>
          <p:nvPr>
            <p:ph type="body" sz="quarter" idx="21" hasCustomPrompt="1"/>
          </p:nvPr>
        </p:nvSpPr>
        <p:spPr>
          <a:xfrm>
            <a:off x="41668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 name="Text Placeholder 2">
            <a:extLst>
              <a:ext uri="{FF2B5EF4-FFF2-40B4-BE49-F238E27FC236}">
                <a16:creationId xmlns:a16="http://schemas.microsoft.com/office/drawing/2014/main" id="{5A0F2717-D45E-44F6-8041-688D23B4FC80}"/>
              </a:ext>
            </a:extLst>
          </p:cNvPr>
          <p:cNvSpPr>
            <a:spLocks noGrp="1"/>
          </p:cNvSpPr>
          <p:nvPr>
            <p:ph type="body" sz="quarter" idx="22" hasCustomPrompt="1"/>
          </p:nvPr>
        </p:nvSpPr>
        <p:spPr>
          <a:xfrm>
            <a:off x="328613" y="4518025"/>
            <a:ext cx="11482387" cy="1989138"/>
          </a:xfrm>
        </p:spPr>
        <p:txBody>
          <a:bodyPr/>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03274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our U shapes">
    <p:spTree>
      <p:nvGrpSpPr>
        <p:cNvPr id="1" name=""/>
        <p:cNvGrpSpPr/>
        <p:nvPr/>
      </p:nvGrpSpPr>
      <p:grpSpPr>
        <a:xfrm>
          <a:off x="0" y="0"/>
          <a:ext cx="0" cy="0"/>
          <a:chOff x="0" y="0"/>
          <a:chExt cx="0" cy="0"/>
        </a:xfrm>
      </p:grpSpPr>
      <p:sp>
        <p:nvSpPr>
          <p:cNvPr id="24" name="Flowchart: Delay 23">
            <a:extLst>
              <a:ext uri="{FF2B5EF4-FFF2-40B4-BE49-F238E27FC236}">
                <a16:creationId xmlns:a16="http://schemas.microsoft.com/office/drawing/2014/main" id="{DC0B3E49-B356-4739-9034-50E9CEC709E2}"/>
              </a:ext>
            </a:extLst>
          </p:cNvPr>
          <p:cNvSpPr/>
          <p:nvPr userDrawn="1"/>
        </p:nvSpPr>
        <p:spPr>
          <a:xfrm rot="5400000">
            <a:off x="6517452" y="1985993"/>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16" name="Flowchart: Delay 15">
            <a:extLst>
              <a:ext uri="{FF2B5EF4-FFF2-40B4-BE49-F238E27FC236}">
                <a16:creationId xmlns:a16="http://schemas.microsoft.com/office/drawing/2014/main" id="{454FD496-54DA-4199-AAC6-66A65DE445AA}"/>
              </a:ext>
            </a:extLst>
          </p:cNvPr>
          <p:cNvSpPr/>
          <p:nvPr userDrawn="1"/>
        </p:nvSpPr>
        <p:spPr>
          <a:xfrm rot="5400000">
            <a:off x="356692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7" name="Flowchart: Delay 16">
            <a:extLst>
              <a:ext uri="{FF2B5EF4-FFF2-40B4-BE49-F238E27FC236}">
                <a16:creationId xmlns:a16="http://schemas.microsoft.com/office/drawing/2014/main" id="{2EEE0A17-3A41-451F-A395-9A5EFCF47621}"/>
              </a:ext>
            </a:extLst>
          </p:cNvPr>
          <p:cNvSpPr/>
          <p:nvPr userDrawn="1"/>
        </p:nvSpPr>
        <p:spPr>
          <a:xfrm rot="5400000">
            <a:off x="489168" y="2004139"/>
            <a:ext cx="2106346" cy="2426956"/>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14" name="Flowchart: Delay 13">
            <a:extLst>
              <a:ext uri="{FF2B5EF4-FFF2-40B4-BE49-F238E27FC236}">
                <a16:creationId xmlns:a16="http://schemas.microsoft.com/office/drawing/2014/main" id="{A96B9533-2492-474A-8F8E-2B7DB44FB3C9}"/>
              </a:ext>
            </a:extLst>
          </p:cNvPr>
          <p:cNvSpPr/>
          <p:nvPr userDrawn="1"/>
        </p:nvSpPr>
        <p:spPr>
          <a:xfrm rot="5400000">
            <a:off x="9543965" y="2004139"/>
            <a:ext cx="2106345" cy="2426957"/>
          </a:xfrm>
          <a:prstGeom prst="flowChartDelay">
            <a:avLst/>
          </a:prstGeom>
          <a:solidFill>
            <a:srgbClr val="491A66"/>
          </a:solidFill>
          <a:ln w="12700" cap="flat" cmpd="sng" algn="ctr">
            <a:noFill/>
            <a:prstDash val="solid"/>
            <a:miter lim="800000"/>
          </a:ln>
          <a:effectLst/>
        </p:spPr>
        <p:txBody>
          <a:bodyPr vert="vert27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946712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948705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5" name="Text Placeholder 5">
            <a:extLst>
              <a:ext uri="{FF2B5EF4-FFF2-40B4-BE49-F238E27FC236}">
                <a16:creationId xmlns:a16="http://schemas.microsoft.com/office/drawing/2014/main" id="{26A48FFB-74C0-4F14-A9CA-61518820A8C3}"/>
              </a:ext>
            </a:extLst>
          </p:cNvPr>
          <p:cNvSpPr>
            <a:spLocks noGrp="1"/>
          </p:cNvSpPr>
          <p:nvPr>
            <p:ph type="body" sz="quarter" idx="16" hasCustomPrompt="1"/>
          </p:nvPr>
        </p:nvSpPr>
        <p:spPr>
          <a:xfrm>
            <a:off x="6433132"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18" name="Text Placeholder 5">
            <a:extLst>
              <a:ext uri="{FF2B5EF4-FFF2-40B4-BE49-F238E27FC236}">
                <a16:creationId xmlns:a16="http://schemas.microsoft.com/office/drawing/2014/main" id="{E33E1632-58E6-4E54-882D-21A335D4A38C}"/>
              </a:ext>
            </a:extLst>
          </p:cNvPr>
          <p:cNvSpPr>
            <a:spLocks noGrp="1"/>
          </p:cNvSpPr>
          <p:nvPr>
            <p:ph type="body" sz="quarter" idx="17" hasCustomPrompt="1"/>
          </p:nvPr>
        </p:nvSpPr>
        <p:spPr>
          <a:xfrm>
            <a:off x="6453059"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19" name="Text Placeholder 5">
            <a:extLst>
              <a:ext uri="{FF2B5EF4-FFF2-40B4-BE49-F238E27FC236}">
                <a16:creationId xmlns:a16="http://schemas.microsoft.com/office/drawing/2014/main" id="{D0D64113-B1DC-47E6-83DD-9AF945602EFE}"/>
              </a:ext>
            </a:extLst>
          </p:cNvPr>
          <p:cNvSpPr>
            <a:spLocks noGrp="1"/>
          </p:cNvSpPr>
          <p:nvPr>
            <p:ph type="body" sz="quarter" idx="18" hasCustomPrompt="1"/>
          </p:nvPr>
        </p:nvSpPr>
        <p:spPr>
          <a:xfrm>
            <a:off x="3522079"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0" name="Text Placeholder 5">
            <a:extLst>
              <a:ext uri="{FF2B5EF4-FFF2-40B4-BE49-F238E27FC236}">
                <a16:creationId xmlns:a16="http://schemas.microsoft.com/office/drawing/2014/main" id="{C0EE6394-CAF7-43E7-BCA9-C54E44FB10CC}"/>
              </a:ext>
            </a:extLst>
          </p:cNvPr>
          <p:cNvSpPr>
            <a:spLocks noGrp="1"/>
          </p:cNvSpPr>
          <p:nvPr>
            <p:ph type="body" sz="quarter" idx="19" hasCustomPrompt="1"/>
          </p:nvPr>
        </p:nvSpPr>
        <p:spPr>
          <a:xfrm>
            <a:off x="3542006"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22" name="Text Placeholder 5">
            <a:extLst>
              <a:ext uri="{FF2B5EF4-FFF2-40B4-BE49-F238E27FC236}">
                <a16:creationId xmlns:a16="http://schemas.microsoft.com/office/drawing/2014/main" id="{55EEB46E-41F4-4586-B4A5-010399555F94}"/>
              </a:ext>
            </a:extLst>
          </p:cNvPr>
          <p:cNvSpPr>
            <a:spLocks noGrp="1"/>
          </p:cNvSpPr>
          <p:nvPr>
            <p:ph type="body" sz="quarter" idx="20" hasCustomPrompt="1"/>
          </p:nvPr>
        </p:nvSpPr>
        <p:spPr>
          <a:xfrm>
            <a:off x="396754" y="2164442"/>
            <a:ext cx="1182535" cy="438909"/>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lvl="0"/>
            <a:r>
              <a:rPr lang="en-US" dirty="0"/>
              <a:t>Title</a:t>
            </a:r>
          </a:p>
        </p:txBody>
      </p:sp>
      <p:sp>
        <p:nvSpPr>
          <p:cNvPr id="23" name="Text Placeholder 5">
            <a:extLst>
              <a:ext uri="{FF2B5EF4-FFF2-40B4-BE49-F238E27FC236}">
                <a16:creationId xmlns:a16="http://schemas.microsoft.com/office/drawing/2014/main" id="{6235E8B4-1E7D-4065-AE29-1EE0BD428A6E}"/>
              </a:ext>
            </a:extLst>
          </p:cNvPr>
          <p:cNvSpPr>
            <a:spLocks noGrp="1"/>
          </p:cNvSpPr>
          <p:nvPr>
            <p:ph type="body" sz="quarter" idx="21" hasCustomPrompt="1"/>
          </p:nvPr>
        </p:nvSpPr>
        <p:spPr>
          <a:xfrm>
            <a:off x="416681" y="2621493"/>
            <a:ext cx="1835654" cy="950046"/>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 name="Text Placeholder 2">
            <a:extLst>
              <a:ext uri="{FF2B5EF4-FFF2-40B4-BE49-F238E27FC236}">
                <a16:creationId xmlns:a16="http://schemas.microsoft.com/office/drawing/2014/main" id="{5A0F2717-D45E-44F6-8041-688D23B4FC80}"/>
              </a:ext>
            </a:extLst>
          </p:cNvPr>
          <p:cNvSpPr>
            <a:spLocks noGrp="1"/>
          </p:cNvSpPr>
          <p:nvPr>
            <p:ph type="body" sz="quarter" idx="22" hasCustomPrompt="1"/>
          </p:nvPr>
        </p:nvSpPr>
        <p:spPr>
          <a:xfrm>
            <a:off x="328613" y="4518025"/>
            <a:ext cx="11482387" cy="1989138"/>
          </a:xfrm>
        </p:spPr>
        <p:txBody>
          <a:bodyPr/>
          <a:lstStyle>
            <a:lvl1pPr marL="0" indent="0">
              <a:buFontTx/>
              <a:buNone/>
              <a:defRPr>
                <a:solidFill>
                  <a:schemeClr val="bg1"/>
                </a:solidFill>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63872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hieveing a goal">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B916B62F-E266-4F4E-9915-FF25285DB186}"/>
              </a:ext>
            </a:extLst>
          </p:cNvPr>
          <p:cNvSpPr/>
          <p:nvPr userDrawn="1"/>
        </p:nvSpPr>
        <p:spPr>
          <a:xfrm>
            <a:off x="5310470" y="1421969"/>
            <a:ext cx="1631572"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Trebuchet MS" panose="020B0603020202020204" pitchFamily="34" charset="0"/>
              <a:ea typeface="+mn-ea"/>
              <a:cs typeface="+mn-cs"/>
            </a:endParaRPr>
          </a:p>
        </p:txBody>
      </p:sp>
      <p:sp>
        <p:nvSpPr>
          <p:cNvPr id="36" name="Rectangle 35">
            <a:extLst>
              <a:ext uri="{FF2B5EF4-FFF2-40B4-BE49-F238E27FC236}">
                <a16:creationId xmlns:a16="http://schemas.microsoft.com/office/drawing/2014/main" id="{32D30E2D-44C1-40C3-86A5-3410ECB0B513}"/>
              </a:ext>
            </a:extLst>
          </p:cNvPr>
          <p:cNvSpPr/>
          <p:nvPr userDrawn="1"/>
        </p:nvSpPr>
        <p:spPr>
          <a:xfrm>
            <a:off x="299330" y="430879"/>
            <a:ext cx="11593340" cy="854257"/>
          </a:xfrm>
          <a:prstGeom prst="rect">
            <a:avLst/>
          </a:prstGeom>
          <a:solidFill>
            <a:srgbClr val="491A6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EC6608"/>
              </a:solidFill>
              <a:effectLst/>
              <a:uLnTx/>
              <a:uFillTx/>
              <a:latin typeface="Gotham Bold" pitchFamily="50" charset="0"/>
              <a:ea typeface="+mn-ea"/>
              <a:cs typeface="+mn-cs"/>
            </a:endParaRPr>
          </a:p>
        </p:txBody>
      </p:sp>
      <p:sp>
        <p:nvSpPr>
          <p:cNvPr id="37" name="Rectangle 36">
            <a:extLst>
              <a:ext uri="{FF2B5EF4-FFF2-40B4-BE49-F238E27FC236}">
                <a16:creationId xmlns:a16="http://schemas.microsoft.com/office/drawing/2014/main" id="{576B9DD9-1B6A-4F9F-AA3E-D816AD0D4364}"/>
              </a:ext>
            </a:extLst>
          </p:cNvPr>
          <p:cNvSpPr/>
          <p:nvPr userDrawn="1"/>
        </p:nvSpPr>
        <p:spPr>
          <a:xfrm>
            <a:off x="304346" y="3192332"/>
            <a:ext cx="3795690" cy="1733481"/>
          </a:xfrm>
          <a:prstGeom prst="rect">
            <a:avLst/>
          </a:prstGeom>
          <a:solidFill>
            <a:srgbClr val="00A19A"/>
          </a:solidFill>
          <a:ln w="12700" cap="flat" cmpd="sng" algn="ctr">
            <a:noFill/>
            <a:prstDash val="solid"/>
            <a:miter lim="800000"/>
          </a:ln>
          <a:effectLst/>
        </p:spPr>
        <p:txBody>
          <a:bodyPr t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38" name="Rectangle 37">
            <a:extLst>
              <a:ext uri="{FF2B5EF4-FFF2-40B4-BE49-F238E27FC236}">
                <a16:creationId xmlns:a16="http://schemas.microsoft.com/office/drawing/2014/main" id="{612E48D3-9A6B-46D7-87CF-E66AE0805101}"/>
              </a:ext>
            </a:extLst>
          </p:cNvPr>
          <p:cNvSpPr/>
          <p:nvPr userDrawn="1"/>
        </p:nvSpPr>
        <p:spPr>
          <a:xfrm>
            <a:off x="4207848" y="3208872"/>
            <a:ext cx="3795690" cy="1737354"/>
          </a:xfrm>
          <a:prstGeom prst="rect">
            <a:avLst/>
          </a:prstGeom>
          <a:solidFill>
            <a:srgbClr val="00A19A"/>
          </a:solidFill>
          <a:ln w="12700" cap="flat" cmpd="sng" algn="ctr">
            <a:noFill/>
            <a:prstDash val="solid"/>
            <a:miter lim="800000"/>
          </a:ln>
          <a:effectLst/>
        </p:spPr>
        <p:txBody>
          <a:bodyPr t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39" name="Rectangle 38">
            <a:extLst>
              <a:ext uri="{FF2B5EF4-FFF2-40B4-BE49-F238E27FC236}">
                <a16:creationId xmlns:a16="http://schemas.microsoft.com/office/drawing/2014/main" id="{0C629942-9644-4427-85F1-6502ACE9798D}"/>
              </a:ext>
            </a:extLst>
          </p:cNvPr>
          <p:cNvSpPr/>
          <p:nvPr userDrawn="1"/>
        </p:nvSpPr>
        <p:spPr>
          <a:xfrm>
            <a:off x="8111350" y="3205792"/>
            <a:ext cx="3795690" cy="1735350"/>
          </a:xfrm>
          <a:prstGeom prst="rect">
            <a:avLst/>
          </a:prstGeom>
          <a:solidFill>
            <a:srgbClr val="00A19A"/>
          </a:solidFill>
          <a:ln w="12700" cap="flat" cmpd="sng" algn="ctr">
            <a:noFill/>
            <a:prstDash val="solid"/>
            <a:miter lim="800000"/>
          </a:ln>
          <a:effectLst/>
        </p:spPr>
        <p:txBody>
          <a:bodyPr lIns="72000" tIns="72000" rIns="72000" rtlCol="0" anchor="ctr" anchorCtr="0"/>
          <a:lstStyle/>
          <a:p>
            <a:pPr marL="0" marR="0" lvl="0" indent="0" algn="ctr" defTabSz="914400" eaLnBrk="1" fontAlgn="auto" latinLnBrk="0" hangingPunct="1">
              <a:lnSpc>
                <a:spcPct val="114000"/>
              </a:lnSpc>
              <a:spcBef>
                <a:spcPts val="0"/>
              </a:spcBef>
              <a:spcAft>
                <a:spcPts val="0"/>
              </a:spcAft>
              <a:buClrTx/>
              <a:buSzTx/>
              <a:buFontTx/>
              <a:buNone/>
              <a:tabLst/>
              <a:defRPr/>
            </a:pPr>
            <a:endParaRPr kumimoji="0" lang="en-GB" sz="1800" b="1" i="0" u="none" strike="noStrike" kern="0" cap="none" spc="0" normalizeH="0" baseline="0" noProof="0" dirty="0">
              <a:ln>
                <a:noFill/>
              </a:ln>
              <a:solidFill>
                <a:srgbClr val="491A66"/>
              </a:solidFill>
              <a:effectLst/>
              <a:uLnTx/>
              <a:uFillTx/>
              <a:latin typeface="+mn-lt"/>
              <a:ea typeface="+mn-ea"/>
              <a:cs typeface="+mn-cs"/>
            </a:endParaRPr>
          </a:p>
        </p:txBody>
      </p:sp>
      <p:sp>
        <p:nvSpPr>
          <p:cNvPr id="40" name="Rectangle 39">
            <a:extLst>
              <a:ext uri="{FF2B5EF4-FFF2-40B4-BE49-F238E27FC236}">
                <a16:creationId xmlns:a16="http://schemas.microsoft.com/office/drawing/2014/main" id="{9D37EDFC-5875-4DC3-A044-2158CE585AE4}"/>
              </a:ext>
            </a:extLst>
          </p:cNvPr>
          <p:cNvSpPr/>
          <p:nvPr userDrawn="1"/>
        </p:nvSpPr>
        <p:spPr>
          <a:xfrm>
            <a:off x="283637" y="5067099"/>
            <a:ext cx="11609034" cy="854277"/>
          </a:xfrm>
          <a:prstGeom prst="rect">
            <a:avLst/>
          </a:prstGeom>
          <a:solidFill>
            <a:srgbClr val="491A6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GB" sz="2000" b="1" i="0" u="none" strike="noStrike" kern="0" cap="none" spc="0" normalizeH="0" baseline="0" noProof="0" dirty="0">
              <a:ln>
                <a:noFill/>
              </a:ln>
              <a:solidFill>
                <a:srgbClr val="EC6608"/>
              </a:solidFill>
              <a:effectLst/>
              <a:uLnTx/>
              <a:uFillTx/>
              <a:latin typeface="Trebuchet MS" panose="020B0603020202020204" pitchFamily="34" charset="0"/>
              <a:ea typeface="+mn-ea"/>
              <a:cs typeface="+mn-cs"/>
            </a:endParaRPr>
          </a:p>
        </p:txBody>
      </p:sp>
      <p:sp>
        <p:nvSpPr>
          <p:cNvPr id="41" name="Rectangle 40">
            <a:extLst>
              <a:ext uri="{FF2B5EF4-FFF2-40B4-BE49-F238E27FC236}">
                <a16:creationId xmlns:a16="http://schemas.microsoft.com/office/drawing/2014/main" id="{CE15DDDE-D10E-4AE1-A95B-66499CE8174D}"/>
              </a:ext>
            </a:extLst>
          </p:cNvPr>
          <p:cNvSpPr/>
          <p:nvPr userDrawn="1"/>
        </p:nvSpPr>
        <p:spPr>
          <a:xfrm>
            <a:off x="274890" y="1421969"/>
            <a:ext cx="5166908"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mn-lt"/>
              <a:ea typeface="+mn-ea"/>
              <a:cs typeface="+mn-cs"/>
            </a:endParaRPr>
          </a:p>
        </p:txBody>
      </p:sp>
      <p:sp>
        <p:nvSpPr>
          <p:cNvPr id="42" name="Rectangle 41">
            <a:extLst>
              <a:ext uri="{FF2B5EF4-FFF2-40B4-BE49-F238E27FC236}">
                <a16:creationId xmlns:a16="http://schemas.microsoft.com/office/drawing/2014/main" id="{557D46F0-F2F2-4C10-88E6-22B41754FB70}"/>
              </a:ext>
            </a:extLst>
          </p:cNvPr>
          <p:cNvSpPr/>
          <p:nvPr userDrawn="1"/>
        </p:nvSpPr>
        <p:spPr>
          <a:xfrm>
            <a:off x="6740132" y="1423422"/>
            <a:ext cx="5166908" cy="1664558"/>
          </a:xfrm>
          <a:prstGeom prst="rect">
            <a:avLst/>
          </a:prstGeom>
          <a:solidFill>
            <a:srgbClr val="EC660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90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mn-lt"/>
              <a:ea typeface="+mn-ea"/>
              <a:cs typeface="+mn-cs"/>
            </a:endParaRPr>
          </a:p>
        </p:txBody>
      </p:sp>
      <p:sp>
        <p:nvSpPr>
          <p:cNvPr id="44" name="Plus Sign 43">
            <a:extLst>
              <a:ext uri="{FF2B5EF4-FFF2-40B4-BE49-F238E27FC236}">
                <a16:creationId xmlns:a16="http://schemas.microsoft.com/office/drawing/2014/main" id="{1A908DBD-37AA-423E-9412-FA30F81B7BF8}"/>
              </a:ext>
            </a:extLst>
          </p:cNvPr>
          <p:cNvSpPr>
            <a:spLocks/>
          </p:cNvSpPr>
          <p:nvPr userDrawn="1"/>
        </p:nvSpPr>
        <p:spPr>
          <a:xfrm>
            <a:off x="5573125" y="1680477"/>
            <a:ext cx="1106263" cy="1147542"/>
          </a:xfrm>
          <a:prstGeom prst="mathPlus">
            <a:avLst/>
          </a:prstGeom>
          <a:solidFill>
            <a:srgbClr val="00A19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D5403010-B631-40A9-8135-8AF01DAF6004}"/>
              </a:ext>
            </a:extLst>
          </p:cNvPr>
          <p:cNvSpPr>
            <a:spLocks noGrp="1"/>
          </p:cNvSpPr>
          <p:nvPr>
            <p:ph type="body" sz="quarter" idx="10" hasCustomPrompt="1"/>
          </p:nvPr>
        </p:nvSpPr>
        <p:spPr>
          <a:xfrm>
            <a:off x="541206" y="484991"/>
            <a:ext cx="11109589" cy="678470"/>
          </a:xfrm>
        </p:spPr>
        <p:txBody>
          <a:bodyPr>
            <a:noAutofit/>
          </a:bodyPr>
          <a:lstStyle>
            <a:lvl1pPr marL="0" indent="0" algn="ctr">
              <a:buNone/>
              <a:defRPr sz="4400">
                <a:solidFill>
                  <a:schemeClr val="bg1"/>
                </a:solidFill>
                <a:latin typeface="+mj-lt"/>
              </a:defRPr>
            </a:lvl1pPr>
          </a:lstStyle>
          <a:p>
            <a:pPr lvl="0"/>
            <a:r>
              <a:rPr lang="en-US" dirty="0"/>
              <a:t>Title</a:t>
            </a:r>
          </a:p>
        </p:txBody>
      </p:sp>
      <p:sp>
        <p:nvSpPr>
          <p:cNvPr id="5" name="Text Placeholder 4">
            <a:extLst>
              <a:ext uri="{FF2B5EF4-FFF2-40B4-BE49-F238E27FC236}">
                <a16:creationId xmlns:a16="http://schemas.microsoft.com/office/drawing/2014/main" id="{A33AF609-F9DC-456D-ADB5-8EA9E965C4F6}"/>
              </a:ext>
            </a:extLst>
          </p:cNvPr>
          <p:cNvSpPr>
            <a:spLocks noGrp="1"/>
          </p:cNvSpPr>
          <p:nvPr>
            <p:ph type="body" sz="quarter" idx="11" hasCustomPrompt="1"/>
          </p:nvPr>
        </p:nvSpPr>
        <p:spPr>
          <a:xfrm>
            <a:off x="6782521" y="1631240"/>
            <a:ext cx="4625975" cy="1146175"/>
          </a:xfrm>
        </p:spPr>
        <p:txBody>
          <a:bodyPr anchor="ctr">
            <a:normAutofit/>
          </a:bodyPr>
          <a:lstStyle>
            <a:lvl1pPr marL="0" indent="0" algn="ctr">
              <a:buNone/>
              <a:defRPr sz="3600">
                <a:solidFill>
                  <a:srgbClr val="491A66"/>
                </a:solidFill>
                <a:latin typeface="+mj-lt"/>
              </a:defRPr>
            </a:lvl1pPr>
          </a:lstStyle>
          <a:p>
            <a:pPr lvl="0"/>
            <a:r>
              <a:rPr lang="en-US" dirty="0"/>
              <a:t>Text</a:t>
            </a:r>
            <a:endParaRPr lang="en-GB" dirty="0"/>
          </a:p>
        </p:txBody>
      </p:sp>
      <p:sp>
        <p:nvSpPr>
          <p:cNvPr id="15" name="Text Placeholder 4">
            <a:extLst>
              <a:ext uri="{FF2B5EF4-FFF2-40B4-BE49-F238E27FC236}">
                <a16:creationId xmlns:a16="http://schemas.microsoft.com/office/drawing/2014/main" id="{A4292DF8-77F3-495C-94B6-0F773F5D8220}"/>
              </a:ext>
            </a:extLst>
          </p:cNvPr>
          <p:cNvSpPr>
            <a:spLocks noGrp="1"/>
          </p:cNvSpPr>
          <p:nvPr>
            <p:ph type="body" sz="quarter" idx="12" hasCustomPrompt="1"/>
          </p:nvPr>
        </p:nvSpPr>
        <p:spPr>
          <a:xfrm>
            <a:off x="706885" y="1645499"/>
            <a:ext cx="4625975" cy="1146175"/>
          </a:xfrm>
        </p:spPr>
        <p:txBody>
          <a:bodyPr anchor="ctr">
            <a:normAutofit/>
          </a:bodyPr>
          <a:lstStyle>
            <a:lvl1pPr marL="0" indent="0" algn="ctr">
              <a:buNone/>
              <a:defRPr sz="3600">
                <a:solidFill>
                  <a:srgbClr val="491A66"/>
                </a:solidFill>
                <a:latin typeface="+mj-lt"/>
              </a:defRPr>
            </a:lvl1pPr>
          </a:lstStyle>
          <a:p>
            <a:pPr lvl="0"/>
            <a:r>
              <a:rPr lang="en-US" dirty="0"/>
              <a:t>Text</a:t>
            </a:r>
            <a:endParaRPr lang="en-GB" dirty="0"/>
          </a:p>
        </p:txBody>
      </p:sp>
      <p:sp>
        <p:nvSpPr>
          <p:cNvPr id="7" name="Text Placeholder 6">
            <a:extLst>
              <a:ext uri="{FF2B5EF4-FFF2-40B4-BE49-F238E27FC236}">
                <a16:creationId xmlns:a16="http://schemas.microsoft.com/office/drawing/2014/main" id="{909FF254-4CDB-4CE7-9CED-F304795EA052}"/>
              </a:ext>
            </a:extLst>
          </p:cNvPr>
          <p:cNvSpPr>
            <a:spLocks noGrp="1"/>
          </p:cNvSpPr>
          <p:nvPr>
            <p:ph type="body" sz="quarter" idx="13" hasCustomPrompt="1"/>
          </p:nvPr>
        </p:nvSpPr>
        <p:spPr>
          <a:xfrm>
            <a:off x="448695"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8" name="Text Placeholder 6">
            <a:extLst>
              <a:ext uri="{FF2B5EF4-FFF2-40B4-BE49-F238E27FC236}">
                <a16:creationId xmlns:a16="http://schemas.microsoft.com/office/drawing/2014/main" id="{6BA03FD8-0A50-4C9C-8390-7BB7B9A01941}"/>
              </a:ext>
            </a:extLst>
          </p:cNvPr>
          <p:cNvSpPr>
            <a:spLocks noGrp="1"/>
          </p:cNvSpPr>
          <p:nvPr>
            <p:ph type="body" sz="quarter" idx="14" hasCustomPrompt="1"/>
          </p:nvPr>
        </p:nvSpPr>
        <p:spPr>
          <a:xfrm>
            <a:off x="4372759"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9" name="Text Placeholder 6">
            <a:extLst>
              <a:ext uri="{FF2B5EF4-FFF2-40B4-BE49-F238E27FC236}">
                <a16:creationId xmlns:a16="http://schemas.microsoft.com/office/drawing/2014/main" id="{45C95AB8-2590-415A-A4EB-59CB57FC6750}"/>
              </a:ext>
            </a:extLst>
          </p:cNvPr>
          <p:cNvSpPr>
            <a:spLocks noGrp="1"/>
          </p:cNvSpPr>
          <p:nvPr>
            <p:ph type="body" sz="quarter" idx="15" hasCustomPrompt="1"/>
          </p:nvPr>
        </p:nvSpPr>
        <p:spPr>
          <a:xfrm>
            <a:off x="8255698" y="3343099"/>
            <a:ext cx="3506993" cy="1460736"/>
          </a:xfrm>
        </p:spPr>
        <p:txBody>
          <a:bodyPr anchor="ctr"/>
          <a:lstStyle>
            <a:lvl1pPr marL="0" indent="0" algn="ctr">
              <a:buNone/>
              <a:defRPr sz="2000">
                <a:solidFill>
                  <a:schemeClr val="bg1"/>
                </a:solidFill>
              </a:defRPr>
            </a:lvl1pPr>
            <a:lvl2pPr marL="457200" indent="0">
              <a:buNone/>
              <a:defRPr/>
            </a:lvl2pPr>
          </a:lstStyle>
          <a:p>
            <a:pPr lvl="0"/>
            <a:r>
              <a:rPr lang="en-US" dirty="0"/>
              <a:t>Text</a:t>
            </a:r>
          </a:p>
        </p:txBody>
      </p:sp>
      <p:sp>
        <p:nvSpPr>
          <p:cNvPr id="10" name="Text Placeholder 9">
            <a:extLst>
              <a:ext uri="{FF2B5EF4-FFF2-40B4-BE49-F238E27FC236}">
                <a16:creationId xmlns:a16="http://schemas.microsoft.com/office/drawing/2014/main" id="{0489B6DD-9A72-42C0-8F2E-56E4B8FCBD44}"/>
              </a:ext>
            </a:extLst>
          </p:cNvPr>
          <p:cNvSpPr>
            <a:spLocks noGrp="1"/>
          </p:cNvSpPr>
          <p:nvPr>
            <p:ph type="body" sz="quarter" idx="16" hasCustomPrompt="1"/>
          </p:nvPr>
        </p:nvSpPr>
        <p:spPr>
          <a:xfrm>
            <a:off x="729097" y="5226760"/>
            <a:ext cx="10794316" cy="451503"/>
          </a:xfrm>
        </p:spPr>
        <p:txBody>
          <a:bodyPr/>
          <a:lstStyle>
            <a:lvl1pPr marL="0" indent="0" algn="ctr">
              <a:buNone/>
              <a:defRPr>
                <a:solidFill>
                  <a:srgbClr val="F37023"/>
                </a:solidFill>
                <a:latin typeface="+mj-lt"/>
              </a:defRPr>
            </a:lvl1pPr>
          </a:lstStyle>
          <a:p>
            <a:pPr lvl="0"/>
            <a:r>
              <a:rPr lang="en-US" dirty="0"/>
              <a:t>GOAL</a:t>
            </a:r>
          </a:p>
        </p:txBody>
      </p:sp>
    </p:spTree>
    <p:extLst>
      <p:ext uri="{BB962C8B-B14F-4D97-AF65-F5344CB8AC3E}">
        <p14:creationId xmlns:p14="http://schemas.microsoft.com/office/powerpoint/2010/main" val="328178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opy">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33C9B83-9D4A-444C-9CD5-D795BEF3623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7304" y="6036990"/>
            <a:ext cx="1807605" cy="527241"/>
          </a:xfrm>
          <a:prstGeom prst="rect">
            <a:avLst/>
          </a:prstGeom>
        </p:spPr>
      </p:pic>
      <p:sp>
        <p:nvSpPr>
          <p:cNvPr id="3" name="Picture Placeholder 2">
            <a:extLst>
              <a:ext uri="{FF2B5EF4-FFF2-40B4-BE49-F238E27FC236}">
                <a16:creationId xmlns:a16="http://schemas.microsoft.com/office/drawing/2014/main" id="{68FC4DD1-4B6C-43B2-A588-57DCD46F707B}"/>
              </a:ext>
            </a:extLst>
          </p:cNvPr>
          <p:cNvSpPr>
            <a:spLocks noGrp="1"/>
          </p:cNvSpPr>
          <p:nvPr>
            <p:ph type="pic" sz="quarter" idx="10"/>
          </p:nvPr>
        </p:nvSpPr>
        <p:spPr>
          <a:xfrm>
            <a:off x="6382926" y="171451"/>
            <a:ext cx="5658262" cy="6392780"/>
          </a:xfrm>
        </p:spPr>
        <p:txBody>
          <a:bodyPr/>
          <a:lstStyle/>
          <a:p>
            <a:r>
              <a:rPr lang="en-US"/>
              <a:t>Click icon to add picture</a:t>
            </a:r>
            <a:endParaRPr lang="en-GB" dirty="0"/>
          </a:p>
        </p:txBody>
      </p:sp>
      <p:sp>
        <p:nvSpPr>
          <p:cNvPr id="5" name="Text Placeholder 4">
            <a:extLst>
              <a:ext uri="{FF2B5EF4-FFF2-40B4-BE49-F238E27FC236}">
                <a16:creationId xmlns:a16="http://schemas.microsoft.com/office/drawing/2014/main" id="{EC490F74-EF23-40F0-91FA-0918A5AFA27E}"/>
              </a:ext>
            </a:extLst>
          </p:cNvPr>
          <p:cNvSpPr>
            <a:spLocks noGrp="1"/>
          </p:cNvSpPr>
          <p:nvPr>
            <p:ph type="body" sz="quarter" idx="11" hasCustomPrompt="1"/>
          </p:nvPr>
        </p:nvSpPr>
        <p:spPr>
          <a:xfrm>
            <a:off x="9542033" y="4300858"/>
            <a:ext cx="2499155" cy="1646238"/>
          </a:xfrm>
          <a:solidFill>
            <a:schemeClr val="bg1"/>
          </a:solidFill>
          <a:ln>
            <a:noFill/>
          </a:ln>
        </p:spPr>
        <p:txBody>
          <a:bodyPr/>
          <a:lstStyle>
            <a:lvl1pPr>
              <a:defRPr sz="1400" b="1">
                <a:solidFill>
                  <a:srgbClr val="F37023"/>
                </a:solidFill>
              </a:defRPr>
            </a:lvl1pPr>
            <a:lvl2pPr>
              <a:defRPr sz="1400" b="1"/>
            </a:lvl2pPr>
          </a:lstStyle>
          <a:p>
            <a:pPr lvl="0"/>
            <a:r>
              <a:rPr lang="en-US" dirty="0"/>
              <a:t>“Quote”</a:t>
            </a:r>
          </a:p>
          <a:p>
            <a:pPr lvl="1"/>
            <a:r>
              <a:rPr lang="en-US" dirty="0"/>
              <a:t>Name, </a:t>
            </a:r>
            <a:r>
              <a:rPr lang="en-US" dirty="0" err="1"/>
              <a:t>Organisation</a:t>
            </a:r>
            <a:endParaRPr lang="en-US" dirty="0"/>
          </a:p>
        </p:txBody>
      </p:sp>
      <p:sp>
        <p:nvSpPr>
          <p:cNvPr id="8" name="Title 7">
            <a:extLst>
              <a:ext uri="{FF2B5EF4-FFF2-40B4-BE49-F238E27FC236}">
                <a16:creationId xmlns:a16="http://schemas.microsoft.com/office/drawing/2014/main" id="{ED6B26F5-4892-4C93-92C7-E27C2F0D0D18}"/>
              </a:ext>
            </a:extLst>
          </p:cNvPr>
          <p:cNvSpPr>
            <a:spLocks noGrp="1"/>
          </p:cNvSpPr>
          <p:nvPr>
            <p:ph type="title" hasCustomPrompt="1"/>
          </p:nvPr>
        </p:nvSpPr>
        <p:spPr>
          <a:xfrm>
            <a:off x="437304" y="365125"/>
            <a:ext cx="5658696" cy="1325563"/>
          </a:xfrm>
        </p:spPr>
        <p:txBody>
          <a:bodyPr/>
          <a:lstStyle>
            <a:lvl1pPr>
              <a:defRPr/>
            </a:lvl1pPr>
          </a:lstStyle>
          <a:p>
            <a:r>
              <a:rPr lang="en-US" dirty="0"/>
              <a:t>Title</a:t>
            </a:r>
            <a:endParaRPr lang="en-GB" dirty="0"/>
          </a:p>
        </p:txBody>
      </p:sp>
      <p:sp>
        <p:nvSpPr>
          <p:cNvPr id="10" name="Content Placeholder 9">
            <a:extLst>
              <a:ext uri="{FF2B5EF4-FFF2-40B4-BE49-F238E27FC236}">
                <a16:creationId xmlns:a16="http://schemas.microsoft.com/office/drawing/2014/main" id="{0ED570A8-B1D4-4755-BA2F-234F97979AC7}"/>
              </a:ext>
            </a:extLst>
          </p:cNvPr>
          <p:cNvSpPr>
            <a:spLocks noGrp="1"/>
          </p:cNvSpPr>
          <p:nvPr>
            <p:ph sz="quarter" idx="12"/>
          </p:nvPr>
        </p:nvSpPr>
        <p:spPr>
          <a:xfrm>
            <a:off x="436563" y="1933575"/>
            <a:ext cx="5659437" cy="4013200"/>
          </a:xfrm>
        </p:spPr>
        <p:txBody>
          <a:bodyPr/>
          <a:lstStyle>
            <a:lvl1pPr marL="228600" indent="-228600">
              <a:buFontTx/>
              <a:buBlip>
                <a:blip r:embed="rId3"/>
              </a:buBlip>
              <a:defRPr/>
            </a:lvl1pPr>
            <a:lvl2pPr marL="685800" indent="-228600">
              <a:buFontTx/>
              <a:buBlip>
                <a:blip r:embed="rId3"/>
              </a:buBlip>
              <a:defRPr/>
            </a:lvl2pPr>
            <a:lvl3pPr marL="1143000" indent="-228600">
              <a:buFontTx/>
              <a:buBlip>
                <a:blip r:embed="rId3"/>
              </a:buBlip>
              <a:defRPr/>
            </a:lvl3pPr>
            <a:lvl4pPr marL="1600200" indent="-228600">
              <a:buFontTx/>
              <a:buBlip>
                <a:blip r:embed="rId3"/>
              </a:buBlip>
              <a:defRPr/>
            </a:lvl4pPr>
            <a:lvl5pPr marL="2057400" indent="-228600">
              <a:buFontTx/>
              <a:buBlip>
                <a:blip r:embed="rId3"/>
              </a:buBlip>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8238810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icture with copy">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8FC4DD1-4B6C-43B2-A588-57DCD46F707B}"/>
              </a:ext>
            </a:extLst>
          </p:cNvPr>
          <p:cNvSpPr>
            <a:spLocks noGrp="1"/>
          </p:cNvSpPr>
          <p:nvPr>
            <p:ph type="pic" sz="quarter" idx="10"/>
          </p:nvPr>
        </p:nvSpPr>
        <p:spPr>
          <a:xfrm>
            <a:off x="315613" y="232610"/>
            <a:ext cx="5658262" cy="6392780"/>
          </a:xfrm>
        </p:spPr>
        <p:txBody>
          <a:bodyPr/>
          <a:lstStyle/>
          <a:p>
            <a:r>
              <a:rPr lang="en-US"/>
              <a:t>Click icon to add picture</a:t>
            </a:r>
            <a:endParaRPr lang="en-GB" dirty="0"/>
          </a:p>
        </p:txBody>
      </p:sp>
      <p:sp>
        <p:nvSpPr>
          <p:cNvPr id="5" name="Text Placeholder 4">
            <a:extLst>
              <a:ext uri="{FF2B5EF4-FFF2-40B4-BE49-F238E27FC236}">
                <a16:creationId xmlns:a16="http://schemas.microsoft.com/office/drawing/2014/main" id="{EC490F74-EF23-40F0-91FA-0918A5AFA27E}"/>
              </a:ext>
            </a:extLst>
          </p:cNvPr>
          <p:cNvSpPr>
            <a:spLocks noGrp="1"/>
          </p:cNvSpPr>
          <p:nvPr>
            <p:ph type="body" sz="quarter" idx="11" hasCustomPrompt="1"/>
          </p:nvPr>
        </p:nvSpPr>
        <p:spPr>
          <a:xfrm>
            <a:off x="3474720" y="4447757"/>
            <a:ext cx="2499155" cy="1646238"/>
          </a:xfrm>
          <a:solidFill>
            <a:schemeClr val="bg1"/>
          </a:solidFill>
          <a:ln>
            <a:noFill/>
          </a:ln>
        </p:spPr>
        <p:txBody>
          <a:bodyPr/>
          <a:lstStyle>
            <a:lvl1pPr>
              <a:defRPr sz="1400" b="1">
                <a:solidFill>
                  <a:srgbClr val="F37023"/>
                </a:solidFill>
              </a:defRPr>
            </a:lvl1pPr>
            <a:lvl2pPr>
              <a:defRPr sz="1400" b="1"/>
            </a:lvl2pPr>
          </a:lstStyle>
          <a:p>
            <a:pPr lvl="0"/>
            <a:r>
              <a:rPr lang="en-US" dirty="0"/>
              <a:t>“Quote”</a:t>
            </a:r>
          </a:p>
          <a:p>
            <a:pPr lvl="1"/>
            <a:r>
              <a:rPr lang="en-US" dirty="0"/>
              <a:t>Name, </a:t>
            </a:r>
            <a:r>
              <a:rPr lang="en-US" dirty="0" err="1"/>
              <a:t>Organisation</a:t>
            </a:r>
            <a:endParaRPr lang="en-US" dirty="0"/>
          </a:p>
        </p:txBody>
      </p:sp>
      <p:sp>
        <p:nvSpPr>
          <p:cNvPr id="8" name="Title 7">
            <a:extLst>
              <a:ext uri="{FF2B5EF4-FFF2-40B4-BE49-F238E27FC236}">
                <a16:creationId xmlns:a16="http://schemas.microsoft.com/office/drawing/2014/main" id="{ED6B26F5-4892-4C93-92C7-E27C2F0D0D18}"/>
              </a:ext>
            </a:extLst>
          </p:cNvPr>
          <p:cNvSpPr>
            <a:spLocks noGrp="1"/>
          </p:cNvSpPr>
          <p:nvPr>
            <p:ph type="title" hasCustomPrompt="1"/>
          </p:nvPr>
        </p:nvSpPr>
        <p:spPr>
          <a:xfrm>
            <a:off x="6382926" y="241073"/>
            <a:ext cx="5658696" cy="1325563"/>
          </a:xfrm>
        </p:spPr>
        <p:txBody>
          <a:bodyPr/>
          <a:lstStyle>
            <a:lvl1pPr>
              <a:defRPr/>
            </a:lvl1pPr>
          </a:lstStyle>
          <a:p>
            <a:r>
              <a:rPr lang="en-US" dirty="0"/>
              <a:t>Title</a:t>
            </a:r>
            <a:endParaRPr lang="en-GB" dirty="0"/>
          </a:p>
        </p:txBody>
      </p:sp>
      <p:sp>
        <p:nvSpPr>
          <p:cNvPr id="10" name="Content Placeholder 9">
            <a:extLst>
              <a:ext uri="{FF2B5EF4-FFF2-40B4-BE49-F238E27FC236}">
                <a16:creationId xmlns:a16="http://schemas.microsoft.com/office/drawing/2014/main" id="{0ED570A8-B1D4-4755-BA2F-234F97979AC7}"/>
              </a:ext>
            </a:extLst>
          </p:cNvPr>
          <p:cNvSpPr>
            <a:spLocks noGrp="1"/>
          </p:cNvSpPr>
          <p:nvPr>
            <p:ph sz="quarter" idx="12"/>
          </p:nvPr>
        </p:nvSpPr>
        <p:spPr>
          <a:xfrm>
            <a:off x="6382185" y="1801095"/>
            <a:ext cx="5659437" cy="4201671"/>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0134133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ur focus areas">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EC67FC4-C5D0-4ADC-A8C9-51C79B62F523}"/>
              </a:ext>
            </a:extLst>
          </p:cNvPr>
          <p:cNvSpPr/>
          <p:nvPr userDrawn="1"/>
        </p:nvSpPr>
        <p:spPr>
          <a:xfrm>
            <a:off x="0" y="4911634"/>
            <a:ext cx="12192000" cy="1946366"/>
          </a:xfrm>
          <a:prstGeom prst="rect">
            <a:avLst/>
          </a:prstGeom>
          <a:solidFill>
            <a:srgbClr val="00A19A"/>
          </a:solidFill>
          <a:ln w="12700" cap="flat" cmpd="sng" algn="ctr">
            <a:no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85A5"/>
              </a:solidFill>
              <a:effectLst/>
              <a:uLnTx/>
              <a:uFillTx/>
              <a:latin typeface="Calibri" panose="020F0502020204030204"/>
              <a:ea typeface="+mn-ea"/>
              <a:cs typeface="+mn-cs"/>
            </a:endParaRPr>
          </a:p>
        </p:txBody>
      </p:sp>
      <p:pic>
        <p:nvPicPr>
          <p:cNvPr id="31" name="Picture 30">
            <a:extLst>
              <a:ext uri="{FF2B5EF4-FFF2-40B4-BE49-F238E27FC236}">
                <a16:creationId xmlns:a16="http://schemas.microsoft.com/office/drawing/2014/main" id="{DA448D43-F6D4-4189-BBDC-53888D5AAE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943163" y="750749"/>
            <a:ext cx="1807605" cy="527241"/>
          </a:xfrm>
          <a:prstGeom prst="rect">
            <a:avLst/>
          </a:prstGeom>
        </p:spPr>
      </p:pic>
      <p:sp>
        <p:nvSpPr>
          <p:cNvPr id="4" name="Title 3">
            <a:extLst>
              <a:ext uri="{FF2B5EF4-FFF2-40B4-BE49-F238E27FC236}">
                <a16:creationId xmlns:a16="http://schemas.microsoft.com/office/drawing/2014/main" id="{DA2DC420-B1F1-4029-A960-EACBCF5AFA84}"/>
              </a:ext>
            </a:extLst>
          </p:cNvPr>
          <p:cNvSpPr>
            <a:spLocks noGrp="1"/>
          </p:cNvSpPr>
          <p:nvPr>
            <p:ph type="title" hasCustomPrompt="1"/>
          </p:nvPr>
        </p:nvSpPr>
        <p:spPr>
          <a:xfrm>
            <a:off x="545345" y="351587"/>
            <a:ext cx="8488680" cy="1325563"/>
          </a:xfrm>
        </p:spPr>
        <p:txBody>
          <a:bodyPr/>
          <a:lstStyle>
            <a:lvl1pPr>
              <a:defRPr>
                <a:solidFill>
                  <a:srgbClr val="491A66"/>
                </a:solidFill>
              </a:defRPr>
            </a:lvl1pPr>
          </a:lstStyle>
          <a:p>
            <a:r>
              <a:rPr lang="en-US" dirty="0"/>
              <a:t>Click to edit title</a:t>
            </a:r>
            <a:endParaRPr lang="en-GB" dirty="0"/>
          </a:p>
        </p:txBody>
      </p:sp>
      <p:sp>
        <p:nvSpPr>
          <p:cNvPr id="33" name="Text Placeholder 5">
            <a:extLst>
              <a:ext uri="{FF2B5EF4-FFF2-40B4-BE49-F238E27FC236}">
                <a16:creationId xmlns:a16="http://schemas.microsoft.com/office/drawing/2014/main" id="{44CC8692-0B4D-44DA-A5AE-4030ACC897F1}"/>
              </a:ext>
            </a:extLst>
          </p:cNvPr>
          <p:cNvSpPr>
            <a:spLocks noGrp="1"/>
          </p:cNvSpPr>
          <p:nvPr>
            <p:ph type="body" sz="quarter" idx="11" hasCustomPrompt="1"/>
          </p:nvPr>
        </p:nvSpPr>
        <p:spPr>
          <a:xfrm>
            <a:off x="441232" y="5020075"/>
            <a:ext cx="2990140" cy="1668108"/>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6" name="Text Placeholder 5">
            <a:extLst>
              <a:ext uri="{FF2B5EF4-FFF2-40B4-BE49-F238E27FC236}">
                <a16:creationId xmlns:a16="http://schemas.microsoft.com/office/drawing/2014/main" id="{36B6870B-E95A-4DA8-A4F8-26627F73F067}"/>
              </a:ext>
            </a:extLst>
          </p:cNvPr>
          <p:cNvSpPr>
            <a:spLocks noGrp="1"/>
          </p:cNvSpPr>
          <p:nvPr>
            <p:ph type="body" sz="quarter" idx="12" hasCustomPrompt="1"/>
          </p:nvPr>
        </p:nvSpPr>
        <p:spPr>
          <a:xfrm>
            <a:off x="4600930" y="2099073"/>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Access to employment</a:t>
            </a:r>
          </a:p>
        </p:txBody>
      </p:sp>
      <p:sp>
        <p:nvSpPr>
          <p:cNvPr id="37" name="Text Placeholder 5">
            <a:extLst>
              <a:ext uri="{FF2B5EF4-FFF2-40B4-BE49-F238E27FC236}">
                <a16:creationId xmlns:a16="http://schemas.microsoft.com/office/drawing/2014/main" id="{E8AF5EBD-23A4-412B-829C-75793DD198C4}"/>
              </a:ext>
            </a:extLst>
          </p:cNvPr>
          <p:cNvSpPr>
            <a:spLocks noGrp="1"/>
          </p:cNvSpPr>
          <p:nvPr>
            <p:ph type="body" sz="quarter" idx="13" hasCustomPrompt="1"/>
          </p:nvPr>
        </p:nvSpPr>
        <p:spPr>
          <a:xfrm>
            <a:off x="4600930" y="5036511"/>
            <a:ext cx="2990140" cy="1668108"/>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sp>
        <p:nvSpPr>
          <p:cNvPr id="38" name="Text Placeholder 5">
            <a:extLst>
              <a:ext uri="{FF2B5EF4-FFF2-40B4-BE49-F238E27FC236}">
                <a16:creationId xmlns:a16="http://schemas.microsoft.com/office/drawing/2014/main" id="{4028204A-AFFE-45E2-83A4-293BB8C2003E}"/>
              </a:ext>
            </a:extLst>
          </p:cNvPr>
          <p:cNvSpPr>
            <a:spLocks noGrp="1"/>
          </p:cNvSpPr>
          <p:nvPr>
            <p:ph type="body" sz="quarter" idx="14" hasCustomPrompt="1"/>
          </p:nvPr>
        </p:nvSpPr>
        <p:spPr>
          <a:xfrm>
            <a:off x="8760627" y="2055839"/>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Resilient Communities</a:t>
            </a:r>
          </a:p>
        </p:txBody>
      </p:sp>
      <p:sp>
        <p:nvSpPr>
          <p:cNvPr id="39" name="Text Placeholder 5">
            <a:extLst>
              <a:ext uri="{FF2B5EF4-FFF2-40B4-BE49-F238E27FC236}">
                <a16:creationId xmlns:a16="http://schemas.microsoft.com/office/drawing/2014/main" id="{C75D4CF2-9351-47DF-A325-699435EC8C3C}"/>
              </a:ext>
            </a:extLst>
          </p:cNvPr>
          <p:cNvSpPr>
            <a:spLocks noGrp="1"/>
          </p:cNvSpPr>
          <p:nvPr>
            <p:ph type="body" sz="quarter" idx="15" hasCustomPrompt="1"/>
          </p:nvPr>
        </p:nvSpPr>
        <p:spPr>
          <a:xfrm>
            <a:off x="8760628" y="5036511"/>
            <a:ext cx="2990140" cy="1651672"/>
          </a:xfrm>
        </p:spPr>
        <p:txBody>
          <a:bodyPr/>
          <a:lstStyle>
            <a:lvl1pPr marL="0" indent="0">
              <a:buFont typeface="Arial" panose="020B0604020202020204" pitchFamily="34" charset="0"/>
              <a:buNone/>
              <a:defRPr sz="1800">
                <a:solidFill>
                  <a:schemeClr val="bg1"/>
                </a:solidFill>
                <a:latin typeface="+mj-lt"/>
              </a:defRPr>
            </a:lvl1pPr>
            <a:lvl2pPr marL="457200" indent="0">
              <a:buNone/>
              <a:defRPr/>
            </a:lvl2pPr>
            <a:lvl3pPr marL="914400" indent="0">
              <a:buNone/>
              <a:defRPr/>
            </a:lvl3pPr>
            <a:lvl4pPr marL="1371600" indent="0">
              <a:buNone/>
              <a:defRPr/>
            </a:lvl4pPr>
          </a:lstStyle>
          <a:p>
            <a:pPr lvl="0"/>
            <a:r>
              <a:rPr lang="en-US" dirty="0"/>
              <a:t>Text</a:t>
            </a:r>
          </a:p>
        </p:txBody>
      </p:sp>
      <p:pic>
        <p:nvPicPr>
          <p:cNvPr id="14" name="Picture 13">
            <a:extLst>
              <a:ext uri="{FF2B5EF4-FFF2-40B4-BE49-F238E27FC236}">
                <a16:creationId xmlns:a16="http://schemas.microsoft.com/office/drawing/2014/main" id="{D9FFFF41-7974-4A2A-8E59-B118C62CF03E}"/>
              </a:ext>
            </a:extLst>
          </p:cNvPr>
          <p:cNvPicPr>
            <a:picLocks noChangeAspect="1"/>
          </p:cNvPicPr>
          <p:nvPr userDrawn="1"/>
        </p:nvPicPr>
        <p:blipFill>
          <a:blip r:embed="rId3"/>
          <a:stretch>
            <a:fillRect/>
          </a:stretch>
        </p:blipFill>
        <p:spPr>
          <a:xfrm>
            <a:off x="5171625" y="2860877"/>
            <a:ext cx="1848750" cy="1846196"/>
          </a:xfrm>
          <a:prstGeom prst="rect">
            <a:avLst/>
          </a:prstGeom>
        </p:spPr>
      </p:pic>
      <p:pic>
        <p:nvPicPr>
          <p:cNvPr id="15" name="Picture 14">
            <a:extLst>
              <a:ext uri="{FF2B5EF4-FFF2-40B4-BE49-F238E27FC236}">
                <a16:creationId xmlns:a16="http://schemas.microsoft.com/office/drawing/2014/main" id="{AB3204B0-888A-48E9-B178-02C77FB22956}"/>
              </a:ext>
            </a:extLst>
          </p:cNvPr>
          <p:cNvPicPr>
            <a:picLocks noChangeAspect="1"/>
          </p:cNvPicPr>
          <p:nvPr userDrawn="1"/>
        </p:nvPicPr>
        <p:blipFill>
          <a:blip r:embed="rId4"/>
          <a:stretch>
            <a:fillRect/>
          </a:stretch>
        </p:blipFill>
        <p:spPr>
          <a:xfrm>
            <a:off x="885204" y="2830126"/>
            <a:ext cx="1853846" cy="1846196"/>
          </a:xfrm>
          <a:prstGeom prst="rect">
            <a:avLst/>
          </a:prstGeom>
        </p:spPr>
      </p:pic>
      <p:pic>
        <p:nvPicPr>
          <p:cNvPr id="18" name="Picture 17">
            <a:extLst>
              <a:ext uri="{FF2B5EF4-FFF2-40B4-BE49-F238E27FC236}">
                <a16:creationId xmlns:a16="http://schemas.microsoft.com/office/drawing/2014/main" id="{F1CE2DF5-1A11-4950-A619-DAABA2C58084}"/>
              </a:ext>
            </a:extLst>
          </p:cNvPr>
          <p:cNvPicPr>
            <a:picLocks noChangeAspect="1"/>
          </p:cNvPicPr>
          <p:nvPr userDrawn="1"/>
        </p:nvPicPr>
        <p:blipFill>
          <a:blip r:embed="rId5"/>
          <a:stretch>
            <a:fillRect/>
          </a:stretch>
        </p:blipFill>
        <p:spPr>
          <a:xfrm flipH="1">
            <a:off x="9328774" y="2889945"/>
            <a:ext cx="1853847" cy="1859004"/>
          </a:xfrm>
          <a:prstGeom prst="rect">
            <a:avLst/>
          </a:prstGeom>
        </p:spPr>
      </p:pic>
      <p:sp>
        <p:nvSpPr>
          <p:cNvPr id="19" name="Text Placeholder 5">
            <a:extLst>
              <a:ext uri="{FF2B5EF4-FFF2-40B4-BE49-F238E27FC236}">
                <a16:creationId xmlns:a16="http://schemas.microsoft.com/office/drawing/2014/main" id="{41F60ACE-FE18-4991-9B6E-92E2DD851D6D}"/>
              </a:ext>
            </a:extLst>
          </p:cNvPr>
          <p:cNvSpPr>
            <a:spLocks noGrp="1"/>
          </p:cNvSpPr>
          <p:nvPr>
            <p:ph type="body" sz="quarter" idx="16" hasCustomPrompt="1"/>
          </p:nvPr>
        </p:nvSpPr>
        <p:spPr>
          <a:xfrm>
            <a:off x="317057" y="2103066"/>
            <a:ext cx="2990140" cy="557243"/>
          </a:xfrm>
        </p:spPr>
        <p:txBody>
          <a:bodyPr/>
          <a:lstStyle>
            <a:lvl1pPr marL="0" indent="0">
              <a:buFont typeface="Arial" panose="020B0604020202020204" pitchFamily="34" charset="0"/>
              <a:buNone/>
              <a:defRPr sz="2400">
                <a:solidFill>
                  <a:srgbClr val="F37023"/>
                </a:solidFill>
                <a:latin typeface="+mj-lt"/>
              </a:defRPr>
            </a:lvl1pPr>
            <a:lvl2pPr marL="457200" indent="0">
              <a:buNone/>
              <a:defRPr/>
            </a:lvl2pPr>
            <a:lvl3pPr marL="914400" indent="0">
              <a:buNone/>
              <a:defRPr/>
            </a:lvl3pPr>
            <a:lvl4pPr marL="1371600" indent="0">
              <a:buNone/>
              <a:defRPr/>
            </a:lvl4pPr>
          </a:lstStyle>
          <a:p>
            <a:pPr algn="ctr"/>
            <a:r>
              <a:rPr lang="en-GB" sz="2400" dirty="0">
                <a:solidFill>
                  <a:srgbClr val="EC6608"/>
                </a:solidFill>
                <a:latin typeface="Gotham Bold" pitchFamily="50" charset="0"/>
              </a:rPr>
              <a:t>Solutions for an ageing society</a:t>
            </a:r>
          </a:p>
        </p:txBody>
      </p:sp>
    </p:spTree>
    <p:extLst>
      <p:ext uri="{BB962C8B-B14F-4D97-AF65-F5344CB8AC3E}">
        <p14:creationId xmlns:p14="http://schemas.microsoft.com/office/powerpoint/2010/main" val="2878803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379392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6C073B-9002-45FF-8A60-D00AF5498BE3}" type="datetimeFigureOut">
              <a:rPr lang="en-GB" smtClean="0"/>
              <a:t>29/11/2018</a:t>
            </a:fld>
            <a:endParaRPr lang="en-GB"/>
          </a:p>
        </p:txBody>
      </p:sp>
      <p:sp>
        <p:nvSpPr>
          <p:cNvPr id="5" name="Footer Placeholder 4"/>
          <p:cNvSpPr>
            <a:spLocks noGrp="1"/>
          </p:cNvSpPr>
          <p:nvPr>
            <p:ph type="ftr" sz="quarter" idx="3"/>
          </p:nvPr>
        </p:nvSpPr>
        <p:spPr>
          <a:xfrm>
            <a:off x="0" y="5819887"/>
            <a:ext cx="12192000" cy="1038113"/>
          </a:xfrm>
          <a:prstGeom prst="rect">
            <a:avLst/>
          </a:prstGeom>
          <a:solidFill>
            <a:srgbClr val="491A66"/>
          </a:solidFill>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9062421" y="61277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1F0FB5-D502-4438-886F-18082FA237F4}" type="slidenum">
              <a:rPr lang="en-GB" smtClean="0"/>
              <a:t>‹#›</a:t>
            </a:fld>
            <a:endParaRPr lang="en-GB" dirty="0"/>
          </a:p>
        </p:txBody>
      </p:sp>
      <p:pic>
        <p:nvPicPr>
          <p:cNvPr id="8" name="Picture 7">
            <a:extLst>
              <a:ext uri="{FF2B5EF4-FFF2-40B4-BE49-F238E27FC236}">
                <a16:creationId xmlns:a16="http://schemas.microsoft.com/office/drawing/2014/main" id="{0D202232-D9A4-4294-B888-27130295AC6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517829" y="6080721"/>
            <a:ext cx="1653988" cy="480697"/>
          </a:xfrm>
          <a:prstGeom prst="rect">
            <a:avLst/>
          </a:prstGeom>
        </p:spPr>
      </p:pic>
    </p:spTree>
    <p:extLst>
      <p:ext uri="{BB962C8B-B14F-4D97-AF65-F5344CB8AC3E}">
        <p14:creationId xmlns:p14="http://schemas.microsoft.com/office/powerpoint/2010/main" val="3066424861"/>
      </p:ext>
    </p:extLst>
  </p:cSld>
  <p:clrMap bg1="lt1" tx1="dk1" bg2="lt2" tx2="dk2" accent1="accent1" accent2="accent2" accent3="accent3" accent4="accent4" accent5="accent5" accent6="accent6" hlink="hlink" folHlink="folHlink"/>
  <p:sldLayoutIdLst>
    <p:sldLayoutId id="2147483678" r:id="rId1"/>
    <p:sldLayoutId id="2147483673" r:id="rId2"/>
    <p:sldLayoutId id="2147483674" r:id="rId3"/>
    <p:sldLayoutId id="2147483675" r:id="rId4"/>
    <p:sldLayoutId id="2147483676" r:id="rId5"/>
    <p:sldLayoutId id="2147483677" r:id="rId6"/>
    <p:sldLayoutId id="2147483684" r:id="rId7"/>
    <p:sldLayoutId id="2147483683" r:id="rId8"/>
    <p:sldLayoutId id="2147483685" r:id="rId9"/>
    <p:sldLayoutId id="2147483680" r:id="rId10"/>
    <p:sldLayoutId id="2147483681" r:id="rId11"/>
    <p:sldLayoutId id="2147483687" r:id="rId12"/>
    <p:sldLayoutId id="2147483686"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2D4EF7-93C2-4310-8448-A76FDD249DC0}"/>
              </a:ext>
            </a:extLst>
          </p:cNvPr>
          <p:cNvSpPr>
            <a:spLocks noGrp="1"/>
          </p:cNvSpPr>
          <p:nvPr>
            <p:ph type="body" sz="quarter" idx="13"/>
          </p:nvPr>
        </p:nvSpPr>
        <p:spPr>
          <a:xfrm>
            <a:off x="0" y="1778820"/>
            <a:ext cx="10644738" cy="1912173"/>
          </a:xfrm>
        </p:spPr>
        <p:txBody>
          <a:bodyPr/>
          <a:lstStyle/>
          <a:p>
            <a:r>
              <a:rPr lang="en-GB" dirty="0"/>
              <a:t>Impact Management: First Steps…</a:t>
            </a:r>
          </a:p>
          <a:p>
            <a:r>
              <a:rPr lang="en-GB" dirty="0">
                <a:solidFill>
                  <a:srgbClr val="F37023"/>
                </a:solidFill>
                <a:latin typeface="+mn-lt"/>
              </a:rPr>
              <a:t>Building the impact story</a:t>
            </a:r>
          </a:p>
        </p:txBody>
      </p:sp>
      <p:pic>
        <p:nvPicPr>
          <p:cNvPr id="5" name="Picture 4">
            <a:extLst>
              <a:ext uri="{FF2B5EF4-FFF2-40B4-BE49-F238E27FC236}">
                <a16:creationId xmlns:a16="http://schemas.microsoft.com/office/drawing/2014/main" id="{E309AFAD-2219-4FB9-A7C7-55575B18499E}"/>
              </a:ext>
            </a:extLst>
          </p:cNvPr>
          <p:cNvPicPr>
            <a:picLocks noChangeAspect="1"/>
          </p:cNvPicPr>
          <p:nvPr/>
        </p:nvPicPr>
        <p:blipFill>
          <a:blip r:embed="rId2"/>
          <a:stretch>
            <a:fillRect/>
          </a:stretch>
        </p:blipFill>
        <p:spPr>
          <a:xfrm>
            <a:off x="8166629" y="2478087"/>
            <a:ext cx="3678238" cy="1602020"/>
          </a:xfrm>
          <a:prstGeom prst="rect">
            <a:avLst/>
          </a:prstGeom>
        </p:spPr>
      </p:pic>
    </p:spTree>
    <p:extLst>
      <p:ext uri="{BB962C8B-B14F-4D97-AF65-F5344CB8AC3E}">
        <p14:creationId xmlns:p14="http://schemas.microsoft.com/office/powerpoint/2010/main" val="3142564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98063579-FB7F-41E4-82E0-36731CE90E96}"/>
              </a:ext>
            </a:extLst>
          </p:cNvPr>
          <p:cNvGrpSpPr/>
          <p:nvPr/>
        </p:nvGrpSpPr>
        <p:grpSpPr>
          <a:xfrm>
            <a:off x="1877593" y="75264"/>
            <a:ext cx="9794491" cy="6178177"/>
            <a:chOff x="2438036" y="-42724"/>
            <a:chExt cx="9794491" cy="6178177"/>
          </a:xfrm>
        </p:grpSpPr>
        <p:sp>
          <p:nvSpPr>
            <p:cNvPr id="41" name="Rectangle: Rounded Corners 40">
              <a:extLst>
                <a:ext uri="{FF2B5EF4-FFF2-40B4-BE49-F238E27FC236}">
                  <a16:creationId xmlns:a16="http://schemas.microsoft.com/office/drawing/2014/main" id="{4DF7A7F2-D510-48D5-B8D7-FE7714CD1956}"/>
                </a:ext>
              </a:extLst>
            </p:cNvPr>
            <p:cNvSpPr/>
            <p:nvPr/>
          </p:nvSpPr>
          <p:spPr>
            <a:xfrm rot="1155032">
              <a:off x="2958711" y="2687319"/>
              <a:ext cx="6259165" cy="2504922"/>
            </a:xfrm>
            <a:prstGeom prst="roundRect">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2" name="Rectangle: Rounded Corners 41">
              <a:extLst>
                <a:ext uri="{FF2B5EF4-FFF2-40B4-BE49-F238E27FC236}">
                  <a16:creationId xmlns:a16="http://schemas.microsoft.com/office/drawing/2014/main" id="{DDD87090-82FD-4647-BBA8-D6302A0152CD}"/>
                </a:ext>
              </a:extLst>
            </p:cNvPr>
            <p:cNvSpPr/>
            <p:nvPr/>
          </p:nvSpPr>
          <p:spPr>
            <a:xfrm rot="20383317">
              <a:off x="3121645" y="933817"/>
              <a:ext cx="6190961" cy="2564842"/>
            </a:xfrm>
            <a:prstGeom prst="roundRect">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3" name="Oval 42">
              <a:extLst>
                <a:ext uri="{FF2B5EF4-FFF2-40B4-BE49-F238E27FC236}">
                  <a16:creationId xmlns:a16="http://schemas.microsoft.com/office/drawing/2014/main" id="{D99B8E30-A487-41E1-9773-68E1F73C3E94}"/>
                </a:ext>
              </a:extLst>
            </p:cNvPr>
            <p:cNvSpPr/>
            <p:nvPr/>
          </p:nvSpPr>
          <p:spPr>
            <a:xfrm>
              <a:off x="5988926" y="-42724"/>
              <a:ext cx="6243601" cy="6178177"/>
            </a:xfrm>
            <a:prstGeom prst="ellips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4" name="Oval 43">
              <a:extLst>
                <a:ext uri="{FF2B5EF4-FFF2-40B4-BE49-F238E27FC236}">
                  <a16:creationId xmlns:a16="http://schemas.microsoft.com/office/drawing/2014/main" id="{562CF6DE-374C-4D90-9706-757D8E1A460B}"/>
                </a:ext>
              </a:extLst>
            </p:cNvPr>
            <p:cNvSpPr/>
            <p:nvPr/>
          </p:nvSpPr>
          <p:spPr>
            <a:xfrm>
              <a:off x="2438036" y="1806512"/>
              <a:ext cx="2967759" cy="2627938"/>
            </a:xfrm>
            <a:prstGeom prst="ellipse">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grpSp>
        <p:nvGrpSpPr>
          <p:cNvPr id="45" name="Group 44">
            <a:extLst>
              <a:ext uri="{FF2B5EF4-FFF2-40B4-BE49-F238E27FC236}">
                <a16:creationId xmlns:a16="http://schemas.microsoft.com/office/drawing/2014/main" id="{F1A866AE-1D0E-4F05-BE04-B0AE2046A5CD}"/>
              </a:ext>
            </a:extLst>
          </p:cNvPr>
          <p:cNvGrpSpPr/>
          <p:nvPr/>
        </p:nvGrpSpPr>
        <p:grpSpPr>
          <a:xfrm rot="17697111">
            <a:off x="5396984" y="73153"/>
            <a:ext cx="6215632" cy="6135353"/>
            <a:chOff x="5885468" y="1049"/>
            <a:chExt cx="6215632" cy="6135353"/>
          </a:xfrm>
        </p:grpSpPr>
        <p:sp>
          <p:nvSpPr>
            <p:cNvPr id="46" name="Freeform: Shape 45">
              <a:extLst>
                <a:ext uri="{FF2B5EF4-FFF2-40B4-BE49-F238E27FC236}">
                  <a16:creationId xmlns:a16="http://schemas.microsoft.com/office/drawing/2014/main" id="{9F4D4561-DA0E-4B59-BB2F-54719538DB91}"/>
                </a:ext>
              </a:extLst>
            </p:cNvPr>
            <p:cNvSpPr/>
            <p:nvPr/>
          </p:nvSpPr>
          <p:spPr>
            <a:xfrm rot="3902889">
              <a:off x="9484275" y="1931"/>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Problem Definition</a:t>
              </a:r>
            </a:p>
          </p:txBody>
        </p:sp>
        <p:sp>
          <p:nvSpPr>
            <p:cNvPr id="47" name="Arrow: Circular 46">
              <a:extLst>
                <a:ext uri="{FF2B5EF4-FFF2-40B4-BE49-F238E27FC236}">
                  <a16:creationId xmlns:a16="http://schemas.microsoft.com/office/drawing/2014/main" id="{FFEF2766-3CA6-4A2E-BDE3-C638DABEEDF5}"/>
                </a:ext>
              </a:extLst>
            </p:cNvPr>
            <p:cNvSpPr/>
            <p:nvPr/>
          </p:nvSpPr>
          <p:spPr>
            <a:xfrm>
              <a:off x="6096447" y="90542"/>
              <a:ext cx="5793674" cy="5793674"/>
            </a:xfrm>
            <a:prstGeom prst="circularArrow">
              <a:avLst>
                <a:gd name="adj1" fmla="val 2940"/>
                <a:gd name="adj2" fmla="val 179900"/>
                <a:gd name="adj3" fmla="val 18937533"/>
                <a:gd name="adj4" fmla="val 18011997"/>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48" name="Freeform: Shape 47">
              <a:extLst>
                <a:ext uri="{FF2B5EF4-FFF2-40B4-BE49-F238E27FC236}">
                  <a16:creationId xmlns:a16="http://schemas.microsoft.com/office/drawing/2014/main" id="{DA46E2B8-8FB9-4774-93C1-D727BED88235}"/>
                </a:ext>
              </a:extLst>
            </p:cNvPr>
            <p:cNvSpPr/>
            <p:nvPr/>
          </p:nvSpPr>
          <p:spPr>
            <a:xfrm rot="3902889">
              <a:off x="10780863" y="1300271"/>
              <a:ext cx="984567" cy="873367"/>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Stakeholder Identification</a:t>
              </a:r>
            </a:p>
          </p:txBody>
        </p:sp>
        <p:sp>
          <p:nvSpPr>
            <p:cNvPr id="49" name="Arrow: Circular 48">
              <a:extLst>
                <a:ext uri="{FF2B5EF4-FFF2-40B4-BE49-F238E27FC236}">
                  <a16:creationId xmlns:a16="http://schemas.microsoft.com/office/drawing/2014/main" id="{19BECEE9-D40E-4BAC-9FA6-ABAB19FF09EA}"/>
                </a:ext>
              </a:extLst>
            </p:cNvPr>
            <p:cNvSpPr/>
            <p:nvPr/>
          </p:nvSpPr>
          <p:spPr>
            <a:xfrm>
              <a:off x="6096447" y="90542"/>
              <a:ext cx="5793674" cy="5793674"/>
            </a:xfrm>
            <a:prstGeom prst="circularArrow">
              <a:avLst>
                <a:gd name="adj1" fmla="val 2940"/>
                <a:gd name="adj2" fmla="val 179900"/>
                <a:gd name="adj3" fmla="val 21463586"/>
                <a:gd name="adj4" fmla="val 20411039"/>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50" name="Freeform: Shape 49">
              <a:extLst>
                <a:ext uri="{FF2B5EF4-FFF2-40B4-BE49-F238E27FC236}">
                  <a16:creationId xmlns:a16="http://schemas.microsoft.com/office/drawing/2014/main" id="{59544FDE-45DB-477B-BEDE-62CBD85266B9}"/>
                </a:ext>
              </a:extLst>
            </p:cNvPr>
            <p:cNvSpPr/>
            <p:nvPr/>
          </p:nvSpPr>
          <p:spPr>
            <a:xfrm rot="3902889">
              <a:off x="11227732" y="3021688"/>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Impact Framework</a:t>
              </a:r>
            </a:p>
          </p:txBody>
        </p:sp>
        <p:sp>
          <p:nvSpPr>
            <p:cNvPr id="51" name="Arrow: Circular 50">
              <a:extLst>
                <a:ext uri="{FF2B5EF4-FFF2-40B4-BE49-F238E27FC236}">
                  <a16:creationId xmlns:a16="http://schemas.microsoft.com/office/drawing/2014/main" id="{1E490B66-49D7-4E5A-A6D2-4D661584C451}"/>
                </a:ext>
              </a:extLst>
            </p:cNvPr>
            <p:cNvSpPr/>
            <p:nvPr/>
          </p:nvSpPr>
          <p:spPr>
            <a:xfrm>
              <a:off x="6096447" y="90542"/>
              <a:ext cx="5793674" cy="5793674"/>
            </a:xfrm>
            <a:prstGeom prst="circularArrow">
              <a:avLst>
                <a:gd name="adj1" fmla="val 2940"/>
                <a:gd name="adj2" fmla="val 179900"/>
                <a:gd name="adj3" fmla="val 2054027"/>
                <a:gd name="adj4" fmla="val 1173065"/>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52" name="Freeform: Shape 51">
              <a:extLst>
                <a:ext uri="{FF2B5EF4-FFF2-40B4-BE49-F238E27FC236}">
                  <a16:creationId xmlns:a16="http://schemas.microsoft.com/office/drawing/2014/main" id="{4C651794-4A2B-4774-8718-B1134AE2978F}"/>
                </a:ext>
              </a:extLst>
            </p:cNvPr>
            <p:cNvSpPr/>
            <p:nvPr/>
          </p:nvSpPr>
          <p:spPr>
            <a:xfrm rot="3902889">
              <a:off x="10300057" y="4628467"/>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KPIs </a:t>
              </a:r>
            </a:p>
          </p:txBody>
        </p:sp>
        <p:sp>
          <p:nvSpPr>
            <p:cNvPr id="53" name="Arrow: Circular 52">
              <a:extLst>
                <a:ext uri="{FF2B5EF4-FFF2-40B4-BE49-F238E27FC236}">
                  <a16:creationId xmlns:a16="http://schemas.microsoft.com/office/drawing/2014/main" id="{B30E1CAB-E13D-4549-8685-81FF909FDE8F}"/>
                </a:ext>
              </a:extLst>
            </p:cNvPr>
            <p:cNvSpPr/>
            <p:nvPr/>
          </p:nvSpPr>
          <p:spPr>
            <a:xfrm>
              <a:off x="6096447" y="90542"/>
              <a:ext cx="5793674" cy="5793674"/>
            </a:xfrm>
            <a:prstGeom prst="circularArrow">
              <a:avLst>
                <a:gd name="adj1" fmla="val 2940"/>
                <a:gd name="adj2" fmla="val 179900"/>
                <a:gd name="adj3" fmla="val 4664207"/>
                <a:gd name="adj4" fmla="val 3671863"/>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54" name="Freeform: Shape 53">
              <a:extLst>
                <a:ext uri="{FF2B5EF4-FFF2-40B4-BE49-F238E27FC236}">
                  <a16:creationId xmlns:a16="http://schemas.microsoft.com/office/drawing/2014/main" id="{90983A49-90B3-44A1-81ED-069C31226DF1}"/>
                </a:ext>
              </a:extLst>
            </p:cNvPr>
            <p:cNvSpPr/>
            <p:nvPr/>
          </p:nvSpPr>
          <p:spPr>
            <a:xfrm rot="3902889">
              <a:off x="8556600" y="5263034"/>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Choosing Approaches &amp; Tools</a:t>
              </a:r>
            </a:p>
          </p:txBody>
        </p:sp>
        <p:sp>
          <p:nvSpPr>
            <p:cNvPr id="55" name="Arrow: Circular 54">
              <a:extLst>
                <a:ext uri="{FF2B5EF4-FFF2-40B4-BE49-F238E27FC236}">
                  <a16:creationId xmlns:a16="http://schemas.microsoft.com/office/drawing/2014/main" id="{F95568E0-B3E2-4CD0-B9EB-60C8575888AA}"/>
                </a:ext>
              </a:extLst>
            </p:cNvPr>
            <p:cNvSpPr/>
            <p:nvPr/>
          </p:nvSpPr>
          <p:spPr>
            <a:xfrm>
              <a:off x="6096447" y="90542"/>
              <a:ext cx="5793674" cy="5793674"/>
            </a:xfrm>
            <a:prstGeom prst="circularArrow">
              <a:avLst>
                <a:gd name="adj1" fmla="val 2940"/>
                <a:gd name="adj2" fmla="val 179900"/>
                <a:gd name="adj3" fmla="val 6948237"/>
                <a:gd name="adj4" fmla="val 5955894"/>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5" name="Freeform: Shape 74">
              <a:extLst>
                <a:ext uri="{FF2B5EF4-FFF2-40B4-BE49-F238E27FC236}">
                  <a16:creationId xmlns:a16="http://schemas.microsoft.com/office/drawing/2014/main" id="{681C5D2B-3DC4-4162-B507-F22E1E799FB9}"/>
                </a:ext>
              </a:extLst>
            </p:cNvPr>
            <p:cNvSpPr/>
            <p:nvPr/>
          </p:nvSpPr>
          <p:spPr>
            <a:xfrm rot="3902889">
              <a:off x="6813143" y="4628467"/>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Data Collection</a:t>
              </a:r>
            </a:p>
          </p:txBody>
        </p:sp>
        <p:sp>
          <p:nvSpPr>
            <p:cNvPr id="84" name="Arrow: Circular 83">
              <a:extLst>
                <a:ext uri="{FF2B5EF4-FFF2-40B4-BE49-F238E27FC236}">
                  <a16:creationId xmlns:a16="http://schemas.microsoft.com/office/drawing/2014/main" id="{6D812FA0-3907-45B3-BC32-6CBA1FC9F17F}"/>
                </a:ext>
              </a:extLst>
            </p:cNvPr>
            <p:cNvSpPr/>
            <p:nvPr/>
          </p:nvSpPr>
          <p:spPr>
            <a:xfrm>
              <a:off x="6096447" y="90542"/>
              <a:ext cx="5793674" cy="5793674"/>
            </a:xfrm>
            <a:prstGeom prst="circularArrow">
              <a:avLst>
                <a:gd name="adj1" fmla="val 2940"/>
                <a:gd name="adj2" fmla="val 179900"/>
                <a:gd name="adj3" fmla="val 9447035"/>
                <a:gd name="adj4" fmla="val 8566074"/>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5" name="Freeform: Shape 84">
              <a:extLst>
                <a:ext uri="{FF2B5EF4-FFF2-40B4-BE49-F238E27FC236}">
                  <a16:creationId xmlns:a16="http://schemas.microsoft.com/office/drawing/2014/main" id="{3D4D3641-8A42-4622-8E19-074230D54FCF}"/>
                </a:ext>
              </a:extLst>
            </p:cNvPr>
            <p:cNvSpPr/>
            <p:nvPr/>
          </p:nvSpPr>
          <p:spPr>
            <a:xfrm rot="3902889">
              <a:off x="5885468" y="3021688"/>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Analysis &amp; Insights</a:t>
              </a:r>
            </a:p>
          </p:txBody>
        </p:sp>
        <p:sp>
          <p:nvSpPr>
            <p:cNvPr id="86" name="Arrow: Circular 85">
              <a:extLst>
                <a:ext uri="{FF2B5EF4-FFF2-40B4-BE49-F238E27FC236}">
                  <a16:creationId xmlns:a16="http://schemas.microsoft.com/office/drawing/2014/main" id="{E456D9D6-BB7A-454A-B028-CAECF88782D0}"/>
                </a:ext>
              </a:extLst>
            </p:cNvPr>
            <p:cNvSpPr/>
            <p:nvPr/>
          </p:nvSpPr>
          <p:spPr>
            <a:xfrm>
              <a:off x="6096447" y="90542"/>
              <a:ext cx="5793674" cy="5793674"/>
            </a:xfrm>
            <a:prstGeom prst="circularArrow">
              <a:avLst>
                <a:gd name="adj1" fmla="val 2940"/>
                <a:gd name="adj2" fmla="val 179900"/>
                <a:gd name="adj3" fmla="val 11809061"/>
                <a:gd name="adj4" fmla="val 10756515"/>
                <a:gd name="adj5" fmla="val 3429"/>
              </a:avLst>
            </a:pr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7" name="Freeform: Shape 86">
              <a:extLst>
                <a:ext uri="{FF2B5EF4-FFF2-40B4-BE49-F238E27FC236}">
                  <a16:creationId xmlns:a16="http://schemas.microsoft.com/office/drawing/2014/main" id="{E66A85C5-6FC7-44D2-ACF1-4CD47F09A320}"/>
                </a:ext>
              </a:extLst>
            </p:cNvPr>
            <p:cNvSpPr/>
            <p:nvPr/>
          </p:nvSpPr>
          <p:spPr>
            <a:xfrm rot="3902889">
              <a:off x="6207647" y="1194526"/>
              <a:ext cx="873368"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Learning</a:t>
              </a:r>
            </a:p>
          </p:txBody>
        </p:sp>
        <p:sp>
          <p:nvSpPr>
            <p:cNvPr id="88" name="Arrow: Circular 87">
              <a:extLst>
                <a:ext uri="{FF2B5EF4-FFF2-40B4-BE49-F238E27FC236}">
                  <a16:creationId xmlns:a16="http://schemas.microsoft.com/office/drawing/2014/main" id="{B858D312-F9A3-400E-9617-DB3A1EF91868}"/>
                </a:ext>
              </a:extLst>
            </p:cNvPr>
            <p:cNvSpPr/>
            <p:nvPr/>
          </p:nvSpPr>
          <p:spPr>
            <a:xfrm>
              <a:off x="6096447" y="90542"/>
              <a:ext cx="5793674" cy="5793674"/>
            </a:xfrm>
            <a:prstGeom prst="circularArrow">
              <a:avLst>
                <a:gd name="adj1" fmla="val 2940"/>
                <a:gd name="adj2" fmla="val 179900"/>
                <a:gd name="adj3" fmla="val 14208103"/>
                <a:gd name="adj4" fmla="val 13282567"/>
                <a:gd name="adj5" fmla="val 3429"/>
              </a:avLst>
            </a:prstGeom>
            <a:solidFill>
              <a:schemeClr val="accent5"/>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9" name="Freeform: Shape 88">
              <a:extLst>
                <a:ext uri="{FF2B5EF4-FFF2-40B4-BE49-F238E27FC236}">
                  <a16:creationId xmlns:a16="http://schemas.microsoft.com/office/drawing/2014/main" id="{3A22DE84-C890-4DCF-8248-AE2DA686F5E7}"/>
                </a:ext>
              </a:extLst>
            </p:cNvPr>
            <p:cNvSpPr/>
            <p:nvPr/>
          </p:nvSpPr>
          <p:spPr>
            <a:xfrm rot="3902889">
              <a:off x="7518941" y="-113694"/>
              <a:ext cx="963109" cy="1192595"/>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err="1">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Comms</a:t>
              </a: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 </a:t>
              </a:r>
            </a:p>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a:t>
              </a:r>
              <a:r>
                <a:rPr kumimoji="0" lang="en-GB" sz="1200" b="1" i="0" u="none" strike="noStrike" kern="1200" cap="none" spc="0" normalizeH="0" baseline="0" noProof="0" dirty="0" err="1">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int</a:t>
              </a: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 &amp; </a:t>
              </a:r>
              <a:r>
                <a:rPr kumimoji="0" lang="en-GB" sz="1200" b="1" i="0" u="none" strike="noStrike" kern="1200" cap="none" spc="0" normalizeH="0" baseline="0" noProof="0" dirty="0" err="1">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ext</a:t>
              </a: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a:t>
              </a:r>
            </a:p>
          </p:txBody>
        </p:sp>
        <p:sp>
          <p:nvSpPr>
            <p:cNvPr id="90" name="Arrow: Circular 89">
              <a:extLst>
                <a:ext uri="{FF2B5EF4-FFF2-40B4-BE49-F238E27FC236}">
                  <a16:creationId xmlns:a16="http://schemas.microsoft.com/office/drawing/2014/main" id="{40769DA7-A620-4C6C-B43C-F56A9FF04957}"/>
                </a:ext>
              </a:extLst>
            </p:cNvPr>
            <p:cNvSpPr/>
            <p:nvPr/>
          </p:nvSpPr>
          <p:spPr>
            <a:xfrm>
              <a:off x="6096447" y="90542"/>
              <a:ext cx="5793674" cy="5793674"/>
            </a:xfrm>
            <a:prstGeom prst="circularArrow">
              <a:avLst>
                <a:gd name="adj1" fmla="val 2940"/>
                <a:gd name="adj2" fmla="val 179900"/>
                <a:gd name="adj3" fmla="val 16645855"/>
                <a:gd name="adj4" fmla="val 15574246"/>
                <a:gd name="adj5" fmla="val 3429"/>
              </a:avLst>
            </a:prstGeom>
            <a:solidFill>
              <a:schemeClr val="accent5"/>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sp>
        <p:nvSpPr>
          <p:cNvPr id="91" name="Block Arc 90">
            <a:extLst>
              <a:ext uri="{FF2B5EF4-FFF2-40B4-BE49-F238E27FC236}">
                <a16:creationId xmlns:a16="http://schemas.microsoft.com/office/drawing/2014/main" id="{908B556E-FE3C-4970-9E71-25730FD53E47}"/>
              </a:ext>
            </a:extLst>
          </p:cNvPr>
          <p:cNvSpPr/>
          <p:nvPr/>
        </p:nvSpPr>
        <p:spPr>
          <a:xfrm rot="20495650">
            <a:off x="5986367" y="890273"/>
            <a:ext cx="4745245" cy="4539528"/>
          </a:xfrm>
          <a:prstGeom prst="blockArc">
            <a:avLst>
              <a:gd name="adj1" fmla="val 14307505"/>
              <a:gd name="adj2" fmla="val 729615"/>
              <a:gd name="adj3" fmla="val 587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solidFill>
              <a:effectLst/>
              <a:uLnTx/>
              <a:uFillTx/>
              <a:latin typeface="Arial" panose="020B0604020202020204" pitchFamily="34" charset="0"/>
              <a:cs typeface="Arial" panose="020B0604020202020204" pitchFamily="34" charset="0"/>
            </a:endParaRPr>
          </a:p>
        </p:txBody>
      </p:sp>
      <p:sp>
        <p:nvSpPr>
          <p:cNvPr id="92" name="Block Arc 91">
            <a:extLst>
              <a:ext uri="{FF2B5EF4-FFF2-40B4-BE49-F238E27FC236}">
                <a16:creationId xmlns:a16="http://schemas.microsoft.com/office/drawing/2014/main" id="{9430116C-C71F-4C23-B5B8-A8F02067E9B9}"/>
              </a:ext>
            </a:extLst>
          </p:cNvPr>
          <p:cNvSpPr/>
          <p:nvPr/>
        </p:nvSpPr>
        <p:spPr>
          <a:xfrm rot="8538096">
            <a:off x="6339317" y="1081459"/>
            <a:ext cx="4367639" cy="4336055"/>
          </a:xfrm>
          <a:prstGeom prst="blockArc">
            <a:avLst>
              <a:gd name="adj1" fmla="val 12837860"/>
              <a:gd name="adj2" fmla="val 20882524"/>
              <a:gd name="adj3" fmla="val 577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solidFill>
              <a:effectLst/>
              <a:uLnTx/>
              <a:uFillTx/>
              <a:latin typeface="Arial" panose="020B0604020202020204" pitchFamily="34" charset="0"/>
              <a:cs typeface="Arial" panose="020B0604020202020204" pitchFamily="34" charset="0"/>
            </a:endParaRPr>
          </a:p>
        </p:txBody>
      </p:sp>
      <p:sp>
        <p:nvSpPr>
          <p:cNvPr id="93" name="Block Arc 92">
            <a:extLst>
              <a:ext uri="{FF2B5EF4-FFF2-40B4-BE49-F238E27FC236}">
                <a16:creationId xmlns:a16="http://schemas.microsoft.com/office/drawing/2014/main" id="{32907854-D100-4AA0-9AE5-F7523AB884D2}"/>
              </a:ext>
            </a:extLst>
          </p:cNvPr>
          <p:cNvSpPr/>
          <p:nvPr/>
        </p:nvSpPr>
        <p:spPr>
          <a:xfrm rot="16976356">
            <a:off x="6256884" y="774878"/>
            <a:ext cx="4490510" cy="4765022"/>
          </a:xfrm>
          <a:prstGeom prst="blockArc">
            <a:avLst>
              <a:gd name="adj1" fmla="val 12837860"/>
              <a:gd name="adj2" fmla="val 17482697"/>
              <a:gd name="adj3" fmla="val 5765"/>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636363"/>
              </a:solidFill>
              <a:effectLst/>
              <a:uLnTx/>
              <a:uFillTx/>
              <a:latin typeface="Arial" panose="020B0604020202020204" pitchFamily="34" charset="0"/>
              <a:cs typeface="Arial" panose="020B0604020202020204" pitchFamily="34" charset="0"/>
            </a:endParaRPr>
          </a:p>
        </p:txBody>
      </p:sp>
      <p:sp>
        <p:nvSpPr>
          <p:cNvPr id="94" name="Oval 93">
            <a:extLst>
              <a:ext uri="{FF2B5EF4-FFF2-40B4-BE49-F238E27FC236}">
                <a16:creationId xmlns:a16="http://schemas.microsoft.com/office/drawing/2014/main" id="{76A81F95-132E-4C34-A555-F2FEAB1F78B6}"/>
              </a:ext>
            </a:extLst>
          </p:cNvPr>
          <p:cNvSpPr/>
          <p:nvPr/>
        </p:nvSpPr>
        <p:spPr>
          <a:xfrm>
            <a:off x="6976515" y="1672832"/>
            <a:ext cx="2909062" cy="2879606"/>
          </a:xfrm>
          <a:prstGeom prst="ellipse">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829AA4">
                    <a:lumMod val="75000"/>
                  </a:srgbClr>
                </a:solidFill>
                <a:effectLst/>
                <a:uLnTx/>
                <a:uFillTx/>
                <a:latin typeface="Arial" panose="020B0604020202020204" pitchFamily="34" charset="0"/>
                <a:cs typeface="Arial" panose="020B0604020202020204" pitchFamily="34" charset="0"/>
              </a:rPr>
              <a:t>Social Impact Management Cycle (SIM-C)</a:t>
            </a:r>
          </a:p>
        </p:txBody>
      </p:sp>
      <p:sp>
        <p:nvSpPr>
          <p:cNvPr id="95" name="Rectangle: Rounded Corners 94">
            <a:extLst>
              <a:ext uri="{FF2B5EF4-FFF2-40B4-BE49-F238E27FC236}">
                <a16:creationId xmlns:a16="http://schemas.microsoft.com/office/drawing/2014/main" id="{1CEE6BE2-9EBE-4F99-A9F6-7C792FD53FA6}"/>
              </a:ext>
            </a:extLst>
          </p:cNvPr>
          <p:cNvSpPr/>
          <p:nvPr/>
        </p:nvSpPr>
        <p:spPr>
          <a:xfrm>
            <a:off x="83027" y="5744198"/>
            <a:ext cx="1662953" cy="438150"/>
          </a:xfrm>
          <a:prstGeom prst="round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Design</a:t>
            </a:r>
          </a:p>
        </p:txBody>
      </p:sp>
      <p:sp>
        <p:nvSpPr>
          <p:cNvPr id="96" name="Rectangle: Rounded Corners 95">
            <a:extLst>
              <a:ext uri="{FF2B5EF4-FFF2-40B4-BE49-F238E27FC236}">
                <a16:creationId xmlns:a16="http://schemas.microsoft.com/office/drawing/2014/main" id="{12EA0998-FF7D-4896-886A-B3CC8FEA68B0}"/>
              </a:ext>
            </a:extLst>
          </p:cNvPr>
          <p:cNvSpPr/>
          <p:nvPr/>
        </p:nvSpPr>
        <p:spPr>
          <a:xfrm>
            <a:off x="1908136" y="5744198"/>
            <a:ext cx="1662953" cy="438150"/>
          </a:xfrm>
          <a:prstGeom prst="round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Do</a:t>
            </a:r>
          </a:p>
        </p:txBody>
      </p:sp>
      <p:sp>
        <p:nvSpPr>
          <p:cNvPr id="97" name="Rectangle: Rounded Corners 96">
            <a:extLst>
              <a:ext uri="{FF2B5EF4-FFF2-40B4-BE49-F238E27FC236}">
                <a16:creationId xmlns:a16="http://schemas.microsoft.com/office/drawing/2014/main" id="{98C000D0-1BAF-49FB-8CD5-74F227E42067}"/>
              </a:ext>
            </a:extLst>
          </p:cNvPr>
          <p:cNvSpPr/>
          <p:nvPr/>
        </p:nvSpPr>
        <p:spPr>
          <a:xfrm>
            <a:off x="3733245" y="5744198"/>
            <a:ext cx="1693067" cy="438150"/>
          </a:xfrm>
          <a:prstGeom prst="round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Learn &amp; Adapt</a:t>
            </a:r>
          </a:p>
        </p:txBody>
      </p:sp>
      <p:sp>
        <p:nvSpPr>
          <p:cNvPr id="98" name="Oval 97">
            <a:extLst>
              <a:ext uri="{FF2B5EF4-FFF2-40B4-BE49-F238E27FC236}">
                <a16:creationId xmlns:a16="http://schemas.microsoft.com/office/drawing/2014/main" id="{13CBDB7E-0497-452D-8C21-662375162FC9}"/>
              </a:ext>
            </a:extLst>
          </p:cNvPr>
          <p:cNvSpPr/>
          <p:nvPr/>
        </p:nvSpPr>
        <p:spPr>
          <a:xfrm>
            <a:off x="2051086" y="2131360"/>
            <a:ext cx="2298367" cy="2087439"/>
          </a:xfrm>
          <a:prstGeom prst="ellipse">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829AA4">
                    <a:lumMod val="75000"/>
                  </a:srgbClr>
                </a:solidFill>
                <a:effectLst/>
                <a:uLnTx/>
                <a:uFillTx/>
                <a:latin typeface="Arial" panose="020B0604020202020204" pitchFamily="34" charset="0"/>
                <a:cs typeface="Arial" panose="020B0604020202020204" pitchFamily="34" charset="0"/>
              </a:rPr>
              <a:t>Core Business Activities &amp; Strategy </a:t>
            </a:r>
            <a:r>
              <a:rPr kumimoji="0" lang="en-GB" sz="1400" b="0" i="0" u="none" strike="noStrike" kern="1200" cap="none" spc="0" normalizeH="0" baseline="0" noProof="0" dirty="0">
                <a:ln>
                  <a:noFill/>
                </a:ln>
                <a:solidFill>
                  <a:srgbClr val="829AA4">
                    <a:lumMod val="75000"/>
                  </a:srgbClr>
                </a:solidFill>
                <a:effectLst/>
                <a:uLnTx/>
                <a:uFillTx/>
                <a:latin typeface="Arial" panose="020B0604020202020204" pitchFamily="34" charset="0"/>
                <a:cs typeface="Arial" panose="020B0604020202020204" pitchFamily="34" charset="0"/>
              </a:rPr>
              <a:t>(e.g. investment, sales, marketing, training etc.)</a:t>
            </a:r>
          </a:p>
        </p:txBody>
      </p:sp>
      <p:sp>
        <p:nvSpPr>
          <p:cNvPr id="99" name="Arrow: Left 98">
            <a:extLst>
              <a:ext uri="{FF2B5EF4-FFF2-40B4-BE49-F238E27FC236}">
                <a16:creationId xmlns:a16="http://schemas.microsoft.com/office/drawing/2014/main" id="{D831FBDF-7337-4D31-A501-8AC6D9707653}"/>
              </a:ext>
            </a:extLst>
          </p:cNvPr>
          <p:cNvSpPr/>
          <p:nvPr/>
        </p:nvSpPr>
        <p:spPr>
          <a:xfrm rot="697916">
            <a:off x="3625144" y="4301153"/>
            <a:ext cx="2214447" cy="49931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0" name="Arrow: Left 99">
            <a:extLst>
              <a:ext uri="{FF2B5EF4-FFF2-40B4-BE49-F238E27FC236}">
                <a16:creationId xmlns:a16="http://schemas.microsoft.com/office/drawing/2014/main" id="{2B736F9F-0879-4C65-A0E4-D34E57371F49}"/>
              </a:ext>
            </a:extLst>
          </p:cNvPr>
          <p:cNvSpPr/>
          <p:nvPr/>
        </p:nvSpPr>
        <p:spPr>
          <a:xfrm rot="20470368" flipH="1">
            <a:off x="3686159" y="1341722"/>
            <a:ext cx="2125772" cy="499317"/>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1" name="Arrow: Circular 100">
            <a:extLst>
              <a:ext uri="{FF2B5EF4-FFF2-40B4-BE49-F238E27FC236}">
                <a16:creationId xmlns:a16="http://schemas.microsoft.com/office/drawing/2014/main" id="{9533DBD2-E6E2-433F-9E92-F8594E96759F}"/>
              </a:ext>
            </a:extLst>
          </p:cNvPr>
          <p:cNvSpPr/>
          <p:nvPr/>
        </p:nvSpPr>
        <p:spPr>
          <a:xfrm rot="4414517" flipV="1">
            <a:off x="7556702" y="-4894866"/>
            <a:ext cx="5793674" cy="5793674"/>
          </a:xfrm>
          <a:prstGeom prst="circularArrow">
            <a:avLst>
              <a:gd name="adj1" fmla="val 2940"/>
              <a:gd name="adj2" fmla="val 179900"/>
              <a:gd name="adj3" fmla="val 21463586"/>
              <a:gd name="adj4" fmla="val 20411039"/>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2" name="Freeform: Shape 101">
            <a:extLst>
              <a:ext uri="{FF2B5EF4-FFF2-40B4-BE49-F238E27FC236}">
                <a16:creationId xmlns:a16="http://schemas.microsoft.com/office/drawing/2014/main" id="{71354490-4295-4DEF-94F2-C35D13624BE2}"/>
              </a:ext>
            </a:extLst>
          </p:cNvPr>
          <p:cNvSpPr/>
          <p:nvPr/>
        </p:nvSpPr>
        <p:spPr>
          <a:xfrm>
            <a:off x="11224810" y="202013"/>
            <a:ext cx="967190" cy="873368"/>
          </a:xfrm>
          <a:custGeom>
            <a:avLst/>
            <a:gdLst>
              <a:gd name="connsiteX0" fmla="*/ 0 w 873368"/>
              <a:gd name="connsiteY0" fmla="*/ 0 h 873368"/>
              <a:gd name="connsiteX1" fmla="*/ 873368 w 873368"/>
              <a:gd name="connsiteY1" fmla="*/ 0 h 873368"/>
              <a:gd name="connsiteX2" fmla="*/ 873368 w 873368"/>
              <a:gd name="connsiteY2" fmla="*/ 873368 h 873368"/>
              <a:gd name="connsiteX3" fmla="*/ 0 w 873368"/>
              <a:gd name="connsiteY3" fmla="*/ 873368 h 873368"/>
              <a:gd name="connsiteX4" fmla="*/ 0 w 873368"/>
              <a:gd name="connsiteY4" fmla="*/ 0 h 873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368" h="873368">
                <a:moveTo>
                  <a:pt x="0" y="0"/>
                </a:moveTo>
                <a:lnTo>
                  <a:pt x="873368" y="0"/>
                </a:lnTo>
                <a:lnTo>
                  <a:pt x="873368" y="873368"/>
                </a:lnTo>
                <a:lnTo>
                  <a:pt x="0" y="873368"/>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Value</a:t>
            </a:r>
          </a:p>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dirty="0">
                <a:ln>
                  <a:noFill/>
                </a:ln>
                <a:solidFill>
                  <a:srgbClr val="636363">
                    <a:hueOff val="0"/>
                    <a:satOff val="0"/>
                    <a:lumOff val="0"/>
                    <a:alphaOff val="0"/>
                  </a:srgbClr>
                </a:solidFill>
                <a:effectLst/>
                <a:uLnTx/>
                <a:uFillTx/>
                <a:latin typeface="Arial" panose="020B0604020202020204" pitchFamily="34" charset="0"/>
                <a:cs typeface="Arial" panose="020B0604020202020204" pitchFamily="34" charset="0"/>
              </a:rPr>
              <a:t>Proposition</a:t>
            </a:r>
          </a:p>
        </p:txBody>
      </p:sp>
      <p:sp>
        <p:nvSpPr>
          <p:cNvPr id="103" name="Arrow: Circular 102">
            <a:extLst>
              <a:ext uri="{FF2B5EF4-FFF2-40B4-BE49-F238E27FC236}">
                <a16:creationId xmlns:a16="http://schemas.microsoft.com/office/drawing/2014/main" id="{E8F1A454-D67B-4FE6-AB06-0E284D7BDE02}"/>
              </a:ext>
            </a:extLst>
          </p:cNvPr>
          <p:cNvSpPr/>
          <p:nvPr/>
        </p:nvSpPr>
        <p:spPr>
          <a:xfrm rot="10800000" flipV="1">
            <a:off x="11068658" y="-905688"/>
            <a:ext cx="5793674" cy="5793674"/>
          </a:xfrm>
          <a:prstGeom prst="circularArrow">
            <a:avLst>
              <a:gd name="adj1" fmla="val 2940"/>
              <a:gd name="adj2" fmla="val 179900"/>
              <a:gd name="adj3" fmla="val 21463586"/>
              <a:gd name="adj4" fmla="val 20411039"/>
              <a:gd name="adj5" fmla="val 3429"/>
            </a:avLst>
          </a:pr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4" name="Text Placeholder 1">
            <a:extLst>
              <a:ext uri="{FF2B5EF4-FFF2-40B4-BE49-F238E27FC236}">
                <a16:creationId xmlns:a16="http://schemas.microsoft.com/office/drawing/2014/main" id="{E0E4B5F3-DAD7-4B77-979E-6EC8953D4F5D}"/>
              </a:ext>
            </a:extLst>
          </p:cNvPr>
          <p:cNvSpPr>
            <a:spLocks noGrp="1"/>
          </p:cNvSpPr>
          <p:nvPr>
            <p:ph type="body" sz="quarter" idx="13"/>
          </p:nvPr>
        </p:nvSpPr>
        <p:spPr>
          <a:xfrm>
            <a:off x="141251" y="91028"/>
            <a:ext cx="5419970" cy="605862"/>
          </a:xfrm>
          <a:ln>
            <a:noFill/>
          </a:ln>
        </p:spPr>
        <p:txBody>
          <a:bodyPr>
            <a:normAutofit fontScale="77500" lnSpcReduction="20000"/>
          </a:bodyPr>
          <a:lstStyle/>
          <a:p>
            <a:r>
              <a:rPr lang="en-GB" dirty="0">
                <a:latin typeface="Arial" panose="020B0604020202020204" pitchFamily="34" charset="0"/>
                <a:cs typeface="Arial" panose="020B0604020202020204" pitchFamily="34" charset="0"/>
              </a:rPr>
              <a:t>Social Impact Management</a:t>
            </a:r>
          </a:p>
        </p:txBody>
      </p:sp>
    </p:spTree>
    <p:extLst>
      <p:ext uri="{BB962C8B-B14F-4D97-AF65-F5344CB8AC3E}">
        <p14:creationId xmlns:p14="http://schemas.microsoft.com/office/powerpoint/2010/main" val="420163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p:bldP spid="99" grpId="0" animBg="1"/>
      <p:bldP spid="10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2D4EF7-93C2-4310-8448-A76FDD249DC0}"/>
              </a:ext>
            </a:extLst>
          </p:cNvPr>
          <p:cNvSpPr>
            <a:spLocks noGrp="1"/>
          </p:cNvSpPr>
          <p:nvPr>
            <p:ph type="body" sz="quarter" idx="13"/>
          </p:nvPr>
        </p:nvSpPr>
        <p:spPr>
          <a:xfrm>
            <a:off x="123825" y="151223"/>
            <a:ext cx="12068175" cy="772702"/>
          </a:xfrm>
        </p:spPr>
        <p:txBody>
          <a:bodyPr/>
          <a:lstStyle/>
          <a:p>
            <a:r>
              <a:rPr lang="en-GB" b="1" dirty="0"/>
              <a:t>Understanding </a:t>
            </a:r>
            <a:r>
              <a:rPr lang="en-GB" b="1" dirty="0" err="1"/>
              <a:t>Sofab’s</a:t>
            </a:r>
            <a:r>
              <a:rPr lang="en-GB" b="1" dirty="0"/>
              <a:t> requests</a:t>
            </a:r>
          </a:p>
        </p:txBody>
      </p:sp>
      <p:sp>
        <p:nvSpPr>
          <p:cNvPr id="3" name="Rectangle: Rounded Corners 2">
            <a:extLst>
              <a:ext uri="{FF2B5EF4-FFF2-40B4-BE49-F238E27FC236}">
                <a16:creationId xmlns:a16="http://schemas.microsoft.com/office/drawing/2014/main" id="{ED259046-73D5-4E1C-8A7B-FA43EF430AA1}"/>
              </a:ext>
            </a:extLst>
          </p:cNvPr>
          <p:cNvSpPr/>
          <p:nvPr/>
        </p:nvSpPr>
        <p:spPr>
          <a:xfrm>
            <a:off x="219076" y="1447800"/>
            <a:ext cx="11534775" cy="1781175"/>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GB" b="1" dirty="0"/>
          </a:p>
          <a:p>
            <a:pPr algn="ctr"/>
            <a:r>
              <a:rPr lang="en-GB" b="1" dirty="0"/>
              <a:t>Key requests set by </a:t>
            </a:r>
            <a:r>
              <a:rPr lang="en-GB" b="1" dirty="0" err="1"/>
              <a:t>Sofab</a:t>
            </a:r>
            <a:r>
              <a:rPr lang="en-GB" dirty="0"/>
              <a:t>:</a:t>
            </a:r>
          </a:p>
          <a:p>
            <a:pPr marL="342900" indent="-342900" algn="ctr">
              <a:buAutoNum type="arabicParenR"/>
            </a:pPr>
            <a:endParaRPr lang="en-GB" dirty="0"/>
          </a:p>
          <a:p>
            <a:pPr marL="342900" indent="-342900" algn="ctr">
              <a:buAutoNum type="arabicParenR"/>
            </a:pPr>
            <a:endParaRPr lang="en-GB" dirty="0"/>
          </a:p>
        </p:txBody>
      </p:sp>
      <p:sp>
        <p:nvSpPr>
          <p:cNvPr id="7" name="Rectangle: Rounded Corners 6">
            <a:extLst>
              <a:ext uri="{FF2B5EF4-FFF2-40B4-BE49-F238E27FC236}">
                <a16:creationId xmlns:a16="http://schemas.microsoft.com/office/drawing/2014/main" id="{97FB8B17-D8A2-4982-A786-D96561F9CD29}"/>
              </a:ext>
            </a:extLst>
          </p:cNvPr>
          <p:cNvSpPr/>
          <p:nvPr/>
        </p:nvSpPr>
        <p:spPr>
          <a:xfrm>
            <a:off x="219077" y="3819525"/>
            <a:ext cx="11534774" cy="2162175"/>
          </a:xfrm>
          <a:prstGeom prst="roundRect">
            <a:avLst/>
          </a:prstGeom>
        </p:spPr>
        <p:style>
          <a:lnRef idx="3">
            <a:schemeClr val="lt1"/>
          </a:lnRef>
          <a:fillRef idx="1">
            <a:schemeClr val="accent5"/>
          </a:fillRef>
          <a:effectRef idx="1">
            <a:schemeClr val="accent5"/>
          </a:effectRef>
          <a:fontRef idx="minor">
            <a:schemeClr val="lt1"/>
          </a:fontRef>
        </p:style>
        <p:txBody>
          <a:bodyPr rtlCol="0" anchor="t"/>
          <a:lstStyle/>
          <a:p>
            <a:pPr algn="ctr"/>
            <a:endParaRPr lang="en-GB" dirty="0"/>
          </a:p>
          <a:p>
            <a:pPr algn="ctr"/>
            <a:r>
              <a:rPr lang="en-GB" b="1" dirty="0"/>
              <a:t>Recommendations to test from </a:t>
            </a:r>
            <a:r>
              <a:rPr lang="en-GB" b="1" dirty="0" err="1"/>
              <a:t>Unltd</a:t>
            </a:r>
            <a:r>
              <a:rPr lang="en-GB" dirty="0"/>
              <a:t>:</a:t>
            </a:r>
          </a:p>
          <a:p>
            <a:pPr algn="ctr"/>
            <a:endParaRPr lang="en-GB" dirty="0"/>
          </a:p>
          <a:p>
            <a:pPr marL="342900" indent="-342900" algn="ctr">
              <a:buAutoNum type="arabicParenR"/>
            </a:pPr>
            <a:endParaRPr lang="en-GB" dirty="0"/>
          </a:p>
        </p:txBody>
      </p:sp>
    </p:spTree>
    <p:extLst>
      <p:ext uri="{BB962C8B-B14F-4D97-AF65-F5344CB8AC3E}">
        <p14:creationId xmlns:p14="http://schemas.microsoft.com/office/powerpoint/2010/main" val="847446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007FD522-9B26-4831-A53F-4583BB5949C9}"/>
              </a:ext>
            </a:extLst>
          </p:cNvPr>
          <p:cNvSpPr/>
          <p:nvPr/>
        </p:nvSpPr>
        <p:spPr>
          <a:xfrm>
            <a:off x="4319820" y="2962825"/>
            <a:ext cx="2472177" cy="880388"/>
          </a:xfrm>
          <a:prstGeom prst="round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dirty="0">
                <a:solidFill>
                  <a:prstClr val="white"/>
                </a:solidFill>
                <a:latin typeface="Gotham Book"/>
              </a:rPr>
              <a:t>Employees and volunteers improve their employability skills (soft skills and hard skills). </a:t>
            </a:r>
          </a:p>
        </p:txBody>
      </p:sp>
      <p:sp>
        <p:nvSpPr>
          <p:cNvPr id="15" name="Rectangle: Rounded Corners 14">
            <a:extLst>
              <a:ext uri="{FF2B5EF4-FFF2-40B4-BE49-F238E27FC236}">
                <a16:creationId xmlns:a16="http://schemas.microsoft.com/office/drawing/2014/main" id="{5597BD3D-6BE0-4498-9241-EB1A3D50CD4A}"/>
              </a:ext>
            </a:extLst>
          </p:cNvPr>
          <p:cNvSpPr/>
          <p:nvPr/>
        </p:nvSpPr>
        <p:spPr>
          <a:xfrm>
            <a:off x="5058384" y="32518"/>
            <a:ext cx="1666567" cy="3115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tx1">
                    <a:lumMod val="75000"/>
                  </a:schemeClr>
                </a:solidFill>
                <a:effectLst/>
                <a:uLnTx/>
                <a:uFillTx/>
                <a:latin typeface="Gotham Book"/>
                <a:ea typeface="+mn-ea"/>
                <a:cs typeface="+mn-cs"/>
              </a:rPr>
              <a:t>Bespoke services</a:t>
            </a:r>
          </a:p>
        </p:txBody>
      </p:sp>
      <p:sp>
        <p:nvSpPr>
          <p:cNvPr id="16" name="Rectangle: Rounded Corners 15">
            <a:extLst>
              <a:ext uri="{FF2B5EF4-FFF2-40B4-BE49-F238E27FC236}">
                <a16:creationId xmlns:a16="http://schemas.microsoft.com/office/drawing/2014/main" id="{2FF4C399-0F12-42CD-90A4-460792C80DD0}"/>
              </a:ext>
            </a:extLst>
          </p:cNvPr>
          <p:cNvSpPr/>
          <p:nvPr/>
        </p:nvSpPr>
        <p:spPr>
          <a:xfrm>
            <a:off x="6719687" y="32518"/>
            <a:ext cx="1666567" cy="311546"/>
          </a:xfrm>
          <a:prstGeom prst="round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tx1">
                    <a:lumMod val="75000"/>
                  </a:schemeClr>
                </a:solidFill>
                <a:effectLst/>
                <a:uLnTx/>
                <a:uFillTx/>
                <a:latin typeface="Gotham Book"/>
                <a:ea typeface="+mn-ea"/>
                <a:cs typeface="+mn-cs"/>
              </a:rPr>
              <a:t>Outcomes</a:t>
            </a:r>
            <a:endParaRPr kumimoji="0" lang="en-GB" sz="1200" b="0" i="0" u="none" strike="noStrike" kern="1200" cap="none" spc="0" normalizeH="0" baseline="0" noProof="0" dirty="0">
              <a:ln>
                <a:noFill/>
              </a:ln>
              <a:solidFill>
                <a:schemeClr val="tx1">
                  <a:lumMod val="75000"/>
                </a:schemeClr>
              </a:solidFill>
              <a:effectLst/>
              <a:uLnTx/>
              <a:uFillTx/>
              <a:latin typeface="Gotham Book"/>
              <a:ea typeface="+mn-ea"/>
              <a:cs typeface="+mn-cs"/>
            </a:endParaRPr>
          </a:p>
        </p:txBody>
      </p:sp>
      <p:sp>
        <p:nvSpPr>
          <p:cNvPr id="17" name="Rectangle: Rounded Corners 16">
            <a:extLst>
              <a:ext uri="{FF2B5EF4-FFF2-40B4-BE49-F238E27FC236}">
                <a16:creationId xmlns:a16="http://schemas.microsoft.com/office/drawing/2014/main" id="{2853A3DA-E789-471E-8D71-F905BC1AB6EA}"/>
              </a:ext>
            </a:extLst>
          </p:cNvPr>
          <p:cNvSpPr/>
          <p:nvPr/>
        </p:nvSpPr>
        <p:spPr>
          <a:xfrm>
            <a:off x="8382531" y="33331"/>
            <a:ext cx="1666567" cy="311546"/>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636363">
                    <a:lumMod val="60000"/>
                    <a:lumOff val="40000"/>
                  </a:srgbClr>
                </a:solidFill>
                <a:effectLst/>
                <a:uLnTx/>
                <a:uFillTx/>
                <a:latin typeface="Gotham Book"/>
                <a:ea typeface="+mn-ea"/>
                <a:cs typeface="+mn-cs"/>
              </a:rPr>
              <a:t>Objectives</a:t>
            </a:r>
            <a:endParaRPr kumimoji="0" lang="en-GB" sz="1200" b="0" i="0" u="none" strike="noStrike" kern="1200" cap="none" spc="0" normalizeH="0" baseline="0" noProof="0" dirty="0">
              <a:ln>
                <a:noFill/>
              </a:ln>
              <a:solidFill>
                <a:srgbClr val="636363">
                  <a:lumMod val="60000"/>
                  <a:lumOff val="40000"/>
                </a:srgbClr>
              </a:solidFill>
              <a:effectLst/>
              <a:uLnTx/>
              <a:uFillTx/>
              <a:latin typeface="Gotham Book"/>
              <a:ea typeface="+mn-ea"/>
              <a:cs typeface="+mn-cs"/>
            </a:endParaRPr>
          </a:p>
        </p:txBody>
      </p:sp>
      <p:sp>
        <p:nvSpPr>
          <p:cNvPr id="18" name="Text Placeholder 1">
            <a:extLst>
              <a:ext uri="{FF2B5EF4-FFF2-40B4-BE49-F238E27FC236}">
                <a16:creationId xmlns:a16="http://schemas.microsoft.com/office/drawing/2014/main" id="{DD6AEB33-1661-4BE4-8858-765D980DB195}"/>
              </a:ext>
            </a:extLst>
          </p:cNvPr>
          <p:cNvSpPr>
            <a:spLocks noGrp="1"/>
          </p:cNvSpPr>
          <p:nvPr>
            <p:ph type="body" sz="quarter" idx="13"/>
          </p:nvPr>
        </p:nvSpPr>
        <p:spPr>
          <a:xfrm>
            <a:off x="72570" y="-69312"/>
            <a:ext cx="5121298" cy="697680"/>
          </a:xfrm>
        </p:spPr>
        <p:txBody>
          <a:bodyPr>
            <a:normAutofit/>
          </a:bodyPr>
          <a:lstStyle/>
          <a:p>
            <a:r>
              <a:rPr lang="en-GB" sz="2400" dirty="0"/>
              <a:t>Theory Of Change </a:t>
            </a:r>
          </a:p>
        </p:txBody>
      </p:sp>
      <p:sp>
        <p:nvSpPr>
          <p:cNvPr id="19" name="Rectangle: Rounded Corners 18">
            <a:extLst>
              <a:ext uri="{FF2B5EF4-FFF2-40B4-BE49-F238E27FC236}">
                <a16:creationId xmlns:a16="http://schemas.microsoft.com/office/drawing/2014/main" id="{65537F2A-64D1-4898-BFBB-D5DF90323F0B}"/>
              </a:ext>
            </a:extLst>
          </p:cNvPr>
          <p:cNvSpPr/>
          <p:nvPr/>
        </p:nvSpPr>
        <p:spPr>
          <a:xfrm>
            <a:off x="7233993" y="4186029"/>
            <a:ext cx="2964267" cy="749069"/>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err="1">
                <a:ln>
                  <a:noFill/>
                </a:ln>
                <a:solidFill>
                  <a:prstClr val="white"/>
                </a:solidFill>
                <a:effectLst/>
                <a:uLnTx/>
                <a:uFillTx/>
                <a:latin typeface="Gotham Book"/>
                <a:ea typeface="+mn-ea"/>
                <a:cs typeface="+mn-cs"/>
              </a:rPr>
              <a:t>Sofab</a:t>
            </a:r>
            <a:r>
              <a:rPr kumimoji="0" lang="en-GB" sz="1200" b="0" i="0" u="none" strike="noStrike" kern="1200" cap="none" spc="0" normalizeH="0" baseline="0" noProof="0" dirty="0">
                <a:ln>
                  <a:noFill/>
                </a:ln>
                <a:solidFill>
                  <a:prstClr val="white"/>
                </a:solidFill>
                <a:effectLst/>
                <a:uLnTx/>
                <a:uFillTx/>
                <a:latin typeface="Gotham Book"/>
                <a:ea typeface="+mn-ea"/>
                <a:cs typeface="+mn-cs"/>
              </a:rPr>
              <a:t> employees and volunteers have more agency in decision making around employment and life choices.</a:t>
            </a:r>
          </a:p>
        </p:txBody>
      </p:sp>
      <p:sp>
        <p:nvSpPr>
          <p:cNvPr id="23" name="Rectangle: Rounded Corners 22">
            <a:extLst>
              <a:ext uri="{FF2B5EF4-FFF2-40B4-BE49-F238E27FC236}">
                <a16:creationId xmlns:a16="http://schemas.microsoft.com/office/drawing/2014/main" id="{FA2D6B8A-50F3-4531-9AB8-C04E1A1A00AB}"/>
              </a:ext>
            </a:extLst>
          </p:cNvPr>
          <p:cNvSpPr/>
          <p:nvPr/>
        </p:nvSpPr>
        <p:spPr>
          <a:xfrm>
            <a:off x="4179294" y="5289322"/>
            <a:ext cx="2472177" cy="880388"/>
          </a:xfrm>
          <a:prstGeom prst="round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solidFill>
                  <a:prstClr val="white"/>
                </a:solidFill>
                <a:latin typeface="Gotham Book"/>
              </a:rPr>
              <a:t>Employees, volunteers and academy participants improve their confidence and wellbeing</a:t>
            </a:r>
            <a:endParaRPr kumimoji="0" lang="en-GB" sz="1200" b="1" i="0" u="none" strike="noStrike" kern="1200" cap="none" spc="0" normalizeH="0" baseline="0" noProof="0" dirty="0">
              <a:ln>
                <a:noFill/>
              </a:ln>
              <a:solidFill>
                <a:prstClr val="white"/>
              </a:solidFill>
              <a:effectLst/>
              <a:uLnTx/>
              <a:uFillTx/>
              <a:latin typeface="Gotham Book"/>
              <a:ea typeface="+mn-ea"/>
              <a:cs typeface="+mn-cs"/>
            </a:endParaRPr>
          </a:p>
        </p:txBody>
      </p:sp>
      <p:sp>
        <p:nvSpPr>
          <p:cNvPr id="39" name="Rectangle: Rounded Corners 38">
            <a:extLst>
              <a:ext uri="{FF2B5EF4-FFF2-40B4-BE49-F238E27FC236}">
                <a16:creationId xmlns:a16="http://schemas.microsoft.com/office/drawing/2014/main" id="{DBF2726B-9954-49EC-940E-6A9693BFACA6}"/>
              </a:ext>
            </a:extLst>
          </p:cNvPr>
          <p:cNvSpPr/>
          <p:nvPr/>
        </p:nvSpPr>
        <p:spPr>
          <a:xfrm>
            <a:off x="7233993" y="1943213"/>
            <a:ext cx="2964267" cy="749069"/>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err="1">
                <a:solidFill>
                  <a:prstClr val="white"/>
                </a:solidFill>
                <a:latin typeface="Gotham Book"/>
              </a:rPr>
              <a:t>Sofab</a:t>
            </a:r>
            <a:r>
              <a:rPr lang="en-GB" sz="1200" dirty="0">
                <a:solidFill>
                  <a:prstClr val="white"/>
                </a:solidFill>
                <a:latin typeface="Gotham Book"/>
              </a:rPr>
              <a:t> employees and volunteers improve employability skills. </a:t>
            </a:r>
            <a:endParaRPr kumimoji="0" lang="en-GB" sz="12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40" name="Rectangle: Rounded Corners 39">
            <a:extLst>
              <a:ext uri="{FF2B5EF4-FFF2-40B4-BE49-F238E27FC236}">
                <a16:creationId xmlns:a16="http://schemas.microsoft.com/office/drawing/2014/main" id="{51D0B609-E905-4430-90B6-47A83DA90AE9}"/>
              </a:ext>
            </a:extLst>
          </p:cNvPr>
          <p:cNvSpPr/>
          <p:nvPr/>
        </p:nvSpPr>
        <p:spPr>
          <a:xfrm>
            <a:off x="10043834" y="3127869"/>
            <a:ext cx="2148166" cy="749069"/>
          </a:xfrm>
          <a:prstGeom prst="round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Gotham Book"/>
                <a:ea typeface="+mn-ea"/>
                <a:cs typeface="+mn-cs"/>
              </a:rPr>
              <a:t>Decrease the % of disabled </a:t>
            </a:r>
            <a:r>
              <a:rPr lang="en-GB" sz="1200" dirty="0">
                <a:solidFill>
                  <a:prstClr val="white"/>
                </a:solidFill>
                <a:latin typeface="Gotham Book"/>
              </a:rPr>
              <a:t>people in long term unemployment. </a:t>
            </a:r>
            <a:endParaRPr kumimoji="0" lang="en-GB" sz="1200" b="0" i="0" u="none" strike="noStrike" kern="1200" cap="none" spc="0" normalizeH="0" baseline="0" noProof="0" dirty="0">
              <a:ln>
                <a:noFill/>
              </a:ln>
              <a:solidFill>
                <a:prstClr val="white"/>
              </a:solidFill>
              <a:effectLst/>
              <a:uLnTx/>
              <a:uFillTx/>
              <a:latin typeface="Gotham Book"/>
              <a:ea typeface="+mn-ea"/>
              <a:cs typeface="+mn-cs"/>
            </a:endParaRPr>
          </a:p>
        </p:txBody>
      </p:sp>
      <p:sp>
        <p:nvSpPr>
          <p:cNvPr id="43" name="Rectangle: Rounded Corners 42">
            <a:extLst>
              <a:ext uri="{FF2B5EF4-FFF2-40B4-BE49-F238E27FC236}">
                <a16:creationId xmlns:a16="http://schemas.microsoft.com/office/drawing/2014/main" id="{DADC9875-BE11-4CA8-8342-E2362BC1AA64}"/>
              </a:ext>
            </a:extLst>
          </p:cNvPr>
          <p:cNvSpPr/>
          <p:nvPr/>
        </p:nvSpPr>
        <p:spPr>
          <a:xfrm>
            <a:off x="10043834" y="21795"/>
            <a:ext cx="1666567" cy="311546"/>
          </a:xfrm>
          <a:prstGeom prst="round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rgbClr val="636363">
                    <a:lumMod val="60000"/>
                    <a:lumOff val="40000"/>
                  </a:srgbClr>
                </a:solidFill>
                <a:latin typeface="Gotham Book"/>
              </a:rPr>
              <a:t>Impact</a:t>
            </a:r>
          </a:p>
        </p:txBody>
      </p:sp>
      <p:sp>
        <p:nvSpPr>
          <p:cNvPr id="55" name="Rectangle: Rounded Corners 54">
            <a:extLst>
              <a:ext uri="{FF2B5EF4-FFF2-40B4-BE49-F238E27FC236}">
                <a16:creationId xmlns:a16="http://schemas.microsoft.com/office/drawing/2014/main" id="{E8C8F18D-0202-40D9-8BAD-8DF0A3D33F73}"/>
              </a:ext>
            </a:extLst>
          </p:cNvPr>
          <p:cNvSpPr/>
          <p:nvPr/>
        </p:nvSpPr>
        <p:spPr>
          <a:xfrm>
            <a:off x="528027" y="3789367"/>
            <a:ext cx="2964267" cy="4725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lang="en-GB" sz="1200" dirty="0">
                <a:solidFill>
                  <a:prstClr val="white"/>
                </a:solidFill>
                <a:latin typeface="Gotham Book"/>
              </a:rPr>
              <a:t>Developing soft skills such as communication and working in a team. </a:t>
            </a:r>
            <a:endParaRPr kumimoji="0" lang="en-GB" sz="1200" i="0" u="none" strike="noStrike" kern="1200" cap="none" spc="0" normalizeH="0" baseline="0" noProof="0" dirty="0">
              <a:ln>
                <a:noFill/>
              </a:ln>
              <a:solidFill>
                <a:prstClr val="white"/>
              </a:solidFill>
              <a:effectLst/>
              <a:uLnTx/>
              <a:uFillTx/>
              <a:latin typeface="Gotham Book"/>
              <a:ea typeface="+mn-ea"/>
              <a:cs typeface="+mn-cs"/>
            </a:endParaRPr>
          </a:p>
        </p:txBody>
      </p:sp>
      <p:sp>
        <p:nvSpPr>
          <p:cNvPr id="56" name="Rectangle: Rounded Corners 55">
            <a:extLst>
              <a:ext uri="{FF2B5EF4-FFF2-40B4-BE49-F238E27FC236}">
                <a16:creationId xmlns:a16="http://schemas.microsoft.com/office/drawing/2014/main" id="{B16EA1E3-D74D-48EF-B45C-7CBAFD10C067}"/>
              </a:ext>
            </a:extLst>
          </p:cNvPr>
          <p:cNvSpPr/>
          <p:nvPr/>
        </p:nvSpPr>
        <p:spPr>
          <a:xfrm>
            <a:off x="528028" y="3166763"/>
            <a:ext cx="2964267" cy="4725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i="0" u="none" strike="noStrike" kern="1200" cap="none" spc="0" normalizeH="0" baseline="0" noProof="0" dirty="0">
                <a:ln>
                  <a:noFill/>
                </a:ln>
                <a:solidFill>
                  <a:prstClr val="white"/>
                </a:solidFill>
                <a:effectLst/>
                <a:uLnTx/>
                <a:uFillTx/>
                <a:latin typeface="Gotham Book"/>
                <a:ea typeface="+mn-ea"/>
                <a:cs typeface="+mn-cs"/>
              </a:rPr>
              <a:t>Skills development through a ‘skills matrix’ approach for the retail industry. </a:t>
            </a:r>
          </a:p>
        </p:txBody>
      </p:sp>
      <p:sp>
        <p:nvSpPr>
          <p:cNvPr id="58" name="Rectangle: Rounded Corners 57">
            <a:extLst>
              <a:ext uri="{FF2B5EF4-FFF2-40B4-BE49-F238E27FC236}">
                <a16:creationId xmlns:a16="http://schemas.microsoft.com/office/drawing/2014/main" id="{88529919-4013-4927-BE87-6B9DDE455011}"/>
              </a:ext>
            </a:extLst>
          </p:cNvPr>
          <p:cNvSpPr/>
          <p:nvPr/>
        </p:nvSpPr>
        <p:spPr>
          <a:xfrm>
            <a:off x="528027" y="1617106"/>
            <a:ext cx="2964267" cy="4802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defRPr/>
            </a:pPr>
            <a:r>
              <a:rPr lang="en-GB" sz="1200" dirty="0">
                <a:solidFill>
                  <a:prstClr val="white"/>
                </a:solidFill>
              </a:rPr>
              <a:t>Provide volunteer opportunities for young adults with physical and learning disabilities</a:t>
            </a:r>
          </a:p>
        </p:txBody>
      </p:sp>
      <p:sp>
        <p:nvSpPr>
          <p:cNvPr id="59" name="Rectangle: Rounded Corners 58">
            <a:extLst>
              <a:ext uri="{FF2B5EF4-FFF2-40B4-BE49-F238E27FC236}">
                <a16:creationId xmlns:a16="http://schemas.microsoft.com/office/drawing/2014/main" id="{C6B8F6F9-F422-4DF2-B603-EDDA2F5B0D56}"/>
              </a:ext>
            </a:extLst>
          </p:cNvPr>
          <p:cNvSpPr/>
          <p:nvPr/>
        </p:nvSpPr>
        <p:spPr>
          <a:xfrm>
            <a:off x="528030" y="889696"/>
            <a:ext cx="2964267" cy="6720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lang="en-GB" sz="1200" dirty="0">
                <a:solidFill>
                  <a:prstClr val="white"/>
                </a:solidFill>
                <a:latin typeface="Gotham Book"/>
              </a:rPr>
              <a:t>Provide paid employment opportunities for young adults with physical and learning disabilities</a:t>
            </a:r>
            <a:endParaRPr kumimoji="0" lang="en-GB" sz="1200" i="0" u="none" strike="noStrike" kern="1200" cap="none" spc="0" normalizeH="0" baseline="0" noProof="0" dirty="0">
              <a:ln>
                <a:noFill/>
              </a:ln>
              <a:solidFill>
                <a:prstClr val="white"/>
              </a:solidFill>
              <a:effectLst/>
              <a:uLnTx/>
              <a:uFillTx/>
              <a:latin typeface="Gotham Book"/>
              <a:ea typeface="+mn-ea"/>
              <a:cs typeface="+mn-cs"/>
            </a:endParaRPr>
          </a:p>
        </p:txBody>
      </p:sp>
      <p:sp>
        <p:nvSpPr>
          <p:cNvPr id="61" name="Rectangle: Rounded Corners 60">
            <a:extLst>
              <a:ext uri="{FF2B5EF4-FFF2-40B4-BE49-F238E27FC236}">
                <a16:creationId xmlns:a16="http://schemas.microsoft.com/office/drawing/2014/main" id="{48E07ABB-69FB-4546-AB63-B38FDC4EB1A2}"/>
              </a:ext>
            </a:extLst>
          </p:cNvPr>
          <p:cNvSpPr/>
          <p:nvPr/>
        </p:nvSpPr>
        <p:spPr>
          <a:xfrm>
            <a:off x="528028" y="2568109"/>
            <a:ext cx="2964267" cy="4725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i="0" u="none" strike="noStrike" kern="1200" cap="none" spc="0" normalizeH="0" baseline="0" noProof="0" dirty="0">
                <a:ln>
                  <a:noFill/>
                </a:ln>
                <a:solidFill>
                  <a:prstClr val="white"/>
                </a:solidFill>
                <a:effectLst/>
                <a:uLnTx/>
                <a:uFillTx/>
                <a:latin typeface="Gotham Book"/>
                <a:ea typeface="+mn-ea"/>
                <a:cs typeface="+mn-cs"/>
              </a:rPr>
              <a:t>Teamworking opportunities for staff and volunteers to develop employability skills. </a:t>
            </a:r>
          </a:p>
        </p:txBody>
      </p:sp>
      <p:sp>
        <p:nvSpPr>
          <p:cNvPr id="62" name="Rectangle: Rounded Corners 61">
            <a:extLst>
              <a:ext uri="{FF2B5EF4-FFF2-40B4-BE49-F238E27FC236}">
                <a16:creationId xmlns:a16="http://schemas.microsoft.com/office/drawing/2014/main" id="{40EB2140-FB68-4370-AC34-1D8069E90DE4}"/>
              </a:ext>
            </a:extLst>
          </p:cNvPr>
          <p:cNvSpPr/>
          <p:nvPr/>
        </p:nvSpPr>
        <p:spPr>
          <a:xfrm>
            <a:off x="640571" y="5157956"/>
            <a:ext cx="2964267" cy="4701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i="0" u="none" strike="noStrike" kern="1200" cap="none" spc="0" normalizeH="0" baseline="0" noProof="0" dirty="0">
                <a:ln>
                  <a:noFill/>
                </a:ln>
                <a:solidFill>
                  <a:prstClr val="white"/>
                </a:solidFill>
                <a:effectLst/>
                <a:uLnTx/>
                <a:uFillTx/>
                <a:latin typeface="Gotham Book"/>
                <a:ea typeface="+mn-ea"/>
                <a:cs typeface="+mn-cs"/>
              </a:rPr>
              <a:t>New opportunities for participants for socialisation in a sports team.</a:t>
            </a:r>
          </a:p>
        </p:txBody>
      </p:sp>
      <p:sp>
        <p:nvSpPr>
          <p:cNvPr id="31" name="Rectangle: Rounded Corners 30">
            <a:extLst>
              <a:ext uri="{FF2B5EF4-FFF2-40B4-BE49-F238E27FC236}">
                <a16:creationId xmlns:a16="http://schemas.microsoft.com/office/drawing/2014/main" id="{C83CD883-D412-414B-9D69-FF9EA0A99B4A}"/>
              </a:ext>
            </a:extLst>
          </p:cNvPr>
          <p:cNvSpPr/>
          <p:nvPr/>
        </p:nvSpPr>
        <p:spPr>
          <a:xfrm>
            <a:off x="38077" y="876070"/>
            <a:ext cx="380416" cy="343825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vert="vert270" rtlCol="0" anchor="ctr"/>
          <a:lstStyle/>
          <a:p>
            <a:pPr algn="ctr"/>
            <a:r>
              <a:rPr lang="en-GB" sz="1200" dirty="0"/>
              <a:t>Campus Employment &amp; Experience</a:t>
            </a:r>
          </a:p>
        </p:txBody>
      </p:sp>
      <p:sp>
        <p:nvSpPr>
          <p:cNvPr id="33" name="Rectangle: Rounded Corners 32">
            <a:extLst>
              <a:ext uri="{FF2B5EF4-FFF2-40B4-BE49-F238E27FC236}">
                <a16:creationId xmlns:a16="http://schemas.microsoft.com/office/drawing/2014/main" id="{06DC7C70-EB79-43EB-BCF2-57608BE1AA83}"/>
              </a:ext>
            </a:extLst>
          </p:cNvPr>
          <p:cNvSpPr/>
          <p:nvPr/>
        </p:nvSpPr>
        <p:spPr>
          <a:xfrm>
            <a:off x="38077" y="5082493"/>
            <a:ext cx="380416" cy="1203645"/>
          </a:xfrm>
          <a:prstGeom prst="roundRect">
            <a:avLst/>
          </a:prstGeom>
        </p:spPr>
        <p:style>
          <a:lnRef idx="2">
            <a:schemeClr val="dk1">
              <a:shade val="50000"/>
            </a:schemeClr>
          </a:lnRef>
          <a:fillRef idx="1">
            <a:schemeClr val="dk1"/>
          </a:fillRef>
          <a:effectRef idx="0">
            <a:schemeClr val="dk1"/>
          </a:effectRef>
          <a:fontRef idx="minor">
            <a:schemeClr val="lt1"/>
          </a:fontRef>
        </p:style>
        <p:txBody>
          <a:bodyPr vert="vert270" rtlCol="0" anchor="ctr"/>
          <a:lstStyle/>
          <a:p>
            <a:pPr algn="ctr"/>
            <a:r>
              <a:rPr lang="en-GB" sz="1200" dirty="0"/>
              <a:t>Academy Participation</a:t>
            </a:r>
          </a:p>
        </p:txBody>
      </p:sp>
      <p:sp>
        <p:nvSpPr>
          <p:cNvPr id="69" name="Rectangle: Rounded Corners 68">
            <a:extLst>
              <a:ext uri="{FF2B5EF4-FFF2-40B4-BE49-F238E27FC236}">
                <a16:creationId xmlns:a16="http://schemas.microsoft.com/office/drawing/2014/main" id="{B80CDB1D-DB9E-448C-985C-C79544E9831C}"/>
              </a:ext>
            </a:extLst>
          </p:cNvPr>
          <p:cNvSpPr/>
          <p:nvPr/>
        </p:nvSpPr>
        <p:spPr>
          <a:xfrm>
            <a:off x="4322028" y="962358"/>
            <a:ext cx="2472177" cy="880388"/>
          </a:xfrm>
          <a:prstGeom prst="round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dirty="0">
                <a:solidFill>
                  <a:prstClr val="white"/>
                </a:solidFill>
                <a:latin typeface="Gotham Book"/>
              </a:rPr>
              <a:t>Employees and volunteers increase job experience. </a:t>
            </a:r>
          </a:p>
        </p:txBody>
      </p:sp>
      <p:sp>
        <p:nvSpPr>
          <p:cNvPr id="147" name="Rectangle: Rounded Corners 146">
            <a:extLst>
              <a:ext uri="{FF2B5EF4-FFF2-40B4-BE49-F238E27FC236}">
                <a16:creationId xmlns:a16="http://schemas.microsoft.com/office/drawing/2014/main" id="{11883265-EB45-4FA2-885E-E4F088307694}"/>
              </a:ext>
            </a:extLst>
          </p:cNvPr>
          <p:cNvSpPr/>
          <p:nvPr/>
        </p:nvSpPr>
        <p:spPr>
          <a:xfrm>
            <a:off x="640570" y="5816006"/>
            <a:ext cx="2964267" cy="4701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200" i="0" u="none" strike="noStrike" kern="1200" cap="none" spc="0" normalizeH="0" baseline="0" noProof="0" dirty="0">
                <a:ln>
                  <a:noFill/>
                </a:ln>
                <a:solidFill>
                  <a:prstClr val="white"/>
                </a:solidFill>
                <a:effectLst/>
                <a:uLnTx/>
                <a:uFillTx/>
                <a:latin typeface="Gotham Book"/>
                <a:ea typeface="+mn-ea"/>
                <a:cs typeface="+mn-cs"/>
              </a:rPr>
              <a:t>Physical exercise and training for people who struggle to access alternative clubs. </a:t>
            </a:r>
          </a:p>
        </p:txBody>
      </p:sp>
      <p:cxnSp>
        <p:nvCxnSpPr>
          <p:cNvPr id="153" name="Connector: Elbow 152">
            <a:extLst>
              <a:ext uri="{FF2B5EF4-FFF2-40B4-BE49-F238E27FC236}">
                <a16:creationId xmlns:a16="http://schemas.microsoft.com/office/drawing/2014/main" id="{FEFEF963-B0AD-46D2-8B13-7B2982BDF4FF}"/>
              </a:ext>
            </a:extLst>
          </p:cNvPr>
          <p:cNvCxnSpPr>
            <a:cxnSpLocks/>
            <a:stCxn id="59" idx="3"/>
            <a:endCxn id="69" idx="1"/>
          </p:cNvCxnSpPr>
          <p:nvPr/>
        </p:nvCxnSpPr>
        <p:spPr>
          <a:xfrm>
            <a:off x="3492297" y="1225699"/>
            <a:ext cx="829731" cy="176853"/>
          </a:xfrm>
          <a:prstGeom prst="bentConnector3">
            <a:avLst/>
          </a:prstGeom>
          <a:ln w="28575">
            <a:tailEnd type="triangle"/>
          </a:ln>
        </p:spPr>
        <p:style>
          <a:lnRef idx="1">
            <a:schemeClr val="dk1"/>
          </a:lnRef>
          <a:fillRef idx="0">
            <a:schemeClr val="dk1"/>
          </a:fillRef>
          <a:effectRef idx="0">
            <a:schemeClr val="dk1"/>
          </a:effectRef>
          <a:fontRef idx="minor">
            <a:schemeClr val="tx1"/>
          </a:fontRef>
        </p:style>
      </p:cxnSp>
      <p:cxnSp>
        <p:nvCxnSpPr>
          <p:cNvPr id="154" name="Connector: Elbow 153">
            <a:extLst>
              <a:ext uri="{FF2B5EF4-FFF2-40B4-BE49-F238E27FC236}">
                <a16:creationId xmlns:a16="http://schemas.microsoft.com/office/drawing/2014/main" id="{5316FF4F-39E6-4D01-9241-737392266759}"/>
              </a:ext>
            </a:extLst>
          </p:cNvPr>
          <p:cNvCxnSpPr>
            <a:cxnSpLocks/>
            <a:stCxn id="58" idx="3"/>
            <a:endCxn id="69" idx="1"/>
          </p:cNvCxnSpPr>
          <p:nvPr/>
        </p:nvCxnSpPr>
        <p:spPr>
          <a:xfrm flipV="1">
            <a:off x="3492294" y="1402552"/>
            <a:ext cx="829734" cy="454685"/>
          </a:xfrm>
          <a:prstGeom prst="bentConnector3">
            <a:avLst/>
          </a:prstGeom>
          <a:ln w="28575">
            <a:tailEnd type="triangle"/>
          </a:ln>
        </p:spPr>
        <p:style>
          <a:lnRef idx="1">
            <a:schemeClr val="dk1"/>
          </a:lnRef>
          <a:fillRef idx="0">
            <a:schemeClr val="dk1"/>
          </a:fillRef>
          <a:effectRef idx="0">
            <a:schemeClr val="dk1"/>
          </a:effectRef>
          <a:fontRef idx="minor">
            <a:schemeClr val="tx1"/>
          </a:fontRef>
        </p:style>
      </p:cxnSp>
      <p:cxnSp>
        <p:nvCxnSpPr>
          <p:cNvPr id="157" name="Connector: Elbow 156">
            <a:extLst>
              <a:ext uri="{FF2B5EF4-FFF2-40B4-BE49-F238E27FC236}">
                <a16:creationId xmlns:a16="http://schemas.microsoft.com/office/drawing/2014/main" id="{66EB90B3-E761-46F8-8F60-44E437D631DC}"/>
              </a:ext>
            </a:extLst>
          </p:cNvPr>
          <p:cNvCxnSpPr>
            <a:cxnSpLocks/>
            <a:stCxn id="61" idx="3"/>
            <a:endCxn id="9" idx="1"/>
          </p:cNvCxnSpPr>
          <p:nvPr/>
        </p:nvCxnSpPr>
        <p:spPr>
          <a:xfrm>
            <a:off x="3492295" y="2804365"/>
            <a:ext cx="827525" cy="598654"/>
          </a:xfrm>
          <a:prstGeom prst="bentConnector3">
            <a:avLst/>
          </a:prstGeom>
          <a:ln w="28575">
            <a:tailEnd type="triangle"/>
          </a:ln>
        </p:spPr>
        <p:style>
          <a:lnRef idx="1">
            <a:schemeClr val="dk1"/>
          </a:lnRef>
          <a:fillRef idx="0">
            <a:schemeClr val="dk1"/>
          </a:fillRef>
          <a:effectRef idx="0">
            <a:schemeClr val="dk1"/>
          </a:effectRef>
          <a:fontRef idx="minor">
            <a:schemeClr val="tx1"/>
          </a:fontRef>
        </p:style>
      </p:cxnSp>
      <p:cxnSp>
        <p:nvCxnSpPr>
          <p:cNvPr id="160" name="Connector: Elbow 159">
            <a:extLst>
              <a:ext uri="{FF2B5EF4-FFF2-40B4-BE49-F238E27FC236}">
                <a16:creationId xmlns:a16="http://schemas.microsoft.com/office/drawing/2014/main" id="{7A44726A-1188-449C-A2BE-47185BBAB07D}"/>
              </a:ext>
            </a:extLst>
          </p:cNvPr>
          <p:cNvCxnSpPr>
            <a:cxnSpLocks/>
            <a:stCxn id="56" idx="3"/>
            <a:endCxn id="9" idx="1"/>
          </p:cNvCxnSpPr>
          <p:nvPr/>
        </p:nvCxnSpPr>
        <p:spPr>
          <a:xfrm>
            <a:off x="3492295" y="3403019"/>
            <a:ext cx="827525" cy="12700"/>
          </a:xfrm>
          <a:prstGeom prst="bentConnector3">
            <a:avLst/>
          </a:prstGeom>
          <a:ln w="28575">
            <a:tailEnd type="triangle"/>
          </a:ln>
        </p:spPr>
        <p:style>
          <a:lnRef idx="1">
            <a:schemeClr val="dk1"/>
          </a:lnRef>
          <a:fillRef idx="0">
            <a:schemeClr val="dk1"/>
          </a:fillRef>
          <a:effectRef idx="0">
            <a:schemeClr val="dk1"/>
          </a:effectRef>
          <a:fontRef idx="minor">
            <a:schemeClr val="tx1"/>
          </a:fontRef>
        </p:style>
      </p:cxnSp>
      <p:cxnSp>
        <p:nvCxnSpPr>
          <p:cNvPr id="163" name="Connector: Elbow 162">
            <a:extLst>
              <a:ext uri="{FF2B5EF4-FFF2-40B4-BE49-F238E27FC236}">
                <a16:creationId xmlns:a16="http://schemas.microsoft.com/office/drawing/2014/main" id="{ED8130BD-0C66-48E3-A006-E564DA031FD3}"/>
              </a:ext>
            </a:extLst>
          </p:cNvPr>
          <p:cNvCxnSpPr>
            <a:cxnSpLocks/>
            <a:stCxn id="55" idx="3"/>
            <a:endCxn id="9" idx="1"/>
          </p:cNvCxnSpPr>
          <p:nvPr/>
        </p:nvCxnSpPr>
        <p:spPr>
          <a:xfrm flipV="1">
            <a:off x="3492294" y="3403019"/>
            <a:ext cx="827526" cy="622604"/>
          </a:xfrm>
          <a:prstGeom prst="bentConnector3">
            <a:avLst>
              <a:gd name="adj1" fmla="val 50000"/>
            </a:avLst>
          </a:prstGeom>
          <a:ln w="28575">
            <a:tailEnd type="triangle"/>
          </a:ln>
        </p:spPr>
        <p:style>
          <a:lnRef idx="1">
            <a:schemeClr val="dk1"/>
          </a:lnRef>
          <a:fillRef idx="0">
            <a:schemeClr val="dk1"/>
          </a:fillRef>
          <a:effectRef idx="0">
            <a:schemeClr val="dk1"/>
          </a:effectRef>
          <a:fontRef idx="minor">
            <a:schemeClr val="tx1"/>
          </a:fontRef>
        </p:style>
      </p:cxnSp>
      <p:sp>
        <p:nvSpPr>
          <p:cNvPr id="166" name="Right Brace 165">
            <a:extLst>
              <a:ext uri="{FF2B5EF4-FFF2-40B4-BE49-F238E27FC236}">
                <a16:creationId xmlns:a16="http://schemas.microsoft.com/office/drawing/2014/main" id="{1CE5F36E-FCAD-490C-9910-9B5386DDA294}"/>
              </a:ext>
            </a:extLst>
          </p:cNvPr>
          <p:cNvSpPr/>
          <p:nvPr/>
        </p:nvSpPr>
        <p:spPr>
          <a:xfrm rot="5400000">
            <a:off x="1947375" y="2923212"/>
            <a:ext cx="182039" cy="2964266"/>
          </a:xfrm>
          <a:prstGeom prst="rightBrace">
            <a:avLst/>
          </a:prstGeom>
          <a:ln w="31750"/>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cxnSp>
        <p:nvCxnSpPr>
          <p:cNvPr id="167" name="Connector: Elbow 166">
            <a:extLst>
              <a:ext uri="{FF2B5EF4-FFF2-40B4-BE49-F238E27FC236}">
                <a16:creationId xmlns:a16="http://schemas.microsoft.com/office/drawing/2014/main" id="{B3512143-E3C7-45B7-8A1B-A294E672FC00}"/>
              </a:ext>
            </a:extLst>
          </p:cNvPr>
          <p:cNvCxnSpPr>
            <a:cxnSpLocks/>
            <a:stCxn id="166" idx="1"/>
            <a:endCxn id="23" idx="0"/>
          </p:cNvCxnSpPr>
          <p:nvPr/>
        </p:nvCxnSpPr>
        <p:spPr>
          <a:xfrm rot="16200000" flipH="1">
            <a:off x="3330410" y="3204349"/>
            <a:ext cx="792957" cy="3376988"/>
          </a:xfrm>
          <a:prstGeom prst="bentConnector3">
            <a:avLst>
              <a:gd name="adj1" fmla="val 38273"/>
            </a:avLst>
          </a:prstGeom>
          <a:ln w="28575">
            <a:tailEnd type="triangle"/>
          </a:ln>
        </p:spPr>
        <p:style>
          <a:lnRef idx="1">
            <a:schemeClr val="dk1"/>
          </a:lnRef>
          <a:fillRef idx="0">
            <a:schemeClr val="dk1"/>
          </a:fillRef>
          <a:effectRef idx="0">
            <a:schemeClr val="dk1"/>
          </a:effectRef>
          <a:fontRef idx="minor">
            <a:schemeClr val="tx1"/>
          </a:fontRef>
        </p:style>
      </p:cxnSp>
      <p:sp>
        <p:nvSpPr>
          <p:cNvPr id="175" name="Arrow: Down 174">
            <a:extLst>
              <a:ext uri="{FF2B5EF4-FFF2-40B4-BE49-F238E27FC236}">
                <a16:creationId xmlns:a16="http://schemas.microsoft.com/office/drawing/2014/main" id="{C4F2F397-A192-4120-B159-7833C64A4DEA}"/>
              </a:ext>
            </a:extLst>
          </p:cNvPr>
          <p:cNvSpPr/>
          <p:nvPr/>
        </p:nvSpPr>
        <p:spPr>
          <a:xfrm flipV="1">
            <a:off x="5789509" y="1946539"/>
            <a:ext cx="203002" cy="784818"/>
          </a:xfrm>
          <a:prstGeom prst="downArrow">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1200"/>
          </a:p>
        </p:txBody>
      </p:sp>
      <p:cxnSp>
        <p:nvCxnSpPr>
          <p:cNvPr id="182" name="Connector: Elbow 181">
            <a:extLst>
              <a:ext uri="{FF2B5EF4-FFF2-40B4-BE49-F238E27FC236}">
                <a16:creationId xmlns:a16="http://schemas.microsoft.com/office/drawing/2014/main" id="{234479A4-33BD-4EC6-B778-ABCD366CD1D3}"/>
              </a:ext>
            </a:extLst>
          </p:cNvPr>
          <p:cNvCxnSpPr>
            <a:cxnSpLocks/>
            <a:stCxn id="62" idx="3"/>
            <a:endCxn id="23" idx="1"/>
          </p:cNvCxnSpPr>
          <p:nvPr/>
        </p:nvCxnSpPr>
        <p:spPr>
          <a:xfrm>
            <a:off x="3604838" y="5393022"/>
            <a:ext cx="574456" cy="336494"/>
          </a:xfrm>
          <a:prstGeom prst="bentConnector3">
            <a:avLst>
              <a:gd name="adj1" fmla="val 50000"/>
            </a:avLst>
          </a:prstGeom>
          <a:ln w="28575">
            <a:tailEnd type="triangle"/>
          </a:ln>
        </p:spPr>
        <p:style>
          <a:lnRef idx="1">
            <a:schemeClr val="dk1"/>
          </a:lnRef>
          <a:fillRef idx="0">
            <a:schemeClr val="dk1"/>
          </a:fillRef>
          <a:effectRef idx="0">
            <a:schemeClr val="dk1"/>
          </a:effectRef>
          <a:fontRef idx="minor">
            <a:schemeClr val="tx1"/>
          </a:fontRef>
        </p:style>
      </p:cxnSp>
      <p:cxnSp>
        <p:nvCxnSpPr>
          <p:cNvPr id="185" name="Connector: Elbow 184">
            <a:extLst>
              <a:ext uri="{FF2B5EF4-FFF2-40B4-BE49-F238E27FC236}">
                <a16:creationId xmlns:a16="http://schemas.microsoft.com/office/drawing/2014/main" id="{4F7733F0-CF35-475D-A4A8-149B13AC2B89}"/>
              </a:ext>
            </a:extLst>
          </p:cNvPr>
          <p:cNvCxnSpPr>
            <a:cxnSpLocks/>
            <a:stCxn id="147" idx="3"/>
            <a:endCxn id="23" idx="1"/>
          </p:cNvCxnSpPr>
          <p:nvPr/>
        </p:nvCxnSpPr>
        <p:spPr>
          <a:xfrm flipV="1">
            <a:off x="3604837" y="5729516"/>
            <a:ext cx="574457" cy="321556"/>
          </a:xfrm>
          <a:prstGeom prst="bentConnector3">
            <a:avLst>
              <a:gd name="adj1" fmla="val 50000"/>
            </a:avLst>
          </a:prstGeom>
          <a:ln w="28575">
            <a:tailEnd type="triangle"/>
          </a:ln>
        </p:spPr>
        <p:style>
          <a:lnRef idx="1">
            <a:schemeClr val="dk1"/>
          </a:lnRef>
          <a:fillRef idx="0">
            <a:schemeClr val="dk1"/>
          </a:fillRef>
          <a:effectRef idx="0">
            <a:schemeClr val="dk1"/>
          </a:effectRef>
          <a:fontRef idx="minor">
            <a:schemeClr val="tx1"/>
          </a:fontRef>
        </p:style>
      </p:cxnSp>
      <p:sp>
        <p:nvSpPr>
          <p:cNvPr id="223" name="Arrow: Down 222">
            <a:extLst>
              <a:ext uri="{FF2B5EF4-FFF2-40B4-BE49-F238E27FC236}">
                <a16:creationId xmlns:a16="http://schemas.microsoft.com/office/drawing/2014/main" id="{315C5D13-9D0C-41C7-A8CB-1DB2A15DA37D}"/>
              </a:ext>
            </a:extLst>
          </p:cNvPr>
          <p:cNvSpPr/>
          <p:nvPr/>
        </p:nvSpPr>
        <p:spPr>
          <a:xfrm flipV="1">
            <a:off x="5789509" y="4168155"/>
            <a:ext cx="203002" cy="784818"/>
          </a:xfrm>
          <a:prstGeom prst="downArrow">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1200"/>
          </a:p>
        </p:txBody>
      </p:sp>
      <p:sp>
        <p:nvSpPr>
          <p:cNvPr id="224" name="Arrow: Bent 223">
            <a:extLst>
              <a:ext uri="{FF2B5EF4-FFF2-40B4-BE49-F238E27FC236}">
                <a16:creationId xmlns:a16="http://schemas.microsoft.com/office/drawing/2014/main" id="{A32EDEB2-ADC3-4855-BA6D-4EBE24BC8101}"/>
              </a:ext>
            </a:extLst>
          </p:cNvPr>
          <p:cNvSpPr/>
          <p:nvPr/>
        </p:nvSpPr>
        <p:spPr>
          <a:xfrm rot="5400000">
            <a:off x="10372511" y="2356309"/>
            <a:ext cx="680484" cy="532549"/>
          </a:xfrm>
          <a:prstGeom prst="bentArrow">
            <a:avLst>
              <a:gd name="adj1" fmla="val 17013"/>
              <a:gd name="adj2" fmla="val 25000"/>
              <a:gd name="adj3" fmla="val 25000"/>
              <a:gd name="adj4" fmla="val 4375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1200"/>
          </a:p>
        </p:txBody>
      </p:sp>
      <p:sp>
        <p:nvSpPr>
          <p:cNvPr id="225" name="Arrow: Bent 224">
            <a:extLst>
              <a:ext uri="{FF2B5EF4-FFF2-40B4-BE49-F238E27FC236}">
                <a16:creationId xmlns:a16="http://schemas.microsoft.com/office/drawing/2014/main" id="{68A750BC-86B1-4E5A-8361-F4E7D58CE3B0}"/>
              </a:ext>
            </a:extLst>
          </p:cNvPr>
          <p:cNvSpPr/>
          <p:nvPr/>
        </p:nvSpPr>
        <p:spPr>
          <a:xfrm rot="16200000" flipV="1">
            <a:off x="10333012" y="4099590"/>
            <a:ext cx="680484" cy="532549"/>
          </a:xfrm>
          <a:prstGeom prst="bentArrow">
            <a:avLst>
              <a:gd name="adj1" fmla="val 17013"/>
              <a:gd name="adj2" fmla="val 25000"/>
              <a:gd name="adj3" fmla="val 25000"/>
              <a:gd name="adj4" fmla="val 4375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1200"/>
          </a:p>
        </p:txBody>
      </p:sp>
      <p:sp>
        <p:nvSpPr>
          <p:cNvPr id="226" name="Right Brace 225">
            <a:extLst>
              <a:ext uri="{FF2B5EF4-FFF2-40B4-BE49-F238E27FC236}">
                <a16:creationId xmlns:a16="http://schemas.microsoft.com/office/drawing/2014/main" id="{FBBB58AD-935B-48A7-9C4B-0C3C2282F8B6}"/>
              </a:ext>
            </a:extLst>
          </p:cNvPr>
          <p:cNvSpPr/>
          <p:nvPr/>
        </p:nvSpPr>
        <p:spPr>
          <a:xfrm>
            <a:off x="6841777" y="1276542"/>
            <a:ext cx="145460" cy="2082409"/>
          </a:xfrm>
          <a:prstGeom prst="rightBrace">
            <a:avLst/>
          </a:prstGeom>
          <a:ln w="31750"/>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227" name="Right Brace 226">
            <a:extLst>
              <a:ext uri="{FF2B5EF4-FFF2-40B4-BE49-F238E27FC236}">
                <a16:creationId xmlns:a16="http://schemas.microsoft.com/office/drawing/2014/main" id="{99B18C89-F352-4289-A7B8-B673C6F69416}"/>
              </a:ext>
            </a:extLst>
          </p:cNvPr>
          <p:cNvSpPr/>
          <p:nvPr/>
        </p:nvSpPr>
        <p:spPr>
          <a:xfrm>
            <a:off x="6841777" y="3598247"/>
            <a:ext cx="145460" cy="2082409"/>
          </a:xfrm>
          <a:prstGeom prst="rightBrace">
            <a:avLst/>
          </a:prstGeom>
          <a:ln w="31750"/>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569323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B002D43A-FCF9-45BE-9B34-95216C3389E1}"/>
              </a:ext>
            </a:extLst>
          </p:cNvPr>
          <p:cNvSpPr>
            <a:spLocks noGrp="1"/>
          </p:cNvSpPr>
          <p:nvPr>
            <p:ph type="body" sz="quarter" idx="13"/>
          </p:nvPr>
        </p:nvSpPr>
        <p:spPr>
          <a:xfrm>
            <a:off x="106327" y="108586"/>
            <a:ext cx="11109278" cy="492252"/>
          </a:xfrm>
        </p:spPr>
        <p:txBody>
          <a:bodyPr>
            <a:normAutofit fontScale="77500" lnSpcReduction="20000"/>
          </a:bodyPr>
          <a:lstStyle/>
          <a:p>
            <a:r>
              <a:rPr lang="en-GB" dirty="0"/>
              <a:t>Impact Plan Development </a:t>
            </a:r>
          </a:p>
        </p:txBody>
      </p:sp>
      <p:graphicFrame>
        <p:nvGraphicFramePr>
          <p:cNvPr id="6" name="Table 5">
            <a:extLst>
              <a:ext uri="{FF2B5EF4-FFF2-40B4-BE49-F238E27FC236}">
                <a16:creationId xmlns:a16="http://schemas.microsoft.com/office/drawing/2014/main" id="{B1BCFE9A-AC7C-4A16-8ABB-4667628AA762}"/>
              </a:ext>
            </a:extLst>
          </p:cNvPr>
          <p:cNvGraphicFramePr>
            <a:graphicFrameLocks noGrp="1"/>
          </p:cNvGraphicFramePr>
          <p:nvPr>
            <p:extLst>
              <p:ext uri="{D42A27DB-BD31-4B8C-83A1-F6EECF244321}">
                <p14:modId xmlns:p14="http://schemas.microsoft.com/office/powerpoint/2010/main" val="2800441833"/>
              </p:ext>
            </p:extLst>
          </p:nvPr>
        </p:nvGraphicFramePr>
        <p:xfrm>
          <a:off x="106327" y="1468888"/>
          <a:ext cx="11908467" cy="3144139"/>
        </p:xfrm>
        <a:graphic>
          <a:graphicData uri="http://schemas.openxmlformats.org/drawingml/2006/table">
            <a:tbl>
              <a:tblPr/>
              <a:tblGrid>
                <a:gridCol w="1565847">
                  <a:extLst>
                    <a:ext uri="{9D8B030D-6E8A-4147-A177-3AD203B41FA5}">
                      <a16:colId xmlns:a16="http://schemas.microsoft.com/office/drawing/2014/main" val="2602851909"/>
                    </a:ext>
                  </a:extLst>
                </a:gridCol>
                <a:gridCol w="1565847">
                  <a:extLst>
                    <a:ext uri="{9D8B030D-6E8A-4147-A177-3AD203B41FA5}">
                      <a16:colId xmlns:a16="http://schemas.microsoft.com/office/drawing/2014/main" val="2666445460"/>
                    </a:ext>
                  </a:extLst>
                </a:gridCol>
                <a:gridCol w="1565847">
                  <a:extLst>
                    <a:ext uri="{9D8B030D-6E8A-4147-A177-3AD203B41FA5}">
                      <a16:colId xmlns:a16="http://schemas.microsoft.com/office/drawing/2014/main" val="4205842842"/>
                    </a:ext>
                  </a:extLst>
                </a:gridCol>
                <a:gridCol w="1724523">
                  <a:extLst>
                    <a:ext uri="{9D8B030D-6E8A-4147-A177-3AD203B41FA5}">
                      <a16:colId xmlns:a16="http://schemas.microsoft.com/office/drawing/2014/main" val="1154683531"/>
                    </a:ext>
                  </a:extLst>
                </a:gridCol>
                <a:gridCol w="1743739">
                  <a:extLst>
                    <a:ext uri="{9D8B030D-6E8A-4147-A177-3AD203B41FA5}">
                      <a16:colId xmlns:a16="http://schemas.microsoft.com/office/drawing/2014/main" val="1719085220"/>
                    </a:ext>
                  </a:extLst>
                </a:gridCol>
                <a:gridCol w="1605517">
                  <a:extLst>
                    <a:ext uri="{9D8B030D-6E8A-4147-A177-3AD203B41FA5}">
                      <a16:colId xmlns:a16="http://schemas.microsoft.com/office/drawing/2014/main" val="1649294857"/>
                    </a:ext>
                  </a:extLst>
                </a:gridCol>
                <a:gridCol w="1189609">
                  <a:extLst>
                    <a:ext uri="{9D8B030D-6E8A-4147-A177-3AD203B41FA5}">
                      <a16:colId xmlns:a16="http://schemas.microsoft.com/office/drawing/2014/main" val="2744409127"/>
                    </a:ext>
                  </a:extLst>
                </a:gridCol>
                <a:gridCol w="947538">
                  <a:extLst>
                    <a:ext uri="{9D8B030D-6E8A-4147-A177-3AD203B41FA5}">
                      <a16:colId xmlns:a16="http://schemas.microsoft.com/office/drawing/2014/main" val="2873865400"/>
                    </a:ext>
                  </a:extLst>
                </a:gridCol>
              </a:tblGrid>
              <a:tr h="253586">
                <a:tc>
                  <a:txBody>
                    <a:bodyPr/>
                    <a:lstStyle/>
                    <a:p>
                      <a:pPr algn="ctr" fontAlgn="t"/>
                      <a:r>
                        <a:rPr lang="en-GB" sz="1400" b="1" i="0" u="none" strike="noStrike">
                          <a:solidFill>
                            <a:srgbClr val="FFFFFF"/>
                          </a:solidFill>
                          <a:effectLst/>
                          <a:latin typeface="Arial" panose="020B0604020202020204" pitchFamily="34" charset="0"/>
                        </a:rPr>
                        <a:t>Indicator</a:t>
                      </a:r>
                    </a:p>
                  </a:txBody>
                  <a:tcPr marL="5318" marR="5318" marT="5318" marB="0">
                    <a:lnL w="6350" cap="flat" cmpd="sng" algn="ctr">
                      <a:solidFill>
                        <a:srgbClr val="95B3D7"/>
                      </a:solidFill>
                      <a:prstDash val="solid"/>
                      <a:round/>
                      <a:headEnd type="none" w="med" len="med"/>
                      <a:tailEnd type="none" w="med" len="med"/>
                    </a:lnL>
                    <a:lnR>
                      <a:noFill/>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4F81BD"/>
                    </a:solidFill>
                  </a:tcPr>
                </a:tc>
                <a:tc>
                  <a:txBody>
                    <a:bodyPr/>
                    <a:lstStyle/>
                    <a:p>
                      <a:pPr algn="ctr" fontAlgn="t"/>
                      <a:r>
                        <a:rPr lang="en-GB" sz="1400" b="1" i="0" u="none" strike="noStrike" dirty="0">
                          <a:solidFill>
                            <a:srgbClr val="FFFFFF"/>
                          </a:solidFill>
                          <a:effectLst/>
                          <a:latin typeface="Arial" panose="020B0604020202020204" pitchFamily="34" charset="0"/>
                        </a:rPr>
                        <a:t>Method</a:t>
                      </a:r>
                    </a:p>
                  </a:txBody>
                  <a:tcPr marL="5318" marR="5318" marT="5318" marB="0">
                    <a:lnL>
                      <a:noFill/>
                    </a:lnL>
                    <a:lnR>
                      <a:noFill/>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4F81BD"/>
                    </a:solidFill>
                  </a:tcPr>
                </a:tc>
                <a:tc>
                  <a:txBody>
                    <a:bodyPr/>
                    <a:lstStyle/>
                    <a:p>
                      <a:pPr algn="ctr" fontAlgn="t"/>
                      <a:r>
                        <a:rPr lang="en-GB" sz="1400" b="1" i="0" u="none" strike="noStrike" dirty="0">
                          <a:solidFill>
                            <a:srgbClr val="FFFFFF"/>
                          </a:solidFill>
                          <a:effectLst/>
                          <a:latin typeface="Arial" panose="020B0604020202020204" pitchFamily="34" charset="0"/>
                        </a:rPr>
                        <a:t>Milestone</a:t>
                      </a:r>
                    </a:p>
                  </a:txBody>
                  <a:tcPr marL="5318" marR="5318" marT="5318" marB="0">
                    <a:lnL>
                      <a:noFill/>
                    </a:lnL>
                    <a:lnR>
                      <a:noFill/>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4F81BD"/>
                    </a:solidFill>
                  </a:tcPr>
                </a:tc>
                <a:tc>
                  <a:txBody>
                    <a:bodyPr/>
                    <a:lstStyle/>
                    <a:p>
                      <a:pPr algn="ctr" fontAlgn="t"/>
                      <a:r>
                        <a:rPr lang="en-GB" sz="1400" b="1" i="0" u="none" strike="noStrike">
                          <a:solidFill>
                            <a:srgbClr val="FFFFFF"/>
                          </a:solidFill>
                          <a:effectLst/>
                          <a:latin typeface="Arial" panose="020B0604020202020204" pitchFamily="34" charset="0"/>
                        </a:rPr>
                        <a:t>Target</a:t>
                      </a:r>
                    </a:p>
                  </a:txBody>
                  <a:tcPr marL="5318" marR="5318" marT="5318" marB="0">
                    <a:lnL>
                      <a:noFill/>
                    </a:lnL>
                    <a:lnR>
                      <a:noFill/>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4F81BD"/>
                    </a:solidFill>
                  </a:tcPr>
                </a:tc>
                <a:tc>
                  <a:txBody>
                    <a:bodyPr/>
                    <a:lstStyle/>
                    <a:p>
                      <a:pPr algn="ctr" fontAlgn="t"/>
                      <a:r>
                        <a:rPr lang="en-GB" sz="1400" b="1" i="0" u="none" strike="noStrike">
                          <a:solidFill>
                            <a:srgbClr val="FFFFFF"/>
                          </a:solidFill>
                          <a:effectLst/>
                          <a:latin typeface="Arial" panose="020B0604020202020204" pitchFamily="34" charset="0"/>
                        </a:rPr>
                        <a:t>When will data be collected?</a:t>
                      </a:r>
                    </a:p>
                  </a:txBody>
                  <a:tcPr marL="5318" marR="5318" marT="5318" marB="0">
                    <a:lnL>
                      <a:noFill/>
                    </a:lnL>
                    <a:lnR>
                      <a:noFill/>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4F81BD"/>
                    </a:solidFill>
                  </a:tcPr>
                </a:tc>
                <a:tc>
                  <a:txBody>
                    <a:bodyPr/>
                    <a:lstStyle/>
                    <a:p>
                      <a:pPr algn="ctr" fontAlgn="t"/>
                      <a:r>
                        <a:rPr lang="en-GB" sz="1400" b="1" i="0" u="none" strike="noStrike">
                          <a:solidFill>
                            <a:srgbClr val="FFFFFF"/>
                          </a:solidFill>
                          <a:effectLst/>
                          <a:latin typeface="Arial" panose="020B0604020202020204" pitchFamily="34" charset="0"/>
                        </a:rPr>
                        <a:t>How long will it take?</a:t>
                      </a:r>
                    </a:p>
                  </a:txBody>
                  <a:tcPr marL="5318" marR="5318" marT="5318" marB="0">
                    <a:lnL>
                      <a:noFill/>
                    </a:lnL>
                    <a:lnR>
                      <a:noFill/>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4F81BD"/>
                    </a:solidFill>
                  </a:tcPr>
                </a:tc>
                <a:tc>
                  <a:txBody>
                    <a:bodyPr/>
                    <a:lstStyle/>
                    <a:p>
                      <a:pPr algn="ctr" fontAlgn="t"/>
                      <a:r>
                        <a:rPr lang="en-GB" sz="1400" b="1" i="0" u="none" strike="noStrike">
                          <a:solidFill>
                            <a:srgbClr val="FFFFFF"/>
                          </a:solidFill>
                          <a:effectLst/>
                          <a:latin typeface="Arial" panose="020B0604020202020204" pitchFamily="34" charset="0"/>
                        </a:rPr>
                        <a:t>Who is responsible?</a:t>
                      </a:r>
                    </a:p>
                  </a:txBody>
                  <a:tcPr marL="5318" marR="5318" marT="5318" marB="0">
                    <a:lnL>
                      <a:noFill/>
                    </a:lnL>
                    <a:lnR>
                      <a:noFill/>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4F81BD"/>
                    </a:solidFill>
                  </a:tcPr>
                </a:tc>
                <a:tc>
                  <a:txBody>
                    <a:bodyPr/>
                    <a:lstStyle/>
                    <a:p>
                      <a:pPr algn="ctr" fontAlgn="t"/>
                      <a:r>
                        <a:rPr lang="en-GB" sz="1400" b="1" i="0" u="none" strike="noStrike">
                          <a:solidFill>
                            <a:srgbClr val="FFFFFF"/>
                          </a:solidFill>
                          <a:effectLst/>
                          <a:latin typeface="Arial" panose="020B0604020202020204" pitchFamily="34" charset="0"/>
                        </a:rPr>
                        <a:t>Cost</a:t>
                      </a:r>
                    </a:p>
                  </a:txBody>
                  <a:tcPr marL="5318" marR="5318" marT="5318" marB="0">
                    <a:lnL>
                      <a:noFill/>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4F81BD"/>
                    </a:solidFill>
                  </a:tcPr>
                </a:tc>
                <a:extLst>
                  <a:ext uri="{0D108BD9-81ED-4DB2-BD59-A6C34878D82A}">
                    <a16:rowId xmlns:a16="http://schemas.microsoft.com/office/drawing/2014/main" val="1217874115"/>
                  </a:ext>
                </a:extLst>
              </a:tr>
              <a:tr h="501587">
                <a:tc>
                  <a:txBody>
                    <a:bodyPr/>
                    <a:lstStyle/>
                    <a:p>
                      <a:pPr algn="l" fontAlgn="t"/>
                      <a:r>
                        <a:rPr lang="en-GB" sz="1200" b="0" i="0" u="none" strike="noStrike" dirty="0">
                          <a:solidFill>
                            <a:srgbClr val="000000"/>
                          </a:solidFill>
                          <a:effectLst/>
                          <a:latin typeface="Arial" panose="020B0604020202020204" pitchFamily="34" charset="0"/>
                        </a:rPr>
                        <a:t>% of employees and volunteers moving onto new employment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Exit interviews with employees and volunteers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B8CCE4"/>
                    </a:solidFill>
                  </a:tcPr>
                </a:tc>
                <a:tc>
                  <a:txBody>
                    <a:bodyPr/>
                    <a:lstStyle/>
                    <a:p>
                      <a:pPr algn="l" fontAlgn="t"/>
                      <a:r>
                        <a:rPr lang="en-GB" sz="1200" b="0" i="0" u="none" strike="noStrike" dirty="0">
                          <a:solidFill>
                            <a:srgbClr val="000000"/>
                          </a:solidFill>
                          <a:effectLst/>
                          <a:latin typeface="Arial" panose="020B0604020202020204" pitchFamily="34" charset="0"/>
                        </a:rPr>
                        <a:t>?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When the employee or volunteer leaves </a:t>
                      </a:r>
                      <a:r>
                        <a:rPr lang="en-GB" sz="1200" b="0" i="0" u="none" strike="noStrike" dirty="0" err="1">
                          <a:solidFill>
                            <a:srgbClr val="000000"/>
                          </a:solidFill>
                          <a:effectLst/>
                          <a:latin typeface="Arial" panose="020B0604020202020204" pitchFamily="34" charset="0"/>
                        </a:rPr>
                        <a:t>Sofab</a:t>
                      </a:r>
                      <a:r>
                        <a:rPr lang="en-GB" sz="1200" b="0" i="0" u="none" strike="noStrike" dirty="0">
                          <a:solidFill>
                            <a:srgbClr val="000000"/>
                          </a:solidFill>
                          <a:effectLst/>
                          <a:latin typeface="Arial" panose="020B0604020202020204" pitchFamily="34" charset="0"/>
                        </a:rPr>
                        <a:t>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20 minutes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Dale?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N/a</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extLst>
                  <a:ext uri="{0D108BD9-81ED-4DB2-BD59-A6C34878D82A}">
                    <a16:rowId xmlns:a16="http://schemas.microsoft.com/office/drawing/2014/main" val="820866938"/>
                  </a:ext>
                </a:extLst>
              </a:tr>
              <a:tr h="501587">
                <a:tc>
                  <a:txBody>
                    <a:bodyPr/>
                    <a:lstStyle/>
                    <a:p>
                      <a:pPr algn="l" fontAlgn="t"/>
                      <a:r>
                        <a:rPr lang="en-GB" sz="1200" b="0" i="0" u="none" strike="noStrike" dirty="0">
                          <a:solidFill>
                            <a:srgbClr val="000000"/>
                          </a:solidFill>
                          <a:effectLst/>
                          <a:latin typeface="Arial" panose="020B0604020202020204" pitchFamily="34" charset="0"/>
                        </a:rPr>
                        <a:t> Average % increase in skills based on skill matrix achievement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FFFFFF"/>
                    </a:solidFill>
                  </a:tcPr>
                </a:tc>
                <a:tc>
                  <a:txBody>
                    <a:bodyPr/>
                    <a:lstStyle/>
                    <a:p>
                      <a:pPr algn="l" fontAlgn="t"/>
                      <a:r>
                        <a:rPr lang="en-GB" sz="1200" b="0" i="0" u="none" strike="noStrike" dirty="0">
                          <a:solidFill>
                            <a:srgbClr val="000000"/>
                          </a:solidFill>
                          <a:effectLst/>
                          <a:latin typeface="Arial" panose="020B0604020202020204" pitchFamily="34" charset="0"/>
                        </a:rPr>
                        <a:t>Skills matrix review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B8CCE4"/>
                    </a:solidFill>
                  </a:tcPr>
                </a:tc>
                <a:tc>
                  <a:txBody>
                    <a:bodyPr/>
                    <a:lstStyle/>
                    <a:p>
                      <a:pPr algn="l" fontAlgn="t"/>
                      <a:r>
                        <a:rPr lang="en-GB" sz="1200" b="0" i="0" u="none" strike="noStrike" dirty="0">
                          <a:solidFill>
                            <a:srgbClr val="000000"/>
                          </a:solidFill>
                          <a:effectLst/>
                          <a:latin typeface="Arial" panose="020B0604020202020204" pitchFamily="34" charset="0"/>
                        </a:rPr>
                        <a:t>X employees show X % improvement in retail skills on skills matrix/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200" b="0" i="0" u="none" strike="noStrike" dirty="0">
                          <a:solidFill>
                            <a:srgbClr val="000000"/>
                          </a:solidFill>
                          <a:effectLst/>
                          <a:latin typeface="Arial" panose="020B0604020202020204" pitchFamily="34" charset="0"/>
                        </a:rPr>
                        <a:t> X employees show X % improvement in retail skills on skills matrix/ </a:t>
                      </a:r>
                    </a:p>
                    <a:p>
                      <a:pPr algn="l" fontAlgn="t"/>
                      <a:endParaRPr lang="en-GB" sz="1200" b="0" i="0" u="none" strike="noStrike" dirty="0">
                        <a:solidFill>
                          <a:srgbClr val="000000"/>
                        </a:solidFill>
                        <a:effectLst/>
                        <a:latin typeface="Arial" panose="020B0604020202020204" pitchFamily="34" charset="0"/>
                      </a:endParaRP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FFFFFF"/>
                    </a:solidFill>
                  </a:tcPr>
                </a:tc>
                <a:tc>
                  <a:txBody>
                    <a:bodyPr/>
                    <a:lstStyle/>
                    <a:p>
                      <a:pPr algn="l" fontAlgn="t"/>
                      <a:r>
                        <a:rPr lang="en-GB" sz="1200" b="0" i="0" u="none" strike="noStrike" dirty="0">
                          <a:solidFill>
                            <a:srgbClr val="000000"/>
                          </a:solidFill>
                          <a:effectLst/>
                          <a:latin typeface="Arial" panose="020B0604020202020204" pitchFamily="34" charset="0"/>
                        </a:rPr>
                        <a:t> At start of employment/volunteering and then every 6 months or 1 year?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FFFFFF"/>
                    </a:solidFill>
                  </a:tcPr>
                </a:tc>
                <a:tc>
                  <a:txBody>
                    <a:bodyPr/>
                    <a:lstStyle/>
                    <a:p>
                      <a:pPr algn="l" fontAlgn="t"/>
                      <a:r>
                        <a:rPr lang="en-GB" sz="1200" b="0" i="0" u="none" strike="noStrike" dirty="0">
                          <a:solidFill>
                            <a:srgbClr val="000000"/>
                          </a:solidFill>
                          <a:effectLst/>
                          <a:latin typeface="Arial" panose="020B0604020202020204" pitchFamily="34" charset="0"/>
                        </a:rPr>
                        <a:t> At start of employment/volunteering and then every 6 months or 1 year?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FFFFFF"/>
                    </a:solidFill>
                  </a:tcPr>
                </a:tc>
                <a:tc>
                  <a:txBody>
                    <a:bodyPr/>
                    <a:lstStyle/>
                    <a:p>
                      <a:pPr algn="l" fontAlgn="t"/>
                      <a:r>
                        <a:rPr lang="en-GB" sz="1200" b="0" i="0" u="none" strike="noStrike" dirty="0">
                          <a:solidFill>
                            <a:srgbClr val="000000"/>
                          </a:solidFill>
                          <a:effectLst/>
                          <a:latin typeface="Arial" panose="020B0604020202020204" pitchFamily="34" charset="0"/>
                        </a:rPr>
                        <a:t> Dale?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FFFFFF"/>
                    </a:solidFill>
                  </a:tcPr>
                </a:tc>
                <a:tc>
                  <a:txBody>
                    <a:bodyPr/>
                    <a:lstStyle/>
                    <a:p>
                      <a:pPr algn="l" fontAlgn="t"/>
                      <a:r>
                        <a:rPr lang="en-GB" sz="1200" b="0" i="0" u="none" strike="noStrike" dirty="0">
                          <a:solidFill>
                            <a:srgbClr val="000000"/>
                          </a:solidFill>
                          <a:effectLst/>
                          <a:latin typeface="Arial" panose="020B0604020202020204" pitchFamily="34" charset="0"/>
                        </a:rPr>
                        <a:t>N/a</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FFFFFF"/>
                    </a:solidFill>
                  </a:tcPr>
                </a:tc>
                <a:extLst>
                  <a:ext uri="{0D108BD9-81ED-4DB2-BD59-A6C34878D82A}">
                    <a16:rowId xmlns:a16="http://schemas.microsoft.com/office/drawing/2014/main" val="3915299761"/>
                  </a:ext>
                </a:extLst>
              </a:tr>
              <a:tr h="501587">
                <a:tc>
                  <a:txBody>
                    <a:bodyPr/>
                    <a:lstStyle/>
                    <a:p>
                      <a:pPr algn="l" fontAlgn="t"/>
                      <a:r>
                        <a:rPr lang="en-GB" sz="1200" b="0" i="0" u="none" strike="noStrike" dirty="0">
                          <a:solidFill>
                            <a:srgbClr val="000000"/>
                          </a:solidFill>
                          <a:effectLst/>
                          <a:latin typeface="Arial" panose="020B0604020202020204" pitchFamily="34" charset="0"/>
                        </a:rPr>
                        <a:t>Improved wellbeing of employees</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SWEMWBS indicator</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B8CCE4"/>
                    </a:solidFill>
                  </a:tcPr>
                </a:tc>
                <a:tc>
                  <a:txBody>
                    <a:bodyPr/>
                    <a:lstStyle/>
                    <a:p>
                      <a:pPr algn="l" fontAlgn="t"/>
                      <a:r>
                        <a:rPr lang="en-GB" sz="1200" b="0" i="0" u="none" strike="noStrike" dirty="0">
                          <a:solidFill>
                            <a:srgbClr val="000000"/>
                          </a:solidFill>
                          <a:effectLst/>
                          <a:latin typeface="Arial" panose="020B0604020202020204" pitchFamily="34" charset="0"/>
                        </a:rPr>
                        <a:t>Improvement in wellbeing scores of volunteers and employees</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200" b="0" i="0" u="none" strike="noStrike" dirty="0">
                          <a:solidFill>
                            <a:srgbClr val="000000"/>
                          </a:solidFill>
                          <a:effectLst/>
                          <a:latin typeface="Arial" panose="020B0604020202020204" pitchFamily="34" charset="0"/>
                        </a:rPr>
                        <a:t> Improvement in wellbeing scores of volunteers and employees</a:t>
                      </a:r>
                    </a:p>
                    <a:p>
                      <a:pPr algn="l" fontAlgn="t"/>
                      <a:endParaRPr lang="en-GB" sz="1200" b="0" i="0" u="none" strike="noStrike" dirty="0">
                        <a:solidFill>
                          <a:srgbClr val="000000"/>
                        </a:solidFill>
                        <a:effectLst/>
                        <a:latin typeface="Arial" panose="020B0604020202020204" pitchFamily="34" charset="0"/>
                      </a:endParaRP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 At start of employment/volunteering and then every 6 months or 1 year?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 At start of employment/volunteering and then every 6 months or 1 year?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 Chris?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N/a</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extLst>
                  <a:ext uri="{0D108BD9-81ED-4DB2-BD59-A6C34878D82A}">
                    <a16:rowId xmlns:a16="http://schemas.microsoft.com/office/drawing/2014/main" val="1093775964"/>
                  </a:ext>
                </a:extLst>
              </a:tr>
              <a:tr h="501587">
                <a:tc>
                  <a:txBody>
                    <a:bodyPr/>
                    <a:lstStyle/>
                    <a:p>
                      <a:pPr algn="l" fontAlgn="t"/>
                      <a:r>
                        <a:rPr lang="en-GB" sz="1200" b="0" i="0" u="none" strike="noStrike" dirty="0">
                          <a:solidFill>
                            <a:srgbClr val="000000"/>
                          </a:solidFill>
                          <a:effectLst/>
                          <a:latin typeface="Arial" panose="020B0604020202020204" pitchFamily="34" charset="0"/>
                        </a:rPr>
                        <a:t>No. of employees and volunteers</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Registration documents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B8CCE4"/>
                    </a:solidFill>
                  </a:tcPr>
                </a:tc>
                <a:tc>
                  <a:txBody>
                    <a:bodyPr/>
                    <a:lstStyle/>
                    <a:p>
                      <a:pPr algn="l" fontAlgn="t"/>
                      <a:r>
                        <a:rPr lang="en-GB" sz="1200" b="0" i="0" u="none" strike="noStrike" dirty="0">
                          <a:solidFill>
                            <a:srgbClr val="000000"/>
                          </a:solidFill>
                          <a:effectLst/>
                          <a:latin typeface="Arial" panose="020B0604020202020204" pitchFamily="34" charset="0"/>
                        </a:rPr>
                        <a:t>?</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On going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On going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Dale? </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tc>
                  <a:txBody>
                    <a:bodyPr/>
                    <a:lstStyle/>
                    <a:p>
                      <a:pPr algn="l" fontAlgn="t"/>
                      <a:r>
                        <a:rPr lang="en-GB" sz="1200" b="0" i="0" u="none" strike="noStrike" dirty="0">
                          <a:solidFill>
                            <a:srgbClr val="000000"/>
                          </a:solidFill>
                          <a:effectLst/>
                          <a:latin typeface="Arial" panose="020B0604020202020204" pitchFamily="34" charset="0"/>
                        </a:rPr>
                        <a:t>N/a</a:t>
                      </a:r>
                    </a:p>
                  </a:txBody>
                  <a:tcPr marL="5318" marR="5318" marT="5318" marB="0">
                    <a:lnL w="6350" cap="flat" cmpd="sng" algn="ctr">
                      <a:solidFill>
                        <a:srgbClr val="95B3D7"/>
                      </a:solidFill>
                      <a:prstDash val="solid"/>
                      <a:round/>
                      <a:headEnd type="none" w="med" len="med"/>
                      <a:tailEnd type="none" w="med" len="med"/>
                    </a:lnL>
                    <a:lnR w="6350" cap="flat" cmpd="sng" algn="ctr">
                      <a:solidFill>
                        <a:srgbClr val="95B3D7"/>
                      </a:solidFill>
                      <a:prstDash val="solid"/>
                      <a:round/>
                      <a:headEnd type="none" w="med" len="med"/>
                      <a:tailEnd type="none" w="med" len="med"/>
                    </a:lnR>
                    <a:lnT w="6350" cap="flat" cmpd="sng" algn="ctr">
                      <a:solidFill>
                        <a:srgbClr val="95B3D7"/>
                      </a:solidFill>
                      <a:prstDash val="solid"/>
                      <a:round/>
                      <a:headEnd type="none" w="med" len="med"/>
                      <a:tailEnd type="none" w="med" len="med"/>
                    </a:lnT>
                    <a:lnB w="6350" cap="flat" cmpd="sng" algn="ctr">
                      <a:solidFill>
                        <a:srgbClr val="95B3D7"/>
                      </a:solidFill>
                      <a:prstDash val="solid"/>
                      <a:round/>
                      <a:headEnd type="none" w="med" len="med"/>
                      <a:tailEnd type="none" w="med" len="med"/>
                    </a:lnB>
                    <a:solidFill>
                      <a:srgbClr val="DCE6F1"/>
                    </a:solidFill>
                  </a:tcPr>
                </a:tc>
                <a:extLst>
                  <a:ext uri="{0D108BD9-81ED-4DB2-BD59-A6C34878D82A}">
                    <a16:rowId xmlns:a16="http://schemas.microsoft.com/office/drawing/2014/main" val="1363183496"/>
                  </a:ext>
                </a:extLst>
              </a:tr>
            </a:tbl>
          </a:graphicData>
        </a:graphic>
      </p:graphicFrame>
    </p:spTree>
    <p:extLst>
      <p:ext uri="{BB962C8B-B14F-4D97-AF65-F5344CB8AC3E}">
        <p14:creationId xmlns:p14="http://schemas.microsoft.com/office/powerpoint/2010/main" val="2121238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F64E93CD-7F3A-4749-A8E7-FBB8EAFEA192}"/>
              </a:ext>
            </a:extLst>
          </p:cNvPr>
          <p:cNvSpPr/>
          <p:nvPr/>
        </p:nvSpPr>
        <p:spPr>
          <a:xfrm>
            <a:off x="277099" y="809625"/>
            <a:ext cx="2130107" cy="1466849"/>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600" dirty="0"/>
              <a:t>Step 1</a:t>
            </a:r>
          </a:p>
        </p:txBody>
      </p:sp>
      <p:sp>
        <p:nvSpPr>
          <p:cNvPr id="2" name="Title 1">
            <a:extLst>
              <a:ext uri="{FF2B5EF4-FFF2-40B4-BE49-F238E27FC236}">
                <a16:creationId xmlns:a16="http://schemas.microsoft.com/office/drawing/2014/main" id="{15CC6D38-0EF0-489F-B71A-CB3C9E8D19E7}"/>
              </a:ext>
            </a:extLst>
          </p:cNvPr>
          <p:cNvSpPr>
            <a:spLocks noGrp="1"/>
          </p:cNvSpPr>
          <p:nvPr>
            <p:ph type="title"/>
          </p:nvPr>
        </p:nvSpPr>
        <p:spPr>
          <a:xfrm>
            <a:off x="0" y="-112200"/>
            <a:ext cx="10515600" cy="1017232"/>
          </a:xfrm>
        </p:spPr>
        <p:txBody>
          <a:bodyPr/>
          <a:lstStyle/>
          <a:p>
            <a:r>
              <a:rPr lang="en-GB" dirty="0"/>
              <a:t>Recommended next steps</a:t>
            </a:r>
          </a:p>
        </p:txBody>
      </p:sp>
      <p:sp>
        <p:nvSpPr>
          <p:cNvPr id="4" name="Rectangle: Rounded Corners 3">
            <a:extLst>
              <a:ext uri="{FF2B5EF4-FFF2-40B4-BE49-F238E27FC236}">
                <a16:creationId xmlns:a16="http://schemas.microsoft.com/office/drawing/2014/main" id="{1226A3F4-609C-4EEE-8764-460CC6357A00}"/>
              </a:ext>
            </a:extLst>
          </p:cNvPr>
          <p:cNvSpPr/>
          <p:nvPr/>
        </p:nvSpPr>
        <p:spPr>
          <a:xfrm>
            <a:off x="353299" y="1200196"/>
            <a:ext cx="1990428" cy="9790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Stakeholder review: workshop, survey, chat… </a:t>
            </a:r>
          </a:p>
        </p:txBody>
      </p:sp>
      <p:sp>
        <p:nvSpPr>
          <p:cNvPr id="6" name="TextBox 5">
            <a:extLst>
              <a:ext uri="{FF2B5EF4-FFF2-40B4-BE49-F238E27FC236}">
                <a16:creationId xmlns:a16="http://schemas.microsoft.com/office/drawing/2014/main" id="{B1BFDCA7-9308-42FA-827A-72C8BD637C43}"/>
              </a:ext>
            </a:extLst>
          </p:cNvPr>
          <p:cNvSpPr txBox="1"/>
          <p:nvPr/>
        </p:nvSpPr>
        <p:spPr>
          <a:xfrm>
            <a:off x="374095" y="2330972"/>
            <a:ext cx="2130107" cy="276999"/>
          </a:xfrm>
          <a:prstGeom prst="rect">
            <a:avLst/>
          </a:prstGeom>
          <a:noFill/>
        </p:spPr>
        <p:txBody>
          <a:bodyPr wrap="square" rtlCol="0">
            <a:spAutoFit/>
          </a:bodyPr>
          <a:lstStyle/>
          <a:p>
            <a:r>
              <a:rPr lang="en-GB" sz="1200" dirty="0"/>
              <a:t>Who benefits/pays/does/cares</a:t>
            </a:r>
          </a:p>
        </p:txBody>
      </p:sp>
      <p:sp>
        <p:nvSpPr>
          <p:cNvPr id="7" name="Arrow: Right 6">
            <a:extLst>
              <a:ext uri="{FF2B5EF4-FFF2-40B4-BE49-F238E27FC236}">
                <a16:creationId xmlns:a16="http://schemas.microsoft.com/office/drawing/2014/main" id="{E478F574-ED74-4B65-8FCC-EE6ABD532EB5}"/>
              </a:ext>
            </a:extLst>
          </p:cNvPr>
          <p:cNvSpPr/>
          <p:nvPr/>
        </p:nvSpPr>
        <p:spPr>
          <a:xfrm>
            <a:off x="2534657" y="1345941"/>
            <a:ext cx="576952" cy="3942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8" name="Rectangle: Rounded Corners 7">
            <a:extLst>
              <a:ext uri="{FF2B5EF4-FFF2-40B4-BE49-F238E27FC236}">
                <a16:creationId xmlns:a16="http://schemas.microsoft.com/office/drawing/2014/main" id="{4DF0DD67-0891-4E4E-9870-FF8E84EA50CB}"/>
              </a:ext>
            </a:extLst>
          </p:cNvPr>
          <p:cNvSpPr/>
          <p:nvPr/>
        </p:nvSpPr>
        <p:spPr>
          <a:xfrm>
            <a:off x="3239060" y="808717"/>
            <a:ext cx="2130107" cy="1466849"/>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600" dirty="0"/>
              <a:t>Step 2</a:t>
            </a:r>
          </a:p>
        </p:txBody>
      </p:sp>
      <p:sp>
        <p:nvSpPr>
          <p:cNvPr id="9" name="Rectangle: Rounded Corners 8">
            <a:extLst>
              <a:ext uri="{FF2B5EF4-FFF2-40B4-BE49-F238E27FC236}">
                <a16:creationId xmlns:a16="http://schemas.microsoft.com/office/drawing/2014/main" id="{F7441A4F-6A14-4040-97C1-52DA05DDA17E}"/>
              </a:ext>
            </a:extLst>
          </p:cNvPr>
          <p:cNvSpPr/>
          <p:nvPr/>
        </p:nvSpPr>
        <p:spPr>
          <a:xfrm>
            <a:off x="3315260" y="1199288"/>
            <a:ext cx="1990428" cy="9790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Impact framework draft: framework, KPIs and tools</a:t>
            </a:r>
          </a:p>
        </p:txBody>
      </p:sp>
      <p:sp>
        <p:nvSpPr>
          <p:cNvPr id="10" name="Arrow: Right 9">
            <a:extLst>
              <a:ext uri="{FF2B5EF4-FFF2-40B4-BE49-F238E27FC236}">
                <a16:creationId xmlns:a16="http://schemas.microsoft.com/office/drawing/2014/main" id="{998E589E-9EBC-40A6-84EB-396709B7BAEE}"/>
              </a:ext>
            </a:extLst>
          </p:cNvPr>
          <p:cNvSpPr/>
          <p:nvPr/>
        </p:nvSpPr>
        <p:spPr>
          <a:xfrm>
            <a:off x="5496618" y="1311829"/>
            <a:ext cx="576952" cy="394216"/>
          </a:xfrm>
          <a:prstGeom prst="right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a:p>
        </p:txBody>
      </p:sp>
      <p:sp>
        <p:nvSpPr>
          <p:cNvPr id="11" name="Rectangle: Rounded Corners 10">
            <a:extLst>
              <a:ext uri="{FF2B5EF4-FFF2-40B4-BE49-F238E27FC236}">
                <a16:creationId xmlns:a16="http://schemas.microsoft.com/office/drawing/2014/main" id="{9D1A55F7-7578-4F08-80E6-1524A16D7FFD}"/>
              </a:ext>
            </a:extLst>
          </p:cNvPr>
          <p:cNvSpPr/>
          <p:nvPr/>
        </p:nvSpPr>
        <p:spPr>
          <a:xfrm>
            <a:off x="6201021" y="809626"/>
            <a:ext cx="2130107" cy="1466849"/>
          </a:xfrm>
          <a:prstGeom prst="round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600" dirty="0"/>
              <a:t>Step 3</a:t>
            </a:r>
          </a:p>
        </p:txBody>
      </p:sp>
      <p:sp>
        <p:nvSpPr>
          <p:cNvPr id="12" name="Rectangle: Rounded Corners 11">
            <a:extLst>
              <a:ext uri="{FF2B5EF4-FFF2-40B4-BE49-F238E27FC236}">
                <a16:creationId xmlns:a16="http://schemas.microsoft.com/office/drawing/2014/main" id="{C896FA7D-6D00-40AC-8D00-32805BF9C569}"/>
              </a:ext>
            </a:extLst>
          </p:cNvPr>
          <p:cNvSpPr/>
          <p:nvPr/>
        </p:nvSpPr>
        <p:spPr>
          <a:xfrm>
            <a:off x="6277221" y="1200197"/>
            <a:ext cx="1990428" cy="979086"/>
          </a:xfrm>
          <a:prstGeom prst="round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Impact beta sign off: key stakeholders finalise pre-investment</a:t>
            </a:r>
          </a:p>
        </p:txBody>
      </p:sp>
      <p:sp>
        <p:nvSpPr>
          <p:cNvPr id="13" name="TextBox 12">
            <a:extLst>
              <a:ext uri="{FF2B5EF4-FFF2-40B4-BE49-F238E27FC236}">
                <a16:creationId xmlns:a16="http://schemas.microsoft.com/office/drawing/2014/main" id="{E10DD5E7-4CB6-4523-9CC3-4991CBC5BA65}"/>
              </a:ext>
            </a:extLst>
          </p:cNvPr>
          <p:cNvSpPr txBox="1"/>
          <p:nvPr/>
        </p:nvSpPr>
        <p:spPr>
          <a:xfrm>
            <a:off x="3059831" y="2335766"/>
            <a:ext cx="2682557" cy="276999"/>
          </a:xfrm>
          <a:prstGeom prst="rect">
            <a:avLst/>
          </a:prstGeom>
          <a:noFill/>
        </p:spPr>
        <p:txBody>
          <a:bodyPr wrap="square" rtlCol="0">
            <a:spAutoFit/>
          </a:bodyPr>
          <a:lstStyle/>
          <a:p>
            <a:r>
              <a:rPr lang="en-GB" sz="1200" dirty="0"/>
              <a:t>Use your team and findings from step 1</a:t>
            </a:r>
          </a:p>
        </p:txBody>
      </p:sp>
      <p:sp>
        <p:nvSpPr>
          <p:cNvPr id="14" name="TextBox 13">
            <a:extLst>
              <a:ext uri="{FF2B5EF4-FFF2-40B4-BE49-F238E27FC236}">
                <a16:creationId xmlns:a16="http://schemas.microsoft.com/office/drawing/2014/main" id="{2F5EC813-7FF2-4DD4-8C4D-7B6CDF5E5F73}"/>
              </a:ext>
            </a:extLst>
          </p:cNvPr>
          <p:cNvSpPr txBox="1"/>
          <p:nvPr/>
        </p:nvSpPr>
        <p:spPr>
          <a:xfrm>
            <a:off x="6201021" y="2330972"/>
            <a:ext cx="2130107" cy="276999"/>
          </a:xfrm>
          <a:prstGeom prst="rect">
            <a:avLst/>
          </a:prstGeom>
          <a:noFill/>
        </p:spPr>
        <p:txBody>
          <a:bodyPr wrap="square" rtlCol="0">
            <a:spAutoFit/>
          </a:bodyPr>
          <a:lstStyle/>
          <a:p>
            <a:r>
              <a:rPr lang="en-GB" sz="1200" dirty="0"/>
              <a:t>Who benefits/pays/does/cares</a:t>
            </a:r>
          </a:p>
        </p:txBody>
      </p:sp>
      <p:sp>
        <p:nvSpPr>
          <p:cNvPr id="18" name="Arrow: Right 17">
            <a:extLst>
              <a:ext uri="{FF2B5EF4-FFF2-40B4-BE49-F238E27FC236}">
                <a16:creationId xmlns:a16="http://schemas.microsoft.com/office/drawing/2014/main" id="{AB04D395-F532-46FC-8596-EE59A0477AFA}"/>
              </a:ext>
            </a:extLst>
          </p:cNvPr>
          <p:cNvSpPr/>
          <p:nvPr/>
        </p:nvSpPr>
        <p:spPr>
          <a:xfrm>
            <a:off x="8458579" y="1345033"/>
            <a:ext cx="576952" cy="3942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19" name="Rectangle: Rounded Corners 18">
            <a:extLst>
              <a:ext uri="{FF2B5EF4-FFF2-40B4-BE49-F238E27FC236}">
                <a16:creationId xmlns:a16="http://schemas.microsoft.com/office/drawing/2014/main" id="{A6585C5A-0BC6-4BDF-B8EC-166A528F352A}"/>
              </a:ext>
            </a:extLst>
          </p:cNvPr>
          <p:cNvSpPr/>
          <p:nvPr/>
        </p:nvSpPr>
        <p:spPr>
          <a:xfrm>
            <a:off x="9162982" y="809625"/>
            <a:ext cx="2130107" cy="1466849"/>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GB" sz="1600" dirty="0"/>
              <a:t>Step 4</a:t>
            </a:r>
          </a:p>
        </p:txBody>
      </p:sp>
      <p:sp>
        <p:nvSpPr>
          <p:cNvPr id="20" name="Rectangle: Rounded Corners 19">
            <a:extLst>
              <a:ext uri="{FF2B5EF4-FFF2-40B4-BE49-F238E27FC236}">
                <a16:creationId xmlns:a16="http://schemas.microsoft.com/office/drawing/2014/main" id="{FBA55460-62A3-4991-8E46-6144B65AD07B}"/>
              </a:ext>
            </a:extLst>
          </p:cNvPr>
          <p:cNvSpPr/>
          <p:nvPr/>
        </p:nvSpPr>
        <p:spPr>
          <a:xfrm>
            <a:off x="9239182" y="1200196"/>
            <a:ext cx="1990428" cy="9790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dirty="0"/>
              <a:t>Testing: trial data collection on small group before going to scale </a:t>
            </a:r>
          </a:p>
        </p:txBody>
      </p:sp>
      <p:sp>
        <p:nvSpPr>
          <p:cNvPr id="21" name="TextBox 20">
            <a:extLst>
              <a:ext uri="{FF2B5EF4-FFF2-40B4-BE49-F238E27FC236}">
                <a16:creationId xmlns:a16="http://schemas.microsoft.com/office/drawing/2014/main" id="{552C3BE1-24AD-4D86-A720-3746ABD31F34}"/>
              </a:ext>
            </a:extLst>
          </p:cNvPr>
          <p:cNvSpPr txBox="1"/>
          <p:nvPr/>
        </p:nvSpPr>
        <p:spPr>
          <a:xfrm>
            <a:off x="9280775" y="2330971"/>
            <a:ext cx="2130107" cy="276999"/>
          </a:xfrm>
          <a:prstGeom prst="rect">
            <a:avLst/>
          </a:prstGeom>
          <a:noFill/>
        </p:spPr>
        <p:txBody>
          <a:bodyPr wrap="square" rtlCol="0">
            <a:spAutoFit/>
          </a:bodyPr>
          <a:lstStyle/>
          <a:p>
            <a:r>
              <a:rPr lang="en-GB" sz="1200" dirty="0"/>
              <a:t>Do a test run before investing</a:t>
            </a:r>
          </a:p>
        </p:txBody>
      </p:sp>
      <p:sp>
        <p:nvSpPr>
          <p:cNvPr id="22" name="Arrow: Right 21">
            <a:extLst>
              <a:ext uri="{FF2B5EF4-FFF2-40B4-BE49-F238E27FC236}">
                <a16:creationId xmlns:a16="http://schemas.microsoft.com/office/drawing/2014/main" id="{B56342AA-2478-4F1E-A701-D468EAD5A847}"/>
              </a:ext>
            </a:extLst>
          </p:cNvPr>
          <p:cNvSpPr/>
          <p:nvPr/>
        </p:nvSpPr>
        <p:spPr>
          <a:xfrm rot="5400000">
            <a:off x="9984291" y="2709042"/>
            <a:ext cx="576952" cy="394216"/>
          </a:xfrm>
          <a:prstGeom prst="right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a:p>
        </p:txBody>
      </p:sp>
      <p:sp>
        <p:nvSpPr>
          <p:cNvPr id="23" name="Rectangle: Rounded Corners 22">
            <a:extLst>
              <a:ext uri="{FF2B5EF4-FFF2-40B4-BE49-F238E27FC236}">
                <a16:creationId xmlns:a16="http://schemas.microsoft.com/office/drawing/2014/main" id="{ABAF6D4D-8556-42E2-8AC9-7611945C6686}"/>
              </a:ext>
            </a:extLst>
          </p:cNvPr>
          <p:cNvSpPr/>
          <p:nvPr/>
        </p:nvSpPr>
        <p:spPr>
          <a:xfrm>
            <a:off x="9162982" y="3264197"/>
            <a:ext cx="2130107" cy="1466849"/>
          </a:xfrm>
          <a:prstGeom prst="round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600" dirty="0"/>
              <a:t>Step 5</a:t>
            </a:r>
          </a:p>
        </p:txBody>
      </p:sp>
      <p:sp>
        <p:nvSpPr>
          <p:cNvPr id="24" name="Rectangle: Rounded Corners 23">
            <a:extLst>
              <a:ext uri="{FF2B5EF4-FFF2-40B4-BE49-F238E27FC236}">
                <a16:creationId xmlns:a16="http://schemas.microsoft.com/office/drawing/2014/main" id="{703C8BC1-6621-4A58-AA23-417C453D2D63}"/>
              </a:ext>
            </a:extLst>
          </p:cNvPr>
          <p:cNvSpPr/>
          <p:nvPr/>
        </p:nvSpPr>
        <p:spPr>
          <a:xfrm>
            <a:off x="9239182" y="3654768"/>
            <a:ext cx="1990428" cy="979086"/>
          </a:xfrm>
          <a:prstGeom prst="round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Finalise framework and tools.</a:t>
            </a:r>
          </a:p>
        </p:txBody>
      </p:sp>
      <p:sp>
        <p:nvSpPr>
          <p:cNvPr id="25" name="TextBox 24">
            <a:extLst>
              <a:ext uri="{FF2B5EF4-FFF2-40B4-BE49-F238E27FC236}">
                <a16:creationId xmlns:a16="http://schemas.microsoft.com/office/drawing/2014/main" id="{C982156E-ADA8-4FA4-8579-C8EB5CF002E0}"/>
              </a:ext>
            </a:extLst>
          </p:cNvPr>
          <p:cNvSpPr txBox="1"/>
          <p:nvPr/>
        </p:nvSpPr>
        <p:spPr>
          <a:xfrm>
            <a:off x="9162982" y="4785543"/>
            <a:ext cx="2130107" cy="461665"/>
          </a:xfrm>
          <a:prstGeom prst="rect">
            <a:avLst/>
          </a:prstGeom>
          <a:noFill/>
        </p:spPr>
        <p:txBody>
          <a:bodyPr wrap="square" rtlCol="0">
            <a:spAutoFit/>
          </a:bodyPr>
          <a:lstStyle/>
          <a:p>
            <a:r>
              <a:rPr lang="en-GB" sz="1200" dirty="0"/>
              <a:t>Commit as a team now and insights get better over time. </a:t>
            </a:r>
          </a:p>
        </p:txBody>
      </p:sp>
      <p:sp>
        <p:nvSpPr>
          <p:cNvPr id="26" name="Arrow: Right 25">
            <a:extLst>
              <a:ext uri="{FF2B5EF4-FFF2-40B4-BE49-F238E27FC236}">
                <a16:creationId xmlns:a16="http://schemas.microsoft.com/office/drawing/2014/main" id="{9B6FF482-479E-4A7A-81AA-1ADBDC164F7E}"/>
              </a:ext>
            </a:extLst>
          </p:cNvPr>
          <p:cNvSpPr/>
          <p:nvPr/>
        </p:nvSpPr>
        <p:spPr>
          <a:xfrm rot="10800000">
            <a:off x="8458579" y="3800513"/>
            <a:ext cx="576952" cy="3942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27" name="Rectangle: Rounded Corners 26">
            <a:extLst>
              <a:ext uri="{FF2B5EF4-FFF2-40B4-BE49-F238E27FC236}">
                <a16:creationId xmlns:a16="http://schemas.microsoft.com/office/drawing/2014/main" id="{9D0633D3-DED9-4227-BDBB-080B20AA154E}"/>
              </a:ext>
            </a:extLst>
          </p:cNvPr>
          <p:cNvSpPr/>
          <p:nvPr/>
        </p:nvSpPr>
        <p:spPr>
          <a:xfrm>
            <a:off x="6201021" y="3264197"/>
            <a:ext cx="2130107" cy="1466849"/>
          </a:xfrm>
          <a:prstGeom prst="round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600" dirty="0"/>
              <a:t>Step 6</a:t>
            </a:r>
          </a:p>
        </p:txBody>
      </p:sp>
      <p:sp>
        <p:nvSpPr>
          <p:cNvPr id="28" name="Rectangle: Rounded Corners 27">
            <a:extLst>
              <a:ext uri="{FF2B5EF4-FFF2-40B4-BE49-F238E27FC236}">
                <a16:creationId xmlns:a16="http://schemas.microsoft.com/office/drawing/2014/main" id="{ACE4A071-07F1-4BA2-A654-02A53FF4AA2D}"/>
              </a:ext>
            </a:extLst>
          </p:cNvPr>
          <p:cNvSpPr/>
          <p:nvPr/>
        </p:nvSpPr>
        <p:spPr>
          <a:xfrm>
            <a:off x="6277221" y="3654768"/>
            <a:ext cx="1990428" cy="9790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Plan future impact management </a:t>
            </a:r>
          </a:p>
        </p:txBody>
      </p:sp>
      <p:sp>
        <p:nvSpPr>
          <p:cNvPr id="29" name="Right Brace 28">
            <a:extLst>
              <a:ext uri="{FF2B5EF4-FFF2-40B4-BE49-F238E27FC236}">
                <a16:creationId xmlns:a16="http://schemas.microsoft.com/office/drawing/2014/main" id="{BCE4378B-2705-48C1-8C8F-ED045BFCC24D}"/>
              </a:ext>
            </a:extLst>
          </p:cNvPr>
          <p:cNvSpPr/>
          <p:nvPr/>
        </p:nvSpPr>
        <p:spPr>
          <a:xfrm>
            <a:off x="5770912" y="2833242"/>
            <a:ext cx="325170" cy="2328758"/>
          </a:xfrm>
          <a:prstGeom prst="rightBrace">
            <a:avLst/>
          </a:prstGeom>
          <a:ln w="22225">
            <a:solidFill>
              <a:schemeClr val="tx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0" name="Rectangle: Rounded Corners 29">
            <a:extLst>
              <a:ext uri="{FF2B5EF4-FFF2-40B4-BE49-F238E27FC236}">
                <a16:creationId xmlns:a16="http://schemas.microsoft.com/office/drawing/2014/main" id="{8D9F24D9-F783-431D-B49E-8DA61DEA7748}"/>
              </a:ext>
            </a:extLst>
          </p:cNvPr>
          <p:cNvSpPr/>
          <p:nvPr/>
        </p:nvSpPr>
        <p:spPr>
          <a:xfrm>
            <a:off x="1841750" y="4611171"/>
            <a:ext cx="2947019" cy="394216"/>
          </a:xfrm>
          <a:prstGeom prst="roundRect">
            <a:avLst/>
          </a:prstGeom>
          <a:solidFill>
            <a:schemeClr val="tx1">
              <a:lumMod val="75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Data collection</a:t>
            </a:r>
          </a:p>
        </p:txBody>
      </p:sp>
      <p:sp>
        <p:nvSpPr>
          <p:cNvPr id="31" name="TextBox 30">
            <a:extLst>
              <a:ext uri="{FF2B5EF4-FFF2-40B4-BE49-F238E27FC236}">
                <a16:creationId xmlns:a16="http://schemas.microsoft.com/office/drawing/2014/main" id="{B61F4D12-122C-4CED-9AA5-A5E2A5D88DC9}"/>
              </a:ext>
            </a:extLst>
          </p:cNvPr>
          <p:cNvSpPr txBox="1"/>
          <p:nvPr/>
        </p:nvSpPr>
        <p:spPr>
          <a:xfrm>
            <a:off x="6307055" y="4785543"/>
            <a:ext cx="2130107" cy="461665"/>
          </a:xfrm>
          <a:prstGeom prst="rect">
            <a:avLst/>
          </a:prstGeom>
          <a:noFill/>
        </p:spPr>
        <p:txBody>
          <a:bodyPr wrap="square" rtlCol="0">
            <a:spAutoFit/>
          </a:bodyPr>
          <a:lstStyle/>
          <a:p>
            <a:pPr algn="ctr"/>
            <a:r>
              <a:rPr lang="en-GB" sz="1200" dirty="0"/>
              <a:t>Have a plan in place to make your management efficient </a:t>
            </a:r>
          </a:p>
        </p:txBody>
      </p:sp>
      <p:sp>
        <p:nvSpPr>
          <p:cNvPr id="32" name="Rectangle: Rounded Corners 31">
            <a:extLst>
              <a:ext uri="{FF2B5EF4-FFF2-40B4-BE49-F238E27FC236}">
                <a16:creationId xmlns:a16="http://schemas.microsoft.com/office/drawing/2014/main" id="{ACA3C178-8A39-4364-9789-79DD50E304CD}"/>
              </a:ext>
            </a:extLst>
          </p:cNvPr>
          <p:cNvSpPr/>
          <p:nvPr/>
        </p:nvSpPr>
        <p:spPr>
          <a:xfrm>
            <a:off x="1418241" y="4163890"/>
            <a:ext cx="2947019" cy="394216"/>
          </a:xfrm>
          <a:prstGeom prst="roundRect">
            <a:avLst/>
          </a:prstGeom>
          <a:solidFill>
            <a:schemeClr val="tx1">
              <a:lumMod val="75000"/>
            </a:schemeClr>
          </a:solid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Analysis</a:t>
            </a:r>
          </a:p>
        </p:txBody>
      </p:sp>
      <p:sp>
        <p:nvSpPr>
          <p:cNvPr id="33" name="Rectangle: Rounded Corners 32">
            <a:extLst>
              <a:ext uri="{FF2B5EF4-FFF2-40B4-BE49-F238E27FC236}">
                <a16:creationId xmlns:a16="http://schemas.microsoft.com/office/drawing/2014/main" id="{C2FF0195-857F-4C6B-9FD4-AF5A9FD1B214}"/>
              </a:ext>
            </a:extLst>
          </p:cNvPr>
          <p:cNvSpPr/>
          <p:nvPr/>
        </p:nvSpPr>
        <p:spPr>
          <a:xfrm>
            <a:off x="937171" y="3716609"/>
            <a:ext cx="2947019" cy="394216"/>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Insights</a:t>
            </a:r>
          </a:p>
        </p:txBody>
      </p:sp>
      <p:sp>
        <p:nvSpPr>
          <p:cNvPr id="34" name="Rectangle: Rounded Corners 33">
            <a:extLst>
              <a:ext uri="{FF2B5EF4-FFF2-40B4-BE49-F238E27FC236}">
                <a16:creationId xmlns:a16="http://schemas.microsoft.com/office/drawing/2014/main" id="{5D559305-CB72-4B53-BD95-7509C51CA3C0}"/>
              </a:ext>
            </a:extLst>
          </p:cNvPr>
          <p:cNvSpPr/>
          <p:nvPr/>
        </p:nvSpPr>
        <p:spPr>
          <a:xfrm>
            <a:off x="575169" y="3267630"/>
            <a:ext cx="2947019" cy="394216"/>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Communication</a:t>
            </a:r>
          </a:p>
        </p:txBody>
      </p:sp>
      <p:sp>
        <p:nvSpPr>
          <p:cNvPr id="37" name="Arrow: Circular 36">
            <a:extLst>
              <a:ext uri="{FF2B5EF4-FFF2-40B4-BE49-F238E27FC236}">
                <a16:creationId xmlns:a16="http://schemas.microsoft.com/office/drawing/2014/main" id="{C6EFD419-A8C8-4ADE-823B-E7608B8FB5AA}"/>
              </a:ext>
            </a:extLst>
          </p:cNvPr>
          <p:cNvSpPr/>
          <p:nvPr/>
        </p:nvSpPr>
        <p:spPr>
          <a:xfrm rot="14355822" flipH="1" flipV="1">
            <a:off x="3428770" y="3237467"/>
            <a:ext cx="1850543" cy="2328286"/>
          </a:xfrm>
          <a:prstGeom prst="circularArrow">
            <a:avLst>
              <a:gd name="adj1" fmla="val 7965"/>
              <a:gd name="adj2" fmla="val 811280"/>
              <a:gd name="adj3" fmla="val 19313123"/>
              <a:gd name="adj4" fmla="val 11171021"/>
              <a:gd name="adj5" fmla="val 14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8" name="Arrow: Bent 37">
            <a:extLst>
              <a:ext uri="{FF2B5EF4-FFF2-40B4-BE49-F238E27FC236}">
                <a16:creationId xmlns:a16="http://schemas.microsoft.com/office/drawing/2014/main" id="{B24D5E55-3497-409D-A149-E4BBDD14A3C4}"/>
              </a:ext>
            </a:extLst>
          </p:cNvPr>
          <p:cNvSpPr/>
          <p:nvPr/>
        </p:nvSpPr>
        <p:spPr>
          <a:xfrm rot="10800000">
            <a:off x="6448183" y="5353737"/>
            <a:ext cx="923925" cy="876300"/>
          </a:xfrm>
          <a:prstGeom prst="ben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9" name="Rectangle: Rounded Corners 38">
            <a:extLst>
              <a:ext uri="{FF2B5EF4-FFF2-40B4-BE49-F238E27FC236}">
                <a16:creationId xmlns:a16="http://schemas.microsoft.com/office/drawing/2014/main" id="{6B303B57-B972-4A23-A03D-9D854B4DD624}"/>
              </a:ext>
            </a:extLst>
          </p:cNvPr>
          <p:cNvSpPr/>
          <p:nvPr/>
        </p:nvSpPr>
        <p:spPr>
          <a:xfrm>
            <a:off x="4176948" y="5319558"/>
            <a:ext cx="2130107" cy="1466849"/>
          </a:xfrm>
          <a:prstGeom prst="round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600" dirty="0" err="1"/>
              <a:t>UnLtd</a:t>
            </a:r>
            <a:r>
              <a:rPr lang="en-GB" sz="1600" dirty="0"/>
              <a:t> Collaboration</a:t>
            </a:r>
          </a:p>
        </p:txBody>
      </p:sp>
      <p:sp>
        <p:nvSpPr>
          <p:cNvPr id="40" name="Rectangle: Rounded Corners 39">
            <a:extLst>
              <a:ext uri="{FF2B5EF4-FFF2-40B4-BE49-F238E27FC236}">
                <a16:creationId xmlns:a16="http://schemas.microsoft.com/office/drawing/2014/main" id="{D7A98557-0AB7-4C12-99CE-1BDA7A81091C}"/>
              </a:ext>
            </a:extLst>
          </p:cNvPr>
          <p:cNvSpPr/>
          <p:nvPr/>
        </p:nvSpPr>
        <p:spPr>
          <a:xfrm>
            <a:off x="4253148" y="5710129"/>
            <a:ext cx="1990428" cy="97908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600" dirty="0"/>
              <a:t>Plan future impact management </a:t>
            </a:r>
          </a:p>
        </p:txBody>
      </p:sp>
      <p:sp>
        <p:nvSpPr>
          <p:cNvPr id="43" name="Arrow: Bent 42">
            <a:extLst>
              <a:ext uri="{FF2B5EF4-FFF2-40B4-BE49-F238E27FC236}">
                <a16:creationId xmlns:a16="http://schemas.microsoft.com/office/drawing/2014/main" id="{8D700CD6-6BE0-4B7B-BC6E-1BD76A33BA9F}"/>
              </a:ext>
            </a:extLst>
          </p:cNvPr>
          <p:cNvSpPr/>
          <p:nvPr/>
        </p:nvSpPr>
        <p:spPr>
          <a:xfrm rot="16200000">
            <a:off x="1366412" y="3529378"/>
            <a:ext cx="2040576" cy="3325600"/>
          </a:xfrm>
          <a:prstGeom prst="bentArrow">
            <a:avLst>
              <a:gd name="adj1" fmla="val 10965"/>
              <a:gd name="adj2" fmla="val 14035"/>
              <a:gd name="adj3" fmla="val 24123"/>
              <a:gd name="adj4" fmla="val 43750"/>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2980781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p:bldP spid="14" grpId="0"/>
      <p:bldP spid="18" grpId="0" animBg="1"/>
      <p:bldP spid="19" grpId="0" animBg="1"/>
      <p:bldP spid="20" grpId="0" animBg="1"/>
      <p:bldP spid="21" grpId="0"/>
      <p:bldP spid="22" grpId="0" animBg="1"/>
      <p:bldP spid="23" grpId="0" animBg="1"/>
      <p:bldP spid="24" grpId="0" animBg="1"/>
      <p:bldP spid="25" grpId="0"/>
      <p:bldP spid="26" grpId="0" animBg="1"/>
      <p:bldP spid="27" grpId="0" animBg="1"/>
      <p:bldP spid="28" grpId="0" animBg="1"/>
      <p:bldP spid="29" grpId="0" animBg="1"/>
      <p:bldP spid="30" grpId="0" animBg="1"/>
      <p:bldP spid="31" grpId="0"/>
      <p:bldP spid="32" grpId="0" animBg="1"/>
      <p:bldP spid="33" grpId="0" animBg="1"/>
      <p:bldP spid="34" grpId="0" animBg="1"/>
      <p:bldP spid="37" grpId="0" animBg="1"/>
      <p:bldP spid="38" grpId="0" animBg="1"/>
      <p:bldP spid="39" grpId="0" animBg="1"/>
      <p:bldP spid="40" grpId="0" animBg="1"/>
      <p:bldP spid="43" grpId="0" animBg="1"/>
    </p:bldLst>
  </p:timing>
</p:sld>
</file>

<file path=ppt/theme/theme1.xml><?xml version="1.0" encoding="utf-8"?>
<a:theme xmlns:a="http://schemas.openxmlformats.org/drawingml/2006/main" name="UnLtd">
  <a:themeElements>
    <a:clrScheme name="UnLtd colours">
      <a:dk1>
        <a:srgbClr val="636363"/>
      </a:dk1>
      <a:lt1>
        <a:sysClr val="window" lastClr="FFFFFF"/>
      </a:lt1>
      <a:dk2>
        <a:srgbClr val="606A79"/>
      </a:dk2>
      <a:lt2>
        <a:srgbClr val="E7E6E6"/>
      </a:lt2>
      <a:accent1>
        <a:srgbClr val="EC6608"/>
      </a:accent1>
      <a:accent2>
        <a:srgbClr val="491A66"/>
      </a:accent2>
      <a:accent3>
        <a:srgbClr val="00A1A4"/>
      </a:accent3>
      <a:accent4>
        <a:srgbClr val="0084A5"/>
      </a:accent4>
      <a:accent5>
        <a:srgbClr val="4472C4"/>
      </a:accent5>
      <a:accent6>
        <a:srgbClr val="829AA4"/>
      </a:accent6>
      <a:hlink>
        <a:srgbClr val="EC6608"/>
      </a:hlink>
      <a:folHlink>
        <a:srgbClr val="491A66"/>
      </a:folHlink>
    </a:clrScheme>
    <a:fontScheme name="UnLtd fonts">
      <a:majorFont>
        <a:latin typeface="Gotham Bold"/>
        <a:ea typeface=""/>
        <a:cs typeface=""/>
      </a:majorFont>
      <a:minorFont>
        <a:latin typeface="Gotham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Ltd temp.pptx" id="{301E8BD0-0D07-426A-81D2-03F3BCC8BD7F}" vid="{17E8085A-E865-47A8-94B5-31FAA855A6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4030</TotalTime>
  <Words>750</Words>
  <Application>Microsoft Office PowerPoint</Application>
  <PresentationFormat>Widescreen</PresentationFormat>
  <Paragraphs>128</Paragraphs>
  <Slides>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Gotham Black</vt:lpstr>
      <vt:lpstr>Gotham Bold</vt:lpstr>
      <vt:lpstr>Gotham Book</vt:lpstr>
      <vt:lpstr>Trebuchet MS</vt:lpstr>
      <vt:lpstr>UnLtd</vt:lpstr>
      <vt:lpstr>PowerPoint Presentation</vt:lpstr>
      <vt:lpstr>PowerPoint Presentation</vt:lpstr>
      <vt:lpstr>PowerPoint Presentation</vt:lpstr>
      <vt:lpstr>PowerPoint Presentation</vt:lpstr>
      <vt:lpstr>PowerPoint Presentation</vt:lpstr>
      <vt:lpstr>Recommended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Flynn Butterworth</dc:creator>
  <cp:lastModifiedBy>Camilla Elwood</cp:lastModifiedBy>
  <cp:revision>108</cp:revision>
  <dcterms:created xsi:type="dcterms:W3CDTF">2018-05-10T13:11:05Z</dcterms:created>
  <dcterms:modified xsi:type="dcterms:W3CDTF">2018-11-29T09:58:00Z</dcterms:modified>
</cp:coreProperties>
</file>
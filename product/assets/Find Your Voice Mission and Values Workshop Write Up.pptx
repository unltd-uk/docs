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BD71-D6A7-4A86-9C3C-CF9E10ABB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D976F-E833-4BA4-8AE3-AFB87349A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41220-1126-4D98-AB95-4AD349706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E8B8-83C4-41B6-8704-75214E19C6E6}" type="datetimeFigureOut">
              <a:rPr lang="en-GB" smtClean="0"/>
              <a:t>20/08/2019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0BE1A-7433-4C63-AD67-3505A8A3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68FA0-E341-4DFF-85EB-0260A2A5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2C3A8-A091-4243-A175-79A10916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96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5718-8A4F-40FB-9D1B-38DF4B5DD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F62A8-66C6-4B6A-B063-B99E8DAE7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DFAB1-58D3-4FE2-81C1-D451A0600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E8B8-83C4-41B6-8704-75214E19C6E6}" type="datetimeFigureOut">
              <a:rPr lang="en-GB" smtClean="0"/>
              <a:t>20/08/2019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91ADE-D4DD-406E-8739-EBC96057D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BD018-4A30-4579-84A4-0E04D8B77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2C3A8-A091-4243-A175-79A10916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17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01896-C6B1-4BE2-8D88-9969E0E1B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6EE83-E33A-4FC7-A662-FC6F74D7B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61CD1-37EE-417D-BEB7-6BCFCB809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E8B8-83C4-41B6-8704-75214E19C6E6}" type="datetimeFigureOut">
              <a:rPr lang="en-GB" smtClean="0"/>
              <a:t>20/08/2019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2CE5B-FAC4-4AA1-AE1D-ED6A6830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E0A0A-9BB3-42FD-BC2F-F98D95C0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2C3A8-A091-4243-A175-79A10916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643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206C-7E1C-46A2-84B9-4C08B591E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FA51F-164A-43CA-BAFA-A8A2B486E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218F5-AD91-48CA-B887-4398F56FA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591FA-BEEB-46B5-9204-0B8CDCE93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E8B8-83C4-41B6-8704-75214E19C6E6}" type="datetimeFigureOut">
              <a:rPr lang="en-GB" smtClean="0"/>
              <a:t>20/08/2019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37ABD-623B-4EAE-8839-558B0270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DFEBA-DA2C-4B62-B779-258736F7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2C3A8-A091-4243-A175-79A10916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991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25FF6-7CDC-4E68-BE17-3E69A7A10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E48B2-78F1-4E3B-B91C-E8B176293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436FE-3E7E-4B7C-A948-BC6AF3406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AD51D5-E080-489C-9460-C458C9EEDD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38C02A-D4DD-4BBF-ACA7-6673CC2B9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890181-D8FB-4FE8-BEFA-F2594D971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E8B8-83C4-41B6-8704-75214E19C6E6}" type="datetimeFigureOut">
              <a:rPr lang="en-GB" smtClean="0"/>
              <a:t>20/08/2019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27D89B-5964-4D56-A9D0-4E47EB242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C13E0-4EDE-486C-AC6E-7EA0F060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2C3A8-A091-4243-A175-79A10916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748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AE24-9232-49A4-9824-2801E3DB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DB133-7E38-4AC5-9B51-4551C44BE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E8B8-83C4-41B6-8704-75214E19C6E6}" type="datetimeFigureOut">
              <a:rPr lang="en-GB" smtClean="0"/>
              <a:t>20/08/2019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87A5B-7102-49D5-9458-600A34E17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8E96A-EFEC-43C3-B288-14EAA89D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2C3A8-A091-4243-A175-79A10916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302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D02A2B-CE23-4DC9-BCAB-675340495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E8B8-83C4-41B6-8704-75214E19C6E6}" type="datetimeFigureOut">
              <a:rPr lang="en-GB" smtClean="0"/>
              <a:t>20/08/2019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893E7-BBEB-412A-98DF-8CC534E37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C58CE-E20F-4A8D-AAF6-BCE52090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2C3A8-A091-4243-A175-79A10916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243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38FCD-B3A4-48CB-8FF7-D567F3C2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A221A-6DB2-461F-AB48-A86FD166D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57A702-2B21-414A-9751-0C0418433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5A145-72A3-4389-9C76-358B60C81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E8B8-83C4-41B6-8704-75214E19C6E6}" type="datetimeFigureOut">
              <a:rPr lang="en-GB" smtClean="0"/>
              <a:t>20/08/2019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DCE5F-83D9-454A-8D49-0616CC390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F0181-17D7-4CC0-9777-1764F6A19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2C3A8-A091-4243-A175-79A10916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67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838D9-235A-4C7C-83BC-69A336238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3DA75-3E79-409F-95A6-77DF23B65D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DF649-3896-4071-B2C4-1BEB65424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E6D13-479A-4A45-8160-C288257B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E8B8-83C4-41B6-8704-75214E19C6E6}" type="datetimeFigureOut">
              <a:rPr lang="en-GB" smtClean="0"/>
              <a:t>20/08/2019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4811C-2768-43DF-9D6D-DE8D959A8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072A7-C0AC-4632-A6C1-1D92C18F8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2C3A8-A091-4243-A175-79A10916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21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F333A-747B-459B-A2DF-42BEC08D4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E1D5E-CF85-4319-82E2-B87B1B11D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C204F-D900-42FB-A226-17B06000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E8B8-83C4-41B6-8704-75214E19C6E6}" type="datetimeFigureOut">
              <a:rPr lang="en-GB" smtClean="0"/>
              <a:t>20/08/2019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8B7EC-77B0-4EBA-A8F9-C7C286DC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7CEB6-7589-4D54-BAC3-34F258187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2C3A8-A091-4243-A175-79A10916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169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CCB960-07DC-4411-B3AB-5FE9B5C96C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93825-7FBF-49B4-B12A-131618806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C804C-F2DC-473E-A221-F656266C1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E8B8-83C4-41B6-8704-75214E19C6E6}" type="datetimeFigureOut">
              <a:rPr lang="en-GB" smtClean="0"/>
              <a:t>20/08/2019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A7091-37DF-4D1B-85F2-8F589809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DB4EC-8EEE-42E8-A6D3-DA8F6AE1B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2C3A8-A091-4243-A175-79A10916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787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909BC-6C88-4754-8A80-A39E7307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521D8-A593-4AB8-899F-ABC00EB93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37507-B351-4FE3-9DA2-8EC9D6E16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4E8B8-83C4-41B6-8704-75214E19C6E6}" type="datetimeFigureOut">
              <a:rPr lang="en-GB" smtClean="0"/>
              <a:t>20/08/2019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DC9D9-F683-468C-AC1E-62328CB34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270F1-4486-4206-9357-7368A5C2F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2C3A8-A091-4243-A175-79A10916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421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oolbox.hyperisland.com/team-purpose-culture" TargetMode="External"/><Relationship Id="rId2" Type="http://schemas.openxmlformats.org/officeDocument/2006/relationships/hyperlink" Target="https://www.slideshare.net/reed2001/culture-1798664/24-Were_a_team_not_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oolbox.hyperisland.com/" TargetMode="External"/><Relationship Id="rId4" Type="http://schemas.openxmlformats.org/officeDocument/2006/relationships/hyperlink" Target="http://www.designkit.org/methods#fil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3FDA1-BA02-44B9-A019-471FD1A22B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Find Your Voice Mission and Values Workshop – August 2019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FF498-CC66-4A8A-8AD4-F53EA61EED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243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31CB0-68C1-4342-A767-8B5448F99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Review the purpose of the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E5CCD-BE14-4D66-8BA9-AB6265C7F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Aim:</a:t>
            </a:r>
            <a:r>
              <a:rPr lang="en-GB" dirty="0"/>
              <a:t> Create a set of company values and mission statement that can be used internally and externally</a:t>
            </a:r>
          </a:p>
          <a:p>
            <a:r>
              <a:rPr lang="en-GB" b="1" dirty="0"/>
              <a:t>Brief:</a:t>
            </a:r>
            <a:r>
              <a:rPr lang="en-GB" dirty="0"/>
              <a:t> run a design session to fulfil the aim with the findings from the day being owned by FYV and incorporated into all future work and publications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7103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A0778-C71F-4D13-93D4-43F977B39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2: Review famous mission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A05D1-1A4C-4EA4-9989-B18526374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base"/>
            <a:r>
              <a:rPr lang="en-GB" b="1" dirty="0"/>
              <a:t>Patagonia</a:t>
            </a:r>
            <a:r>
              <a:rPr lang="en-GB" dirty="0"/>
              <a:t> - </a:t>
            </a:r>
            <a:r>
              <a:rPr lang="en-GB" i="1" dirty="0"/>
              <a:t>Build the best product, cause no unnecessary harm, use business to inspire and implement solutions to the environmental crisis.</a:t>
            </a:r>
            <a:endParaRPr lang="en-GB" dirty="0"/>
          </a:p>
          <a:p>
            <a:pPr fontAlgn="base"/>
            <a:r>
              <a:rPr lang="en-GB" b="1" dirty="0"/>
              <a:t>Amazon</a:t>
            </a:r>
            <a:r>
              <a:rPr lang="en-GB" dirty="0"/>
              <a:t> - </a:t>
            </a:r>
            <a:r>
              <a:rPr lang="en-GB" i="1" dirty="0"/>
              <a:t>The Earth’s most customer-centric company, where customers can find and discover anything they might want to buy online.</a:t>
            </a:r>
            <a:endParaRPr lang="en-GB" dirty="0"/>
          </a:p>
          <a:p>
            <a:pPr fontAlgn="base"/>
            <a:r>
              <a:rPr lang="en-GB" b="1" dirty="0"/>
              <a:t>Greenpeace</a:t>
            </a:r>
            <a:r>
              <a:rPr lang="en-GB" dirty="0"/>
              <a:t> - </a:t>
            </a:r>
            <a:r>
              <a:rPr lang="en-GB" i="1" dirty="0"/>
              <a:t>To ensure the ability of the earth to nurture life in all its diversity.</a:t>
            </a:r>
            <a:endParaRPr lang="en-GB" dirty="0"/>
          </a:p>
          <a:p>
            <a:pPr fontAlgn="base"/>
            <a:r>
              <a:rPr lang="en-GB" b="1" dirty="0"/>
              <a:t>Facebook</a:t>
            </a:r>
            <a:r>
              <a:rPr lang="en-GB" dirty="0"/>
              <a:t> - </a:t>
            </a:r>
            <a:r>
              <a:rPr lang="en-GB" i="1" dirty="0"/>
              <a:t>To give people the power to share and make the world more open and connected.</a:t>
            </a:r>
            <a:endParaRPr lang="en-GB" dirty="0"/>
          </a:p>
          <a:p>
            <a:pPr fontAlgn="base"/>
            <a:r>
              <a:rPr lang="en-GB" b="1" dirty="0"/>
              <a:t>Google</a:t>
            </a:r>
            <a:r>
              <a:rPr lang="en-GB" dirty="0"/>
              <a:t> - </a:t>
            </a:r>
            <a:r>
              <a:rPr lang="en-GB" i="1" dirty="0"/>
              <a:t>To organise the world’s information and make it universally accessible and useful.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572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8B87-D0A1-424B-8B6D-14CE8D7D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6"/>
            <a:ext cx="6586491" cy="1676603"/>
          </a:xfrm>
        </p:spPr>
        <p:txBody>
          <a:bodyPr>
            <a:normAutofit/>
          </a:bodyPr>
          <a:lstStyle/>
          <a:p>
            <a:r>
              <a:rPr lang="en-GB" dirty="0"/>
              <a:t>Step 3: Pitching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BBBA0A-0EB3-4B5F-869C-0ACF127567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5" r="3630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61F38A5-B9E2-4408-8E94-15439EE69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en-US" sz="2400"/>
              <a:t>3 min, 1.5 min and 30 sec pitches from each person in the room with those listening noting down key pieces of dialogue.</a:t>
            </a:r>
          </a:p>
          <a:p>
            <a:r>
              <a:rPr lang="en-US" sz="2400"/>
              <a:t>Highlights:</a:t>
            </a:r>
          </a:p>
          <a:p>
            <a:pPr lvl="1"/>
            <a:r>
              <a:rPr lang="en-US"/>
              <a:t>“more than just a memory”</a:t>
            </a:r>
          </a:p>
          <a:p>
            <a:pPr lvl="1"/>
            <a:r>
              <a:rPr lang="en-US"/>
              <a:t>Community/learner led </a:t>
            </a:r>
          </a:p>
          <a:p>
            <a:pPr lvl="1"/>
            <a:r>
              <a:rPr lang="en-US"/>
              <a:t>Health and wellbeing</a:t>
            </a:r>
          </a:p>
        </p:txBody>
      </p:sp>
    </p:spTree>
    <p:extLst>
      <p:ext uri="{BB962C8B-B14F-4D97-AF65-F5344CB8AC3E}">
        <p14:creationId xmlns:p14="http://schemas.microsoft.com/office/powerpoint/2010/main" val="591921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D5093-68CA-4976-9E5E-253F9DC97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6"/>
            <a:ext cx="6586491" cy="1676603"/>
          </a:xfrm>
        </p:spPr>
        <p:txBody>
          <a:bodyPr>
            <a:normAutofit/>
          </a:bodyPr>
          <a:lstStyle/>
          <a:p>
            <a:r>
              <a:rPr lang="en-GB" dirty="0"/>
              <a:t>Step 4: When were we most Find Your Voice? </a:t>
            </a:r>
          </a:p>
        </p:txBody>
      </p:sp>
      <p:pic>
        <p:nvPicPr>
          <p:cNvPr id="5" name="Content Placeholder 4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01B6B145-98FB-45C9-B80D-A2B34FF21C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5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415DED-50F2-4282-B114-5E821B822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 fontScale="77500" lnSpcReduction="20000"/>
          </a:bodyPr>
          <a:lstStyle/>
          <a:p>
            <a:r>
              <a:rPr lang="en-US" sz="2400" dirty="0"/>
              <a:t>Focusing on this central question we explored examples of when we felt most “Find Your Voice”.  Wrapped around this was 4 additional questions:</a:t>
            </a:r>
          </a:p>
          <a:p>
            <a:pPr lvl="1"/>
            <a:r>
              <a:rPr lang="en-US" sz="2000" dirty="0"/>
              <a:t>What makes them important to us?</a:t>
            </a:r>
          </a:p>
          <a:p>
            <a:pPr lvl="1"/>
            <a:r>
              <a:rPr lang="en-US" sz="2000" dirty="0"/>
              <a:t>How might we </a:t>
            </a:r>
            <a:r>
              <a:rPr lang="en-US" sz="2000" dirty="0" err="1"/>
              <a:t>emphasise</a:t>
            </a:r>
            <a:r>
              <a:rPr lang="en-US" sz="2000" dirty="0"/>
              <a:t> these?</a:t>
            </a:r>
          </a:p>
          <a:p>
            <a:pPr lvl="1"/>
            <a:r>
              <a:rPr lang="en-US" sz="2000" dirty="0"/>
              <a:t>What does that look like and why are they important?</a:t>
            </a:r>
          </a:p>
          <a:p>
            <a:pPr lvl="1"/>
            <a:r>
              <a:rPr lang="en-US" sz="2000" dirty="0"/>
              <a:t>What do we need for the future?</a:t>
            </a:r>
          </a:p>
          <a:p>
            <a:r>
              <a:rPr lang="en-US" sz="2400" dirty="0"/>
              <a:t>Highlights:</a:t>
            </a:r>
          </a:p>
          <a:p>
            <a:pPr lvl="1"/>
            <a:r>
              <a:rPr lang="en-US" sz="2000" dirty="0"/>
              <a:t>“If it’s not sustainable we move on” (and we’ll still be outstanding)</a:t>
            </a:r>
          </a:p>
          <a:p>
            <a:pPr lvl="1"/>
            <a:r>
              <a:rPr lang="en-US" sz="2000" dirty="0"/>
              <a:t>Everything must have a social and/or financial value </a:t>
            </a:r>
          </a:p>
          <a:p>
            <a:pPr lvl="1"/>
            <a:r>
              <a:rPr lang="en-US" sz="2000" dirty="0" err="1"/>
              <a:t>Systemisation</a:t>
            </a:r>
            <a:r>
              <a:rPr lang="en-US" sz="2000" dirty="0"/>
              <a:t> is important as long as it’s never onerous or holds back our leaders</a:t>
            </a:r>
          </a:p>
          <a:p>
            <a:pPr lvl="1"/>
            <a:r>
              <a:rPr lang="en-US" sz="2000" dirty="0"/>
              <a:t>We are responsible leaders and trust the people we work with</a:t>
            </a:r>
          </a:p>
          <a:p>
            <a:pPr lvl="1"/>
            <a:r>
              <a:rPr lang="en-US" sz="2000" dirty="0"/>
              <a:t>The facilitators are the channel we work through</a:t>
            </a:r>
          </a:p>
          <a:p>
            <a:pPr lvl="1"/>
            <a:r>
              <a:rPr lang="en-US" sz="2000" dirty="0"/>
              <a:t>Clear communication and commitment is vital from the outset</a:t>
            </a:r>
          </a:p>
        </p:txBody>
      </p:sp>
    </p:spTree>
    <p:extLst>
      <p:ext uri="{BB962C8B-B14F-4D97-AF65-F5344CB8AC3E}">
        <p14:creationId xmlns:p14="http://schemas.microsoft.com/office/powerpoint/2010/main" val="1706019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1458D-A77C-4AA5-89E1-31C243DB9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864" y="0"/>
            <a:ext cx="2979057" cy="2876855"/>
          </a:xfrm>
        </p:spPr>
        <p:txBody>
          <a:bodyPr>
            <a:normAutofit fontScale="90000"/>
          </a:bodyPr>
          <a:lstStyle/>
          <a:p>
            <a:r>
              <a:rPr lang="en-GB" dirty="0"/>
              <a:t>Step 5: Grouping together what we’ve just done</a:t>
            </a:r>
          </a:p>
        </p:txBody>
      </p:sp>
      <p:pic>
        <p:nvPicPr>
          <p:cNvPr id="5" name="Content Placeholder 4" descr="A stack of flyers on a table&#10;&#10;Description automatically generated">
            <a:extLst>
              <a:ext uri="{FF2B5EF4-FFF2-40B4-BE49-F238E27FC236}">
                <a16:creationId xmlns:a16="http://schemas.microsoft.com/office/drawing/2014/main" id="{D4556700-DD61-4DCA-9BE6-A0021442F9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22" y="621090"/>
            <a:ext cx="4211864" cy="561582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7883BD-62CF-4053-8DB3-58234DEF0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886" y="621090"/>
            <a:ext cx="4211864" cy="56158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3C1230-B673-4C2C-AF8B-B80907993362}"/>
              </a:ext>
            </a:extLst>
          </p:cNvPr>
          <p:cNvSpPr txBox="1"/>
          <p:nvPr/>
        </p:nvSpPr>
        <p:spPr>
          <a:xfrm>
            <a:off x="8795657" y="2876854"/>
            <a:ext cx="297905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was the first step to creating the values of the organisation, these received broad headings of:</a:t>
            </a:r>
            <a:br>
              <a:rPr lang="en-GB" dirty="0"/>
            </a:b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Community Comes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Quality creates difference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it’s not sustainable we move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share who we are and what we 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“staffing”</a:t>
            </a:r>
          </a:p>
        </p:txBody>
      </p:sp>
    </p:spTree>
    <p:extLst>
      <p:ext uri="{BB962C8B-B14F-4D97-AF65-F5344CB8AC3E}">
        <p14:creationId xmlns:p14="http://schemas.microsoft.com/office/powerpoint/2010/main" val="358782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AB8AA-6398-4224-B025-E3E38B2EF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6: Creating a mission statement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34907F-39DF-411D-A28A-DF2F7D67D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0" t="6411" r="9723" b="73576"/>
          <a:stretch/>
        </p:blipFill>
        <p:spPr>
          <a:xfrm>
            <a:off x="838200" y="1574573"/>
            <a:ext cx="10053293" cy="2779712"/>
          </a:xfrm>
        </p:spPr>
      </p:pic>
    </p:spTree>
    <p:extLst>
      <p:ext uri="{BB962C8B-B14F-4D97-AF65-F5344CB8AC3E}">
        <p14:creationId xmlns:p14="http://schemas.microsoft.com/office/powerpoint/2010/main" val="1430270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77B1E-1869-42B7-B9A3-66B6A9F1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093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Step 7: Creating a Mission and Values Tree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F16BD9-9715-40FD-BEC2-95F9F3044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2" t="8434" r="3811" b="39194"/>
          <a:stretch/>
        </p:blipFill>
        <p:spPr>
          <a:xfrm>
            <a:off x="1538514" y="876336"/>
            <a:ext cx="9114971" cy="3806073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5A2704-D0A0-429D-8968-813363E2EC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881" t="42536" r="8929" b="26761"/>
          <a:stretch/>
        </p:blipFill>
        <p:spPr>
          <a:xfrm>
            <a:off x="7112000" y="4753427"/>
            <a:ext cx="4412343" cy="21045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874074-1429-4853-B9AA-D758C5788F7D}"/>
              </a:ext>
            </a:extLst>
          </p:cNvPr>
          <p:cNvSpPr txBox="1"/>
          <p:nvPr/>
        </p:nvSpPr>
        <p:spPr>
          <a:xfrm>
            <a:off x="667657" y="5072742"/>
            <a:ext cx="57766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Using the design to the right we now tried to draw together all the learning from the session.  Underpinning the mission statement with a set of values that are supported by characteristics and examples of best practice (making them more robust, tangible and accountable)</a:t>
            </a:r>
          </a:p>
        </p:txBody>
      </p:sp>
    </p:spTree>
    <p:extLst>
      <p:ext uri="{BB962C8B-B14F-4D97-AF65-F5344CB8AC3E}">
        <p14:creationId xmlns:p14="http://schemas.microsoft.com/office/powerpoint/2010/main" val="809097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15A81-771D-476F-8F95-1C29180F4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01EE6-E181-4AB0-9817-CC0059B61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Netflix’s values: </a:t>
            </a:r>
            <a:r>
              <a:rPr lang="en-GB" dirty="0">
                <a:hlinkClick r:id="rId2"/>
              </a:rPr>
              <a:t>https://www.slideshare.net/reed2001/culture-1798664/24-Were_a_team_not_a</a:t>
            </a:r>
            <a:endParaRPr lang="en-GB" dirty="0"/>
          </a:p>
          <a:p>
            <a:r>
              <a:rPr lang="en-GB" dirty="0">
                <a:hlinkClick r:id="rId3"/>
              </a:rPr>
              <a:t>https://toolbox.hyperisland.com/team-purpose-culture</a:t>
            </a:r>
            <a:r>
              <a:rPr lang="en-GB" dirty="0"/>
              <a:t> </a:t>
            </a:r>
          </a:p>
          <a:p>
            <a:r>
              <a:rPr lang="en-GB" dirty="0">
                <a:hlinkClick r:id="rId4"/>
              </a:rPr>
              <a:t>http://www.designkit.org/methods#filter</a:t>
            </a:r>
            <a:endParaRPr lang="en-GB" dirty="0"/>
          </a:p>
          <a:p>
            <a:r>
              <a:rPr lang="en-GB" dirty="0">
                <a:hlinkClick r:id="rId5"/>
              </a:rPr>
              <a:t>https://toolbox.hyperisland.com/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2924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400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Find Your Voice Mission and Values Workshop – August 2019</vt:lpstr>
      <vt:lpstr>Step 1: Review the purpose of the sessions</vt:lpstr>
      <vt:lpstr>Step 2: Review famous mission statements</vt:lpstr>
      <vt:lpstr>Step 3: Pitching</vt:lpstr>
      <vt:lpstr>Step 4: When were we most Find Your Voice? </vt:lpstr>
      <vt:lpstr>Step 5: Grouping together what we’ve just done</vt:lpstr>
      <vt:lpstr>Step 6: Creating a mission statement</vt:lpstr>
      <vt:lpstr>Step 7: Creating a Mission and Values Tree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 Your Voice Mission and Values Workshop – August 2019</dc:title>
  <dc:creator>Tim Lages</dc:creator>
  <cp:lastModifiedBy>Tim Lages</cp:lastModifiedBy>
  <cp:revision>6</cp:revision>
  <dcterms:created xsi:type="dcterms:W3CDTF">2019-08-20T11:29:10Z</dcterms:created>
  <dcterms:modified xsi:type="dcterms:W3CDTF">2019-08-20T12:02:31Z</dcterms:modified>
</cp:coreProperties>
</file>
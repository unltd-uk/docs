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7" r:id="rId2"/>
    <p:sldId id="258" r:id="rId3"/>
    <p:sldId id="269" r:id="rId4"/>
    <p:sldId id="270" r:id="rId5"/>
    <p:sldId id="276" r:id="rId6"/>
    <p:sldId id="271" r:id="rId7"/>
    <p:sldId id="260" r:id="rId8"/>
    <p:sldId id="277" r:id="rId9"/>
    <p:sldId id="272" r:id="rId10"/>
    <p:sldId id="273" r:id="rId11"/>
    <p:sldId id="274" r:id="rId12"/>
    <p:sldId id="27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1A66"/>
    <a:srgbClr val="472665"/>
    <a:srgbClr val="F37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87704" autoAdjust="0"/>
  </p:normalViewPr>
  <p:slideViewPr>
    <p:cSldViewPr snapToGrid="0">
      <p:cViewPr varScale="1">
        <p:scale>
          <a:sx n="100" d="100"/>
          <a:sy n="100" d="100"/>
        </p:scale>
        <p:origin x="8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8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4F0777-E9D5-44EE-87B8-929B5F2571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D3F718-09DA-407F-A69F-73CFB42528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6161A-5954-455B-8CA2-ABDFA4CF1D96}" type="datetimeFigureOut">
              <a:rPr lang="en-GB" smtClean="0"/>
              <a:t>25/09/2018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EBED4-43C0-491D-BB8D-00EA61982A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04783-7143-4C7C-945B-9F7D8B5A53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A01D-0DAD-4591-8474-22CCBD0FDF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28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3C47D-AC40-4C57-B801-0B1A733141B1}" type="datetimeFigureOut">
              <a:rPr lang="en-GB" smtClean="0"/>
              <a:t>25/09/2018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74DD8-23EF-45F8-B399-8BBD2E29D9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767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53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804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Peripheral  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Isolated incidences of CRM usage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approach to information sharing 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CRM system mainly used to manage contacts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interoperability between systems but still a number of cultural issues in terms of a lack of a willingness for schools/departments to share info</a:t>
            </a:r>
          </a:p>
          <a:p>
            <a:pPr fontAlgn="base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Tactical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incidences of CRM usage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Informs service delivery and improvement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of CRM system across a number of departments/business unites 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integration with other institutional systems</a:t>
            </a:r>
          </a:p>
          <a:p>
            <a:pPr fontAlgn="base"/>
            <a:r>
              <a:rPr lang="en-GB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</a:t>
            </a: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Institution-wide use of CRM across all business units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Informs strategic management of relationships</a:t>
            </a:r>
          </a:p>
          <a:p>
            <a:pPr fontAlgn="base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Fully integrated with other institutional systems.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36428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Prompts: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Repeat business /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might provide opportunities for upselling providing foundation of trust has been established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Generate leads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Maintain good reputation – get testimonials / impact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Get insight to develop our service offer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Allows us to deliver better service / easier operating relationship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Withstand cutbacks in client budgets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Reduce spend on marketing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2838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Look at customer personas</a:t>
            </a:r>
          </a:p>
          <a:p>
            <a:r>
              <a:rPr lang="en-GB" dirty="0"/>
              <a:t>Are all customers the same or do we have different types emerging?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a science more an art – but still useful to map out the customer journey to understand points you should be mindful of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Useful (what’s the hygiene factor) – Useable (what’s the experience of working with you) – Desirable (what’s the “wow” factor </a:t>
            </a:r>
            <a:r>
              <a:rPr lang="en-GB" dirty="0" err="1"/>
              <a:t>eg</a:t>
            </a:r>
            <a:r>
              <a:rPr lang="en-GB" dirty="0"/>
              <a:t> handwritten thank you, visit from the office puppy!)</a:t>
            </a:r>
          </a:p>
          <a:p>
            <a:pPr lvl="0"/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3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It’s a 2-way relationship. You can also assess how attractive different customers along dimensions such as reliability/profitability, reputation, ease to work with, want to create a true partnership</a:t>
            </a:r>
          </a:p>
          <a:p>
            <a:pPr lv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about what’s the strength of your relationship at the moment – and where you’d like it to be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463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How would other companies do this for their customers?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What are our competitors doing?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Overall, what are our key principles of how we work? </a:t>
            </a:r>
            <a:r>
              <a:rPr lang="en-GB" dirty="0" err="1"/>
              <a:t>Eg</a:t>
            </a:r>
            <a:r>
              <a:rPr lang="en-GB" dirty="0"/>
              <a:t> TFTF wants our customers to say that we: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are the go to person whenever they have a problem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Don’t stay in touch just to sell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Proactively seek feedback &amp; act on it! (You’d rather do this before ppl leave).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Internally we know that we: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Spend 80% of your time with your top 20% of clients -&gt; have a way to manage those that then don’t make the best use of your time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“Don’t feed the beast” – the CRM system is there to help you, not dictate your life!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have good, easy to access information about each customer – stored in a handy place that captures core details we need</a:t>
            </a:r>
            <a:endParaRPr lang="en-GB" dirty="0"/>
          </a:p>
          <a:p>
            <a:endParaRPr lang="en-GB" dirty="0"/>
          </a:p>
          <a:p>
            <a:r>
              <a:rPr lang="en-GB" dirty="0"/>
              <a:t>How will we measure process / outcomes?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ToC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can apply the same idea of: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‘Input’ (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leads generated, net promoter score, people reading/unsubscribing from your newsletter, # of monthly contacts) -&gt;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‘Outcome’ (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£ sales via referrals, retention rates) metrics to CRM KPIs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554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 through the mapping exercise. May need to fill in more detail later.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At the end, stand back &amp; think: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How do we compare to this vision? What are the gaps?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217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Do you have an understanding of: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Why you will proceed? What do you expect in terms of returns?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What are the barriers you’re likely to encounter? How will you overcome these?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894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474DD8-23EF-45F8-B399-8BBD2E29D92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92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491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ECCCB-7472-448F-B092-773C478B20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87563" y="1925638"/>
            <a:ext cx="8369300" cy="2871787"/>
          </a:xfrm>
        </p:spPr>
        <p:txBody>
          <a:bodyPr anchor="ctr"/>
          <a:lstStyle>
            <a:lvl1pPr marL="0" indent="0" algn="ctr">
              <a:buNone/>
              <a:defRPr sz="11500">
                <a:solidFill>
                  <a:schemeClr val="bg1"/>
                </a:solidFill>
                <a:latin typeface="Gotham Black" pitchFamily="50" charset="0"/>
              </a:defRPr>
            </a:lvl1pPr>
            <a:lvl2pPr>
              <a:defRPr>
                <a:solidFill>
                  <a:schemeClr val="bg1"/>
                </a:solidFill>
                <a:latin typeface="Gotham Black" pitchFamily="50" charset="0"/>
              </a:defRPr>
            </a:lvl2pPr>
            <a:lvl3pPr>
              <a:defRPr>
                <a:solidFill>
                  <a:schemeClr val="bg1"/>
                </a:solidFill>
                <a:latin typeface="Gotham Black" pitchFamily="50" charset="0"/>
              </a:defRPr>
            </a:lvl3pPr>
            <a:lvl4pPr>
              <a:defRPr>
                <a:solidFill>
                  <a:schemeClr val="bg1"/>
                </a:solidFill>
                <a:latin typeface="Gotham Black" pitchFamily="50" charset="0"/>
              </a:defRPr>
            </a:lvl4pPr>
            <a:lvl5pPr>
              <a:defRPr>
                <a:solidFill>
                  <a:schemeClr val="bg1"/>
                </a:solidFill>
                <a:latin typeface="Gotham Black" pitchFamily="50" charset="0"/>
              </a:defRPr>
            </a:lvl5pPr>
          </a:lstStyle>
          <a:p>
            <a:pPr lvl="0"/>
            <a:r>
              <a:rPr lang="en-GB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66372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C073B-9002-45FF-8A60-D00AF5498BE3}" type="datetimeFigureOut">
              <a:rPr lang="en-GB" smtClean="0"/>
              <a:t>25/09/2018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F0FB5-D502-4438-886F-18082FA237F4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62217E-25DD-4960-ABE0-F9AA2F3DC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062" y="2369370"/>
            <a:ext cx="10644738" cy="1912173"/>
          </a:xfrm>
        </p:spPr>
        <p:txBody>
          <a:bodyPr/>
          <a:lstStyle>
            <a:lvl1pPr marL="0" indent="0">
              <a:buNone/>
              <a:defRPr sz="4400">
                <a:solidFill>
                  <a:srgbClr val="491A66"/>
                </a:solidFill>
                <a:latin typeface="+mj-lt"/>
              </a:defRPr>
            </a:lvl1pPr>
            <a:lvl2pPr marL="457200" indent="0">
              <a:buNone/>
              <a:defRPr sz="4400">
                <a:solidFill>
                  <a:srgbClr val="F37023"/>
                </a:solidFill>
              </a:defRPr>
            </a:lvl2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6A4557-7DDE-4427-A339-35D9B01A0F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989" y="6084979"/>
            <a:ext cx="1641907" cy="477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04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bg>
      <p:bgPr>
        <a:solidFill>
          <a:srgbClr val="491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6BF4-2260-497D-9E09-38C2E01E2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00" y="341299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3FAB3-9996-49B2-8382-3B04639DFB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29300" y="1968014"/>
            <a:ext cx="10515600" cy="401323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800100" indent="-3429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257300" indent="-3429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57350" indent="-2857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114550" indent="-28575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4149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E61E-3F26-4FE3-879F-DC5A9662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0731C49-F76A-4D7B-8FC0-9C92058A7A7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29300" y="1968014"/>
            <a:ext cx="10515600" cy="4013238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800100" indent="-342900">
              <a:buFontTx/>
              <a:buBlip>
                <a:blip r:embed="rId2"/>
              </a:buBlip>
              <a:defRPr/>
            </a:lvl2pPr>
            <a:lvl3pPr marL="1257300" indent="-342900">
              <a:buFontTx/>
              <a:buBlip>
                <a:blip r:embed="rId2"/>
              </a:buBlip>
              <a:defRPr/>
            </a:lvl3pPr>
            <a:lvl4pPr marL="1657350" indent="-285750">
              <a:buFontTx/>
              <a:buBlip>
                <a:blip r:embed="rId2"/>
              </a:buBlip>
              <a:defRPr/>
            </a:lvl4pPr>
            <a:lvl5pPr marL="2114550" indent="-28575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34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C9AFB1-1EFD-4868-86E1-7B65C6E92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1256" y="296890"/>
            <a:ext cx="5238276" cy="7143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Case study title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568EF-5343-4C6C-AE6C-6F7A820DEEC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65925" y="1204913"/>
            <a:ext cx="5164138" cy="4754562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1pPr>
            <a:lvl2pPr marL="6858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2pPr>
            <a:lvl3pPr marL="11430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3pPr>
            <a:lvl4pPr marL="16002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4pPr>
            <a:lvl5pPr marL="2057400" indent="-228600">
              <a:buFontTx/>
              <a:buBlip>
                <a:blip r:embed="rId2"/>
              </a:buBlip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0977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C67FC4-C5D0-4ADC-A8C9-51C79B62F523}"/>
              </a:ext>
            </a:extLst>
          </p:cNvPr>
          <p:cNvSpPr/>
          <p:nvPr userDrawn="1"/>
        </p:nvSpPr>
        <p:spPr>
          <a:xfrm>
            <a:off x="0" y="2146300"/>
            <a:ext cx="12192000" cy="4711700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85A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8746601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448D43-F6D4-4189-BBDC-53888D5AA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3163" y="750749"/>
            <a:ext cx="1807605" cy="5272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4601765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56930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2373825-CB96-426B-8496-7664CEBF18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094" y="2167167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4CC8692-0B4D-44DA-A5AE-4030ACC897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94" y="2742552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6B6870B-E95A-4DA8-A4F8-26627F73F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930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8AF5EBD-23A4-412B-829C-75793DD19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930" y="2745926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628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628" y="2739827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35442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8746601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4601765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56930" y="2066541"/>
            <a:ext cx="2988469" cy="3184271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2373825-CB96-426B-8496-7664CEBF18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6094" y="2167167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4CC8692-0B4D-44DA-A5AE-4030ACC897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94" y="2742552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6B6870B-E95A-4DA8-A4F8-26627F73F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930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8AF5EBD-23A4-412B-829C-75793DD19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930" y="2745926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628" y="2164442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628" y="2739827"/>
            <a:ext cx="2990140" cy="2296684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589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C67FC4-C5D0-4ADC-A8C9-51C79B62F523}"/>
              </a:ext>
            </a:extLst>
          </p:cNvPr>
          <p:cNvSpPr/>
          <p:nvPr userDrawn="1"/>
        </p:nvSpPr>
        <p:spPr>
          <a:xfrm>
            <a:off x="0" y="2146300"/>
            <a:ext cx="12192000" cy="4711700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85A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6517452" y="1985993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448D43-F6D4-4189-BBDC-53888D5AA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3163" y="750749"/>
            <a:ext cx="1807605" cy="5272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356692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89168" y="2004139"/>
            <a:ext cx="2106346" cy="2426956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A96B9533-2492-474A-8F8E-2B7DB44FB3C9}"/>
              </a:ext>
            </a:extLst>
          </p:cNvPr>
          <p:cNvSpPr/>
          <p:nvPr userDrawn="1"/>
        </p:nvSpPr>
        <p:spPr>
          <a:xfrm rot="5400000">
            <a:off x="954396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6712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705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A48FFB-74C0-4F14-A9CA-61518820A8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3132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33E1632-58E6-4E54-882D-21A335D4A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3059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0D64113-B1DC-47E6-83DD-9AF945602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2079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0EE6394-CAF7-43E7-BCA9-C54E44FB10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2006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5EEB46E-41F4-4586-B4A5-010399555F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675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235E8B4-1E7D-4065-AE29-1EE0BD428A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68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F2717-D45E-44F6-8041-688D23B4FC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8613" y="4518025"/>
            <a:ext cx="11482387" cy="198913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27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U shap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elay 23">
            <a:extLst>
              <a:ext uri="{FF2B5EF4-FFF2-40B4-BE49-F238E27FC236}">
                <a16:creationId xmlns:a16="http://schemas.microsoft.com/office/drawing/2014/main" id="{DC0B3E49-B356-4739-9034-50E9CEC709E2}"/>
              </a:ext>
            </a:extLst>
          </p:cNvPr>
          <p:cNvSpPr/>
          <p:nvPr userDrawn="1"/>
        </p:nvSpPr>
        <p:spPr>
          <a:xfrm rot="5400000">
            <a:off x="6517452" y="1985993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6" name="Flowchart: Delay 15">
            <a:extLst>
              <a:ext uri="{FF2B5EF4-FFF2-40B4-BE49-F238E27FC236}">
                <a16:creationId xmlns:a16="http://schemas.microsoft.com/office/drawing/2014/main" id="{454FD496-54DA-4199-AAC6-66A65DE445AA}"/>
              </a:ext>
            </a:extLst>
          </p:cNvPr>
          <p:cNvSpPr/>
          <p:nvPr userDrawn="1"/>
        </p:nvSpPr>
        <p:spPr>
          <a:xfrm rot="5400000">
            <a:off x="356692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7" name="Flowchart: Delay 16">
            <a:extLst>
              <a:ext uri="{FF2B5EF4-FFF2-40B4-BE49-F238E27FC236}">
                <a16:creationId xmlns:a16="http://schemas.microsoft.com/office/drawing/2014/main" id="{2EEE0A17-3A41-451F-A395-9A5EFCF47621}"/>
              </a:ext>
            </a:extLst>
          </p:cNvPr>
          <p:cNvSpPr/>
          <p:nvPr userDrawn="1"/>
        </p:nvSpPr>
        <p:spPr>
          <a:xfrm rot="5400000">
            <a:off x="489168" y="2004139"/>
            <a:ext cx="2106346" cy="2426956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14" name="Flowchart: Delay 13">
            <a:extLst>
              <a:ext uri="{FF2B5EF4-FFF2-40B4-BE49-F238E27FC236}">
                <a16:creationId xmlns:a16="http://schemas.microsoft.com/office/drawing/2014/main" id="{A96B9533-2492-474A-8F8E-2B7DB44FB3C9}"/>
              </a:ext>
            </a:extLst>
          </p:cNvPr>
          <p:cNvSpPr/>
          <p:nvPr userDrawn="1"/>
        </p:nvSpPr>
        <p:spPr>
          <a:xfrm rot="5400000">
            <a:off x="9543965" y="2004139"/>
            <a:ext cx="2106345" cy="2426957"/>
          </a:xfrm>
          <a:prstGeom prst="flowChartDelay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vert270"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6712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705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6A48FFB-74C0-4F14-A9CA-61518820A8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33132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33E1632-58E6-4E54-882D-21A335D4A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53059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0D64113-B1DC-47E6-83DD-9AF945602E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2079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0EE6394-CAF7-43E7-BCA9-C54E44FB10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42006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55EEB46E-41F4-4586-B4A5-010399555F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6754" y="2164442"/>
            <a:ext cx="1182535" cy="43890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6235E8B4-1E7D-4065-AE29-1EE0BD428A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6681" y="2621493"/>
            <a:ext cx="1835654" cy="95004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F2717-D45E-44F6-8041-688D23B4FC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8613" y="4518025"/>
            <a:ext cx="11482387" cy="1989138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387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ieveing a go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B916B62F-E266-4F4E-9915-FF25285DB186}"/>
              </a:ext>
            </a:extLst>
          </p:cNvPr>
          <p:cNvSpPr/>
          <p:nvPr userDrawn="1"/>
        </p:nvSpPr>
        <p:spPr>
          <a:xfrm>
            <a:off x="5310470" y="1421969"/>
            <a:ext cx="1631572" cy="1664558"/>
          </a:xfrm>
          <a:prstGeom prst="rect">
            <a:avLst/>
          </a:prstGeom>
          <a:solidFill>
            <a:srgbClr val="EC66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2D30E2D-44C1-40C3-86A5-3410ECB0B513}"/>
              </a:ext>
            </a:extLst>
          </p:cNvPr>
          <p:cNvSpPr/>
          <p:nvPr userDrawn="1"/>
        </p:nvSpPr>
        <p:spPr>
          <a:xfrm>
            <a:off x="299330" y="430879"/>
            <a:ext cx="11593340" cy="854257"/>
          </a:xfrm>
          <a:prstGeom prst="rect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Gotham Bold" pitchFamily="50" charset="0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6B9DD9-1B6A-4F9F-AA3E-D816AD0D4364}"/>
              </a:ext>
            </a:extLst>
          </p:cNvPr>
          <p:cNvSpPr/>
          <p:nvPr userDrawn="1"/>
        </p:nvSpPr>
        <p:spPr>
          <a:xfrm>
            <a:off x="304346" y="3192332"/>
            <a:ext cx="3795690" cy="1733481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491A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2E48D3-9A6B-46D7-87CF-E66AE0805101}"/>
              </a:ext>
            </a:extLst>
          </p:cNvPr>
          <p:cNvSpPr/>
          <p:nvPr userDrawn="1"/>
        </p:nvSpPr>
        <p:spPr>
          <a:xfrm>
            <a:off x="4207848" y="3208872"/>
            <a:ext cx="3795690" cy="1737354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491A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629942-9644-4427-85F1-6502ACE9798D}"/>
              </a:ext>
            </a:extLst>
          </p:cNvPr>
          <p:cNvSpPr/>
          <p:nvPr userDrawn="1"/>
        </p:nvSpPr>
        <p:spPr>
          <a:xfrm>
            <a:off x="8111350" y="3205792"/>
            <a:ext cx="3795690" cy="1735350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491A66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D37EDFC-5875-4DC3-A044-2158CE585AE4}"/>
              </a:ext>
            </a:extLst>
          </p:cNvPr>
          <p:cNvSpPr/>
          <p:nvPr userDrawn="1"/>
        </p:nvSpPr>
        <p:spPr>
          <a:xfrm>
            <a:off x="283637" y="5067099"/>
            <a:ext cx="11609034" cy="854277"/>
          </a:xfrm>
          <a:prstGeom prst="rect">
            <a:avLst/>
          </a:prstGeom>
          <a:solidFill>
            <a:srgbClr val="491A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EC6608"/>
              </a:solidFill>
              <a:effectLst/>
              <a:uLnTx/>
              <a:uFillTx/>
              <a:latin typeface="Trebuchet MS" panose="020B0603020202020204" pitchFamily="34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15DDDE-D10E-4AE1-A95B-66499CE8174D}"/>
              </a:ext>
            </a:extLst>
          </p:cNvPr>
          <p:cNvSpPr/>
          <p:nvPr userDrawn="1"/>
        </p:nvSpPr>
        <p:spPr>
          <a:xfrm>
            <a:off x="274890" y="1421969"/>
            <a:ext cx="5166908" cy="1664558"/>
          </a:xfrm>
          <a:prstGeom prst="rect">
            <a:avLst/>
          </a:prstGeom>
          <a:solidFill>
            <a:srgbClr val="EC66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7D46F0-F2F2-4C10-88E6-22B41754FB70}"/>
              </a:ext>
            </a:extLst>
          </p:cNvPr>
          <p:cNvSpPr/>
          <p:nvPr userDrawn="1"/>
        </p:nvSpPr>
        <p:spPr>
          <a:xfrm>
            <a:off x="6740132" y="1423422"/>
            <a:ext cx="5166908" cy="1664558"/>
          </a:xfrm>
          <a:prstGeom prst="rect">
            <a:avLst/>
          </a:prstGeom>
          <a:solidFill>
            <a:srgbClr val="EC660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4" name="Plus Sign 43">
            <a:extLst>
              <a:ext uri="{FF2B5EF4-FFF2-40B4-BE49-F238E27FC236}">
                <a16:creationId xmlns:a16="http://schemas.microsoft.com/office/drawing/2014/main" id="{1A908DBD-37AA-423E-9412-FA30F81B7BF8}"/>
              </a:ext>
            </a:extLst>
          </p:cNvPr>
          <p:cNvSpPr>
            <a:spLocks/>
          </p:cNvSpPr>
          <p:nvPr userDrawn="1"/>
        </p:nvSpPr>
        <p:spPr>
          <a:xfrm>
            <a:off x="5573125" y="1680477"/>
            <a:ext cx="1106263" cy="1147542"/>
          </a:xfrm>
          <a:prstGeom prst="mathPlus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03010-B631-40A9-8135-8AF01DAF6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1206" y="484991"/>
            <a:ext cx="11109589" cy="678470"/>
          </a:xfrm>
        </p:spPr>
        <p:txBody>
          <a:bodyPr>
            <a:no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AF609-F9DC-456D-ADB5-8EA9E965C4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2521" y="1631240"/>
            <a:ext cx="4625975" cy="11461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91A6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292DF8-77F3-495C-94B6-0F773F5D82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6885" y="1645499"/>
            <a:ext cx="4625975" cy="11461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3600">
                <a:solidFill>
                  <a:srgbClr val="491A6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09FF254-4CDB-4CE7-9CED-F304795EA0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695" y="3343099"/>
            <a:ext cx="3506993" cy="1460736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BA03FD8-0A50-4C9C-8390-7BB7B9A019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72759" y="3343099"/>
            <a:ext cx="3506993" cy="1460736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5C95AB8-2590-415A-A4EB-59CB57FC67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5698" y="3343099"/>
            <a:ext cx="3506993" cy="1460736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89B6DD-9A72-42C0-8F2E-56E4B8FCBD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9097" y="5226760"/>
            <a:ext cx="10794316" cy="451503"/>
          </a:xfrm>
        </p:spPr>
        <p:txBody>
          <a:bodyPr/>
          <a:lstStyle>
            <a:lvl1pPr marL="0" indent="0" algn="ctr">
              <a:buNone/>
              <a:defRPr>
                <a:solidFill>
                  <a:srgbClr val="F3702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32817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33C9B83-9D4A-444C-9CD5-D795BEF36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304" y="6036990"/>
            <a:ext cx="1807605" cy="52724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C4DD1-4B6C-43B2-A588-57DCD46F70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2926" y="171451"/>
            <a:ext cx="5658262" cy="63927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90F74-EF23-40F0-91FA-0918A5AFA2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42033" y="4300858"/>
            <a:ext cx="2499155" cy="1646238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400" b="1">
                <a:solidFill>
                  <a:srgbClr val="F37023"/>
                </a:solidFill>
              </a:defRPr>
            </a:lvl1pPr>
            <a:lvl2pPr>
              <a:defRPr sz="1400" b="1"/>
            </a:lvl2pPr>
          </a:lstStyle>
          <a:p>
            <a:pPr lvl="0"/>
            <a:r>
              <a:rPr lang="en-US" dirty="0"/>
              <a:t>“Quote”</a:t>
            </a:r>
          </a:p>
          <a:p>
            <a:pPr lvl="1"/>
            <a:r>
              <a:rPr lang="en-US" dirty="0"/>
              <a:t>Name,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D6B26F5-4892-4C93-92C7-E27C2F0D0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304" y="365125"/>
            <a:ext cx="5658696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D570A8-B1D4-4755-BA2F-234F97979A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6563" y="1933575"/>
            <a:ext cx="5659437" cy="4013200"/>
          </a:xfrm>
        </p:spPr>
        <p:txBody>
          <a:bodyPr/>
          <a:lstStyle>
            <a:lvl1pPr marL="228600" indent="-228600">
              <a:buFontTx/>
              <a:buBlip>
                <a:blip r:embed="rId3"/>
              </a:buBlip>
              <a:defRPr/>
            </a:lvl1pPr>
            <a:lvl2pPr marL="685800" indent="-228600">
              <a:buFontTx/>
              <a:buBlip>
                <a:blip r:embed="rId3"/>
              </a:buBlip>
              <a:defRPr/>
            </a:lvl2pPr>
            <a:lvl3pPr marL="1143000" indent="-228600">
              <a:buFontTx/>
              <a:buBlip>
                <a:blip r:embed="rId3"/>
              </a:buBlip>
              <a:defRPr/>
            </a:lvl3pPr>
            <a:lvl4pPr marL="1600200" indent="-228600">
              <a:buFontTx/>
              <a:buBlip>
                <a:blip r:embed="rId3"/>
              </a:buBlip>
              <a:defRPr/>
            </a:lvl4pPr>
            <a:lvl5pPr marL="2057400" indent="-228600">
              <a:buFontTx/>
              <a:buBlip>
                <a:blip r:embed="rId3"/>
              </a:buBlip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3881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FC4DD1-4B6C-43B2-A588-57DCD46F70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5613" y="232610"/>
            <a:ext cx="5658262" cy="63927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90F74-EF23-40F0-91FA-0918A5AFA2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74720" y="4447757"/>
            <a:ext cx="2499155" cy="1646238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 sz="1400" b="1">
                <a:solidFill>
                  <a:srgbClr val="F37023"/>
                </a:solidFill>
              </a:defRPr>
            </a:lvl1pPr>
            <a:lvl2pPr>
              <a:defRPr sz="1400" b="1"/>
            </a:lvl2pPr>
          </a:lstStyle>
          <a:p>
            <a:pPr lvl="0"/>
            <a:r>
              <a:rPr lang="en-US" dirty="0"/>
              <a:t>“Quote”</a:t>
            </a:r>
          </a:p>
          <a:p>
            <a:pPr lvl="1"/>
            <a:r>
              <a:rPr lang="en-US" dirty="0"/>
              <a:t>Name, </a:t>
            </a:r>
            <a:r>
              <a:rPr lang="en-US" dirty="0" err="1"/>
              <a:t>Organisation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D6B26F5-4892-4C93-92C7-E27C2F0D0D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2926" y="241073"/>
            <a:ext cx="5658696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ED570A8-B1D4-4755-BA2F-234F97979A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2185" y="1801095"/>
            <a:ext cx="5659437" cy="4201671"/>
          </a:xfrm>
        </p:spPr>
        <p:txBody>
          <a:bodyPr/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Tx/>
              <a:buBlip>
                <a:blip r:embed="rId2"/>
              </a:buBlip>
              <a:defRPr/>
            </a:lvl2pPr>
            <a:lvl3pPr marL="1143000" indent="-228600">
              <a:buFontTx/>
              <a:buBlip>
                <a:blip r:embed="rId2"/>
              </a:buBlip>
              <a:defRPr/>
            </a:lvl3pPr>
            <a:lvl4pPr marL="1600200" indent="-228600">
              <a:buFontTx/>
              <a:buBlip>
                <a:blip r:embed="rId2"/>
              </a:buBlip>
              <a:defRPr/>
            </a:lvl4pPr>
            <a:lvl5pPr marL="2057400" indent="-228600">
              <a:buFontTx/>
              <a:buBlip>
                <a:blip r:embed="rId2"/>
              </a:buBlip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3413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focus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EC67FC4-C5D0-4ADC-A8C9-51C79B62F523}"/>
              </a:ext>
            </a:extLst>
          </p:cNvPr>
          <p:cNvSpPr/>
          <p:nvPr userDrawn="1"/>
        </p:nvSpPr>
        <p:spPr>
          <a:xfrm>
            <a:off x="0" y="4911634"/>
            <a:ext cx="12192000" cy="1946366"/>
          </a:xfrm>
          <a:prstGeom prst="rect">
            <a:avLst/>
          </a:prstGeom>
          <a:solidFill>
            <a:srgbClr val="00A19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85A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A448D43-F6D4-4189-BBDC-53888D5AAE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43163" y="750749"/>
            <a:ext cx="1807605" cy="5272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A2DC420-B1F1-4029-A960-EACBCF5AFA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345" y="351587"/>
            <a:ext cx="8488680" cy="1325563"/>
          </a:xfrm>
        </p:spPr>
        <p:txBody>
          <a:bodyPr/>
          <a:lstStyle>
            <a:lvl1pPr>
              <a:defRPr>
                <a:solidFill>
                  <a:srgbClr val="491A66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44CC8692-0B4D-44DA-A5AE-4030ACC897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1232" y="5020075"/>
            <a:ext cx="2990140" cy="166810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6" name="Text Placeholder 5">
            <a:extLst>
              <a:ext uri="{FF2B5EF4-FFF2-40B4-BE49-F238E27FC236}">
                <a16:creationId xmlns:a16="http://schemas.microsoft.com/office/drawing/2014/main" id="{36B6870B-E95A-4DA8-A4F8-26627F73F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0930" y="2099073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/>
            <a:r>
              <a:rPr lang="en-GB" sz="2400" dirty="0">
                <a:solidFill>
                  <a:srgbClr val="EC6608"/>
                </a:solidFill>
                <a:latin typeface="Gotham Bold" pitchFamily="50" charset="0"/>
              </a:rPr>
              <a:t>Access to employment</a:t>
            </a:r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E8AF5EBD-23A4-412B-829C-75793DD198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00930" y="5036511"/>
            <a:ext cx="2990140" cy="166810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4028204A-AFFE-45E2-83A4-293BB8C200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0627" y="2055839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/>
            <a:r>
              <a:rPr lang="en-GB" sz="2400" dirty="0">
                <a:solidFill>
                  <a:srgbClr val="EC6608"/>
                </a:solidFill>
                <a:latin typeface="Gotham Bold" pitchFamily="50" charset="0"/>
              </a:rPr>
              <a:t>Resilient Communities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C75D4CF2-9351-47DF-A325-699435EC8C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0628" y="5036511"/>
            <a:ext cx="2990140" cy="1651672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lvl="0"/>
            <a:r>
              <a:rPr lang="en-US" dirty="0"/>
              <a:t>Text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FFFF41-7974-4A2A-8E59-B118C62CF0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625" y="2860877"/>
            <a:ext cx="1848750" cy="18461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3204B0-888A-48E9-B178-02C77FB229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85204" y="2830126"/>
            <a:ext cx="1853846" cy="18461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CE2DF5-1A11-4950-A619-DAABA2C5808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H="1">
            <a:off x="9328774" y="2889945"/>
            <a:ext cx="1853847" cy="1859004"/>
          </a:xfrm>
          <a:prstGeom prst="rect">
            <a:avLst/>
          </a:prstGeom>
        </p:spPr>
      </p:pic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41F60ACE-FE18-4991-9B6E-92E2DD851D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7057" y="2103066"/>
            <a:ext cx="2990140" cy="5572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F3702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</a:lstStyle>
          <a:p>
            <a:pPr algn="ctr"/>
            <a:r>
              <a:rPr lang="en-GB" sz="2400" dirty="0">
                <a:solidFill>
                  <a:srgbClr val="EC6608"/>
                </a:solidFill>
                <a:latin typeface="Gotham Bold" pitchFamily="50" charset="0"/>
              </a:rPr>
              <a:t>Solutions for an ageing society</a:t>
            </a:r>
          </a:p>
        </p:txBody>
      </p:sp>
    </p:spTree>
    <p:extLst>
      <p:ext uri="{BB962C8B-B14F-4D97-AF65-F5344CB8AC3E}">
        <p14:creationId xmlns:p14="http://schemas.microsoft.com/office/powerpoint/2010/main" val="287880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93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C073B-9002-45FF-8A60-D00AF5498BE3}" type="datetimeFigureOut">
              <a:rPr lang="en-GB" smtClean="0"/>
              <a:t>25/09/2018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5819887"/>
            <a:ext cx="12192000" cy="1038113"/>
          </a:xfrm>
          <a:prstGeom prst="rect">
            <a:avLst/>
          </a:prstGeom>
          <a:solidFill>
            <a:srgbClr val="491A66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62421" y="6127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F0FB5-D502-4438-886F-18082FA237F4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202232-D9A4-4294-B888-27130295AC6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829" y="6080721"/>
            <a:ext cx="1653988" cy="48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424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84" r:id="rId7"/>
    <p:sldLayoutId id="2147483683" r:id="rId8"/>
    <p:sldLayoutId id="2147483685" r:id="rId9"/>
    <p:sldLayoutId id="2147483680" r:id="rId10"/>
    <p:sldLayoutId id="2147483681" r:id="rId11"/>
    <p:sldLayoutId id="2147483687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2D4EF7-93C2-4310-8448-A76FDD249D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9062" y="2369370"/>
            <a:ext cx="10644738" cy="269793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Think for the Future Workshop:</a:t>
            </a:r>
          </a:p>
          <a:p>
            <a:r>
              <a:rPr lang="en-GB" dirty="0">
                <a:solidFill>
                  <a:srgbClr val="F37023"/>
                </a:solidFill>
                <a:latin typeface="+mn-lt"/>
              </a:rPr>
              <a:t>Managing our customers</a:t>
            </a:r>
          </a:p>
          <a:p>
            <a:endParaRPr lang="en-GB" dirty="0">
              <a:solidFill>
                <a:srgbClr val="F37023"/>
              </a:solidFill>
              <a:latin typeface="+mn-lt"/>
            </a:endParaRPr>
          </a:p>
          <a:p>
            <a:r>
              <a:rPr lang="en-GB" sz="3200" dirty="0">
                <a:solidFill>
                  <a:schemeClr val="tx2"/>
                </a:solidFill>
                <a:latin typeface="+mn-lt"/>
              </a:rPr>
              <a:t>27 September 2018</a:t>
            </a:r>
            <a:endParaRPr lang="en-GB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256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46972-F380-4C94-80E1-E7E7C767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87627-42D6-4920-A026-4BFC52C1022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9300" y="1666862"/>
            <a:ext cx="11333400" cy="4657738"/>
          </a:xfrm>
        </p:spPr>
        <p:txBody>
          <a:bodyPr>
            <a:noAutofit/>
          </a:bodyPr>
          <a:lstStyle/>
          <a:p>
            <a:pPr marL="432000" lvl="0" indent="-432000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What is customer relationship management and why is it important to our business? </a:t>
            </a:r>
          </a:p>
          <a:p>
            <a:pPr marL="432000" indent="-432000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Our customers: what do they want/expect from a relationship? What are their “moments of truth”?</a:t>
            </a:r>
          </a:p>
          <a:p>
            <a:pPr marL="432000" indent="-432000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What would good CRM look like for us? – key principles, process &amp; outcome metrics</a:t>
            </a:r>
          </a:p>
          <a:p>
            <a:pPr marL="0" lvl="0" indent="0">
              <a:spcBef>
                <a:spcPts val="600"/>
              </a:spcBef>
              <a:spcAft>
                <a:spcPts val="1200"/>
              </a:spcAft>
              <a:buNone/>
            </a:pPr>
            <a:r>
              <a:rPr lang="en-GB" sz="2400" i="1" dirty="0"/>
              <a:t>LUNCH</a:t>
            </a:r>
          </a:p>
          <a:p>
            <a:pPr marL="432000" indent="-432000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Developing a ‘service blueprint’: What systems &amp; processes do we need to put in place to deliver this? Who will do this across TFTF? Do we have the required skills? </a:t>
            </a:r>
          </a:p>
          <a:p>
            <a:pPr marL="432000" lvl="0" indent="-432000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How can we safely test some of these new ideas before full-scale roll out?</a:t>
            </a:r>
          </a:p>
          <a:p>
            <a:pPr marL="432000" lvl="0" indent="-432000"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50175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What do we mean by Customer Relationship Management?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22E569-2519-415E-9243-EC7F4B383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74" y="1231214"/>
            <a:ext cx="3933825" cy="527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6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 we mean by Customer Relationship Management?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ACDFFD-91A3-41E3-940A-7390B9FFAD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29300" y="1968013"/>
            <a:ext cx="6047700" cy="4270861"/>
          </a:xfrm>
        </p:spPr>
        <p:txBody>
          <a:bodyPr>
            <a:normAutofit lnSpcReduction="10000"/>
          </a:bodyPr>
          <a:lstStyle/>
          <a:p>
            <a:pPr marL="360000" indent="-360000"/>
            <a:r>
              <a:rPr lang="en-GB" sz="2400" dirty="0"/>
              <a:t>A </a:t>
            </a:r>
            <a:r>
              <a:rPr lang="en-GB" sz="2400" b="1" dirty="0"/>
              <a:t>business strategy </a:t>
            </a:r>
            <a:r>
              <a:rPr lang="en-GB" sz="2400" dirty="0"/>
              <a:t>that aims to understand, anticipate and manage the needs of our current and potential customers</a:t>
            </a:r>
          </a:p>
          <a:p>
            <a:pPr marL="360000" indent="-360000"/>
            <a:r>
              <a:rPr lang="en-GB" sz="2400" dirty="0"/>
              <a:t>Comprehensive approach providing seamless </a:t>
            </a:r>
            <a:r>
              <a:rPr lang="en-GB" sz="2400" b="1" dirty="0"/>
              <a:t>integration</a:t>
            </a:r>
            <a:r>
              <a:rPr lang="en-GB" sz="2400" dirty="0"/>
              <a:t> of every area of our business that touches the customer (marketing, sales, delivery) and the integration of people, process &amp; technology</a:t>
            </a:r>
          </a:p>
          <a:p>
            <a:pPr marL="360000" indent="-360000"/>
            <a:r>
              <a:rPr lang="en-GB" sz="2400" b="1" dirty="0"/>
              <a:t>Shifts the perspective </a:t>
            </a:r>
            <a:r>
              <a:rPr lang="en-GB" sz="2400" dirty="0"/>
              <a:t>from solely acquisition of new customers to retention &amp; closer working with existing customers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7E62A1-3CC6-4A0D-85A0-BD86DB34C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547" y="2659959"/>
            <a:ext cx="4240682" cy="262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83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TFTF’s maturity in this?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BB0484-3956-4AD0-9CEE-8586F14B7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04" y="1440718"/>
            <a:ext cx="8010525" cy="524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541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Why does it matter to us?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864A6D-D8C9-4388-BF90-079D6ECD5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75" y="1952625"/>
            <a:ext cx="371475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5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A70C3B-55C3-4F34-BDAD-7995253CF516}"/>
              </a:ext>
            </a:extLst>
          </p:cNvPr>
          <p:cNvSpPr/>
          <p:nvPr/>
        </p:nvSpPr>
        <p:spPr>
          <a:xfrm>
            <a:off x="1" y="0"/>
            <a:ext cx="6429374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45E7CC-4BBC-4FA5-9908-252B350A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b="1" dirty="0"/>
              <a:t>What do our customers want?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795B1-BFF3-4547-8AFF-EE27E664BB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>
            <a:normAutofit/>
          </a:bodyPr>
          <a:lstStyle/>
          <a:p>
            <a:pPr marL="360000" indent="-360000">
              <a:spcAft>
                <a:spcPts val="1200"/>
              </a:spcAft>
            </a:pPr>
            <a:r>
              <a:rPr lang="en-GB" sz="2400" dirty="0"/>
              <a:t>What feedback have we had from customers?</a:t>
            </a:r>
          </a:p>
          <a:p>
            <a:pPr marL="360000" indent="-360000">
              <a:spcAft>
                <a:spcPts val="1200"/>
              </a:spcAft>
            </a:pPr>
            <a:r>
              <a:rPr lang="en-GB" sz="2400" dirty="0"/>
              <a:t>What challenges are they facing we can help with?</a:t>
            </a:r>
          </a:p>
          <a:p>
            <a:pPr marL="360000" indent="-360000">
              <a:spcAft>
                <a:spcPts val="1200"/>
              </a:spcAft>
            </a:pPr>
            <a:r>
              <a:rPr lang="en-GB" sz="2400" dirty="0"/>
              <a:t>What opportunities do they give us to make a good impression?</a:t>
            </a:r>
          </a:p>
          <a:p>
            <a:pPr marL="360000" indent="-360000">
              <a:spcAft>
                <a:spcPts val="1200"/>
              </a:spcAft>
            </a:pPr>
            <a:r>
              <a:rPr lang="en-GB" sz="2400" dirty="0"/>
              <a:t>What’s been your own experience of good customer relations?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0077D5-CC81-41AD-B8C0-6AF304864F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71" t="8288" r="44027" b="4011"/>
          <a:stretch/>
        </p:blipFill>
        <p:spPr>
          <a:xfrm>
            <a:off x="1038225" y="84985"/>
            <a:ext cx="4992179" cy="3636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072BC5-B4D6-4FC6-B69F-91EE92B518B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468" t="6916" b="28282"/>
          <a:stretch/>
        </p:blipFill>
        <p:spPr>
          <a:xfrm>
            <a:off x="864798" y="3868089"/>
            <a:ext cx="3401537" cy="2371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3DC407-12A8-4CAD-9BFC-956BBF61DF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285" t="81265" r="21836" b="10800"/>
          <a:stretch/>
        </p:blipFill>
        <p:spPr>
          <a:xfrm>
            <a:off x="4266335" y="4906867"/>
            <a:ext cx="1566153" cy="294169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F3B565-FDC1-4900-9D7B-CE62BDFA0CD1}"/>
              </a:ext>
            </a:extLst>
          </p:cNvPr>
          <p:cNvSpPr/>
          <p:nvPr/>
        </p:nvSpPr>
        <p:spPr>
          <a:xfrm>
            <a:off x="-2" y="0"/>
            <a:ext cx="6578605" cy="6858000"/>
          </a:xfrm>
          <a:custGeom>
            <a:avLst/>
            <a:gdLst>
              <a:gd name="connsiteX0" fmla="*/ 195825 w 6578605"/>
              <a:gd name="connsiteY0" fmla="*/ 155555 h 6946901"/>
              <a:gd name="connsiteX1" fmla="*/ 195824 w 6578605"/>
              <a:gd name="connsiteY1" fmla="*/ 3473449 h 6946901"/>
              <a:gd name="connsiteX2" fmla="*/ 3289302 w 6578605"/>
              <a:gd name="connsiteY2" fmla="*/ 6791344 h 6946901"/>
              <a:gd name="connsiteX3" fmla="*/ 6382781 w 6578605"/>
              <a:gd name="connsiteY3" fmla="*/ 3473449 h 6946901"/>
              <a:gd name="connsiteX4" fmla="*/ 6382781 w 6578605"/>
              <a:gd name="connsiteY4" fmla="*/ 155555 h 6946901"/>
              <a:gd name="connsiteX5" fmla="*/ 3 w 6578605"/>
              <a:gd name="connsiteY5" fmla="*/ 0 h 6946901"/>
              <a:gd name="connsiteX6" fmla="*/ 6578605 w 6578605"/>
              <a:gd name="connsiteY6" fmla="*/ 0 h 6946901"/>
              <a:gd name="connsiteX7" fmla="*/ 6578605 w 6578605"/>
              <a:gd name="connsiteY7" fmla="*/ 3473450 h 6946901"/>
              <a:gd name="connsiteX8" fmla="*/ 6574325 w 6578605"/>
              <a:gd name="connsiteY8" fmla="*/ 3652193 h 6946901"/>
              <a:gd name="connsiteX9" fmla="*/ 6562989 w 6578605"/>
              <a:gd name="connsiteY9" fmla="*/ 3809627 h 6946901"/>
              <a:gd name="connsiteX10" fmla="*/ 6578605 w 6578605"/>
              <a:gd name="connsiteY10" fmla="*/ 3809627 h 6946901"/>
              <a:gd name="connsiteX11" fmla="*/ 6578605 w 6578605"/>
              <a:gd name="connsiteY11" fmla="*/ 6811011 h 6946901"/>
              <a:gd name="connsiteX12" fmla="*/ 6578605 w 6578605"/>
              <a:gd name="connsiteY12" fmla="*/ 6902451 h 6946901"/>
              <a:gd name="connsiteX13" fmla="*/ 6578605 w 6578605"/>
              <a:gd name="connsiteY13" fmla="*/ 6946901 h 6946901"/>
              <a:gd name="connsiteX14" fmla="*/ 3289303 w 6578605"/>
              <a:gd name="connsiteY14" fmla="*/ 6946901 h 6946901"/>
              <a:gd name="connsiteX15" fmla="*/ 2 w 6578605"/>
              <a:gd name="connsiteY15" fmla="*/ 6946901 h 6946901"/>
              <a:gd name="connsiteX16" fmla="*/ 2 w 6578605"/>
              <a:gd name="connsiteY16" fmla="*/ 6881285 h 6946901"/>
              <a:gd name="connsiteX17" fmla="*/ 0 w 6578605"/>
              <a:gd name="connsiteY17" fmla="*/ 6881285 h 6946901"/>
              <a:gd name="connsiteX18" fmla="*/ 0 w 6578605"/>
              <a:gd name="connsiteY18" fmla="*/ 4465844 h 6946901"/>
              <a:gd name="connsiteX19" fmla="*/ 0 w 6578605"/>
              <a:gd name="connsiteY19" fmla="*/ 3960236 h 6946901"/>
              <a:gd name="connsiteX20" fmla="*/ 0 w 6578605"/>
              <a:gd name="connsiteY20" fmla="*/ 2658559 h 6946901"/>
              <a:gd name="connsiteX21" fmla="*/ 2 w 6578605"/>
              <a:gd name="connsiteY21" fmla="*/ 2658559 h 694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578605" h="6946901">
                <a:moveTo>
                  <a:pt x="195825" y="155555"/>
                </a:moveTo>
                <a:lnTo>
                  <a:pt x="195824" y="3473449"/>
                </a:lnTo>
                <a:cubicBezTo>
                  <a:pt x="195824" y="5305872"/>
                  <a:pt x="1580821" y="6791344"/>
                  <a:pt x="3289302" y="6791344"/>
                </a:cubicBezTo>
                <a:cubicBezTo>
                  <a:pt x="4997784" y="6791344"/>
                  <a:pt x="6382781" y="5305872"/>
                  <a:pt x="6382781" y="3473449"/>
                </a:cubicBezTo>
                <a:lnTo>
                  <a:pt x="6382781" y="155555"/>
                </a:lnTo>
                <a:close/>
                <a:moveTo>
                  <a:pt x="3" y="0"/>
                </a:moveTo>
                <a:lnTo>
                  <a:pt x="6578605" y="0"/>
                </a:lnTo>
                <a:lnTo>
                  <a:pt x="6578605" y="3473450"/>
                </a:lnTo>
                <a:cubicBezTo>
                  <a:pt x="6578605" y="3533398"/>
                  <a:pt x="6577167" y="3592991"/>
                  <a:pt x="6574325" y="3652193"/>
                </a:cubicBezTo>
                <a:lnTo>
                  <a:pt x="6562989" y="3809627"/>
                </a:lnTo>
                <a:lnTo>
                  <a:pt x="6578605" y="3809627"/>
                </a:lnTo>
                <a:lnTo>
                  <a:pt x="6578605" y="6811011"/>
                </a:lnTo>
                <a:lnTo>
                  <a:pt x="6578605" y="6902451"/>
                </a:lnTo>
                <a:lnTo>
                  <a:pt x="6578605" y="6946901"/>
                </a:lnTo>
                <a:lnTo>
                  <a:pt x="3289303" y="6946901"/>
                </a:lnTo>
                <a:lnTo>
                  <a:pt x="2" y="6946901"/>
                </a:lnTo>
                <a:lnTo>
                  <a:pt x="2" y="6881285"/>
                </a:lnTo>
                <a:lnTo>
                  <a:pt x="0" y="6881285"/>
                </a:lnTo>
                <a:lnTo>
                  <a:pt x="0" y="4465844"/>
                </a:lnTo>
                <a:lnTo>
                  <a:pt x="0" y="3960236"/>
                </a:lnTo>
                <a:lnTo>
                  <a:pt x="0" y="2658559"/>
                </a:lnTo>
                <a:lnTo>
                  <a:pt x="2" y="2658559"/>
                </a:lnTo>
                <a:close/>
              </a:path>
            </a:pathLst>
          </a:custGeom>
          <a:solidFill>
            <a:srgbClr val="491A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C47693-CFD7-44B5-A26B-2E09734DB7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10" t="79643" r="1057" b="10001"/>
          <a:stretch/>
        </p:blipFill>
        <p:spPr>
          <a:xfrm>
            <a:off x="4227151" y="3925883"/>
            <a:ext cx="1869826" cy="44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0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Are there different types of customers?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6F80AE-6888-463A-9B73-E9DB2340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697" y="1860906"/>
            <a:ext cx="6471017" cy="412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85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A70C3B-55C3-4F34-BDAD-7995253CF516}"/>
              </a:ext>
            </a:extLst>
          </p:cNvPr>
          <p:cNvSpPr/>
          <p:nvPr/>
        </p:nvSpPr>
        <p:spPr>
          <a:xfrm>
            <a:off x="1" y="0"/>
            <a:ext cx="6429374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45E7CC-4BBC-4FA5-9908-252B350A5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800" b="1" dirty="0"/>
              <a:t>What do we want?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795B1-BFF3-4547-8AFF-EE27E664BB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>
            <a:normAutofit/>
          </a:bodyPr>
          <a:lstStyle/>
          <a:p>
            <a:pPr marL="360000" indent="-360000">
              <a:spcAft>
                <a:spcPts val="1200"/>
              </a:spcAft>
            </a:pPr>
            <a:r>
              <a:rPr lang="en-GB" sz="2400" dirty="0"/>
              <a:t>What are the key principles of how we want to interact with our customers?</a:t>
            </a:r>
          </a:p>
          <a:p>
            <a:pPr marL="360000" indent="-360000">
              <a:spcAft>
                <a:spcPts val="1200"/>
              </a:spcAft>
            </a:pPr>
            <a:r>
              <a:rPr lang="en-GB" sz="2400" dirty="0"/>
              <a:t>How will we know we’re achieving this?</a:t>
            </a:r>
          </a:p>
          <a:p>
            <a:pPr marL="360000" indent="-360000">
              <a:spcAft>
                <a:spcPts val="1200"/>
              </a:spcAft>
            </a:pPr>
            <a:r>
              <a:rPr lang="en-GB" sz="2400" dirty="0"/>
              <a:t>What outcomes do we expect to see as a result?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217A8-5928-49AF-A1DB-90A51EAE6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62" y="296890"/>
            <a:ext cx="6010275" cy="4705350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F3B565-FDC1-4900-9D7B-CE62BDFA0CD1}"/>
              </a:ext>
            </a:extLst>
          </p:cNvPr>
          <p:cNvSpPr/>
          <p:nvPr/>
        </p:nvSpPr>
        <p:spPr>
          <a:xfrm>
            <a:off x="-2" y="0"/>
            <a:ext cx="6578605" cy="6858000"/>
          </a:xfrm>
          <a:custGeom>
            <a:avLst/>
            <a:gdLst>
              <a:gd name="connsiteX0" fmla="*/ 195825 w 6578605"/>
              <a:gd name="connsiteY0" fmla="*/ 155555 h 6946901"/>
              <a:gd name="connsiteX1" fmla="*/ 195824 w 6578605"/>
              <a:gd name="connsiteY1" fmla="*/ 3473449 h 6946901"/>
              <a:gd name="connsiteX2" fmla="*/ 3289302 w 6578605"/>
              <a:gd name="connsiteY2" fmla="*/ 6791344 h 6946901"/>
              <a:gd name="connsiteX3" fmla="*/ 6382781 w 6578605"/>
              <a:gd name="connsiteY3" fmla="*/ 3473449 h 6946901"/>
              <a:gd name="connsiteX4" fmla="*/ 6382781 w 6578605"/>
              <a:gd name="connsiteY4" fmla="*/ 155555 h 6946901"/>
              <a:gd name="connsiteX5" fmla="*/ 3 w 6578605"/>
              <a:gd name="connsiteY5" fmla="*/ 0 h 6946901"/>
              <a:gd name="connsiteX6" fmla="*/ 6578605 w 6578605"/>
              <a:gd name="connsiteY6" fmla="*/ 0 h 6946901"/>
              <a:gd name="connsiteX7" fmla="*/ 6578605 w 6578605"/>
              <a:gd name="connsiteY7" fmla="*/ 3473450 h 6946901"/>
              <a:gd name="connsiteX8" fmla="*/ 6574325 w 6578605"/>
              <a:gd name="connsiteY8" fmla="*/ 3652193 h 6946901"/>
              <a:gd name="connsiteX9" fmla="*/ 6562989 w 6578605"/>
              <a:gd name="connsiteY9" fmla="*/ 3809627 h 6946901"/>
              <a:gd name="connsiteX10" fmla="*/ 6578605 w 6578605"/>
              <a:gd name="connsiteY10" fmla="*/ 3809627 h 6946901"/>
              <a:gd name="connsiteX11" fmla="*/ 6578605 w 6578605"/>
              <a:gd name="connsiteY11" fmla="*/ 6811011 h 6946901"/>
              <a:gd name="connsiteX12" fmla="*/ 6578605 w 6578605"/>
              <a:gd name="connsiteY12" fmla="*/ 6902451 h 6946901"/>
              <a:gd name="connsiteX13" fmla="*/ 6578605 w 6578605"/>
              <a:gd name="connsiteY13" fmla="*/ 6946901 h 6946901"/>
              <a:gd name="connsiteX14" fmla="*/ 3289303 w 6578605"/>
              <a:gd name="connsiteY14" fmla="*/ 6946901 h 6946901"/>
              <a:gd name="connsiteX15" fmla="*/ 2 w 6578605"/>
              <a:gd name="connsiteY15" fmla="*/ 6946901 h 6946901"/>
              <a:gd name="connsiteX16" fmla="*/ 2 w 6578605"/>
              <a:gd name="connsiteY16" fmla="*/ 6881285 h 6946901"/>
              <a:gd name="connsiteX17" fmla="*/ 0 w 6578605"/>
              <a:gd name="connsiteY17" fmla="*/ 6881285 h 6946901"/>
              <a:gd name="connsiteX18" fmla="*/ 0 w 6578605"/>
              <a:gd name="connsiteY18" fmla="*/ 4465844 h 6946901"/>
              <a:gd name="connsiteX19" fmla="*/ 0 w 6578605"/>
              <a:gd name="connsiteY19" fmla="*/ 3960236 h 6946901"/>
              <a:gd name="connsiteX20" fmla="*/ 0 w 6578605"/>
              <a:gd name="connsiteY20" fmla="*/ 2658559 h 6946901"/>
              <a:gd name="connsiteX21" fmla="*/ 2 w 6578605"/>
              <a:gd name="connsiteY21" fmla="*/ 2658559 h 694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578605" h="6946901">
                <a:moveTo>
                  <a:pt x="195825" y="155555"/>
                </a:moveTo>
                <a:lnTo>
                  <a:pt x="195824" y="3473449"/>
                </a:lnTo>
                <a:cubicBezTo>
                  <a:pt x="195824" y="5305872"/>
                  <a:pt x="1580821" y="6791344"/>
                  <a:pt x="3289302" y="6791344"/>
                </a:cubicBezTo>
                <a:cubicBezTo>
                  <a:pt x="4997784" y="6791344"/>
                  <a:pt x="6382781" y="5305872"/>
                  <a:pt x="6382781" y="3473449"/>
                </a:cubicBezTo>
                <a:lnTo>
                  <a:pt x="6382781" y="155555"/>
                </a:lnTo>
                <a:close/>
                <a:moveTo>
                  <a:pt x="3" y="0"/>
                </a:moveTo>
                <a:lnTo>
                  <a:pt x="6578605" y="0"/>
                </a:lnTo>
                <a:lnTo>
                  <a:pt x="6578605" y="3473450"/>
                </a:lnTo>
                <a:cubicBezTo>
                  <a:pt x="6578605" y="3533398"/>
                  <a:pt x="6577167" y="3592991"/>
                  <a:pt x="6574325" y="3652193"/>
                </a:cubicBezTo>
                <a:lnTo>
                  <a:pt x="6562989" y="3809627"/>
                </a:lnTo>
                <a:lnTo>
                  <a:pt x="6578605" y="3809627"/>
                </a:lnTo>
                <a:lnTo>
                  <a:pt x="6578605" y="6811011"/>
                </a:lnTo>
                <a:lnTo>
                  <a:pt x="6578605" y="6902451"/>
                </a:lnTo>
                <a:lnTo>
                  <a:pt x="6578605" y="6946901"/>
                </a:lnTo>
                <a:lnTo>
                  <a:pt x="3289303" y="6946901"/>
                </a:lnTo>
                <a:lnTo>
                  <a:pt x="2" y="6946901"/>
                </a:lnTo>
                <a:lnTo>
                  <a:pt x="2" y="6881285"/>
                </a:lnTo>
                <a:lnTo>
                  <a:pt x="0" y="6881285"/>
                </a:lnTo>
                <a:lnTo>
                  <a:pt x="0" y="4465844"/>
                </a:lnTo>
                <a:lnTo>
                  <a:pt x="0" y="3960236"/>
                </a:lnTo>
                <a:lnTo>
                  <a:pt x="0" y="2658559"/>
                </a:lnTo>
                <a:lnTo>
                  <a:pt x="2" y="2658559"/>
                </a:lnTo>
                <a:close/>
              </a:path>
            </a:pathLst>
          </a:custGeom>
          <a:solidFill>
            <a:srgbClr val="491A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854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Building a service blueprint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C31D1A-DDF7-408D-A909-651E5C118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04" y="1466850"/>
            <a:ext cx="7809654" cy="529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34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04" y="354368"/>
            <a:ext cx="10515600" cy="1325563"/>
          </a:xfrm>
        </p:spPr>
        <p:txBody>
          <a:bodyPr/>
          <a:lstStyle/>
          <a:p>
            <a:r>
              <a:rPr lang="en-GB" dirty="0"/>
              <a:t>What will we test &amp; learn?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401C13-3595-4D17-8B44-C79EAEEAD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629" y="1679931"/>
            <a:ext cx="6020646" cy="43319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31631D-9EC6-477A-97D3-DD59A97BD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04" y="2260956"/>
            <a:ext cx="4302045" cy="2844444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8152C247-F137-499A-AFDB-F9E1C77F6ADC}"/>
              </a:ext>
            </a:extLst>
          </p:cNvPr>
          <p:cNvSpPr/>
          <p:nvPr/>
        </p:nvSpPr>
        <p:spPr>
          <a:xfrm>
            <a:off x="5181600" y="3368853"/>
            <a:ext cx="800100" cy="4601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0136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B969BC-0076-49E1-872F-ECCB972BB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EA4381-B521-44F6-9653-B9C5DDBE75F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32000" indent="-432000"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What actions are we committing to?</a:t>
            </a:r>
          </a:p>
          <a:p>
            <a:pPr marL="432000" indent="-432000"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Who is going to lead on them? By when?</a:t>
            </a:r>
          </a:p>
          <a:p>
            <a:pPr marL="432000" indent="-432000"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Who else do we need to involve?</a:t>
            </a:r>
          </a:p>
          <a:p>
            <a:pPr marL="432000" indent="-432000">
              <a:spcBef>
                <a:spcPts val="600"/>
              </a:spcBef>
              <a:spcAft>
                <a:spcPts val="1200"/>
              </a:spcAft>
            </a:pPr>
            <a:r>
              <a:rPr lang="en-GB" sz="2400" dirty="0"/>
              <a:t>What support do we need to deliver?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157975"/>
      </p:ext>
    </p:extLst>
  </p:cSld>
  <p:clrMapOvr>
    <a:masterClrMapping/>
  </p:clrMapOvr>
</p:sld>
</file>

<file path=ppt/theme/theme1.xml><?xml version="1.0" encoding="utf-8"?>
<a:theme xmlns:a="http://schemas.openxmlformats.org/drawingml/2006/main" name="UnLtd">
  <a:themeElements>
    <a:clrScheme name="UnLtd colours">
      <a:dk1>
        <a:srgbClr val="636363"/>
      </a:dk1>
      <a:lt1>
        <a:sysClr val="window" lastClr="FFFFFF"/>
      </a:lt1>
      <a:dk2>
        <a:srgbClr val="606A79"/>
      </a:dk2>
      <a:lt2>
        <a:srgbClr val="E7E6E6"/>
      </a:lt2>
      <a:accent1>
        <a:srgbClr val="EC6608"/>
      </a:accent1>
      <a:accent2>
        <a:srgbClr val="491A66"/>
      </a:accent2>
      <a:accent3>
        <a:srgbClr val="00A1A4"/>
      </a:accent3>
      <a:accent4>
        <a:srgbClr val="0084A5"/>
      </a:accent4>
      <a:accent5>
        <a:srgbClr val="4472C4"/>
      </a:accent5>
      <a:accent6>
        <a:srgbClr val="829AA4"/>
      </a:accent6>
      <a:hlink>
        <a:srgbClr val="EC6608"/>
      </a:hlink>
      <a:folHlink>
        <a:srgbClr val="491A66"/>
      </a:folHlink>
    </a:clrScheme>
    <a:fontScheme name="UnLtd fonts">
      <a:majorFont>
        <a:latin typeface="Gotham Bold"/>
        <a:ea typeface=""/>
        <a:cs typeface=""/>
      </a:majorFont>
      <a:minorFont>
        <a:latin typeface="Gotham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Ltd temp.pptx" id="{301E8BD0-0D07-426A-81D2-03F3BCC8BD7F}" vid="{17E8085A-E865-47A8-94B5-31FAA855A6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UnLtd temp</Template>
  <TotalTime>273</TotalTime>
  <Words>840</Words>
  <Application>Microsoft Office PowerPoint</Application>
  <PresentationFormat>Widescreen</PresentationFormat>
  <Paragraphs>97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Gotham Black</vt:lpstr>
      <vt:lpstr>Gotham Bold</vt:lpstr>
      <vt:lpstr>Gotham Book</vt:lpstr>
      <vt:lpstr>Trebuchet MS</vt:lpstr>
      <vt:lpstr>UnLtd</vt:lpstr>
      <vt:lpstr>PowerPoint Presentation</vt:lpstr>
      <vt:lpstr>Agenda</vt:lpstr>
      <vt:lpstr>What do we mean by Customer Relationship Management?</vt:lpstr>
      <vt:lpstr>What do we mean by Customer Relationship Management?</vt:lpstr>
      <vt:lpstr>What is TFTF’s maturity in this?</vt:lpstr>
      <vt:lpstr>Why does it matter to us?</vt:lpstr>
      <vt:lpstr>What do our customers want?</vt:lpstr>
      <vt:lpstr>Are there different types of customers?</vt:lpstr>
      <vt:lpstr>What do we want?</vt:lpstr>
      <vt:lpstr>Building a service blueprint</vt:lpstr>
      <vt:lpstr>What will we test &amp; learn?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Flynn Butterworth</dc:creator>
  <cp:lastModifiedBy>Anna Markland</cp:lastModifiedBy>
  <cp:revision>28</cp:revision>
  <dcterms:created xsi:type="dcterms:W3CDTF">2018-05-10T13:11:05Z</dcterms:created>
  <dcterms:modified xsi:type="dcterms:W3CDTF">2018-09-25T17:14:24Z</dcterms:modified>
</cp:coreProperties>
</file>
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59" r:id="rId4"/>
    <p:sldId id="27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99CCFF"/>
    <a:srgbClr val="FF9999"/>
    <a:srgbClr val="99FFCC"/>
    <a:srgbClr val="491A66"/>
    <a:srgbClr val="472665"/>
    <a:srgbClr val="F37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87704" autoAdjust="0"/>
  </p:normalViewPr>
  <p:slideViewPr>
    <p:cSldViewPr snapToGrid="0">
      <p:cViewPr varScale="1">
        <p:scale>
          <a:sx n="64" d="100"/>
          <a:sy n="64" d="100"/>
        </p:scale>
        <p:origin x="9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9" d="100"/>
          <a:sy n="69" d="100"/>
        </p:scale>
        <p:origin x="278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74F0777-E9D5-44EE-87B8-929B5F2571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D3F718-09DA-407F-A69F-73CFB42528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6161A-5954-455B-8CA2-ABDFA4CF1D96}" type="datetimeFigureOut">
              <a:rPr lang="en-GB" smtClean="0"/>
              <a:t>04/09/2019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5EBED4-43C0-491D-BB8D-00EA61982A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04783-7143-4C7C-945B-9F7D8B5A53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A01D-0DAD-4591-8474-22CCBD0FD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28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3C47D-AC40-4C57-B801-0B1A733141B1}" type="datetimeFigureOut">
              <a:rPr lang="en-GB" smtClean="0"/>
              <a:t>04/09/2019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74DD8-23EF-45F8-B399-8BBD2E29D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767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74DD8-23EF-45F8-B399-8BBD2E29D92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156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74DD8-23EF-45F8-B399-8BBD2E29D92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747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74DD8-23EF-45F8-B399-8BBD2E29D92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500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491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ECCCB-7472-448F-B092-773C478B20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87563" y="1925638"/>
            <a:ext cx="8369300" cy="2871787"/>
          </a:xfrm>
        </p:spPr>
        <p:txBody>
          <a:bodyPr anchor="ctr"/>
          <a:lstStyle>
            <a:lvl1pPr marL="0" indent="0" algn="ctr">
              <a:buNone/>
              <a:defRPr sz="11500">
                <a:solidFill>
                  <a:schemeClr val="bg1"/>
                </a:solidFill>
                <a:latin typeface="Gotham Black" pitchFamily="50" charset="0"/>
              </a:defRPr>
            </a:lvl1pPr>
            <a:lvl2pPr>
              <a:defRPr>
                <a:solidFill>
                  <a:schemeClr val="bg1"/>
                </a:solidFill>
                <a:latin typeface="Gotham Black" pitchFamily="50" charset="0"/>
              </a:defRPr>
            </a:lvl2pPr>
            <a:lvl3pPr>
              <a:defRPr>
                <a:solidFill>
                  <a:schemeClr val="bg1"/>
                </a:solidFill>
                <a:latin typeface="Gotham Black" pitchFamily="50" charset="0"/>
              </a:defRPr>
            </a:lvl3pPr>
            <a:lvl4pPr>
              <a:defRPr>
                <a:solidFill>
                  <a:schemeClr val="bg1"/>
                </a:solidFill>
                <a:latin typeface="Gotham Black" pitchFamily="50" charset="0"/>
              </a:defRPr>
            </a:lvl4pPr>
            <a:lvl5pPr>
              <a:defRPr>
                <a:solidFill>
                  <a:schemeClr val="bg1"/>
                </a:solidFill>
                <a:latin typeface="Gotham Black" pitchFamily="50" charset="0"/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366372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C073B-9002-45FF-8A60-D00AF5498BE3}" type="datetimeFigureOut">
              <a:rPr lang="en-GB" smtClean="0"/>
              <a:t>04/09/2019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0FB5-D502-4438-886F-18082FA237F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2217E-25DD-4960-ABE0-F9AA2F3DC9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9062" y="2369370"/>
            <a:ext cx="10644738" cy="1912173"/>
          </a:xfrm>
        </p:spPr>
        <p:txBody>
          <a:bodyPr/>
          <a:lstStyle>
            <a:lvl1pPr marL="0" indent="0">
              <a:buNone/>
              <a:defRPr sz="4400">
                <a:solidFill>
                  <a:srgbClr val="491A66"/>
                </a:solidFill>
                <a:latin typeface="+mj-lt"/>
              </a:defRPr>
            </a:lvl1pPr>
            <a:lvl2pPr marL="457200" indent="0">
              <a:buNone/>
              <a:defRPr sz="4400">
                <a:solidFill>
                  <a:srgbClr val="F37023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6A4557-7DDE-4427-A339-35D9B01A0F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989" y="6084979"/>
            <a:ext cx="1641907" cy="47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04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rgbClr val="491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C6BF4-2260-497D-9E09-38C2E01E2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00" y="341299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3FAB3-9996-49B2-8382-3B04639DFB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29300" y="1968014"/>
            <a:ext cx="10515600" cy="4013238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800100" indent="-3429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257300" indent="-3429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57350" indent="-28575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114550" indent="-28575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4149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E61E-3F26-4FE3-879F-DC5A96623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04" y="354368"/>
            <a:ext cx="10515600" cy="1325563"/>
          </a:xfrm>
        </p:spPr>
        <p:txBody>
          <a:bodyPr/>
          <a:lstStyle>
            <a:lvl1pPr>
              <a:defRPr>
                <a:solidFill>
                  <a:srgbClr val="491A6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30731C49-F76A-4D7B-8FC0-9C92058A7A7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29300" y="1968014"/>
            <a:ext cx="10515600" cy="4013238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800100" indent="-342900">
              <a:buFontTx/>
              <a:buBlip>
                <a:blip r:embed="rId2"/>
              </a:buBlip>
              <a:defRPr/>
            </a:lvl2pPr>
            <a:lvl3pPr marL="1257300" indent="-342900">
              <a:buFontTx/>
              <a:buBlip>
                <a:blip r:embed="rId2"/>
              </a:buBlip>
              <a:defRPr/>
            </a:lvl3pPr>
            <a:lvl4pPr marL="1657350" indent="-285750">
              <a:buFontTx/>
              <a:buBlip>
                <a:blip r:embed="rId2"/>
              </a:buBlip>
              <a:defRPr/>
            </a:lvl4pPr>
            <a:lvl5pPr marL="2114550" indent="-28575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5341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C9AFB1-1EFD-4868-86E1-7B65C6E92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1256" y="296890"/>
            <a:ext cx="5238276" cy="7143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Case study 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2568EF-5343-4C6C-AE6C-6F7A820DEE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65925" y="1204913"/>
            <a:ext cx="5164138" cy="4754562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0977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U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EC67FC4-C5D0-4ADC-A8C9-51C79B62F523}"/>
              </a:ext>
            </a:extLst>
          </p:cNvPr>
          <p:cNvSpPr/>
          <p:nvPr userDrawn="1"/>
        </p:nvSpPr>
        <p:spPr>
          <a:xfrm>
            <a:off x="0" y="2146300"/>
            <a:ext cx="12192000" cy="4711700"/>
          </a:xfrm>
          <a:prstGeom prst="rect">
            <a:avLst/>
          </a:prstGeom>
          <a:solidFill>
            <a:srgbClr val="00A1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85A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lowchart: Delay 23">
            <a:extLst>
              <a:ext uri="{FF2B5EF4-FFF2-40B4-BE49-F238E27FC236}">
                <a16:creationId xmlns:a16="http://schemas.microsoft.com/office/drawing/2014/main" id="{DC0B3E49-B356-4739-9034-50E9CEC709E2}"/>
              </a:ext>
            </a:extLst>
          </p:cNvPr>
          <p:cNvSpPr/>
          <p:nvPr userDrawn="1"/>
        </p:nvSpPr>
        <p:spPr>
          <a:xfrm rot="5400000">
            <a:off x="8746601" y="2066541"/>
            <a:ext cx="2988469" cy="3184271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A448D43-F6D4-4189-BBDC-53888D5AAE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3163" y="750749"/>
            <a:ext cx="1807605" cy="52724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A2DC420-B1F1-4029-A960-EACBCF5AF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45" y="351587"/>
            <a:ext cx="8488680" cy="1325563"/>
          </a:xfrm>
        </p:spPr>
        <p:txBody>
          <a:bodyPr/>
          <a:lstStyle>
            <a:lvl1pPr>
              <a:defRPr>
                <a:solidFill>
                  <a:srgbClr val="491A66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6" name="Flowchart: Delay 15">
            <a:extLst>
              <a:ext uri="{FF2B5EF4-FFF2-40B4-BE49-F238E27FC236}">
                <a16:creationId xmlns:a16="http://schemas.microsoft.com/office/drawing/2014/main" id="{454FD496-54DA-4199-AAC6-66A65DE445AA}"/>
              </a:ext>
            </a:extLst>
          </p:cNvPr>
          <p:cNvSpPr/>
          <p:nvPr userDrawn="1"/>
        </p:nvSpPr>
        <p:spPr>
          <a:xfrm rot="5400000">
            <a:off x="4601765" y="2066541"/>
            <a:ext cx="2988469" cy="3184271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7" name="Flowchart: Delay 16">
            <a:extLst>
              <a:ext uri="{FF2B5EF4-FFF2-40B4-BE49-F238E27FC236}">
                <a16:creationId xmlns:a16="http://schemas.microsoft.com/office/drawing/2014/main" id="{2EEE0A17-3A41-451F-A395-9A5EFCF47621}"/>
              </a:ext>
            </a:extLst>
          </p:cNvPr>
          <p:cNvSpPr/>
          <p:nvPr userDrawn="1"/>
        </p:nvSpPr>
        <p:spPr>
          <a:xfrm rot="5400000">
            <a:off x="456930" y="2066541"/>
            <a:ext cx="2988469" cy="3184271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2373825-CB96-426B-8496-7664CEBF18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094" y="2167167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4CC8692-0B4D-44DA-A5AE-4030ACC897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094" y="2742552"/>
            <a:ext cx="2990140" cy="22966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36B6870B-E95A-4DA8-A4F8-26627F73F0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930" y="2164442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E8AF5EBD-23A4-412B-829C-75793DD198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0930" y="2745926"/>
            <a:ext cx="2990140" cy="22966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4028204A-AFFE-45E2-83A4-293BB8C20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0628" y="2164442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C75D4CF2-9351-47DF-A325-699435EC8C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0628" y="2739827"/>
            <a:ext cx="2990140" cy="22966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35442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U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Delay 23">
            <a:extLst>
              <a:ext uri="{FF2B5EF4-FFF2-40B4-BE49-F238E27FC236}">
                <a16:creationId xmlns:a16="http://schemas.microsoft.com/office/drawing/2014/main" id="{DC0B3E49-B356-4739-9034-50E9CEC709E2}"/>
              </a:ext>
            </a:extLst>
          </p:cNvPr>
          <p:cNvSpPr/>
          <p:nvPr userDrawn="1"/>
        </p:nvSpPr>
        <p:spPr>
          <a:xfrm rot="5400000">
            <a:off x="8746601" y="2066541"/>
            <a:ext cx="2988469" cy="3184271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2DC420-B1F1-4029-A960-EACBCF5AF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45" y="351587"/>
            <a:ext cx="8488680" cy="1325563"/>
          </a:xfrm>
        </p:spPr>
        <p:txBody>
          <a:bodyPr/>
          <a:lstStyle>
            <a:lvl1pPr>
              <a:defRPr>
                <a:solidFill>
                  <a:srgbClr val="491A66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6" name="Flowchart: Delay 15">
            <a:extLst>
              <a:ext uri="{FF2B5EF4-FFF2-40B4-BE49-F238E27FC236}">
                <a16:creationId xmlns:a16="http://schemas.microsoft.com/office/drawing/2014/main" id="{454FD496-54DA-4199-AAC6-66A65DE445AA}"/>
              </a:ext>
            </a:extLst>
          </p:cNvPr>
          <p:cNvSpPr/>
          <p:nvPr userDrawn="1"/>
        </p:nvSpPr>
        <p:spPr>
          <a:xfrm rot="5400000">
            <a:off x="4601765" y="2066541"/>
            <a:ext cx="2988469" cy="3184271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7" name="Flowchart: Delay 16">
            <a:extLst>
              <a:ext uri="{FF2B5EF4-FFF2-40B4-BE49-F238E27FC236}">
                <a16:creationId xmlns:a16="http://schemas.microsoft.com/office/drawing/2014/main" id="{2EEE0A17-3A41-451F-A395-9A5EFCF47621}"/>
              </a:ext>
            </a:extLst>
          </p:cNvPr>
          <p:cNvSpPr/>
          <p:nvPr userDrawn="1"/>
        </p:nvSpPr>
        <p:spPr>
          <a:xfrm rot="5400000">
            <a:off x="456930" y="2066541"/>
            <a:ext cx="2988469" cy="3184271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2373825-CB96-426B-8496-7664CEBF18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094" y="2167167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4CC8692-0B4D-44DA-A5AE-4030ACC897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094" y="2742552"/>
            <a:ext cx="2990140" cy="22966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36B6870B-E95A-4DA8-A4F8-26627F73F0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930" y="2164442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E8AF5EBD-23A4-412B-829C-75793DD198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0930" y="2745926"/>
            <a:ext cx="2990140" cy="22966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4028204A-AFFE-45E2-83A4-293BB8C20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0628" y="2164442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C75D4CF2-9351-47DF-A325-699435EC8C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0628" y="2739827"/>
            <a:ext cx="2990140" cy="22966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589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U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EC67FC4-C5D0-4ADC-A8C9-51C79B62F523}"/>
              </a:ext>
            </a:extLst>
          </p:cNvPr>
          <p:cNvSpPr/>
          <p:nvPr userDrawn="1"/>
        </p:nvSpPr>
        <p:spPr>
          <a:xfrm>
            <a:off x="0" y="2146300"/>
            <a:ext cx="12192000" cy="4711700"/>
          </a:xfrm>
          <a:prstGeom prst="rect">
            <a:avLst/>
          </a:prstGeom>
          <a:solidFill>
            <a:srgbClr val="00A1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85A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lowchart: Delay 23">
            <a:extLst>
              <a:ext uri="{FF2B5EF4-FFF2-40B4-BE49-F238E27FC236}">
                <a16:creationId xmlns:a16="http://schemas.microsoft.com/office/drawing/2014/main" id="{DC0B3E49-B356-4739-9034-50E9CEC709E2}"/>
              </a:ext>
            </a:extLst>
          </p:cNvPr>
          <p:cNvSpPr/>
          <p:nvPr userDrawn="1"/>
        </p:nvSpPr>
        <p:spPr>
          <a:xfrm rot="5400000">
            <a:off x="6517452" y="1985993"/>
            <a:ext cx="2106345" cy="2426957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A448D43-F6D4-4189-BBDC-53888D5AAE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3163" y="750749"/>
            <a:ext cx="1807605" cy="52724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A2DC420-B1F1-4029-A960-EACBCF5AF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45" y="351587"/>
            <a:ext cx="8488680" cy="1325563"/>
          </a:xfrm>
        </p:spPr>
        <p:txBody>
          <a:bodyPr/>
          <a:lstStyle>
            <a:lvl1pPr>
              <a:defRPr>
                <a:solidFill>
                  <a:srgbClr val="491A66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6" name="Flowchart: Delay 15">
            <a:extLst>
              <a:ext uri="{FF2B5EF4-FFF2-40B4-BE49-F238E27FC236}">
                <a16:creationId xmlns:a16="http://schemas.microsoft.com/office/drawing/2014/main" id="{454FD496-54DA-4199-AAC6-66A65DE445AA}"/>
              </a:ext>
            </a:extLst>
          </p:cNvPr>
          <p:cNvSpPr/>
          <p:nvPr userDrawn="1"/>
        </p:nvSpPr>
        <p:spPr>
          <a:xfrm rot="5400000">
            <a:off x="3566925" y="2004139"/>
            <a:ext cx="2106345" cy="2426957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7" name="Flowchart: Delay 16">
            <a:extLst>
              <a:ext uri="{FF2B5EF4-FFF2-40B4-BE49-F238E27FC236}">
                <a16:creationId xmlns:a16="http://schemas.microsoft.com/office/drawing/2014/main" id="{2EEE0A17-3A41-451F-A395-9A5EFCF47621}"/>
              </a:ext>
            </a:extLst>
          </p:cNvPr>
          <p:cNvSpPr/>
          <p:nvPr userDrawn="1"/>
        </p:nvSpPr>
        <p:spPr>
          <a:xfrm rot="5400000">
            <a:off x="489168" y="2004139"/>
            <a:ext cx="2106346" cy="2426956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4" name="Flowchart: Delay 13">
            <a:extLst>
              <a:ext uri="{FF2B5EF4-FFF2-40B4-BE49-F238E27FC236}">
                <a16:creationId xmlns:a16="http://schemas.microsoft.com/office/drawing/2014/main" id="{A96B9533-2492-474A-8F8E-2B7DB44FB3C9}"/>
              </a:ext>
            </a:extLst>
          </p:cNvPr>
          <p:cNvSpPr/>
          <p:nvPr userDrawn="1"/>
        </p:nvSpPr>
        <p:spPr>
          <a:xfrm rot="5400000">
            <a:off x="9543965" y="2004139"/>
            <a:ext cx="2106345" cy="2426957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4028204A-AFFE-45E2-83A4-293BB8C20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67124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C75D4CF2-9351-47DF-A325-699435EC8C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7051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6A48FFB-74C0-4F14-A9CA-61518820A8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33132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33E1632-58E6-4E54-882D-21A335D4A3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53059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0D64113-B1DC-47E6-83DD-9AF945602E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22079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0EE6394-CAF7-43E7-BCA9-C54E44FB10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42006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55EEB46E-41F4-4586-B4A5-010399555F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6754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6235E8B4-1E7D-4065-AE29-1EE0BD428A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681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F2717-D45E-44F6-8041-688D23B4FC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8613" y="4518025"/>
            <a:ext cx="11482387" cy="1989138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27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U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Delay 23">
            <a:extLst>
              <a:ext uri="{FF2B5EF4-FFF2-40B4-BE49-F238E27FC236}">
                <a16:creationId xmlns:a16="http://schemas.microsoft.com/office/drawing/2014/main" id="{DC0B3E49-B356-4739-9034-50E9CEC709E2}"/>
              </a:ext>
            </a:extLst>
          </p:cNvPr>
          <p:cNvSpPr/>
          <p:nvPr userDrawn="1"/>
        </p:nvSpPr>
        <p:spPr>
          <a:xfrm rot="5400000">
            <a:off x="6517452" y="1985993"/>
            <a:ext cx="2106345" cy="2426957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2DC420-B1F1-4029-A960-EACBCF5AF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45" y="351587"/>
            <a:ext cx="8488680" cy="1325563"/>
          </a:xfrm>
        </p:spPr>
        <p:txBody>
          <a:bodyPr/>
          <a:lstStyle>
            <a:lvl1pPr>
              <a:defRPr>
                <a:solidFill>
                  <a:srgbClr val="491A66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6" name="Flowchart: Delay 15">
            <a:extLst>
              <a:ext uri="{FF2B5EF4-FFF2-40B4-BE49-F238E27FC236}">
                <a16:creationId xmlns:a16="http://schemas.microsoft.com/office/drawing/2014/main" id="{454FD496-54DA-4199-AAC6-66A65DE445AA}"/>
              </a:ext>
            </a:extLst>
          </p:cNvPr>
          <p:cNvSpPr/>
          <p:nvPr userDrawn="1"/>
        </p:nvSpPr>
        <p:spPr>
          <a:xfrm rot="5400000">
            <a:off x="3566925" y="2004139"/>
            <a:ext cx="2106345" cy="2426957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7" name="Flowchart: Delay 16">
            <a:extLst>
              <a:ext uri="{FF2B5EF4-FFF2-40B4-BE49-F238E27FC236}">
                <a16:creationId xmlns:a16="http://schemas.microsoft.com/office/drawing/2014/main" id="{2EEE0A17-3A41-451F-A395-9A5EFCF47621}"/>
              </a:ext>
            </a:extLst>
          </p:cNvPr>
          <p:cNvSpPr/>
          <p:nvPr userDrawn="1"/>
        </p:nvSpPr>
        <p:spPr>
          <a:xfrm rot="5400000">
            <a:off x="489168" y="2004139"/>
            <a:ext cx="2106346" cy="2426956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4" name="Flowchart: Delay 13">
            <a:extLst>
              <a:ext uri="{FF2B5EF4-FFF2-40B4-BE49-F238E27FC236}">
                <a16:creationId xmlns:a16="http://schemas.microsoft.com/office/drawing/2014/main" id="{A96B9533-2492-474A-8F8E-2B7DB44FB3C9}"/>
              </a:ext>
            </a:extLst>
          </p:cNvPr>
          <p:cNvSpPr/>
          <p:nvPr userDrawn="1"/>
        </p:nvSpPr>
        <p:spPr>
          <a:xfrm rot="5400000">
            <a:off x="9543965" y="2004139"/>
            <a:ext cx="2106345" cy="2426957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4028204A-AFFE-45E2-83A4-293BB8C20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67124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C75D4CF2-9351-47DF-A325-699435EC8C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7051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6A48FFB-74C0-4F14-A9CA-61518820A8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33132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33E1632-58E6-4E54-882D-21A335D4A3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53059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0D64113-B1DC-47E6-83DD-9AF945602E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22079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0EE6394-CAF7-43E7-BCA9-C54E44FB10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42006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55EEB46E-41F4-4586-B4A5-010399555F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6754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6235E8B4-1E7D-4065-AE29-1EE0BD428A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681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F2717-D45E-44F6-8041-688D23B4FC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8613" y="4518025"/>
            <a:ext cx="11482387" cy="1989138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3872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ieveing a go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916B62F-E266-4F4E-9915-FF25285DB186}"/>
              </a:ext>
            </a:extLst>
          </p:cNvPr>
          <p:cNvSpPr/>
          <p:nvPr userDrawn="1"/>
        </p:nvSpPr>
        <p:spPr>
          <a:xfrm>
            <a:off x="5310470" y="1421969"/>
            <a:ext cx="1631572" cy="1664558"/>
          </a:xfrm>
          <a:prstGeom prst="rect">
            <a:avLst/>
          </a:prstGeom>
          <a:solidFill>
            <a:srgbClr val="EC66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2D30E2D-44C1-40C3-86A5-3410ECB0B513}"/>
              </a:ext>
            </a:extLst>
          </p:cNvPr>
          <p:cNvSpPr/>
          <p:nvPr userDrawn="1"/>
        </p:nvSpPr>
        <p:spPr>
          <a:xfrm>
            <a:off x="299330" y="430879"/>
            <a:ext cx="11593340" cy="854257"/>
          </a:xfrm>
          <a:prstGeom prst="rect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76B9DD9-1B6A-4F9F-AA3E-D816AD0D4364}"/>
              </a:ext>
            </a:extLst>
          </p:cNvPr>
          <p:cNvSpPr/>
          <p:nvPr userDrawn="1"/>
        </p:nvSpPr>
        <p:spPr>
          <a:xfrm>
            <a:off x="304346" y="3192332"/>
            <a:ext cx="3795690" cy="1733481"/>
          </a:xfrm>
          <a:prstGeom prst="rect">
            <a:avLst/>
          </a:prstGeom>
          <a:solidFill>
            <a:srgbClr val="00A1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72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491A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2E48D3-9A6B-46D7-87CF-E66AE0805101}"/>
              </a:ext>
            </a:extLst>
          </p:cNvPr>
          <p:cNvSpPr/>
          <p:nvPr userDrawn="1"/>
        </p:nvSpPr>
        <p:spPr>
          <a:xfrm>
            <a:off x="4207848" y="3208872"/>
            <a:ext cx="3795690" cy="1737354"/>
          </a:xfrm>
          <a:prstGeom prst="rect">
            <a:avLst/>
          </a:prstGeom>
          <a:solidFill>
            <a:srgbClr val="00A1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72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491A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C629942-9644-4427-85F1-6502ACE9798D}"/>
              </a:ext>
            </a:extLst>
          </p:cNvPr>
          <p:cNvSpPr/>
          <p:nvPr userDrawn="1"/>
        </p:nvSpPr>
        <p:spPr>
          <a:xfrm>
            <a:off x="8111350" y="3205792"/>
            <a:ext cx="3795690" cy="1735350"/>
          </a:xfrm>
          <a:prstGeom prst="rect">
            <a:avLst/>
          </a:prstGeom>
          <a:solidFill>
            <a:srgbClr val="00A1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491A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D37EDFC-5875-4DC3-A044-2158CE585AE4}"/>
              </a:ext>
            </a:extLst>
          </p:cNvPr>
          <p:cNvSpPr/>
          <p:nvPr userDrawn="1"/>
        </p:nvSpPr>
        <p:spPr>
          <a:xfrm>
            <a:off x="283637" y="5067099"/>
            <a:ext cx="11609034" cy="854277"/>
          </a:xfrm>
          <a:prstGeom prst="rect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E15DDDE-D10E-4AE1-A95B-66499CE8174D}"/>
              </a:ext>
            </a:extLst>
          </p:cNvPr>
          <p:cNvSpPr/>
          <p:nvPr userDrawn="1"/>
        </p:nvSpPr>
        <p:spPr>
          <a:xfrm>
            <a:off x="274890" y="1421969"/>
            <a:ext cx="5166908" cy="1664558"/>
          </a:xfrm>
          <a:prstGeom prst="rect">
            <a:avLst/>
          </a:prstGeom>
          <a:solidFill>
            <a:srgbClr val="EC66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7D46F0-F2F2-4C10-88E6-22B41754FB70}"/>
              </a:ext>
            </a:extLst>
          </p:cNvPr>
          <p:cNvSpPr/>
          <p:nvPr userDrawn="1"/>
        </p:nvSpPr>
        <p:spPr>
          <a:xfrm>
            <a:off x="6740132" y="1423422"/>
            <a:ext cx="5166908" cy="1664558"/>
          </a:xfrm>
          <a:prstGeom prst="rect">
            <a:avLst/>
          </a:prstGeom>
          <a:solidFill>
            <a:srgbClr val="EC66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" name="Plus Sign 43">
            <a:extLst>
              <a:ext uri="{FF2B5EF4-FFF2-40B4-BE49-F238E27FC236}">
                <a16:creationId xmlns:a16="http://schemas.microsoft.com/office/drawing/2014/main" id="{1A908DBD-37AA-423E-9412-FA30F81B7BF8}"/>
              </a:ext>
            </a:extLst>
          </p:cNvPr>
          <p:cNvSpPr>
            <a:spLocks/>
          </p:cNvSpPr>
          <p:nvPr userDrawn="1"/>
        </p:nvSpPr>
        <p:spPr>
          <a:xfrm>
            <a:off x="5573125" y="1680477"/>
            <a:ext cx="1106263" cy="1147542"/>
          </a:xfrm>
          <a:prstGeom prst="mathPlus">
            <a:avLst/>
          </a:prstGeom>
          <a:solidFill>
            <a:srgbClr val="00A1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03010-B631-40A9-8135-8AF01DAF60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206" y="484991"/>
            <a:ext cx="11109589" cy="678470"/>
          </a:xfrm>
        </p:spPr>
        <p:txBody>
          <a:bodyPr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AF609-F9DC-456D-ADB5-8EA9E965C4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2521" y="1631240"/>
            <a:ext cx="4625975" cy="11461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rgbClr val="491A6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292DF8-77F3-495C-94B6-0F773F5D82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6885" y="1645499"/>
            <a:ext cx="4625975" cy="11461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rgbClr val="491A6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9FF254-4CDB-4CE7-9CED-F304795EA0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695" y="3343099"/>
            <a:ext cx="3506993" cy="1460736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BA03FD8-0A50-4C9C-8390-7BB7B9A019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2759" y="3343099"/>
            <a:ext cx="3506993" cy="1460736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45C95AB8-2590-415A-A4EB-59CB57FC67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5698" y="3343099"/>
            <a:ext cx="3506993" cy="1460736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89B6DD-9A72-42C0-8F2E-56E4B8FCBD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097" y="5226760"/>
            <a:ext cx="10794316" cy="451503"/>
          </a:xfrm>
        </p:spPr>
        <p:txBody>
          <a:bodyPr/>
          <a:lstStyle>
            <a:lvl1pPr marL="0" indent="0" algn="ctr">
              <a:buNone/>
              <a:defRPr>
                <a:solidFill>
                  <a:srgbClr val="F3702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32817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33C9B83-9D4A-444C-9CD5-D795BEF36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304" y="6036990"/>
            <a:ext cx="1807605" cy="527241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C4DD1-4B6C-43B2-A588-57DCD46F70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2926" y="171451"/>
            <a:ext cx="5658262" cy="63927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90F74-EF23-40F0-91FA-0918A5AFA2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42033" y="4300858"/>
            <a:ext cx="2499155" cy="1646238"/>
          </a:xfrm>
          <a:solidFill>
            <a:schemeClr val="bg1"/>
          </a:solidFill>
          <a:ln>
            <a:noFill/>
          </a:ln>
        </p:spPr>
        <p:txBody>
          <a:bodyPr/>
          <a:lstStyle>
            <a:lvl1pPr>
              <a:defRPr sz="1400" b="1">
                <a:solidFill>
                  <a:srgbClr val="F37023"/>
                </a:solidFill>
              </a:defRPr>
            </a:lvl1pPr>
            <a:lvl2pPr>
              <a:defRPr sz="1400" b="1"/>
            </a:lvl2pPr>
          </a:lstStyle>
          <a:p>
            <a:pPr lvl="0"/>
            <a:r>
              <a:rPr lang="en-US" dirty="0"/>
              <a:t>“Quote”</a:t>
            </a:r>
          </a:p>
          <a:p>
            <a:pPr lvl="1"/>
            <a:r>
              <a:rPr lang="en-US" dirty="0"/>
              <a:t>Name,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D6B26F5-4892-4C93-92C7-E27C2F0D0D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04" y="365125"/>
            <a:ext cx="5658696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D570A8-B1D4-4755-BA2F-234F97979AC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6563" y="1933575"/>
            <a:ext cx="5659437" cy="4013200"/>
          </a:xfr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/>
            </a:lvl1pPr>
            <a:lvl2pPr marL="685800" indent="-228600">
              <a:buFontTx/>
              <a:buBlip>
                <a:blip r:embed="rId3"/>
              </a:buBlip>
              <a:defRPr/>
            </a:lvl2pPr>
            <a:lvl3pPr marL="1143000" indent="-228600">
              <a:buFontTx/>
              <a:buBlip>
                <a:blip r:embed="rId3"/>
              </a:buBlip>
              <a:defRPr/>
            </a:lvl3pPr>
            <a:lvl4pPr marL="1600200" indent="-228600">
              <a:buFontTx/>
              <a:buBlip>
                <a:blip r:embed="rId3"/>
              </a:buBlip>
              <a:defRPr/>
            </a:lvl4pPr>
            <a:lvl5pPr marL="2057400" indent="-228600">
              <a:buFontTx/>
              <a:buBlip>
                <a:blip r:embed="rId3"/>
              </a:buBlip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3881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C4DD1-4B6C-43B2-A588-57DCD46F70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5613" y="232610"/>
            <a:ext cx="5658262" cy="63927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90F74-EF23-40F0-91FA-0918A5AFA2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74720" y="4447757"/>
            <a:ext cx="2499155" cy="1646238"/>
          </a:xfrm>
          <a:solidFill>
            <a:schemeClr val="bg1"/>
          </a:solidFill>
          <a:ln>
            <a:noFill/>
          </a:ln>
        </p:spPr>
        <p:txBody>
          <a:bodyPr/>
          <a:lstStyle>
            <a:lvl1pPr>
              <a:defRPr sz="1400" b="1">
                <a:solidFill>
                  <a:srgbClr val="F37023"/>
                </a:solidFill>
              </a:defRPr>
            </a:lvl1pPr>
            <a:lvl2pPr>
              <a:defRPr sz="1400" b="1"/>
            </a:lvl2pPr>
          </a:lstStyle>
          <a:p>
            <a:pPr lvl="0"/>
            <a:r>
              <a:rPr lang="en-US" dirty="0"/>
              <a:t>“Quote”</a:t>
            </a:r>
          </a:p>
          <a:p>
            <a:pPr lvl="1"/>
            <a:r>
              <a:rPr lang="en-US" dirty="0"/>
              <a:t>Name,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D6B26F5-4892-4C93-92C7-E27C2F0D0D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2926" y="241073"/>
            <a:ext cx="5658696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D570A8-B1D4-4755-BA2F-234F97979AC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2185" y="1801095"/>
            <a:ext cx="5659437" cy="4201671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3413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focus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EC67FC4-C5D0-4ADC-A8C9-51C79B62F523}"/>
              </a:ext>
            </a:extLst>
          </p:cNvPr>
          <p:cNvSpPr/>
          <p:nvPr userDrawn="1"/>
        </p:nvSpPr>
        <p:spPr>
          <a:xfrm>
            <a:off x="0" y="4911634"/>
            <a:ext cx="12192000" cy="1946366"/>
          </a:xfrm>
          <a:prstGeom prst="rect">
            <a:avLst/>
          </a:prstGeom>
          <a:solidFill>
            <a:srgbClr val="00A1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85A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A448D43-F6D4-4189-BBDC-53888D5AAE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3163" y="750749"/>
            <a:ext cx="1807605" cy="52724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A2DC420-B1F1-4029-A960-EACBCF5AF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45" y="351587"/>
            <a:ext cx="8488680" cy="1325563"/>
          </a:xfrm>
        </p:spPr>
        <p:txBody>
          <a:bodyPr/>
          <a:lstStyle>
            <a:lvl1pPr>
              <a:defRPr>
                <a:solidFill>
                  <a:srgbClr val="491A66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4CC8692-0B4D-44DA-A5AE-4030ACC897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1232" y="5020075"/>
            <a:ext cx="2990140" cy="166810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36B6870B-E95A-4DA8-A4F8-26627F73F0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930" y="2099073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algn="ctr"/>
            <a:r>
              <a:rPr lang="en-GB" sz="2400" dirty="0">
                <a:solidFill>
                  <a:srgbClr val="EC6608"/>
                </a:solidFill>
                <a:latin typeface="Gotham Bold" pitchFamily="50" charset="0"/>
              </a:rPr>
              <a:t>Access to employment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E8AF5EBD-23A4-412B-829C-75793DD198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0930" y="5036511"/>
            <a:ext cx="2990140" cy="166810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4028204A-AFFE-45E2-83A4-293BB8C20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0627" y="2055839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algn="ctr"/>
            <a:r>
              <a:rPr lang="en-GB" sz="2400" dirty="0">
                <a:solidFill>
                  <a:srgbClr val="EC6608"/>
                </a:solidFill>
                <a:latin typeface="Gotham Bold" pitchFamily="50" charset="0"/>
              </a:rPr>
              <a:t>Resilient Communities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C75D4CF2-9351-47DF-A325-699435EC8C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0628" y="5036511"/>
            <a:ext cx="2990140" cy="165167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FFFF41-7974-4A2A-8E59-B118C62CF0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625" y="2860877"/>
            <a:ext cx="1848750" cy="18461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3204B0-888A-48E9-B178-02C77FB229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85204" y="2830126"/>
            <a:ext cx="1853846" cy="18461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CE2DF5-1A11-4950-A619-DAABA2C5808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flipH="1">
            <a:off x="9328774" y="2889945"/>
            <a:ext cx="1853847" cy="1859004"/>
          </a:xfrm>
          <a:prstGeom prst="rect">
            <a:avLst/>
          </a:prstGeom>
        </p:spPr>
      </p:pic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41F60ACE-FE18-4991-9B6E-92E2DD851D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7057" y="2103066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algn="ctr"/>
            <a:r>
              <a:rPr lang="en-GB" sz="2400" dirty="0">
                <a:solidFill>
                  <a:srgbClr val="EC6608"/>
                </a:solidFill>
                <a:latin typeface="Gotham Bold" pitchFamily="50" charset="0"/>
              </a:rPr>
              <a:t>Solutions for an ageing society</a:t>
            </a:r>
          </a:p>
        </p:txBody>
      </p:sp>
    </p:spTree>
    <p:extLst>
      <p:ext uri="{BB962C8B-B14F-4D97-AF65-F5344CB8AC3E}">
        <p14:creationId xmlns:p14="http://schemas.microsoft.com/office/powerpoint/2010/main" val="2878803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93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C073B-9002-45FF-8A60-D00AF5498BE3}" type="datetimeFigureOut">
              <a:rPr lang="en-GB" smtClean="0"/>
              <a:t>04/09/2019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5819887"/>
            <a:ext cx="12192000" cy="1038113"/>
          </a:xfrm>
          <a:prstGeom prst="rect">
            <a:avLst/>
          </a:prstGeom>
          <a:solidFill>
            <a:srgbClr val="491A66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2421" y="6127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F0FB5-D502-4438-886F-18082FA237F4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202232-D9A4-4294-B888-27130295AC6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829" y="6080721"/>
            <a:ext cx="1653988" cy="48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42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84" r:id="rId7"/>
    <p:sldLayoutId id="2147483683" r:id="rId8"/>
    <p:sldLayoutId id="2147483685" r:id="rId9"/>
    <p:sldLayoutId id="2147483680" r:id="rId10"/>
    <p:sldLayoutId id="2147483681" r:id="rId11"/>
    <p:sldLayoutId id="2147483687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2D4EF7-93C2-4310-8448-A76FDD249D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9062" y="2369370"/>
            <a:ext cx="10644738" cy="2688405"/>
          </a:xfrm>
        </p:spPr>
        <p:txBody>
          <a:bodyPr>
            <a:normAutofit/>
          </a:bodyPr>
          <a:lstStyle/>
          <a:p>
            <a:r>
              <a:rPr lang="en-GB" dirty="0"/>
              <a:t>Cracked It Workshop</a:t>
            </a:r>
          </a:p>
          <a:p>
            <a:r>
              <a:rPr lang="en-GB" dirty="0">
                <a:solidFill>
                  <a:srgbClr val="F37023"/>
                </a:solidFill>
                <a:latin typeface="+mn-lt"/>
              </a:rPr>
              <a:t>CEO decision making and performance</a:t>
            </a:r>
          </a:p>
          <a:p>
            <a:endParaRPr lang="en-GB" dirty="0">
              <a:solidFill>
                <a:srgbClr val="F37023"/>
              </a:solidFill>
              <a:latin typeface="+mn-lt"/>
            </a:endParaRPr>
          </a:p>
          <a:p>
            <a:r>
              <a:rPr lang="en-GB" sz="2800" b="1" dirty="0">
                <a:solidFill>
                  <a:schemeClr val="tx2"/>
                </a:solidFill>
                <a:latin typeface="+mn-lt"/>
              </a:rPr>
              <a:t>03 September 2018</a:t>
            </a:r>
          </a:p>
        </p:txBody>
      </p:sp>
    </p:spTree>
    <p:extLst>
      <p:ext uri="{BB962C8B-B14F-4D97-AF65-F5344CB8AC3E}">
        <p14:creationId xmlns:p14="http://schemas.microsoft.com/office/powerpoint/2010/main" val="3142564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B200-8DA6-4458-B187-3E7C7110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04" y="354368"/>
            <a:ext cx="10515600" cy="1325563"/>
          </a:xfrm>
        </p:spPr>
        <p:txBody>
          <a:bodyPr/>
          <a:lstStyle/>
          <a:p>
            <a:r>
              <a:rPr lang="en-GB" dirty="0"/>
              <a:t>Defining CEO responsibilities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C86C65-DC7D-4C73-905B-76C9042D2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689062"/>
              </p:ext>
            </p:extLst>
          </p:nvPr>
        </p:nvGraphicFramePr>
        <p:xfrm>
          <a:off x="437304" y="1525868"/>
          <a:ext cx="8861128" cy="46005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30564">
                  <a:extLst>
                    <a:ext uri="{9D8B030D-6E8A-4147-A177-3AD203B41FA5}">
                      <a16:colId xmlns:a16="http://schemas.microsoft.com/office/drawing/2014/main" val="993135929"/>
                    </a:ext>
                  </a:extLst>
                </a:gridCol>
                <a:gridCol w="4430564">
                  <a:extLst>
                    <a:ext uri="{9D8B030D-6E8A-4147-A177-3AD203B41FA5}">
                      <a16:colId xmlns:a16="http://schemas.microsoft.com/office/drawing/2014/main" val="4068480255"/>
                    </a:ext>
                  </a:extLst>
                </a:gridCol>
              </a:tblGrid>
              <a:tr h="245782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Typical Responsibilities 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26" marR="8026" marT="8026" marB="8026" anchor="ctr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975198"/>
                  </a:ext>
                </a:extLst>
              </a:tr>
              <a:tr h="2229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Management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26" marR="8026" marT="8026" marB="8026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Leadership</a:t>
                      </a:r>
                    </a:p>
                  </a:txBody>
                  <a:tcPr marL="8026" marR="8026" marT="8026" marB="8026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87758"/>
                  </a:ext>
                </a:extLst>
              </a:tr>
              <a:tr h="412049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Implementing tactical actions</a:t>
                      </a:r>
                      <a:endParaRPr lang="en-GB" sz="1600" b="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Detailed budgeting</a:t>
                      </a:r>
                      <a:endParaRPr lang="en-GB" sz="1600" b="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Measuring and reporting performance</a:t>
                      </a:r>
                      <a:endParaRPr lang="en-GB" sz="1600" b="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Applying rules and policies</a:t>
                      </a:r>
                      <a:endParaRPr lang="en-GB" sz="1600" b="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Implementing disciplinary rules</a:t>
                      </a:r>
                      <a:endParaRPr lang="en-GB" sz="1600" b="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Organizing people and tasks within structures</a:t>
                      </a:r>
                      <a:endParaRPr lang="en-GB" sz="1600" b="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Recruiting people for jobs</a:t>
                      </a:r>
                      <a:endParaRPr lang="en-GB" sz="1600" b="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Checking and managing ethics and morals</a:t>
                      </a:r>
                      <a:endParaRPr lang="en-GB" sz="1600" b="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Developing people</a:t>
                      </a:r>
                      <a:endParaRPr lang="en-GB" sz="1600" b="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Problem-solving</a:t>
                      </a:r>
                      <a:endParaRPr lang="en-GB" sz="1600" b="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Planning</a:t>
                      </a:r>
                      <a:endParaRPr lang="en-GB" sz="1600" b="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Improving productivity and efficiency</a:t>
                      </a:r>
                      <a:endParaRPr lang="en-GB" sz="1600" b="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Motivating and encouraging others</a:t>
                      </a:r>
                      <a:endParaRPr lang="en-GB" sz="1600" b="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Delegating and training</a:t>
                      </a:r>
                      <a:endParaRPr lang="en-GB" sz="1600" b="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026" marR="8026" marT="8026" marB="8026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 defTabSz="914400" rtl="0" eaLnBrk="1" latinLnBrk="0" hangingPunct="1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Creating new visions and aims</a:t>
                      </a:r>
                    </a:p>
                    <a:p>
                      <a:pPr marL="342900" lvl="0" indent="-342900" algn="l" defTabSz="914400" rtl="0" eaLnBrk="1" latinLnBrk="0" hangingPunct="1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Establishing organizational financial targets</a:t>
                      </a:r>
                    </a:p>
                    <a:p>
                      <a:pPr marL="342900" lvl="0" indent="-342900" algn="l" defTabSz="914400" rtl="0" eaLnBrk="1" latinLnBrk="0" hangingPunct="1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Deciding what needs measuring and reporting</a:t>
                      </a:r>
                    </a:p>
                    <a:p>
                      <a:pPr marL="342900" lvl="0" indent="-342900" algn="l" defTabSz="914400" rtl="0" eaLnBrk="1" latinLnBrk="0" hangingPunct="1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Making new rules and policies</a:t>
                      </a:r>
                    </a:p>
                    <a:p>
                      <a:pPr marL="342900" lvl="0" indent="-342900" algn="l" defTabSz="914400" rtl="0" eaLnBrk="1" latinLnBrk="0" hangingPunct="1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Making disciplinary rules</a:t>
                      </a:r>
                    </a:p>
                    <a:p>
                      <a:pPr marL="342900" lvl="0" indent="-342900" algn="l" defTabSz="914400" rtl="0" eaLnBrk="1" latinLnBrk="0" hangingPunct="1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Deciding structures, hierarchies and workgroups</a:t>
                      </a:r>
                    </a:p>
                    <a:p>
                      <a:pPr marL="342900" lvl="0" indent="-342900" algn="l" defTabSz="914400" rtl="0" eaLnBrk="1" latinLnBrk="0" hangingPunct="1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Creating new job roles</a:t>
                      </a:r>
                    </a:p>
                    <a:p>
                      <a:pPr marL="342900" lvl="0" indent="-342900" algn="l" defTabSz="914400" rtl="0" eaLnBrk="1" latinLnBrk="0" hangingPunct="1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Establishing ethical and moral positions</a:t>
                      </a:r>
                    </a:p>
                    <a:p>
                      <a:pPr marL="342900" lvl="0" indent="-342900" algn="l" defTabSz="914400" rtl="0" eaLnBrk="1" latinLnBrk="0" hangingPunct="1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Developing the organization</a:t>
                      </a:r>
                    </a:p>
                    <a:p>
                      <a:pPr marL="342900" lvl="0" indent="-342900" algn="l" defTabSz="914400" rtl="0" eaLnBrk="1" latinLnBrk="0" hangingPunct="1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Problem-anticipation</a:t>
                      </a:r>
                    </a:p>
                    <a:p>
                      <a:pPr marL="342900" lvl="0" indent="-342900" algn="l" defTabSz="914400" rtl="0" eaLnBrk="1" latinLnBrk="0" hangingPunct="1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Visualising</a:t>
                      </a:r>
                    </a:p>
                    <a:p>
                      <a:pPr marL="342900" lvl="0" indent="-342900" algn="l" defTabSz="914400" rtl="0" eaLnBrk="1" latinLnBrk="0" hangingPunct="1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Conceiving new opportunities</a:t>
                      </a:r>
                    </a:p>
                    <a:p>
                      <a:pPr marL="342900" lvl="0" indent="-342900" algn="l" defTabSz="914400" rtl="0" eaLnBrk="1" latinLnBrk="0" hangingPunct="1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Inspiring and empowering others</a:t>
                      </a:r>
                    </a:p>
                    <a:p>
                      <a:pPr marL="342900" lvl="0" indent="-342900" algn="l" defTabSz="914400" rtl="0" eaLnBrk="1" latinLnBrk="0" hangingPunct="1">
                        <a:lnSpc>
                          <a:spcPts val="15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  <a:tabLst>
                          <a:tab pos="457200" algn="l"/>
                        </a:tabLst>
                      </a:pPr>
                      <a:r>
                        <a:rPr lang="en-GB" sz="1400" b="0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Planning and organizing succession</a:t>
                      </a:r>
                    </a:p>
                  </a:txBody>
                  <a:tcPr marL="8026" marR="8026" marT="8026" marB="8026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5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4621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B200-8DA6-4458-B187-3E7C7110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04" y="354368"/>
            <a:ext cx="10515600" cy="1325563"/>
          </a:xfrm>
        </p:spPr>
        <p:txBody>
          <a:bodyPr/>
          <a:lstStyle/>
          <a:p>
            <a:r>
              <a:rPr lang="en-GB" dirty="0"/>
              <a:t>SWOT Assessment</a:t>
            </a:r>
          </a:p>
        </p:txBody>
      </p:sp>
      <p:sp>
        <p:nvSpPr>
          <p:cNvPr id="10" name="Rectangle 38" descr="© INSCALE GmbH, 26.05.2010&#10;http://www.presentationload.com/">
            <a:extLst>
              <a:ext uri="{FF2B5EF4-FFF2-40B4-BE49-F238E27FC236}">
                <a16:creationId xmlns:a16="http://schemas.microsoft.com/office/drawing/2014/main" id="{23011D37-0055-4314-BE95-3D7F049138B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7304" y="1933088"/>
            <a:ext cx="1470275" cy="1877099"/>
          </a:xfrm>
          <a:prstGeom prst="rect">
            <a:avLst/>
          </a:prstGeom>
          <a:solidFill>
            <a:schemeClr val="accent2"/>
          </a:solidFill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ctr" anchorCtr="0"/>
          <a:lstStyle/>
          <a:p>
            <a:pPr marL="0" marR="0" lvl="0" indent="-19050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7D7D7D"/>
              </a:buClr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Internal</a:t>
            </a:r>
            <a:b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</a:b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factors</a:t>
            </a:r>
          </a:p>
        </p:txBody>
      </p:sp>
      <p:sp>
        <p:nvSpPr>
          <p:cNvPr id="11" name="Rectangle 44" descr="© INSCALE GmbH, 26.05.2010&#10;http://www.presentationload.com/">
            <a:extLst>
              <a:ext uri="{FF2B5EF4-FFF2-40B4-BE49-F238E27FC236}">
                <a16:creationId xmlns:a16="http://schemas.microsoft.com/office/drawing/2014/main" id="{AEB24899-57BE-4230-9EA8-4FAC10A5CC1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7304" y="3980777"/>
            <a:ext cx="1470276" cy="1877098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  <a:effectLst/>
        </p:spPr>
        <p:txBody>
          <a:bodyPr lIns="0" tIns="0" rIns="0" bIns="0" anchor="ctr" anchorCtr="0"/>
          <a:lstStyle/>
          <a:p>
            <a:pPr marL="0" marR="0" lvl="0" indent="-190500" algn="ctr" defTabSz="91440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Clr>
                <a:srgbClr val="7D7D7D"/>
              </a:buClr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External</a:t>
            </a:r>
            <a:b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</a:b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factors</a:t>
            </a:r>
          </a:p>
        </p:txBody>
      </p:sp>
      <p:sp>
        <p:nvSpPr>
          <p:cNvPr id="12" name="Rectangle 38" descr="© INSCALE GmbH, 26.05.2010&#10;http://www.presentationload.com/">
            <a:extLst>
              <a:ext uri="{FF2B5EF4-FFF2-40B4-BE49-F238E27FC236}">
                <a16:creationId xmlns:a16="http://schemas.microsoft.com/office/drawing/2014/main" id="{CCC6C34A-1EEB-4517-9ED6-0CD42CEF82F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71207" y="1933088"/>
            <a:ext cx="4320000" cy="18770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144000" tIns="144000" rIns="108000" bIns="0" anchor="t" anchorCtr="0"/>
          <a:lstStyle/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rgbClr val="969696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Strengths</a:t>
            </a:r>
          </a:p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r>
              <a:rPr kumimoji="0" lang="en-US" sz="1100" b="0" i="0" u="none" strike="noStrike" kern="0" cap="none" spc="0" normalizeH="0" baseline="0" noProof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What do you do particularly well? What skills do you have?</a:t>
            </a:r>
          </a:p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r>
              <a:rPr kumimoji="0" lang="en-US" sz="1100" b="0" i="0" u="none" strike="noStrike" kern="0" cap="none" spc="0" normalizeH="0" baseline="0" noProof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What do you do that is unique in the marketplace?</a:t>
            </a:r>
          </a:p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r>
              <a:rPr kumimoji="0" lang="en-US" sz="1100" b="0" i="0" u="none" strike="noStrike" kern="0" cap="none" spc="0" normalizeH="0" baseline="0" noProof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What do your customers/</a:t>
            </a:r>
            <a:r>
              <a:rPr lang="en-US" sz="1100" kern="0" noProof="1">
                <a:solidFill>
                  <a:srgbClr val="646464"/>
                </a:solidFill>
                <a:latin typeface="Arial"/>
                <a:cs typeface="Arial" charset="0"/>
              </a:rPr>
              <a:t>beneficiaries</a:t>
            </a:r>
            <a:r>
              <a:rPr kumimoji="0" lang="en-US" sz="1100" b="0" i="0" u="none" strike="noStrike" kern="0" cap="none" spc="0" normalizeH="0" baseline="0" noProof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 most like about you?</a:t>
            </a:r>
          </a:p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r>
              <a:rPr kumimoji="0" lang="en-US" sz="1100" b="0" i="0" u="none" strike="noStrike" kern="0" cap="none" spc="0" normalizeH="0" baseline="0" noProof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What do you have the right tools/resources to accomplish?</a:t>
            </a:r>
          </a:p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r>
              <a:rPr kumimoji="0" lang="en-US" sz="1100" b="0" i="0" u="none" strike="noStrike" kern="0" cap="none" spc="0" normalizeH="0" baseline="0" noProof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Which </a:t>
            </a:r>
            <a:r>
              <a:rPr lang="en-US" sz="1100" kern="0" noProof="1">
                <a:solidFill>
                  <a:srgbClr val="646464"/>
                </a:solidFill>
                <a:latin typeface="Arial"/>
                <a:cs typeface="Arial" charset="0"/>
              </a:rPr>
              <a:t>of our offers have most commercial/social benefit?</a:t>
            </a:r>
            <a:endParaRPr kumimoji="0" lang="en-US" sz="1100" b="0" i="0" u="none" strike="noStrike" kern="0" cap="none" spc="0" normalizeH="0" baseline="0" noProof="1">
              <a:ln>
                <a:noFill/>
              </a:ln>
              <a:solidFill>
                <a:srgbClr val="646464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  <p:sp>
        <p:nvSpPr>
          <p:cNvPr id="13" name="Rectangle 44" descr="© INSCALE GmbH, 26.05.2010&#10;http://www.presentationload.com/">
            <a:extLst>
              <a:ext uri="{FF2B5EF4-FFF2-40B4-BE49-F238E27FC236}">
                <a16:creationId xmlns:a16="http://schemas.microsoft.com/office/drawing/2014/main" id="{484FB000-D10A-4954-9ECD-866CCEEFC8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67365" y="3980777"/>
            <a:ext cx="4320000" cy="1877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144000" tIns="144000" rIns="108000" bIns="0" anchor="t" anchorCtr="0"/>
          <a:lstStyle/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rgbClr val="969696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Opportunities</a:t>
            </a:r>
          </a:p>
          <a:p>
            <a:pPr marL="190500" marR="0" lvl="0" indent="-190500" fontAlgn="auto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r>
              <a:rPr lang="en-US" sz="1100" kern="0" noProof="1">
                <a:solidFill>
                  <a:srgbClr val="646464"/>
                </a:solidFill>
                <a:latin typeface="Arial"/>
                <a:cs typeface="Arial" charset="0"/>
              </a:rPr>
              <a:t>Are there new situations coming down the road that you can take advantage of (new programs being offered, new faculty joining the department, new tools available to you)?</a:t>
            </a:r>
          </a:p>
          <a:p>
            <a:pPr marL="190500" marR="0" lvl="0" indent="-190500" fontAlgn="auto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r>
              <a:rPr lang="en-US" sz="1100" kern="0" noProof="1">
                <a:solidFill>
                  <a:srgbClr val="646464"/>
                </a:solidFill>
                <a:latin typeface="Arial"/>
                <a:cs typeface="Arial" charset="0"/>
              </a:rPr>
              <a:t>Are there gaps in the market that you can fill?</a:t>
            </a:r>
          </a:p>
          <a:p>
            <a:pPr marL="190500" marR="0" lvl="0" indent="-190500" fontAlgn="auto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r>
              <a:rPr lang="en-US" sz="1100" kern="0" noProof="1">
                <a:solidFill>
                  <a:srgbClr val="646464"/>
                </a:solidFill>
                <a:latin typeface="Arial"/>
                <a:cs typeface="Arial" charset="0"/>
              </a:rPr>
              <a:t>Are there partnerships that might be fruitful? Media support?</a:t>
            </a:r>
          </a:p>
        </p:txBody>
      </p:sp>
      <p:sp>
        <p:nvSpPr>
          <p:cNvPr id="14" name="Rectangle 38" descr="© INSCALE GmbH, 26.05.2010&#10;http://www.presentationload.com/">
            <a:extLst>
              <a:ext uri="{FF2B5EF4-FFF2-40B4-BE49-F238E27FC236}">
                <a16:creationId xmlns:a16="http://schemas.microsoft.com/office/drawing/2014/main" id="{AE29C29C-B54F-480C-8093-BF401C8ED8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32904" y="1933088"/>
            <a:ext cx="4320000" cy="18770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144000" tIns="144000" rIns="108000" bIns="0" anchor="t" anchorCtr="0"/>
          <a:lstStyle/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rgbClr val="969696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Weaknesses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rgbClr val="646464"/>
                </a:solidFill>
                <a:latin typeface="Arial"/>
                <a:cs typeface="Arial" charset="0"/>
              </a:rPr>
              <a:t>What do you not feel as comfortable doing?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rgbClr val="646464"/>
                </a:solidFill>
                <a:latin typeface="Arial"/>
                <a:cs typeface="Arial" charset="0"/>
              </a:rPr>
              <a:t>What needed resources, staff, or skills do you lack?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rgbClr val="646464"/>
                </a:solidFill>
                <a:latin typeface="Arial"/>
                <a:cs typeface="Arial" charset="0"/>
              </a:rPr>
              <a:t>What’s pushing up your costs / wasting resources? What systems or processes are holding us back?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rgbClr val="646464"/>
                </a:solidFill>
                <a:latin typeface="Arial"/>
                <a:cs typeface="Arial" charset="0"/>
              </a:rPr>
              <a:t>What do you most worry about?</a:t>
            </a:r>
          </a:p>
        </p:txBody>
      </p:sp>
      <p:sp>
        <p:nvSpPr>
          <p:cNvPr id="15" name="Rectangle 44" descr="© INSCALE GmbH, 26.05.2010&#10;http://www.presentationload.com/">
            <a:extLst>
              <a:ext uri="{FF2B5EF4-FFF2-40B4-BE49-F238E27FC236}">
                <a16:creationId xmlns:a16="http://schemas.microsoft.com/office/drawing/2014/main" id="{66D0CE45-4D03-4CAC-A21F-5B2E8F786FD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32904" y="3981573"/>
            <a:ext cx="4320000" cy="1877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144000" tIns="144000" rIns="108000" bIns="0" anchor="t" anchorCtr="0"/>
          <a:lstStyle/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rgbClr val="969696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1">
                <a:ln>
                  <a:noFill/>
                </a:ln>
                <a:solidFill>
                  <a:srgbClr val="646464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Threats 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rgbClr val="646464"/>
                </a:solidFill>
                <a:latin typeface="Arial"/>
                <a:cs typeface="Arial" charset="0"/>
              </a:rPr>
              <a:t>Who is your competition and what do they offer that you can’t do as well or at all?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rgbClr val="646464"/>
                </a:solidFill>
                <a:latin typeface="Arial"/>
                <a:cs typeface="Arial" charset="0"/>
              </a:rPr>
              <a:t>Are there “environmental” changes or situations that could cause problems for you and your programs?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rgbClr val="646464"/>
                </a:solidFill>
                <a:latin typeface="Arial"/>
                <a:cs typeface="Arial" charset="0"/>
              </a:rPr>
              <a:t>What other roadblocks are being thrown in your path?</a:t>
            </a:r>
          </a:p>
        </p:txBody>
      </p:sp>
    </p:spTree>
    <p:extLst>
      <p:ext uri="{BB962C8B-B14F-4D97-AF65-F5344CB8AC3E}">
        <p14:creationId xmlns:p14="http://schemas.microsoft.com/office/powerpoint/2010/main" val="19133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B200-8DA6-4458-B187-3E7C71102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04" y="354368"/>
            <a:ext cx="10515600" cy="1325563"/>
          </a:xfrm>
        </p:spPr>
        <p:txBody>
          <a:bodyPr/>
          <a:lstStyle/>
          <a:p>
            <a:r>
              <a:rPr lang="en-GB" dirty="0"/>
              <a:t>Typical Balanced Scorecard</a:t>
            </a:r>
          </a:p>
        </p:txBody>
      </p:sp>
      <p:sp>
        <p:nvSpPr>
          <p:cNvPr id="14" name="Rectangle 38" descr="© INSCALE GmbH, 26.05.2010&#10;http://www.presentationload.com/">
            <a:extLst>
              <a:ext uri="{FF2B5EF4-FFF2-40B4-BE49-F238E27FC236}">
                <a16:creationId xmlns:a16="http://schemas.microsoft.com/office/drawing/2014/main" id="{AE29C29C-B54F-480C-8093-BF401C8ED8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12904" y="1932292"/>
            <a:ext cx="5040000" cy="1877099"/>
          </a:xfrm>
          <a:prstGeom prst="rect">
            <a:avLst/>
          </a:prstGeom>
          <a:solidFill>
            <a:srgbClr val="99FFCC"/>
          </a:solidFill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144000" tIns="144000" rIns="108000" bIns="0" anchor="t" anchorCtr="0"/>
          <a:lstStyle/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rgbClr val="969696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1400" b="1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Financial Performance</a:t>
            </a:r>
            <a:endParaRPr kumimoji="0" lang="en-US" sz="1400" b="1" i="0" u="none" strike="noStrike" kern="0" cap="none" spc="0" normalizeH="0" baseline="0" noProof="1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/>
              <a:cs typeface="Arial" charset="0"/>
            </a:endParaRP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Secured investment / minimised debt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Profitability / cashflow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Reduced operating costs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Efficient billing</a:t>
            </a:r>
          </a:p>
        </p:txBody>
      </p:sp>
      <p:sp>
        <p:nvSpPr>
          <p:cNvPr id="15" name="Rectangle 44" descr="© INSCALE GmbH, 26.05.2010&#10;http://www.presentationload.com/">
            <a:extLst>
              <a:ext uri="{FF2B5EF4-FFF2-40B4-BE49-F238E27FC236}">
                <a16:creationId xmlns:a16="http://schemas.microsoft.com/office/drawing/2014/main" id="{66D0CE45-4D03-4CAC-A21F-5B2E8F786FD1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12904" y="3980777"/>
            <a:ext cx="5040000" cy="1877098"/>
          </a:xfrm>
          <a:prstGeom prst="rect">
            <a:avLst/>
          </a:prstGeom>
          <a:solidFill>
            <a:srgbClr val="FFFF99"/>
          </a:solidFill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144000" tIns="144000" rIns="108000" bIns="0" anchor="t" anchorCtr="0"/>
          <a:lstStyle/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rgbClr val="969696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Satisfy </a:t>
            </a:r>
            <a:r>
              <a:rPr lang="en-US" sz="1400" b="1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Stakeholders</a:t>
            </a:r>
            <a:endParaRPr kumimoji="0" lang="en-US" sz="1400" b="1" i="0" u="none" strike="noStrike" kern="0" cap="none" spc="0" normalizeH="0" baseline="0" noProof="1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  <a:uLnTx/>
              <a:uFillTx/>
              <a:latin typeface="Arial"/>
              <a:cs typeface="Arial" charset="0"/>
            </a:endParaRP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Improvement in sales funnel conversion / duration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Retention of customers at renewal point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Feedback scores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Key impact measures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Delivering new products/services</a:t>
            </a:r>
          </a:p>
          <a:p>
            <a:pPr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defRPr/>
            </a:pPr>
            <a:endParaRPr lang="en-US" sz="1100" kern="0" noProof="1">
              <a:solidFill>
                <a:schemeClr val="tx1">
                  <a:lumMod val="50000"/>
                </a:schemeClr>
              </a:solidFill>
              <a:latin typeface="Arial"/>
              <a:cs typeface="Arial" charset="0"/>
            </a:endParaRPr>
          </a:p>
        </p:txBody>
      </p:sp>
      <p:sp>
        <p:nvSpPr>
          <p:cNvPr id="9" name="Rectangle 38" descr="© INSCALE GmbH, 26.05.2010&#10;http://www.presentationload.com/">
            <a:extLst>
              <a:ext uri="{FF2B5EF4-FFF2-40B4-BE49-F238E27FC236}">
                <a16:creationId xmlns:a16="http://schemas.microsoft.com/office/drawing/2014/main" id="{FBF2CF20-0CC0-46A1-A467-DE959DA5DC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7304" y="1933088"/>
            <a:ext cx="5040000" cy="1877099"/>
          </a:xfrm>
          <a:prstGeom prst="rect">
            <a:avLst/>
          </a:prstGeom>
          <a:solidFill>
            <a:srgbClr val="99CCFF"/>
          </a:solidFill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144000" tIns="144000" rIns="108000" bIns="0" anchor="t" anchorCtr="0"/>
          <a:lstStyle/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rgbClr val="969696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Improved Systems &amp; Processes</a:t>
            </a:r>
          </a:p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r>
              <a:rPr kumimoji="0" lang="en-US" sz="1100" b="0" i="0" u="none" strike="noStrike" kern="0" cap="none" spc="0" normalizeH="0" baseline="0" noProof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Paperless invoicing</a:t>
            </a:r>
          </a:p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r>
              <a:rPr kumimoji="0" lang="en-US" sz="1100" b="0" i="0" u="none" strike="noStrike" kern="0" cap="none" spc="0" normalizeH="0" baseline="0" noProof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Updating of CRM / core databases</a:t>
            </a:r>
          </a:p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Maintance of stock</a:t>
            </a:r>
          </a:p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Quality control</a:t>
            </a:r>
          </a:p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r>
              <a:rPr kumimoji="0" lang="en-US" sz="1100" b="0" i="0" u="none" strike="noStrike" kern="0" cap="none" spc="0" normalizeH="0" baseline="0" noProof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Ad</a:t>
            </a: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herence to SOPs</a:t>
            </a:r>
          </a:p>
        </p:txBody>
      </p:sp>
      <p:sp>
        <p:nvSpPr>
          <p:cNvPr id="16" name="Rectangle 44" descr="© INSCALE GmbH, 26.05.2010&#10;http://www.presentationload.com/">
            <a:extLst>
              <a:ext uri="{FF2B5EF4-FFF2-40B4-BE49-F238E27FC236}">
                <a16:creationId xmlns:a16="http://schemas.microsoft.com/office/drawing/2014/main" id="{C65FC938-0CF1-41B3-86C1-0201DC1A520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37304" y="3980777"/>
            <a:ext cx="5040000" cy="1877098"/>
          </a:xfrm>
          <a:prstGeom prst="rect">
            <a:avLst/>
          </a:prstGeom>
          <a:solidFill>
            <a:srgbClr val="FF9999"/>
          </a:solidFill>
          <a:ln w="25400" cap="flat" cmpd="sng" algn="ctr">
            <a:noFill/>
            <a:prstDash val="solid"/>
            <a:headEnd/>
            <a:tailEnd/>
          </a:ln>
          <a:effectLst/>
        </p:spPr>
        <p:txBody>
          <a:bodyPr lIns="144000" tIns="144000" rIns="108000" bIns="0" anchor="t" anchorCtr="0"/>
          <a:lstStyle/>
          <a:p>
            <a:pPr marL="190500" marR="0" lvl="0" indent="-190500" defTabSz="91440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rgbClr val="969696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1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Engaged Team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Recruitment &amp; retention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Learning &amp; new skills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Remuneration</a:t>
            </a:r>
          </a:p>
          <a:p>
            <a:pPr marL="190500" indent="-190500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tx1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defRPr/>
            </a:pPr>
            <a:r>
              <a:rPr lang="en-US" sz="1100" kern="0" noProof="1">
                <a:solidFill>
                  <a:schemeClr val="tx1">
                    <a:lumMod val="50000"/>
                  </a:schemeClr>
                </a:solidFill>
                <a:latin typeface="Arial"/>
                <a:cs typeface="Arial" charset="0"/>
              </a:rPr>
              <a:t>Number of volunteer opportunities</a:t>
            </a:r>
          </a:p>
          <a:p>
            <a:pPr marL="190500" marR="0" lvl="0" indent="-190500" fontAlgn="auto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endParaRPr lang="en-US" sz="1100" kern="0" noProof="1">
              <a:solidFill>
                <a:schemeClr val="tx1">
                  <a:lumMod val="50000"/>
                </a:schemeClr>
              </a:solidFill>
              <a:latin typeface="Arial"/>
              <a:cs typeface="Arial" charset="0"/>
            </a:endParaRPr>
          </a:p>
          <a:p>
            <a:pPr marL="190500" marR="0" lvl="0" indent="-190500" fontAlgn="auto">
              <a:lnSpc>
                <a:spcPct val="95000"/>
              </a:lnSpc>
              <a:spcBef>
                <a:spcPct val="20000"/>
              </a:spcBef>
              <a:spcAft>
                <a:spcPts val="600"/>
              </a:spcAft>
              <a:buClr>
                <a:schemeClr val="accent5">
                  <a:lumMod val="50000"/>
                </a:schemeClr>
              </a:buClr>
              <a:buSzPct val="70000"/>
              <a:buFont typeface="Arial" panose="020B0604020202020204" pitchFamily="34" charset="0"/>
              <a:buChar char="►"/>
              <a:tabLst/>
              <a:defRPr/>
            </a:pPr>
            <a:endParaRPr lang="en-US" sz="1100" kern="0" noProof="1">
              <a:solidFill>
                <a:schemeClr val="tx1">
                  <a:lumMod val="50000"/>
                </a:schemeClr>
              </a:solidFill>
              <a:latin typeface="Arial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931298"/>
      </p:ext>
    </p:extLst>
  </p:cSld>
  <p:clrMapOvr>
    <a:masterClrMapping/>
  </p:clrMapOvr>
</p:sld>
</file>

<file path=ppt/theme/theme1.xml><?xml version="1.0" encoding="utf-8"?>
<a:theme xmlns:a="http://schemas.openxmlformats.org/drawingml/2006/main" name="UnLtd">
  <a:themeElements>
    <a:clrScheme name="UnLtd colours">
      <a:dk1>
        <a:srgbClr val="636363"/>
      </a:dk1>
      <a:lt1>
        <a:sysClr val="window" lastClr="FFFFFF"/>
      </a:lt1>
      <a:dk2>
        <a:srgbClr val="606A79"/>
      </a:dk2>
      <a:lt2>
        <a:srgbClr val="E7E6E6"/>
      </a:lt2>
      <a:accent1>
        <a:srgbClr val="EC6608"/>
      </a:accent1>
      <a:accent2>
        <a:srgbClr val="491A66"/>
      </a:accent2>
      <a:accent3>
        <a:srgbClr val="00A1A4"/>
      </a:accent3>
      <a:accent4>
        <a:srgbClr val="0084A5"/>
      </a:accent4>
      <a:accent5>
        <a:srgbClr val="4472C4"/>
      </a:accent5>
      <a:accent6>
        <a:srgbClr val="829AA4"/>
      </a:accent6>
      <a:hlink>
        <a:srgbClr val="EC6608"/>
      </a:hlink>
      <a:folHlink>
        <a:srgbClr val="491A66"/>
      </a:folHlink>
    </a:clrScheme>
    <a:fontScheme name="UnLtd fonts">
      <a:majorFont>
        <a:latin typeface="Gotham Bold"/>
        <a:ea typeface=""/>
        <a:cs typeface=""/>
      </a:majorFont>
      <a:minorFont>
        <a:latin typeface="Gotham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Ltd temp.pptx" id="{301E8BD0-0D07-426A-81D2-03F3BCC8BD7F}" vid="{17E8085A-E865-47A8-94B5-31FAA855A6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UnLtd temp</Template>
  <TotalTime>96</TotalTime>
  <Words>412</Words>
  <Application>Microsoft Office PowerPoint</Application>
  <PresentationFormat>Widescreen</PresentationFormat>
  <Paragraphs>84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Gotham Black</vt:lpstr>
      <vt:lpstr>Gotham Bold</vt:lpstr>
      <vt:lpstr>Gotham Book</vt:lpstr>
      <vt:lpstr>Trebuchet MS</vt:lpstr>
      <vt:lpstr>Wingdings</vt:lpstr>
      <vt:lpstr>UnLtd</vt:lpstr>
      <vt:lpstr>PowerPoint Presentation</vt:lpstr>
      <vt:lpstr>Defining CEO responsibilities</vt:lpstr>
      <vt:lpstr>SWOT Assessment</vt:lpstr>
      <vt:lpstr>Typical Balanced Scorecard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Flynn Butterworth</dc:creator>
  <cp:lastModifiedBy>Tim Lages</cp:lastModifiedBy>
  <cp:revision>14</cp:revision>
  <dcterms:created xsi:type="dcterms:W3CDTF">2018-05-10T13:11:05Z</dcterms:created>
  <dcterms:modified xsi:type="dcterms:W3CDTF">2019-09-04T15:29:16Z</dcterms:modified>
</cp:coreProperties>
</file>
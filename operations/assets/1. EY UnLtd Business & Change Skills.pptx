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0.xml" ContentType="application/vnd.openxmlformats-officedocument.presentationml.tags+xml"/>
  <Override PartName="/ppt/notesSlides/notesSlide14.xml" ContentType="application/vnd.openxmlformats-officedocument.presentationml.notesSlide+xml"/>
  <Override PartName="/ppt/tags/tag11.xml" ContentType="application/vnd.openxmlformats-officedocument.presentationml.tags+xml"/>
  <Override PartName="/ppt/notesSlides/notesSlide15.xml" ContentType="application/vnd.openxmlformats-officedocument.presentationml.notesSlide+xml"/>
  <Override PartName="/ppt/tags/tag12.xml" ContentType="application/vnd.openxmlformats-officedocument.presentationml.tags+xml"/>
  <Override PartName="/ppt/notesSlides/notesSlide16.xml" ContentType="application/vnd.openxmlformats-officedocument.presentationml.notesSlide+xml"/>
  <Override PartName="/ppt/tags/tag1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4.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45" r:id="rId1"/>
  </p:sldMasterIdLst>
  <p:notesMasterIdLst>
    <p:notesMasterId r:id="rId45"/>
  </p:notesMasterIdLst>
  <p:handoutMasterIdLst>
    <p:handoutMasterId r:id="rId46"/>
  </p:handoutMasterIdLst>
  <p:sldIdLst>
    <p:sldId id="279" r:id="rId2"/>
    <p:sldId id="282" r:id="rId3"/>
    <p:sldId id="354" r:id="rId4"/>
    <p:sldId id="301" r:id="rId5"/>
    <p:sldId id="284" r:id="rId6"/>
    <p:sldId id="356" r:id="rId7"/>
    <p:sldId id="362" r:id="rId8"/>
    <p:sldId id="357" r:id="rId9"/>
    <p:sldId id="358" r:id="rId10"/>
    <p:sldId id="359" r:id="rId11"/>
    <p:sldId id="360" r:id="rId12"/>
    <p:sldId id="363" r:id="rId13"/>
    <p:sldId id="364" r:id="rId14"/>
    <p:sldId id="365" r:id="rId15"/>
    <p:sldId id="366" r:id="rId16"/>
    <p:sldId id="367" r:id="rId17"/>
    <p:sldId id="372" r:id="rId18"/>
    <p:sldId id="368" r:id="rId19"/>
    <p:sldId id="369" r:id="rId20"/>
    <p:sldId id="370" r:id="rId21"/>
    <p:sldId id="371" r:id="rId22"/>
    <p:sldId id="373" r:id="rId23"/>
    <p:sldId id="375" r:id="rId24"/>
    <p:sldId id="376" r:id="rId25"/>
    <p:sldId id="377" r:id="rId26"/>
    <p:sldId id="378" r:id="rId27"/>
    <p:sldId id="379" r:id="rId28"/>
    <p:sldId id="380" r:id="rId29"/>
    <p:sldId id="381" r:id="rId30"/>
    <p:sldId id="383" r:id="rId31"/>
    <p:sldId id="384" r:id="rId32"/>
    <p:sldId id="385" r:id="rId33"/>
    <p:sldId id="386" r:id="rId34"/>
    <p:sldId id="387" r:id="rId35"/>
    <p:sldId id="388" r:id="rId36"/>
    <p:sldId id="390" r:id="rId37"/>
    <p:sldId id="391" r:id="rId38"/>
    <p:sldId id="392" r:id="rId39"/>
    <p:sldId id="393" r:id="rId40"/>
    <p:sldId id="394" r:id="rId41"/>
    <p:sldId id="395" r:id="rId42"/>
    <p:sldId id="396" r:id="rId43"/>
    <p:sldId id="397" r:id="rId44"/>
  </p:sldIdLst>
  <p:sldSz cx="10693400" cy="7561263"/>
  <p:notesSz cx="7104063" cy="10234613"/>
  <p:custDataLst>
    <p:tags r:id="rId47"/>
  </p:custDataLst>
  <p:defaultTextStyle>
    <a:defPPr>
      <a:defRPr lang="en-US"/>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rlene Ferguson" initials="AF"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E600"/>
    <a:srgbClr val="FFD200"/>
    <a:srgbClr val="CCCBCD"/>
    <a:srgbClr val="FB8D33"/>
    <a:srgbClr val="91278F"/>
    <a:srgbClr val="EA1680"/>
    <a:srgbClr val="CCCCCC"/>
    <a:srgbClr val="FA7406"/>
    <a:srgbClr val="F04C3E"/>
    <a:srgbClr val="95CB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43" autoAdjust="0"/>
    <p:restoredTop sz="77842" autoAdjust="0"/>
  </p:normalViewPr>
  <p:slideViewPr>
    <p:cSldViewPr>
      <p:cViewPr>
        <p:scale>
          <a:sx n="80" d="100"/>
          <a:sy n="80" d="100"/>
        </p:scale>
        <p:origin x="-726" y="240"/>
      </p:cViewPr>
      <p:guideLst>
        <p:guide orient="horz" pos="2608"/>
        <p:guide orient="horz" pos="567"/>
        <p:guide orient="horz" pos="3288"/>
        <p:guide orient="horz" pos="2472"/>
        <p:guide orient="horz" pos="1202"/>
        <p:guide pos="510"/>
        <p:guide pos="5137"/>
        <p:guide pos="1145"/>
        <p:guide pos="2778"/>
        <p:guide pos="1372"/>
        <p:guide pos="2325"/>
        <p:guide pos="3323"/>
        <p:guide pos="3368"/>
        <p:guide pos="4230"/>
        <p:guide pos="4184"/>
        <p:guide pos="5455"/>
        <p:guide pos="3459"/>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74" d="100"/>
          <a:sy n="74" d="100"/>
        </p:scale>
        <p:origin x="-3306" y="-96"/>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8326E0-A66A-4E23-AC26-7DCB4FA1D654}" type="doc">
      <dgm:prSet loTypeId="urn:microsoft.com/office/officeart/2005/8/layout/pyramid1" loCatId="pyramid" qsTypeId="urn:microsoft.com/office/officeart/2005/8/quickstyle/simple1" qsCatId="simple" csTypeId="urn:microsoft.com/office/officeart/2005/8/colors/accent1_2" csCatId="accent1" phldr="1"/>
      <dgm:spPr/>
    </dgm:pt>
    <dgm:pt modelId="{547F6F83-0C7E-4628-8676-D0DF4B0F276D}">
      <dgm:prSet phldrT="[Text]" custT="1"/>
      <dgm:spPr>
        <a:solidFill>
          <a:schemeClr val="accent2"/>
        </a:solidFill>
        <a:ln w="6350">
          <a:solidFill>
            <a:schemeClr val="bg1">
              <a:lumMod val="75000"/>
            </a:schemeClr>
          </a:solidFill>
        </a:ln>
      </dgm:spPr>
      <dgm:t>
        <a:bodyPr lIns="18000" rIns="0" bIns="43200" anchor="b"/>
        <a:lstStyle/>
        <a:p>
          <a:r>
            <a:rPr lang="en-CA" sz="1200" b="1" dirty="0" smtClean="0">
              <a:latin typeface="+mj-lt"/>
            </a:rPr>
            <a:t>Strategy</a:t>
          </a:r>
          <a:endParaRPr lang="en-CA" sz="1200" b="1" dirty="0">
            <a:latin typeface="+mj-lt"/>
          </a:endParaRPr>
        </a:p>
      </dgm:t>
    </dgm:pt>
    <dgm:pt modelId="{5B2E3730-606D-450A-9AB0-E8E1DE84C356}" type="parTrans" cxnId="{054B1981-DA6C-40D1-B2E7-ECCAD73A4C82}">
      <dgm:prSet/>
      <dgm:spPr/>
      <dgm:t>
        <a:bodyPr/>
        <a:lstStyle/>
        <a:p>
          <a:endParaRPr lang="en-CA" sz="1200"/>
        </a:p>
      </dgm:t>
    </dgm:pt>
    <dgm:pt modelId="{F06285C5-4A18-4E94-A7BC-21BA57EBC783}" type="sibTrans" cxnId="{054B1981-DA6C-40D1-B2E7-ECCAD73A4C82}">
      <dgm:prSet/>
      <dgm:spPr/>
      <dgm:t>
        <a:bodyPr/>
        <a:lstStyle/>
        <a:p>
          <a:endParaRPr lang="en-CA" sz="1200"/>
        </a:p>
      </dgm:t>
    </dgm:pt>
    <dgm:pt modelId="{D501C2AC-3725-40C3-A1C7-FB7115CF7063}">
      <dgm:prSet phldrT="[Text]" custT="1"/>
      <dgm:spPr>
        <a:solidFill>
          <a:schemeClr val="bg1">
            <a:lumMod val="95000"/>
          </a:schemeClr>
        </a:solidFill>
        <a:ln w="6350">
          <a:solidFill>
            <a:schemeClr val="bg1">
              <a:lumMod val="75000"/>
            </a:schemeClr>
          </a:solidFill>
        </a:ln>
      </dgm:spPr>
      <dgm:t>
        <a:bodyPr lIns="0" rIns="0"/>
        <a:lstStyle/>
        <a:p>
          <a:endParaRPr lang="en-CA" sz="1200" dirty="0">
            <a:latin typeface="EYInterstate Light" pitchFamily="2" charset="0"/>
          </a:endParaRPr>
        </a:p>
      </dgm:t>
    </dgm:pt>
    <dgm:pt modelId="{B17851B9-F80C-471C-BC9C-7E9CD1E2CAA5}" type="parTrans" cxnId="{013C4919-83AF-448B-B1BB-98B33F79BFDA}">
      <dgm:prSet/>
      <dgm:spPr/>
      <dgm:t>
        <a:bodyPr/>
        <a:lstStyle/>
        <a:p>
          <a:endParaRPr lang="en-CA" sz="1200"/>
        </a:p>
      </dgm:t>
    </dgm:pt>
    <dgm:pt modelId="{D0B665BE-53DF-4C0E-968E-81B00B8B3FA1}" type="sibTrans" cxnId="{013C4919-83AF-448B-B1BB-98B33F79BFDA}">
      <dgm:prSet/>
      <dgm:spPr/>
      <dgm:t>
        <a:bodyPr/>
        <a:lstStyle/>
        <a:p>
          <a:endParaRPr lang="en-CA" sz="1200"/>
        </a:p>
      </dgm:t>
    </dgm:pt>
    <dgm:pt modelId="{135E0A69-B3B2-44DD-92D3-39FFBF32BB47}">
      <dgm:prSet phldrT="[Text]" custT="1"/>
      <dgm:spPr>
        <a:solidFill>
          <a:schemeClr val="bg1">
            <a:lumMod val="95000"/>
          </a:schemeClr>
        </a:solidFill>
        <a:ln w="6350">
          <a:solidFill>
            <a:schemeClr val="bg1">
              <a:lumMod val="75000"/>
            </a:schemeClr>
          </a:solidFill>
        </a:ln>
      </dgm:spPr>
      <dgm:t>
        <a:bodyPr/>
        <a:lstStyle/>
        <a:p>
          <a:r>
            <a:rPr lang="en-CA" sz="1200" b="1" dirty="0" smtClean="0">
              <a:latin typeface="+mj-lt"/>
            </a:rPr>
            <a:t>Conceptual model, roles </a:t>
          </a:r>
          <a:br>
            <a:rPr lang="en-CA" sz="1200" b="1" dirty="0" smtClean="0">
              <a:latin typeface="+mj-lt"/>
            </a:rPr>
          </a:br>
          <a:r>
            <a:rPr lang="en-CA" sz="1200" b="1" dirty="0" smtClean="0">
              <a:latin typeface="+mj-lt"/>
            </a:rPr>
            <a:t>and governance</a:t>
          </a:r>
          <a:endParaRPr lang="en-CA" sz="1200" b="1" dirty="0">
            <a:latin typeface="+mj-lt"/>
          </a:endParaRPr>
        </a:p>
      </dgm:t>
    </dgm:pt>
    <dgm:pt modelId="{14655B3E-74E1-4B1D-AA42-E044F70C2032}" type="parTrans" cxnId="{EC104EF4-9D4E-48E8-B528-F1D08B676A47}">
      <dgm:prSet/>
      <dgm:spPr/>
      <dgm:t>
        <a:bodyPr/>
        <a:lstStyle/>
        <a:p>
          <a:endParaRPr lang="en-CA" sz="1200"/>
        </a:p>
      </dgm:t>
    </dgm:pt>
    <dgm:pt modelId="{9CB6E390-5EB9-4FB1-A4FD-0647F4C5224B}" type="sibTrans" cxnId="{EC104EF4-9D4E-48E8-B528-F1D08B676A47}">
      <dgm:prSet/>
      <dgm:spPr/>
      <dgm:t>
        <a:bodyPr/>
        <a:lstStyle/>
        <a:p>
          <a:endParaRPr lang="en-CA" sz="1200"/>
        </a:p>
      </dgm:t>
    </dgm:pt>
    <dgm:pt modelId="{4DFDB37F-0EEF-4950-AB2A-6FB018C8603D}">
      <dgm:prSet phldrT="[Text]" custT="1"/>
      <dgm:spPr>
        <a:solidFill>
          <a:schemeClr val="bg1">
            <a:lumMod val="95000"/>
          </a:schemeClr>
        </a:solidFill>
        <a:ln w="6350">
          <a:solidFill>
            <a:schemeClr val="bg1">
              <a:lumMod val="75000"/>
            </a:schemeClr>
          </a:solidFill>
        </a:ln>
      </dgm:spPr>
      <dgm:t>
        <a:bodyPr/>
        <a:lstStyle/>
        <a:p>
          <a:endParaRPr lang="en-CA" sz="1200" dirty="0">
            <a:latin typeface="EYInterstate Light" pitchFamily="2" charset="0"/>
          </a:endParaRPr>
        </a:p>
      </dgm:t>
    </dgm:pt>
    <dgm:pt modelId="{1B998EFF-81B7-4675-B380-1A9A1DE768FB}" type="parTrans" cxnId="{E53F083A-0A91-4F3B-B0E7-0FD0B7A89064}">
      <dgm:prSet/>
      <dgm:spPr/>
      <dgm:t>
        <a:bodyPr/>
        <a:lstStyle/>
        <a:p>
          <a:endParaRPr lang="en-CA" sz="1200"/>
        </a:p>
      </dgm:t>
    </dgm:pt>
    <dgm:pt modelId="{34D5258B-E71C-4689-8E98-ACCE713CD914}" type="sibTrans" cxnId="{E53F083A-0A91-4F3B-B0E7-0FD0B7A89064}">
      <dgm:prSet/>
      <dgm:spPr/>
      <dgm:t>
        <a:bodyPr/>
        <a:lstStyle/>
        <a:p>
          <a:endParaRPr lang="en-CA" sz="1200"/>
        </a:p>
      </dgm:t>
    </dgm:pt>
    <dgm:pt modelId="{DA662F2A-753D-411D-BFEB-7E059272389A}">
      <dgm:prSet phldrT="[Text]" custT="1"/>
      <dgm:spPr>
        <a:solidFill>
          <a:schemeClr val="bg1">
            <a:lumMod val="95000"/>
          </a:schemeClr>
        </a:solidFill>
        <a:ln w="6350">
          <a:solidFill>
            <a:schemeClr val="bg1">
              <a:lumMod val="75000"/>
            </a:schemeClr>
          </a:solidFill>
        </a:ln>
      </dgm:spPr>
      <dgm:t>
        <a:bodyPr/>
        <a:lstStyle/>
        <a:p>
          <a:r>
            <a:rPr lang="en-CA" sz="1200" b="1" dirty="0" smtClean="0">
              <a:latin typeface="+mj-lt"/>
            </a:rPr>
            <a:t>Technology and information management</a:t>
          </a:r>
          <a:endParaRPr lang="en-CA" sz="1200" b="1" dirty="0">
            <a:latin typeface="+mj-lt"/>
          </a:endParaRPr>
        </a:p>
      </dgm:t>
    </dgm:pt>
    <dgm:pt modelId="{97231AF1-2DF1-4008-91E5-10F20E143C2A}" type="parTrans" cxnId="{8A2879B2-6138-4FA7-82AF-DC3CB072F45C}">
      <dgm:prSet/>
      <dgm:spPr/>
      <dgm:t>
        <a:bodyPr/>
        <a:lstStyle/>
        <a:p>
          <a:endParaRPr lang="en-CA" sz="1200"/>
        </a:p>
      </dgm:t>
    </dgm:pt>
    <dgm:pt modelId="{793A292E-54E4-4307-A00B-D47C28997F0E}" type="sibTrans" cxnId="{8A2879B2-6138-4FA7-82AF-DC3CB072F45C}">
      <dgm:prSet/>
      <dgm:spPr/>
      <dgm:t>
        <a:bodyPr/>
        <a:lstStyle/>
        <a:p>
          <a:endParaRPr lang="en-CA" sz="1200"/>
        </a:p>
      </dgm:t>
    </dgm:pt>
    <dgm:pt modelId="{CCC7F816-1A4F-4CB7-A471-E184B374E10E}" type="pres">
      <dgm:prSet presAssocID="{348326E0-A66A-4E23-AC26-7DCB4FA1D654}" presName="Name0" presStyleCnt="0">
        <dgm:presLayoutVars>
          <dgm:dir/>
          <dgm:animLvl val="lvl"/>
          <dgm:resizeHandles val="exact"/>
        </dgm:presLayoutVars>
      </dgm:prSet>
      <dgm:spPr/>
    </dgm:pt>
    <dgm:pt modelId="{A7D83310-ED40-4229-88BB-6610C38E6FD1}" type="pres">
      <dgm:prSet presAssocID="{547F6F83-0C7E-4628-8676-D0DF4B0F276D}" presName="Name8" presStyleCnt="0"/>
      <dgm:spPr/>
    </dgm:pt>
    <dgm:pt modelId="{28F76070-EC87-41CB-B6B2-DE28BE1FD82E}" type="pres">
      <dgm:prSet presAssocID="{547F6F83-0C7E-4628-8676-D0DF4B0F276D}" presName="level" presStyleLbl="node1" presStyleIdx="0" presStyleCnt="5">
        <dgm:presLayoutVars>
          <dgm:chMax val="1"/>
          <dgm:bulletEnabled val="1"/>
        </dgm:presLayoutVars>
      </dgm:prSet>
      <dgm:spPr/>
      <dgm:t>
        <a:bodyPr/>
        <a:lstStyle/>
        <a:p>
          <a:endParaRPr lang="en-CA"/>
        </a:p>
      </dgm:t>
    </dgm:pt>
    <dgm:pt modelId="{1B984A1C-7163-429E-9876-545EB1EC0C94}" type="pres">
      <dgm:prSet presAssocID="{547F6F83-0C7E-4628-8676-D0DF4B0F276D}" presName="levelTx" presStyleLbl="revTx" presStyleIdx="0" presStyleCnt="0">
        <dgm:presLayoutVars>
          <dgm:chMax val="1"/>
          <dgm:bulletEnabled val="1"/>
        </dgm:presLayoutVars>
      </dgm:prSet>
      <dgm:spPr/>
      <dgm:t>
        <a:bodyPr/>
        <a:lstStyle/>
        <a:p>
          <a:endParaRPr lang="en-CA"/>
        </a:p>
      </dgm:t>
    </dgm:pt>
    <dgm:pt modelId="{21AFF0D9-C9E0-4412-9355-33F077816266}" type="pres">
      <dgm:prSet presAssocID="{D501C2AC-3725-40C3-A1C7-FB7115CF7063}" presName="Name8" presStyleCnt="0"/>
      <dgm:spPr/>
    </dgm:pt>
    <dgm:pt modelId="{A2CE3989-8EC6-4DA6-BEBF-6F15D56D1876}" type="pres">
      <dgm:prSet presAssocID="{D501C2AC-3725-40C3-A1C7-FB7115CF7063}" presName="level" presStyleLbl="node1" presStyleIdx="1" presStyleCnt="5">
        <dgm:presLayoutVars>
          <dgm:chMax val="1"/>
          <dgm:bulletEnabled val="1"/>
        </dgm:presLayoutVars>
      </dgm:prSet>
      <dgm:spPr/>
      <dgm:t>
        <a:bodyPr/>
        <a:lstStyle/>
        <a:p>
          <a:endParaRPr lang="en-CA"/>
        </a:p>
      </dgm:t>
    </dgm:pt>
    <dgm:pt modelId="{89389E52-4AF2-4430-89BE-7FC66A48FB8E}" type="pres">
      <dgm:prSet presAssocID="{D501C2AC-3725-40C3-A1C7-FB7115CF7063}" presName="levelTx" presStyleLbl="revTx" presStyleIdx="0" presStyleCnt="0">
        <dgm:presLayoutVars>
          <dgm:chMax val="1"/>
          <dgm:bulletEnabled val="1"/>
        </dgm:presLayoutVars>
      </dgm:prSet>
      <dgm:spPr/>
      <dgm:t>
        <a:bodyPr/>
        <a:lstStyle/>
        <a:p>
          <a:endParaRPr lang="en-CA"/>
        </a:p>
      </dgm:t>
    </dgm:pt>
    <dgm:pt modelId="{73D2662A-005A-4BB7-8B9F-FE1D4B50BD60}" type="pres">
      <dgm:prSet presAssocID="{135E0A69-B3B2-44DD-92D3-39FFBF32BB47}" presName="Name8" presStyleCnt="0"/>
      <dgm:spPr/>
    </dgm:pt>
    <dgm:pt modelId="{CCFCEE30-4CB3-4064-9B3A-C9C22E1787F5}" type="pres">
      <dgm:prSet presAssocID="{135E0A69-B3B2-44DD-92D3-39FFBF32BB47}" presName="level" presStyleLbl="node1" presStyleIdx="2" presStyleCnt="5">
        <dgm:presLayoutVars>
          <dgm:chMax val="1"/>
          <dgm:bulletEnabled val="1"/>
        </dgm:presLayoutVars>
      </dgm:prSet>
      <dgm:spPr/>
      <dgm:t>
        <a:bodyPr/>
        <a:lstStyle/>
        <a:p>
          <a:endParaRPr lang="en-CA"/>
        </a:p>
      </dgm:t>
    </dgm:pt>
    <dgm:pt modelId="{3F19493A-D1F9-4C2E-9C2A-F3E0F2A2C5E3}" type="pres">
      <dgm:prSet presAssocID="{135E0A69-B3B2-44DD-92D3-39FFBF32BB47}" presName="levelTx" presStyleLbl="revTx" presStyleIdx="0" presStyleCnt="0">
        <dgm:presLayoutVars>
          <dgm:chMax val="1"/>
          <dgm:bulletEnabled val="1"/>
        </dgm:presLayoutVars>
      </dgm:prSet>
      <dgm:spPr/>
      <dgm:t>
        <a:bodyPr/>
        <a:lstStyle/>
        <a:p>
          <a:endParaRPr lang="en-CA"/>
        </a:p>
      </dgm:t>
    </dgm:pt>
    <dgm:pt modelId="{F4BA2EB5-AD06-4C9E-A21D-7A8CA02D80B6}" type="pres">
      <dgm:prSet presAssocID="{4DFDB37F-0EEF-4950-AB2A-6FB018C8603D}" presName="Name8" presStyleCnt="0"/>
      <dgm:spPr/>
    </dgm:pt>
    <dgm:pt modelId="{88A57452-23B0-49A8-8DF9-7F42375495B5}" type="pres">
      <dgm:prSet presAssocID="{4DFDB37F-0EEF-4950-AB2A-6FB018C8603D}" presName="level" presStyleLbl="node1" presStyleIdx="3" presStyleCnt="5">
        <dgm:presLayoutVars>
          <dgm:chMax val="1"/>
          <dgm:bulletEnabled val="1"/>
        </dgm:presLayoutVars>
      </dgm:prSet>
      <dgm:spPr/>
      <dgm:t>
        <a:bodyPr/>
        <a:lstStyle/>
        <a:p>
          <a:endParaRPr lang="en-CA"/>
        </a:p>
      </dgm:t>
    </dgm:pt>
    <dgm:pt modelId="{07338562-FDD1-4A02-BC9D-70424C2DAFD3}" type="pres">
      <dgm:prSet presAssocID="{4DFDB37F-0EEF-4950-AB2A-6FB018C8603D}" presName="levelTx" presStyleLbl="revTx" presStyleIdx="0" presStyleCnt="0">
        <dgm:presLayoutVars>
          <dgm:chMax val="1"/>
          <dgm:bulletEnabled val="1"/>
        </dgm:presLayoutVars>
      </dgm:prSet>
      <dgm:spPr/>
      <dgm:t>
        <a:bodyPr/>
        <a:lstStyle/>
        <a:p>
          <a:endParaRPr lang="en-CA"/>
        </a:p>
      </dgm:t>
    </dgm:pt>
    <dgm:pt modelId="{3F9A96A5-0295-4FEE-AFF1-F6E4173F9A51}" type="pres">
      <dgm:prSet presAssocID="{DA662F2A-753D-411D-BFEB-7E059272389A}" presName="Name8" presStyleCnt="0"/>
      <dgm:spPr/>
    </dgm:pt>
    <dgm:pt modelId="{6A524193-9D6D-489F-B90D-775AF0B66D34}" type="pres">
      <dgm:prSet presAssocID="{DA662F2A-753D-411D-BFEB-7E059272389A}" presName="level" presStyleLbl="node1" presStyleIdx="4" presStyleCnt="5">
        <dgm:presLayoutVars>
          <dgm:chMax val="1"/>
          <dgm:bulletEnabled val="1"/>
        </dgm:presLayoutVars>
      </dgm:prSet>
      <dgm:spPr/>
      <dgm:t>
        <a:bodyPr/>
        <a:lstStyle/>
        <a:p>
          <a:endParaRPr lang="en-CA"/>
        </a:p>
      </dgm:t>
    </dgm:pt>
    <dgm:pt modelId="{1AA6BA0C-F8C7-4891-B2CA-58C657129A44}" type="pres">
      <dgm:prSet presAssocID="{DA662F2A-753D-411D-BFEB-7E059272389A}" presName="levelTx" presStyleLbl="revTx" presStyleIdx="0" presStyleCnt="0">
        <dgm:presLayoutVars>
          <dgm:chMax val="1"/>
          <dgm:bulletEnabled val="1"/>
        </dgm:presLayoutVars>
      </dgm:prSet>
      <dgm:spPr/>
      <dgm:t>
        <a:bodyPr/>
        <a:lstStyle/>
        <a:p>
          <a:endParaRPr lang="en-CA"/>
        </a:p>
      </dgm:t>
    </dgm:pt>
  </dgm:ptLst>
  <dgm:cxnLst>
    <dgm:cxn modelId="{472E203E-6A76-45BD-8738-33E670138BB6}" type="presOf" srcId="{547F6F83-0C7E-4628-8676-D0DF4B0F276D}" destId="{28F76070-EC87-41CB-B6B2-DE28BE1FD82E}" srcOrd="0" destOrd="0" presId="urn:microsoft.com/office/officeart/2005/8/layout/pyramid1"/>
    <dgm:cxn modelId="{D1A98031-C61C-4ECC-845A-9C28664D8803}" type="presOf" srcId="{4DFDB37F-0EEF-4950-AB2A-6FB018C8603D}" destId="{88A57452-23B0-49A8-8DF9-7F42375495B5}" srcOrd="0" destOrd="0" presId="urn:microsoft.com/office/officeart/2005/8/layout/pyramid1"/>
    <dgm:cxn modelId="{E53F083A-0A91-4F3B-B0E7-0FD0B7A89064}" srcId="{348326E0-A66A-4E23-AC26-7DCB4FA1D654}" destId="{4DFDB37F-0EEF-4950-AB2A-6FB018C8603D}" srcOrd="3" destOrd="0" parTransId="{1B998EFF-81B7-4675-B380-1A9A1DE768FB}" sibTransId="{34D5258B-E71C-4689-8E98-ACCE713CD914}"/>
    <dgm:cxn modelId="{D4C68DD4-8503-43A4-81FE-8C6A5A3E6B52}" type="presOf" srcId="{DA662F2A-753D-411D-BFEB-7E059272389A}" destId="{6A524193-9D6D-489F-B90D-775AF0B66D34}" srcOrd="0" destOrd="0" presId="urn:microsoft.com/office/officeart/2005/8/layout/pyramid1"/>
    <dgm:cxn modelId="{4C03C568-9F77-4682-9307-E1806D9F8C62}" type="presOf" srcId="{4DFDB37F-0EEF-4950-AB2A-6FB018C8603D}" destId="{07338562-FDD1-4A02-BC9D-70424C2DAFD3}" srcOrd="1" destOrd="0" presId="urn:microsoft.com/office/officeart/2005/8/layout/pyramid1"/>
    <dgm:cxn modelId="{A29ECBBC-2177-4F9E-8EFF-73C33305AECF}" type="presOf" srcId="{547F6F83-0C7E-4628-8676-D0DF4B0F276D}" destId="{1B984A1C-7163-429E-9876-545EB1EC0C94}" srcOrd="1" destOrd="0" presId="urn:microsoft.com/office/officeart/2005/8/layout/pyramid1"/>
    <dgm:cxn modelId="{E9875DF2-7FFB-4919-9D27-DB35009104A9}" type="presOf" srcId="{D501C2AC-3725-40C3-A1C7-FB7115CF7063}" destId="{89389E52-4AF2-4430-89BE-7FC66A48FB8E}" srcOrd="1" destOrd="0" presId="urn:microsoft.com/office/officeart/2005/8/layout/pyramid1"/>
    <dgm:cxn modelId="{8A2879B2-6138-4FA7-82AF-DC3CB072F45C}" srcId="{348326E0-A66A-4E23-AC26-7DCB4FA1D654}" destId="{DA662F2A-753D-411D-BFEB-7E059272389A}" srcOrd="4" destOrd="0" parTransId="{97231AF1-2DF1-4008-91E5-10F20E143C2A}" sibTransId="{793A292E-54E4-4307-A00B-D47C28997F0E}"/>
    <dgm:cxn modelId="{013C4919-83AF-448B-B1BB-98B33F79BFDA}" srcId="{348326E0-A66A-4E23-AC26-7DCB4FA1D654}" destId="{D501C2AC-3725-40C3-A1C7-FB7115CF7063}" srcOrd="1" destOrd="0" parTransId="{B17851B9-F80C-471C-BC9C-7E9CD1E2CAA5}" sibTransId="{D0B665BE-53DF-4C0E-968E-81B00B8B3FA1}"/>
    <dgm:cxn modelId="{EC104EF4-9D4E-48E8-B528-F1D08B676A47}" srcId="{348326E0-A66A-4E23-AC26-7DCB4FA1D654}" destId="{135E0A69-B3B2-44DD-92D3-39FFBF32BB47}" srcOrd="2" destOrd="0" parTransId="{14655B3E-74E1-4B1D-AA42-E044F70C2032}" sibTransId="{9CB6E390-5EB9-4FB1-A4FD-0647F4C5224B}"/>
    <dgm:cxn modelId="{A74F094D-F602-4FE6-93C2-9643A6C6F170}" type="presOf" srcId="{DA662F2A-753D-411D-BFEB-7E059272389A}" destId="{1AA6BA0C-F8C7-4891-B2CA-58C657129A44}" srcOrd="1" destOrd="0" presId="urn:microsoft.com/office/officeart/2005/8/layout/pyramid1"/>
    <dgm:cxn modelId="{170B44AF-41C5-4547-BD1A-D6EA5FF0E2F8}" type="presOf" srcId="{135E0A69-B3B2-44DD-92D3-39FFBF32BB47}" destId="{CCFCEE30-4CB3-4064-9B3A-C9C22E1787F5}" srcOrd="0" destOrd="0" presId="urn:microsoft.com/office/officeart/2005/8/layout/pyramid1"/>
    <dgm:cxn modelId="{3A28A66C-FAA7-40B1-B0F6-ADBE4701CCEB}" type="presOf" srcId="{D501C2AC-3725-40C3-A1C7-FB7115CF7063}" destId="{A2CE3989-8EC6-4DA6-BEBF-6F15D56D1876}" srcOrd="0" destOrd="0" presId="urn:microsoft.com/office/officeart/2005/8/layout/pyramid1"/>
    <dgm:cxn modelId="{899DE93E-DCFC-4B0C-92D0-16D62FF79AC9}" type="presOf" srcId="{135E0A69-B3B2-44DD-92D3-39FFBF32BB47}" destId="{3F19493A-D1F9-4C2E-9C2A-F3E0F2A2C5E3}" srcOrd="1" destOrd="0" presId="urn:microsoft.com/office/officeart/2005/8/layout/pyramid1"/>
    <dgm:cxn modelId="{DE6A899B-446E-413F-9550-A3D82E51E9C5}" type="presOf" srcId="{348326E0-A66A-4E23-AC26-7DCB4FA1D654}" destId="{CCC7F816-1A4F-4CB7-A471-E184B374E10E}" srcOrd="0" destOrd="0" presId="urn:microsoft.com/office/officeart/2005/8/layout/pyramid1"/>
    <dgm:cxn modelId="{054B1981-DA6C-40D1-B2E7-ECCAD73A4C82}" srcId="{348326E0-A66A-4E23-AC26-7DCB4FA1D654}" destId="{547F6F83-0C7E-4628-8676-D0DF4B0F276D}" srcOrd="0" destOrd="0" parTransId="{5B2E3730-606D-450A-9AB0-E8E1DE84C356}" sibTransId="{F06285C5-4A18-4E94-A7BC-21BA57EBC783}"/>
    <dgm:cxn modelId="{EADBD28A-655D-4489-93E3-3ABE72A44074}" type="presParOf" srcId="{CCC7F816-1A4F-4CB7-A471-E184B374E10E}" destId="{A7D83310-ED40-4229-88BB-6610C38E6FD1}" srcOrd="0" destOrd="0" presId="urn:microsoft.com/office/officeart/2005/8/layout/pyramid1"/>
    <dgm:cxn modelId="{59475240-1BA5-41BF-9DFB-4279D4EEFB97}" type="presParOf" srcId="{A7D83310-ED40-4229-88BB-6610C38E6FD1}" destId="{28F76070-EC87-41CB-B6B2-DE28BE1FD82E}" srcOrd="0" destOrd="0" presId="urn:microsoft.com/office/officeart/2005/8/layout/pyramid1"/>
    <dgm:cxn modelId="{885BDDB8-AE3D-47B0-9968-C9D1805ABB72}" type="presParOf" srcId="{A7D83310-ED40-4229-88BB-6610C38E6FD1}" destId="{1B984A1C-7163-429E-9876-545EB1EC0C94}" srcOrd="1" destOrd="0" presId="urn:microsoft.com/office/officeart/2005/8/layout/pyramid1"/>
    <dgm:cxn modelId="{39A84FD5-5E9F-4868-A847-48F891076E99}" type="presParOf" srcId="{CCC7F816-1A4F-4CB7-A471-E184B374E10E}" destId="{21AFF0D9-C9E0-4412-9355-33F077816266}" srcOrd="1" destOrd="0" presId="urn:microsoft.com/office/officeart/2005/8/layout/pyramid1"/>
    <dgm:cxn modelId="{0E7049BB-1302-42AA-B77A-F14CBFD592EE}" type="presParOf" srcId="{21AFF0D9-C9E0-4412-9355-33F077816266}" destId="{A2CE3989-8EC6-4DA6-BEBF-6F15D56D1876}" srcOrd="0" destOrd="0" presId="urn:microsoft.com/office/officeart/2005/8/layout/pyramid1"/>
    <dgm:cxn modelId="{758EB825-B07C-450A-92CC-4D08DD90FF29}" type="presParOf" srcId="{21AFF0D9-C9E0-4412-9355-33F077816266}" destId="{89389E52-4AF2-4430-89BE-7FC66A48FB8E}" srcOrd="1" destOrd="0" presId="urn:microsoft.com/office/officeart/2005/8/layout/pyramid1"/>
    <dgm:cxn modelId="{8D479821-5555-4D90-B932-EBB291EED067}" type="presParOf" srcId="{CCC7F816-1A4F-4CB7-A471-E184B374E10E}" destId="{73D2662A-005A-4BB7-8B9F-FE1D4B50BD60}" srcOrd="2" destOrd="0" presId="urn:microsoft.com/office/officeart/2005/8/layout/pyramid1"/>
    <dgm:cxn modelId="{FF36844F-833B-4E4E-A20F-607900627AEF}" type="presParOf" srcId="{73D2662A-005A-4BB7-8B9F-FE1D4B50BD60}" destId="{CCFCEE30-4CB3-4064-9B3A-C9C22E1787F5}" srcOrd="0" destOrd="0" presId="urn:microsoft.com/office/officeart/2005/8/layout/pyramid1"/>
    <dgm:cxn modelId="{4353A4A8-6F6E-4083-AFFB-5C1E03DB95A1}" type="presParOf" srcId="{73D2662A-005A-4BB7-8B9F-FE1D4B50BD60}" destId="{3F19493A-D1F9-4C2E-9C2A-F3E0F2A2C5E3}" srcOrd="1" destOrd="0" presId="urn:microsoft.com/office/officeart/2005/8/layout/pyramid1"/>
    <dgm:cxn modelId="{98281AD8-56BA-488B-9357-70B8C2A2BD52}" type="presParOf" srcId="{CCC7F816-1A4F-4CB7-A471-E184B374E10E}" destId="{F4BA2EB5-AD06-4C9E-A21D-7A8CA02D80B6}" srcOrd="3" destOrd="0" presId="urn:microsoft.com/office/officeart/2005/8/layout/pyramid1"/>
    <dgm:cxn modelId="{288D30A3-0D5C-4138-90F3-CF7850F554F5}" type="presParOf" srcId="{F4BA2EB5-AD06-4C9E-A21D-7A8CA02D80B6}" destId="{88A57452-23B0-49A8-8DF9-7F42375495B5}" srcOrd="0" destOrd="0" presId="urn:microsoft.com/office/officeart/2005/8/layout/pyramid1"/>
    <dgm:cxn modelId="{247571B1-DD29-4F36-AA6B-D3B0E1CA8394}" type="presParOf" srcId="{F4BA2EB5-AD06-4C9E-A21D-7A8CA02D80B6}" destId="{07338562-FDD1-4A02-BC9D-70424C2DAFD3}" srcOrd="1" destOrd="0" presId="urn:microsoft.com/office/officeart/2005/8/layout/pyramid1"/>
    <dgm:cxn modelId="{17572720-5352-4D48-9D11-288BD5768DED}" type="presParOf" srcId="{CCC7F816-1A4F-4CB7-A471-E184B374E10E}" destId="{3F9A96A5-0295-4FEE-AFF1-F6E4173F9A51}" srcOrd="4" destOrd="0" presId="urn:microsoft.com/office/officeart/2005/8/layout/pyramid1"/>
    <dgm:cxn modelId="{2240A1B9-AE0E-4CDD-BD91-F3F0E19627F8}" type="presParOf" srcId="{3F9A96A5-0295-4FEE-AFF1-F6E4173F9A51}" destId="{6A524193-9D6D-489F-B90D-775AF0B66D34}" srcOrd="0" destOrd="0" presId="urn:microsoft.com/office/officeart/2005/8/layout/pyramid1"/>
    <dgm:cxn modelId="{3B79432A-5A33-4873-8D50-06AB085219A3}" type="presParOf" srcId="{3F9A96A5-0295-4FEE-AFF1-F6E4173F9A51}" destId="{1AA6BA0C-F8C7-4891-B2CA-58C657129A44}" srcOrd="1" destOrd="0" presId="urn:microsoft.com/office/officeart/2005/8/layout/pyramid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F76070-EC87-41CB-B6B2-DE28BE1FD82E}">
      <dsp:nvSpPr>
        <dsp:cNvPr id="0" name=""/>
        <dsp:cNvSpPr/>
      </dsp:nvSpPr>
      <dsp:spPr>
        <a:xfrm>
          <a:off x="1824067" y="0"/>
          <a:ext cx="912033" cy="795243"/>
        </a:xfrm>
        <a:prstGeom prst="trapezoid">
          <a:avLst>
            <a:gd name="adj" fmla="val 57343"/>
          </a:avLst>
        </a:prstGeom>
        <a:solidFill>
          <a:schemeClr val="accent2"/>
        </a:solidFill>
        <a:ln w="6350" cap="flat" cmpd="sng" algn="ctr">
          <a:solidFill>
            <a:schemeClr val="bg1">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000" tIns="15240" rIns="0" bIns="43200" numCol="1" spcCol="1270" anchor="b" anchorCtr="0">
          <a:noAutofit/>
        </a:bodyPr>
        <a:lstStyle/>
        <a:p>
          <a:pPr lvl="0" algn="ctr" defTabSz="533400">
            <a:lnSpc>
              <a:spcPct val="90000"/>
            </a:lnSpc>
            <a:spcBef>
              <a:spcPct val="0"/>
            </a:spcBef>
            <a:spcAft>
              <a:spcPct val="35000"/>
            </a:spcAft>
          </a:pPr>
          <a:r>
            <a:rPr lang="en-CA" sz="1200" b="1" kern="1200" dirty="0" smtClean="0">
              <a:latin typeface="+mj-lt"/>
            </a:rPr>
            <a:t>Strategy</a:t>
          </a:r>
          <a:endParaRPr lang="en-CA" sz="1200" b="1" kern="1200" dirty="0">
            <a:latin typeface="+mj-lt"/>
          </a:endParaRPr>
        </a:p>
      </dsp:txBody>
      <dsp:txXfrm>
        <a:off x="1824067" y="0"/>
        <a:ext cx="912033" cy="795243"/>
      </dsp:txXfrm>
    </dsp:sp>
    <dsp:sp modelId="{A2CE3989-8EC6-4DA6-BEBF-6F15D56D1876}">
      <dsp:nvSpPr>
        <dsp:cNvPr id="0" name=""/>
        <dsp:cNvSpPr/>
      </dsp:nvSpPr>
      <dsp:spPr>
        <a:xfrm>
          <a:off x="1368050" y="795243"/>
          <a:ext cx="1824067" cy="795243"/>
        </a:xfrm>
        <a:prstGeom prst="trapezoid">
          <a:avLst>
            <a:gd name="adj" fmla="val 57343"/>
          </a:avLst>
        </a:prstGeom>
        <a:solidFill>
          <a:schemeClr val="bg1">
            <a:lumMod val="95000"/>
          </a:schemeClr>
        </a:solidFill>
        <a:ln w="6350" cap="flat" cmpd="sng" algn="ctr">
          <a:solidFill>
            <a:schemeClr val="bg1">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endParaRPr lang="en-CA" sz="1200" kern="1200" dirty="0">
            <a:latin typeface="EYInterstate Light" pitchFamily="2" charset="0"/>
          </a:endParaRPr>
        </a:p>
      </dsp:txBody>
      <dsp:txXfrm>
        <a:off x="1687262" y="795243"/>
        <a:ext cx="1185643" cy="795243"/>
      </dsp:txXfrm>
    </dsp:sp>
    <dsp:sp modelId="{CCFCEE30-4CB3-4064-9B3A-C9C22E1787F5}">
      <dsp:nvSpPr>
        <dsp:cNvPr id="0" name=""/>
        <dsp:cNvSpPr/>
      </dsp:nvSpPr>
      <dsp:spPr>
        <a:xfrm>
          <a:off x="912033" y="1590486"/>
          <a:ext cx="2736100" cy="795243"/>
        </a:xfrm>
        <a:prstGeom prst="trapezoid">
          <a:avLst>
            <a:gd name="adj" fmla="val 57343"/>
          </a:avLst>
        </a:prstGeom>
        <a:solidFill>
          <a:schemeClr val="bg1">
            <a:lumMod val="95000"/>
          </a:schemeClr>
        </a:solidFill>
        <a:ln w="6350" cap="flat" cmpd="sng" algn="ctr">
          <a:solidFill>
            <a:schemeClr val="bg1">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CA" sz="1200" b="1" kern="1200" dirty="0" smtClean="0">
              <a:latin typeface="+mj-lt"/>
            </a:rPr>
            <a:t>Conceptual model, roles </a:t>
          </a:r>
          <a:br>
            <a:rPr lang="en-CA" sz="1200" b="1" kern="1200" dirty="0" smtClean="0">
              <a:latin typeface="+mj-lt"/>
            </a:rPr>
          </a:br>
          <a:r>
            <a:rPr lang="en-CA" sz="1200" b="1" kern="1200" dirty="0" smtClean="0">
              <a:latin typeface="+mj-lt"/>
            </a:rPr>
            <a:t>and governance</a:t>
          </a:r>
          <a:endParaRPr lang="en-CA" sz="1200" b="1" kern="1200" dirty="0">
            <a:latin typeface="+mj-lt"/>
          </a:endParaRPr>
        </a:p>
      </dsp:txBody>
      <dsp:txXfrm>
        <a:off x="1390851" y="1590486"/>
        <a:ext cx="1778465" cy="795243"/>
      </dsp:txXfrm>
    </dsp:sp>
    <dsp:sp modelId="{88A57452-23B0-49A8-8DF9-7F42375495B5}">
      <dsp:nvSpPr>
        <dsp:cNvPr id="0" name=""/>
        <dsp:cNvSpPr/>
      </dsp:nvSpPr>
      <dsp:spPr>
        <a:xfrm>
          <a:off x="456016" y="2385729"/>
          <a:ext cx="3648134" cy="795243"/>
        </a:xfrm>
        <a:prstGeom prst="trapezoid">
          <a:avLst>
            <a:gd name="adj" fmla="val 57343"/>
          </a:avLst>
        </a:prstGeom>
        <a:solidFill>
          <a:schemeClr val="bg1">
            <a:lumMod val="95000"/>
          </a:schemeClr>
        </a:solidFill>
        <a:ln w="6350" cap="flat" cmpd="sng" algn="ctr">
          <a:solidFill>
            <a:schemeClr val="bg1">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endParaRPr lang="en-CA" sz="1200" kern="1200" dirty="0">
            <a:latin typeface="EYInterstate Light" pitchFamily="2" charset="0"/>
          </a:endParaRPr>
        </a:p>
      </dsp:txBody>
      <dsp:txXfrm>
        <a:off x="1094440" y="2385729"/>
        <a:ext cx="2371287" cy="795243"/>
      </dsp:txXfrm>
    </dsp:sp>
    <dsp:sp modelId="{6A524193-9D6D-489F-B90D-775AF0B66D34}">
      <dsp:nvSpPr>
        <dsp:cNvPr id="0" name=""/>
        <dsp:cNvSpPr/>
      </dsp:nvSpPr>
      <dsp:spPr>
        <a:xfrm>
          <a:off x="0" y="3180972"/>
          <a:ext cx="4560167" cy="795243"/>
        </a:xfrm>
        <a:prstGeom prst="trapezoid">
          <a:avLst>
            <a:gd name="adj" fmla="val 57343"/>
          </a:avLst>
        </a:prstGeom>
        <a:solidFill>
          <a:schemeClr val="bg1">
            <a:lumMod val="95000"/>
          </a:schemeClr>
        </a:solidFill>
        <a:ln w="6350" cap="flat" cmpd="sng" algn="ctr">
          <a:solidFill>
            <a:schemeClr val="bg1">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CA" sz="1200" b="1" kern="1200" dirty="0" smtClean="0">
              <a:latin typeface="+mj-lt"/>
            </a:rPr>
            <a:t>Technology and information management</a:t>
          </a:r>
          <a:endParaRPr lang="en-CA" sz="1200" b="1" kern="1200" dirty="0">
            <a:latin typeface="+mj-lt"/>
          </a:endParaRPr>
        </a:p>
      </dsp:txBody>
      <dsp:txXfrm>
        <a:off x="798029" y="3180972"/>
        <a:ext cx="2964109" cy="795243"/>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8427" cy="292770"/>
          </a:xfrm>
          <a:prstGeom prst="rect">
            <a:avLst/>
          </a:prstGeom>
        </p:spPr>
        <p:txBody>
          <a:bodyPr vert="horz" lIns="99048" tIns="49524" rIns="99048" bIns="49524" rtlCol="0"/>
          <a:lstStyle>
            <a:lvl1pPr algn="l">
              <a:defRPr sz="1300"/>
            </a:lvl1pPr>
          </a:lstStyle>
          <a:p>
            <a:endParaRPr lang="en-GB" sz="1000" dirty="0"/>
          </a:p>
        </p:txBody>
      </p:sp>
      <p:sp>
        <p:nvSpPr>
          <p:cNvPr id="3" name="Date Placeholder 2"/>
          <p:cNvSpPr>
            <a:spLocks noGrp="1"/>
          </p:cNvSpPr>
          <p:nvPr>
            <p:ph type="dt" sz="quarter" idx="1"/>
          </p:nvPr>
        </p:nvSpPr>
        <p:spPr>
          <a:xfrm>
            <a:off x="4011105" y="1"/>
            <a:ext cx="3078427" cy="292770"/>
          </a:xfrm>
          <a:prstGeom prst="rect">
            <a:avLst/>
          </a:prstGeom>
        </p:spPr>
        <p:txBody>
          <a:bodyPr vert="horz" lIns="99048" tIns="49524" rIns="99048" bIns="49524" rtlCol="0"/>
          <a:lstStyle>
            <a:lvl1pPr algn="r">
              <a:defRPr sz="1300"/>
            </a:lvl1pPr>
          </a:lstStyle>
          <a:p>
            <a:fld id="{43DE9BD7-87E1-4BA8-B61D-4D7AEB4BF49B}" type="datetime4">
              <a:rPr lang="en-GB" sz="1000" smtClean="0"/>
              <a:pPr/>
              <a:t>04 August 2014</a:t>
            </a:fld>
            <a:endParaRPr lang="en-GB" sz="1000" dirty="0"/>
          </a:p>
        </p:txBody>
      </p:sp>
      <p:sp>
        <p:nvSpPr>
          <p:cNvPr id="4" name="Footer Placeholder 3"/>
          <p:cNvSpPr>
            <a:spLocks noGrp="1"/>
          </p:cNvSpPr>
          <p:nvPr>
            <p:ph type="ftr" sz="quarter" idx="2"/>
          </p:nvPr>
        </p:nvSpPr>
        <p:spPr>
          <a:xfrm>
            <a:off x="0" y="9937104"/>
            <a:ext cx="3078427" cy="292770"/>
          </a:xfrm>
          <a:prstGeom prst="rect">
            <a:avLst/>
          </a:prstGeom>
        </p:spPr>
        <p:txBody>
          <a:bodyPr vert="horz" lIns="99048" tIns="49524" rIns="99048" bIns="49524" rtlCol="0" anchor="b"/>
          <a:lstStyle>
            <a:lvl1pPr algn="l">
              <a:defRPr sz="1300"/>
            </a:lvl1pPr>
          </a:lstStyle>
          <a:p>
            <a:r>
              <a:rPr lang="en-GB" sz="1000" dirty="0" smtClean="0"/>
              <a:t>[Document title]</a:t>
            </a:r>
            <a:endParaRPr lang="en-GB" sz="1000" dirty="0"/>
          </a:p>
        </p:txBody>
      </p:sp>
      <p:sp>
        <p:nvSpPr>
          <p:cNvPr id="5" name="Slide Number Placeholder 4"/>
          <p:cNvSpPr>
            <a:spLocks noGrp="1"/>
          </p:cNvSpPr>
          <p:nvPr>
            <p:ph type="sldNum" sz="quarter" idx="3"/>
          </p:nvPr>
        </p:nvSpPr>
        <p:spPr>
          <a:xfrm>
            <a:off x="4011105" y="9937104"/>
            <a:ext cx="3078427" cy="292770"/>
          </a:xfrm>
          <a:prstGeom prst="rect">
            <a:avLst/>
          </a:prstGeom>
        </p:spPr>
        <p:txBody>
          <a:bodyPr vert="horz" lIns="99048" tIns="49524" rIns="99048" bIns="49524" rtlCol="0" anchor="b"/>
          <a:lstStyle>
            <a:lvl1pPr algn="r">
              <a:defRPr sz="1300"/>
            </a:lvl1pPr>
          </a:lstStyle>
          <a:p>
            <a:fld id="{165416A9-49FE-45DD-9EE8-08F3990D5249}" type="slidenum">
              <a:rPr lang="en-GB" sz="1000" smtClean="0"/>
              <a:pPr/>
              <a:t>‹#›</a:t>
            </a:fld>
            <a:endParaRPr lang="en-GB" sz="1000" dirty="0"/>
          </a:p>
        </p:txBody>
      </p:sp>
    </p:spTree>
    <p:extLst>
      <p:ext uri="{BB962C8B-B14F-4D97-AF65-F5344CB8AC3E}">
        <p14:creationId xmlns:p14="http://schemas.microsoft.com/office/powerpoint/2010/main" val="2217123063"/>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gray">
          <a:xfrm>
            <a:off x="0" y="0"/>
            <a:ext cx="3078427" cy="296213"/>
          </a:xfrm>
          <a:prstGeom prst="rect">
            <a:avLst/>
          </a:prstGeom>
        </p:spPr>
        <p:txBody>
          <a:bodyPr vert="horz" lIns="99048" tIns="49524" rIns="99048" bIns="49524" rtlCol="0"/>
          <a:lstStyle>
            <a:lvl1pPr algn="l">
              <a:defRPr sz="1000"/>
            </a:lvl1pPr>
          </a:lstStyle>
          <a:p>
            <a:endParaRPr lang="en-GB" dirty="0"/>
          </a:p>
        </p:txBody>
      </p:sp>
      <p:sp>
        <p:nvSpPr>
          <p:cNvPr id="3" name="Date Placeholder 2"/>
          <p:cNvSpPr>
            <a:spLocks noGrp="1"/>
          </p:cNvSpPr>
          <p:nvPr>
            <p:ph type="dt" idx="1"/>
          </p:nvPr>
        </p:nvSpPr>
        <p:spPr bwMode="gray">
          <a:xfrm>
            <a:off x="4023992" y="0"/>
            <a:ext cx="3078427" cy="296213"/>
          </a:xfrm>
          <a:prstGeom prst="rect">
            <a:avLst/>
          </a:prstGeom>
        </p:spPr>
        <p:txBody>
          <a:bodyPr vert="horz" lIns="99048" tIns="49524" rIns="99048" bIns="49524" rtlCol="0"/>
          <a:lstStyle>
            <a:lvl1pPr algn="r">
              <a:defRPr sz="1000"/>
            </a:lvl1pPr>
          </a:lstStyle>
          <a:p>
            <a:fld id="{C87D0927-EBEA-47E3-A178-8DFA2A258736}" type="datetime4">
              <a:rPr lang="en-GB" smtClean="0"/>
              <a:pPr/>
              <a:t>04 August 2014</a:t>
            </a:fld>
            <a:endParaRPr lang="en-GB" dirty="0"/>
          </a:p>
        </p:txBody>
      </p:sp>
      <p:sp>
        <p:nvSpPr>
          <p:cNvPr id="4" name="Slide Image Placeholder 3"/>
          <p:cNvSpPr>
            <a:spLocks noGrp="1" noRot="1" noChangeAspect="1"/>
          </p:cNvSpPr>
          <p:nvPr>
            <p:ph type="sldImg" idx="2"/>
          </p:nvPr>
        </p:nvSpPr>
        <p:spPr bwMode="gray">
          <a:xfrm>
            <a:off x="838200" y="768350"/>
            <a:ext cx="5427663" cy="3836988"/>
          </a:xfrm>
          <a:prstGeom prst="rect">
            <a:avLst/>
          </a:prstGeom>
          <a:noFill/>
          <a:ln w="12700">
            <a:solidFill>
              <a:prstClr val="black"/>
            </a:solidFill>
          </a:ln>
        </p:spPr>
        <p:txBody>
          <a:bodyPr vert="horz" lIns="99048" tIns="49524" rIns="99048" bIns="49524" rtlCol="0" anchor="ctr"/>
          <a:lstStyle/>
          <a:p>
            <a:endParaRPr lang="en-GB" dirty="0"/>
          </a:p>
        </p:txBody>
      </p:sp>
      <p:sp>
        <p:nvSpPr>
          <p:cNvPr id="5" name="Notes Placeholder 4"/>
          <p:cNvSpPr>
            <a:spLocks noGrp="1"/>
          </p:cNvSpPr>
          <p:nvPr>
            <p:ph type="body" sz="quarter" idx="3"/>
          </p:nvPr>
        </p:nvSpPr>
        <p:spPr bwMode="gray">
          <a:xfrm>
            <a:off x="710407" y="4861441"/>
            <a:ext cx="5683250" cy="4605576"/>
          </a:xfrm>
          <a:prstGeom prst="rect">
            <a:avLst/>
          </a:prstGeom>
        </p:spPr>
        <p:txBody>
          <a:bodyPr vert="horz" lIns="0" tIns="0" rIns="0" bIns="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6" name="Footer Placeholder 5"/>
          <p:cNvSpPr>
            <a:spLocks noGrp="1"/>
          </p:cNvSpPr>
          <p:nvPr>
            <p:ph type="ftr" sz="quarter" idx="4"/>
          </p:nvPr>
        </p:nvSpPr>
        <p:spPr bwMode="gray">
          <a:xfrm>
            <a:off x="0" y="9941843"/>
            <a:ext cx="3078427" cy="290995"/>
          </a:xfrm>
          <a:prstGeom prst="rect">
            <a:avLst/>
          </a:prstGeom>
        </p:spPr>
        <p:txBody>
          <a:bodyPr vert="horz" lIns="99048" tIns="49524" rIns="99048" bIns="49524" rtlCol="0" anchor="b"/>
          <a:lstStyle>
            <a:lvl1pPr algn="l">
              <a:defRPr sz="1000"/>
            </a:lvl1pPr>
          </a:lstStyle>
          <a:p>
            <a:r>
              <a:rPr lang="en-GB" dirty="0" smtClean="0"/>
              <a:t>[Document title]</a:t>
            </a:r>
            <a:endParaRPr lang="en-GB" dirty="0"/>
          </a:p>
        </p:txBody>
      </p:sp>
      <p:sp>
        <p:nvSpPr>
          <p:cNvPr id="7" name="Slide Number Placeholder 6"/>
          <p:cNvSpPr>
            <a:spLocks noGrp="1"/>
          </p:cNvSpPr>
          <p:nvPr>
            <p:ph type="sldNum" sz="quarter" idx="5"/>
          </p:nvPr>
        </p:nvSpPr>
        <p:spPr bwMode="gray">
          <a:xfrm>
            <a:off x="4023992" y="9941843"/>
            <a:ext cx="3078427" cy="290995"/>
          </a:xfrm>
          <a:prstGeom prst="rect">
            <a:avLst/>
          </a:prstGeom>
        </p:spPr>
        <p:txBody>
          <a:bodyPr vert="horz" lIns="99048" tIns="49524" rIns="99048" bIns="49524" rtlCol="0" anchor="b"/>
          <a:lstStyle>
            <a:lvl1pPr algn="r">
              <a:defRPr sz="1000"/>
            </a:lvl1pPr>
          </a:lstStyle>
          <a:p>
            <a:fld id="{A29460E4-3001-4D40-AA55-2B96D306E943}" type="slidenum">
              <a:rPr lang="en-GB" smtClean="0"/>
              <a:pPr/>
              <a:t>‹#›</a:t>
            </a:fld>
            <a:endParaRPr lang="en-GB" dirty="0"/>
          </a:p>
        </p:txBody>
      </p:sp>
    </p:spTree>
    <p:extLst>
      <p:ext uri="{BB962C8B-B14F-4D97-AF65-F5344CB8AC3E}">
        <p14:creationId xmlns:p14="http://schemas.microsoft.com/office/powerpoint/2010/main" val="929538060"/>
      </p:ext>
    </p:extLst>
  </p:cSld>
  <p:clrMap bg1="lt1" tx1="dk1" bg2="lt2" tx2="dk2" accent1="accent1" accent2="accent2" accent3="accent3" accent4="accent4" accent5="accent5" accent6="accent6" hlink="hlink" folHlink="folHlink"/>
  <p:hf/>
  <p:notesStyle>
    <a:lvl1pPr marL="0" algn="l" defTabSz="1043056" rtl="0" eaLnBrk="1" latinLnBrk="0" hangingPunct="1">
      <a:spcAft>
        <a:spcPts val="500"/>
      </a:spcAft>
      <a:defRPr lang="en-US" sz="1000" kern="1200" dirty="0" smtClean="0">
        <a:solidFill>
          <a:schemeClr val="tx1"/>
        </a:solidFill>
        <a:latin typeface="+mn-lt"/>
        <a:ea typeface="+mn-ea"/>
        <a:cs typeface="+mn-cs"/>
      </a:defRPr>
    </a:lvl1pPr>
    <a:lvl2pPr marL="0" indent="0" algn="l" defTabSz="1043056" rtl="0" eaLnBrk="1" latinLnBrk="0" hangingPunct="1">
      <a:spcAft>
        <a:spcPts val="500"/>
      </a:spcAft>
      <a:defRPr lang="en-US" sz="1200" b="1" kern="1200" dirty="0" smtClean="0">
        <a:solidFill>
          <a:schemeClr val="accent1"/>
        </a:solidFill>
        <a:latin typeface="+mn-lt"/>
        <a:ea typeface="+mn-ea"/>
        <a:cs typeface="+mn-cs"/>
      </a:defRPr>
    </a:lvl2pPr>
    <a:lvl3pPr marL="179388" indent="-179388" algn="l" defTabSz="1043056" rtl="0" eaLnBrk="1" latinLnBrk="0" hangingPunct="1">
      <a:spcAft>
        <a:spcPts val="500"/>
      </a:spcAft>
      <a:buSzPct val="75000"/>
      <a:buFont typeface="Arial" pitchFamily="34" charset="0"/>
      <a:buChar char="►"/>
      <a:defRPr lang="en-US" sz="1000" kern="1200" dirty="0" smtClean="0">
        <a:solidFill>
          <a:schemeClr val="tx1"/>
        </a:solidFill>
        <a:latin typeface="+mn-lt"/>
        <a:ea typeface="+mn-ea"/>
        <a:cs typeface="+mn-cs"/>
      </a:defRPr>
    </a:lvl3pPr>
    <a:lvl4pPr marL="357188" indent="-176213" algn="l" defTabSz="1043056" rtl="0" eaLnBrk="1" latinLnBrk="0" hangingPunct="1">
      <a:spcAft>
        <a:spcPts val="500"/>
      </a:spcAft>
      <a:buSzPct val="75000"/>
      <a:buFont typeface="Arial" pitchFamily="34" charset="0"/>
      <a:buChar char="►"/>
      <a:defRPr lang="en-US" sz="1000" kern="1200" dirty="0" smtClean="0">
        <a:solidFill>
          <a:schemeClr val="tx1"/>
        </a:solidFill>
        <a:latin typeface="+mn-lt"/>
        <a:ea typeface="+mn-ea"/>
        <a:cs typeface="+mn-cs"/>
      </a:defRPr>
    </a:lvl4pPr>
    <a:lvl5pPr marL="541338" indent="-180975" algn="l" defTabSz="1043056" rtl="0" eaLnBrk="1" latinLnBrk="0" hangingPunct="1">
      <a:spcAft>
        <a:spcPts val="500"/>
      </a:spcAft>
      <a:buSzPct val="75000"/>
      <a:buFont typeface="Arial" pitchFamily="34" charset="0"/>
      <a:buChar char="►"/>
      <a:defRPr lang="en-GB" sz="1000" kern="1200" dirty="0">
        <a:solidFill>
          <a:schemeClr val="tx1"/>
        </a:solidFill>
        <a:latin typeface="+mn-lt"/>
        <a:ea typeface="+mn-ea"/>
        <a:cs typeface="+mn-cs"/>
      </a:defRPr>
    </a:lvl5pPr>
    <a:lvl6pPr marL="2607640" algn="l" defTabSz="1043056" rtl="0" eaLnBrk="1" latinLnBrk="0" hangingPunct="1">
      <a:defRPr sz="1400" kern="1200">
        <a:solidFill>
          <a:schemeClr val="tx1"/>
        </a:solidFill>
        <a:latin typeface="+mn-lt"/>
        <a:ea typeface="+mn-ea"/>
        <a:cs typeface="+mn-cs"/>
      </a:defRPr>
    </a:lvl6pPr>
    <a:lvl7pPr marL="3129168" algn="l" defTabSz="1043056" rtl="0" eaLnBrk="1" latinLnBrk="0" hangingPunct="1">
      <a:defRPr sz="1400" kern="1200">
        <a:solidFill>
          <a:schemeClr val="tx1"/>
        </a:solidFill>
        <a:latin typeface="+mn-lt"/>
        <a:ea typeface="+mn-ea"/>
        <a:cs typeface="+mn-cs"/>
      </a:defRPr>
    </a:lvl7pPr>
    <a:lvl8pPr marL="3650696" algn="l" defTabSz="1043056" rtl="0" eaLnBrk="1" latinLnBrk="0" hangingPunct="1">
      <a:defRPr sz="1400" kern="1200">
        <a:solidFill>
          <a:schemeClr val="tx1"/>
        </a:solidFill>
        <a:latin typeface="+mn-lt"/>
        <a:ea typeface="+mn-ea"/>
        <a:cs typeface="+mn-cs"/>
      </a:defRPr>
    </a:lvl8pPr>
    <a:lvl9pPr marL="4172224" algn="l" defTabSz="104305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smtClean="0"/>
          </a:p>
        </p:txBody>
      </p:sp>
      <p:sp>
        <p:nvSpPr>
          <p:cNvPr id="4" name="Date Placeholder 3"/>
          <p:cNvSpPr>
            <a:spLocks noGrp="1"/>
          </p:cNvSpPr>
          <p:nvPr>
            <p:ph type="dt" idx="10"/>
          </p:nvPr>
        </p:nvSpPr>
        <p:spPr/>
        <p:txBody>
          <a:bodyPr/>
          <a:lstStyle/>
          <a:p>
            <a:fld id="{9CAA74A6-10E5-41A7-8B8F-A766F5656366}" type="datetime4">
              <a:rPr lang="en-GB" smtClean="0"/>
              <a:pPr/>
              <a:t>04 August 2014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r>
              <a:rPr lang="en-GB" dirty="0" smtClean="0"/>
              <a:t>Page </a:t>
            </a:r>
            <a:fld id="{8E4BB8F6-032B-4FD4-9A99-EF51C8EFB725}" type="slidenum">
              <a:rPr lang="en-GB" smtClean="0"/>
              <a:pPr/>
              <a:t>0</a:t>
            </a:fld>
            <a:endParaRPr lang="en-GB" dirty="0"/>
          </a:p>
        </p:txBody>
      </p:sp>
    </p:spTree>
    <p:extLst>
      <p:ext uri="{BB962C8B-B14F-4D97-AF65-F5344CB8AC3E}">
        <p14:creationId xmlns:p14="http://schemas.microsoft.com/office/powerpoint/2010/main" val="935843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2</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smtClean="0"/>
          </a:p>
          <a:p>
            <a:endParaRPr lang="en-GB" sz="1200" dirty="0" smtClean="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3</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43056" rtl="0" eaLnBrk="1" fontAlgn="auto" latinLnBrk="0" hangingPunct="1">
              <a:lnSpc>
                <a:spcPct val="100000"/>
              </a:lnSpc>
              <a:spcBef>
                <a:spcPts val="0"/>
              </a:spcBef>
              <a:spcAft>
                <a:spcPts val="500"/>
              </a:spcAft>
              <a:buClrTx/>
              <a:buSzTx/>
              <a:buFontTx/>
              <a:buNone/>
              <a:tabLst/>
              <a:defRPr/>
            </a:pPr>
            <a:endParaRPr lang="en-GB" sz="1200" baseline="0" dirty="0" smtClean="0"/>
          </a:p>
          <a:p>
            <a:endParaRPr lang="en-GB" sz="9600" dirty="0" smtClean="0"/>
          </a:p>
          <a:p>
            <a:pPr marL="0" marR="0" indent="0" algn="l" defTabSz="1043056" rtl="0" eaLnBrk="1" fontAlgn="auto" latinLnBrk="0" hangingPunct="1">
              <a:lnSpc>
                <a:spcPct val="100000"/>
              </a:lnSpc>
              <a:spcBef>
                <a:spcPts val="0"/>
              </a:spcBef>
              <a:spcAft>
                <a:spcPts val="500"/>
              </a:spcAft>
              <a:buClrTx/>
              <a:buSzTx/>
              <a:buFontTx/>
              <a:buNone/>
              <a:tabLst/>
              <a:defRPr/>
            </a:pPr>
            <a:endParaRPr lang="en-GB" sz="9600" baseline="0" dirty="0" smtClean="0"/>
          </a:p>
          <a:p>
            <a:endParaRPr lang="en-GB" sz="800" dirty="0" smtClean="0"/>
          </a:p>
          <a:p>
            <a:pPr marL="0" marR="0" indent="0" algn="l" defTabSz="1043056" rtl="0" eaLnBrk="1" fontAlgn="auto" latinLnBrk="0" hangingPunct="1">
              <a:lnSpc>
                <a:spcPct val="100000"/>
              </a:lnSpc>
              <a:spcBef>
                <a:spcPts val="0"/>
              </a:spcBef>
              <a:spcAft>
                <a:spcPts val="500"/>
              </a:spcAft>
              <a:buClrTx/>
              <a:buSzTx/>
              <a:buFontTx/>
              <a:buNone/>
              <a:tabLst/>
              <a:defRPr/>
            </a:pPr>
            <a:endParaRPr lang="en-US" sz="1200" dirty="0" smtClean="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6</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43056" rtl="0" eaLnBrk="1" fontAlgn="auto" latinLnBrk="0" hangingPunct="1">
              <a:lnSpc>
                <a:spcPct val="100000"/>
              </a:lnSpc>
              <a:spcBef>
                <a:spcPts val="0"/>
              </a:spcBef>
              <a:spcAft>
                <a:spcPts val="500"/>
              </a:spcAft>
              <a:buClrTx/>
              <a:buSzTx/>
              <a:buFontTx/>
              <a:buNone/>
              <a:tabLst/>
              <a:defRPr/>
            </a:pPr>
            <a:endParaRPr lang="en-GB" sz="1200" baseline="0" dirty="0" smtClean="0"/>
          </a:p>
          <a:p>
            <a:endParaRPr lang="en-GB" sz="9600" dirty="0" smtClean="0"/>
          </a:p>
          <a:p>
            <a:pPr marL="0" marR="0" indent="0" algn="l" defTabSz="1043056" rtl="0" eaLnBrk="1" fontAlgn="auto" latinLnBrk="0" hangingPunct="1">
              <a:lnSpc>
                <a:spcPct val="100000"/>
              </a:lnSpc>
              <a:spcBef>
                <a:spcPts val="0"/>
              </a:spcBef>
              <a:spcAft>
                <a:spcPts val="500"/>
              </a:spcAft>
              <a:buClrTx/>
              <a:buSzTx/>
              <a:buFontTx/>
              <a:buNone/>
              <a:tabLst/>
              <a:defRPr/>
            </a:pPr>
            <a:endParaRPr lang="en-GB" sz="9600" baseline="0" dirty="0" smtClean="0"/>
          </a:p>
          <a:p>
            <a:endParaRPr lang="en-GB" sz="800" dirty="0" smtClean="0"/>
          </a:p>
          <a:p>
            <a:pPr marL="0" marR="0" indent="0" algn="l" defTabSz="1043056" rtl="0" eaLnBrk="1" fontAlgn="auto" latinLnBrk="0" hangingPunct="1">
              <a:lnSpc>
                <a:spcPct val="100000"/>
              </a:lnSpc>
              <a:spcBef>
                <a:spcPts val="0"/>
              </a:spcBef>
              <a:spcAft>
                <a:spcPts val="500"/>
              </a:spcAft>
              <a:buClrTx/>
              <a:buSzTx/>
              <a:buFontTx/>
              <a:buNone/>
              <a:tabLst/>
              <a:defRPr/>
            </a:pPr>
            <a:endParaRPr lang="en-US" sz="1200" dirty="0" smtClean="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7</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dirty="0"/>
          </a:p>
        </p:txBody>
      </p:sp>
      <p:sp>
        <p:nvSpPr>
          <p:cNvPr id="4" name="Date Placeholder 3"/>
          <p:cNvSpPr>
            <a:spLocks noGrp="1"/>
          </p:cNvSpPr>
          <p:nvPr>
            <p:ph type="dt" idx="10"/>
          </p:nvPr>
        </p:nvSpPr>
        <p:spPr/>
        <p:txBody>
          <a:bodyPr/>
          <a:lstStyle/>
          <a:p>
            <a:fld id="{9CAA74A6-10E5-41A7-8B8F-A766F5656366}" type="datetime4">
              <a:rPr lang="en-GB" smtClean="0"/>
              <a:pPr/>
              <a:t>04 August 2014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r>
              <a:rPr lang="en-GB" dirty="0" smtClean="0"/>
              <a:t>Page </a:t>
            </a:r>
            <a:fld id="{8E4BB8F6-032B-4FD4-9A99-EF51C8EFB725}" type="slidenum">
              <a:rPr lang="en-GB" smtClean="0"/>
              <a:pPr/>
              <a:t>8</a:t>
            </a:fld>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000" kern="1200" dirty="0" smtClean="0">
                <a:solidFill>
                  <a:schemeClr val="tx1"/>
                </a:solidFill>
                <a:effectLst/>
                <a:latin typeface="+mn-lt"/>
                <a:ea typeface="+mn-ea"/>
                <a:cs typeface="+mn-cs"/>
              </a:rPr>
              <a:t> </a:t>
            </a:r>
            <a:endParaRPr lang="en-GB" sz="1000" kern="1200" dirty="0" smtClean="0">
              <a:solidFill>
                <a:schemeClr val="tx1"/>
              </a:solidFill>
              <a:effectLst/>
              <a:latin typeface="+mn-lt"/>
              <a:ea typeface="+mn-ea"/>
              <a:cs typeface="+mn-cs"/>
            </a:endParaRPr>
          </a:p>
          <a:p>
            <a:endParaRPr lang="en-GB" sz="1200"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12</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13</a:t>
            </a:fld>
            <a:endParaRPr lang="en-GB" dirty="0"/>
          </a:p>
        </p:txBody>
      </p:sp>
    </p:spTree>
    <p:extLst>
      <p:ext uri="{BB962C8B-B14F-4D97-AF65-F5344CB8AC3E}">
        <p14:creationId xmlns:p14="http://schemas.microsoft.com/office/powerpoint/2010/main" val="3305399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15</a:t>
            </a:fld>
            <a:endParaRPr lang="en-GB" dirty="0"/>
          </a:p>
        </p:txBody>
      </p:sp>
    </p:spTree>
    <p:extLst>
      <p:ext uri="{BB962C8B-B14F-4D97-AF65-F5344CB8AC3E}">
        <p14:creationId xmlns:p14="http://schemas.microsoft.com/office/powerpoint/2010/main" val="3875949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17</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22</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24</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u="sng" dirty="0" smtClean="0"/>
          </a:p>
        </p:txBody>
      </p:sp>
      <p:sp>
        <p:nvSpPr>
          <p:cNvPr id="4" name="Date Placeholder 3"/>
          <p:cNvSpPr>
            <a:spLocks noGrp="1"/>
          </p:cNvSpPr>
          <p:nvPr>
            <p:ph type="dt" idx="10"/>
          </p:nvPr>
        </p:nvSpPr>
        <p:spPr/>
        <p:txBody>
          <a:bodyPr/>
          <a:lstStyle/>
          <a:p>
            <a:fld id="{9CAA74A6-10E5-41A7-8B8F-A766F5656366}" type="datetime4">
              <a:rPr lang="en-GB" smtClean="0"/>
              <a:pPr/>
              <a:t>04 August 2014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r>
              <a:rPr lang="en-GB" smtClean="0"/>
              <a:t>Page </a:t>
            </a:r>
            <a:fld id="{8E4BB8F6-032B-4FD4-9A99-EF51C8EFB725}" type="slidenum">
              <a:rPr lang="en-GB" smtClean="0"/>
              <a:pPr/>
              <a:t>25</a:t>
            </a:fld>
            <a:endParaRPr lang="en-GB" dirty="0"/>
          </a:p>
        </p:txBody>
      </p:sp>
    </p:spTree>
    <p:extLst>
      <p:ext uri="{BB962C8B-B14F-4D97-AF65-F5344CB8AC3E}">
        <p14:creationId xmlns:p14="http://schemas.microsoft.com/office/powerpoint/2010/main" val="1539721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26</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27</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29</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30</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75284" y="5499475"/>
            <a:ext cx="6053838" cy="255207"/>
          </a:xfrm>
        </p:spPr>
        <p:txBody>
          <a:bodyPr/>
          <a:lstStyle/>
          <a:p>
            <a:endParaRPr lang="en-US" dirty="0"/>
          </a:p>
        </p:txBody>
      </p:sp>
      <p:sp>
        <p:nvSpPr>
          <p:cNvPr id="4" name="Slide Number Placeholder 3"/>
          <p:cNvSpPr>
            <a:spLocks noGrp="1"/>
          </p:cNvSpPr>
          <p:nvPr>
            <p:ph type="sldNum" sz="quarter" idx="10"/>
          </p:nvPr>
        </p:nvSpPr>
        <p:spPr/>
        <p:txBody>
          <a:bodyPr/>
          <a:lstStyle/>
          <a:p>
            <a:pPr>
              <a:defRPr/>
            </a:pPr>
            <a:fld id="{3C3A632B-FBDE-46D4-BF6F-6D14421E6342}" type="slidenum">
              <a:rPr lang="en-US" smtClean="0"/>
              <a:pPr>
                <a:defRPr/>
              </a:pPr>
              <a:t>31</a:t>
            </a:fld>
            <a:endParaRPr lang="en-US" dirty="0"/>
          </a:p>
        </p:txBody>
      </p:sp>
    </p:spTree>
    <p:extLst>
      <p:ext uri="{BB962C8B-B14F-4D97-AF65-F5344CB8AC3E}">
        <p14:creationId xmlns:p14="http://schemas.microsoft.com/office/powerpoint/2010/main" val="30783925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32</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75284" y="5499475"/>
            <a:ext cx="6053838" cy="255207"/>
          </a:xfrm>
        </p:spPr>
        <p:txBody>
          <a:bodyPr/>
          <a:lstStyle/>
          <a:p>
            <a:endParaRPr lang="en-US" dirty="0"/>
          </a:p>
        </p:txBody>
      </p:sp>
      <p:sp>
        <p:nvSpPr>
          <p:cNvPr id="4" name="Slide Number Placeholder 3"/>
          <p:cNvSpPr>
            <a:spLocks noGrp="1"/>
          </p:cNvSpPr>
          <p:nvPr>
            <p:ph type="sldNum" sz="quarter" idx="10"/>
          </p:nvPr>
        </p:nvSpPr>
        <p:spPr/>
        <p:txBody>
          <a:bodyPr/>
          <a:lstStyle/>
          <a:p>
            <a:pPr>
              <a:defRPr/>
            </a:pPr>
            <a:fld id="{3C3A632B-FBDE-46D4-BF6F-6D14421E6342}" type="slidenum">
              <a:rPr lang="en-US" smtClean="0"/>
              <a:pPr>
                <a:defRPr/>
              </a:pPr>
              <a:t>33</a:t>
            </a:fld>
            <a:endParaRPr lang="en-US" dirty="0"/>
          </a:p>
        </p:txBody>
      </p:sp>
    </p:spTree>
    <p:extLst>
      <p:ext uri="{BB962C8B-B14F-4D97-AF65-F5344CB8AC3E}">
        <p14:creationId xmlns:p14="http://schemas.microsoft.com/office/powerpoint/2010/main" val="3078392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000" dirty="0" smtClean="0"/>
          </a:p>
          <a:p>
            <a:endParaRPr lang="en-GB" dirty="0" smtClean="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fld id="{C87D0927-EBEA-47E3-A178-8DFA2A258736}" type="datetime4">
              <a:rPr lang="en-GB" smtClean="0"/>
              <a:pPr/>
              <a:t>04 August 2014</a:t>
            </a:fld>
            <a:endParaRPr lang="en-GB" dirty="0"/>
          </a:p>
        </p:txBody>
      </p:sp>
      <p:sp>
        <p:nvSpPr>
          <p:cNvPr id="6" name="Footer Placeholder 5"/>
          <p:cNvSpPr>
            <a:spLocks noGrp="1"/>
          </p:cNvSpPr>
          <p:nvPr>
            <p:ph type="ftr" sz="quarter" idx="12"/>
          </p:nvPr>
        </p:nvSpPr>
        <p:spPr/>
        <p:txBody>
          <a:bodyPr/>
          <a:lstStyle/>
          <a:p>
            <a:r>
              <a:rPr lang="en-GB" smtClean="0"/>
              <a:t>[Document title]</a:t>
            </a:r>
            <a:endParaRPr lang="en-GB" dirty="0"/>
          </a:p>
        </p:txBody>
      </p:sp>
      <p:sp>
        <p:nvSpPr>
          <p:cNvPr id="7" name="Slide Number Placeholder 6"/>
          <p:cNvSpPr>
            <a:spLocks noGrp="1"/>
          </p:cNvSpPr>
          <p:nvPr>
            <p:ph type="sldNum" sz="quarter" idx="13"/>
          </p:nvPr>
        </p:nvSpPr>
        <p:spPr/>
        <p:txBody>
          <a:bodyPr/>
          <a:lstStyle/>
          <a:p>
            <a:fld id="{A29460E4-3001-4D40-AA55-2B96D306E943}" type="slidenum">
              <a:rPr lang="en-GB" smtClean="0"/>
              <a:pPr/>
              <a:t>35</a:t>
            </a:fld>
            <a:endParaRPr lang="en-GB" dirty="0"/>
          </a:p>
        </p:txBody>
      </p:sp>
    </p:spTree>
    <p:extLst>
      <p:ext uri="{BB962C8B-B14F-4D97-AF65-F5344CB8AC3E}">
        <p14:creationId xmlns:p14="http://schemas.microsoft.com/office/powerpoint/2010/main" val="16682917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Notes Placeholder 2"/>
          <p:cNvSpPr>
            <a:spLocks noGrp="1"/>
          </p:cNvSpPr>
          <p:nvPr>
            <p:ph type="body" idx="3"/>
          </p:nvPr>
        </p:nvSpPr>
        <p:spPr>
          <a:xfrm>
            <a:off x="709442" y="4862233"/>
            <a:ext cx="5685182" cy="4603642"/>
          </a:xfrm>
        </p:spPr>
        <p:txBody>
          <a:bodyPr>
            <a:normAutofit/>
          </a:bodyPr>
          <a:lstStyle/>
          <a:p>
            <a:pPr marL="223660" indent="-223660"/>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1/3">
    <p:spTree>
      <p:nvGrpSpPr>
        <p:cNvPr id="1" name=""/>
        <p:cNvGrpSpPr/>
        <p:nvPr/>
      </p:nvGrpSpPr>
      <p:grpSpPr>
        <a:xfrm>
          <a:off x="0" y="0"/>
          <a:ext cx="0" cy="0"/>
          <a:chOff x="0" y="0"/>
          <a:chExt cx="0" cy="0"/>
        </a:xfrm>
      </p:grpSpPr>
      <p:pic>
        <p:nvPicPr>
          <p:cNvPr id="46" name="Picture 2" descr="C:\USERS\X81870\APPDATA\LOCAL\TEMP\wza8b1\5001_5004_A4 landscape report cover window.wmf"/>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587" y="1644206"/>
            <a:ext cx="10690225" cy="38893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bwMode="gray">
          <a:xfrm>
            <a:off x="2682876" y="565906"/>
            <a:ext cx="7416800" cy="438982"/>
          </a:xfrm>
          <a:ln algn="ctr"/>
        </p:spPr>
        <p:txBody>
          <a:bodyPr vert="horz" lIns="0" tIns="0" rIns="0" bIns="0" rtlCol="0" anchor="b" anchorCtr="0">
            <a:noAutofit/>
          </a:bodyPr>
          <a:lstStyle>
            <a:lvl1pPr>
              <a:defRPr kumimoji="0" lang="en-GB" sz="2400" b="1" i="0" u="none" strike="noStrike" kern="1200" cap="none" spc="0" normalizeH="0" baseline="0" noProof="0" dirty="0" smtClean="0">
                <a:ln>
                  <a:noFill/>
                </a:ln>
                <a:solidFill>
                  <a:schemeClr val="accent1"/>
                </a:solidFill>
                <a:effectLst/>
                <a:uLnTx/>
                <a:uFillTx/>
                <a:latin typeface="+mj-lt"/>
                <a:ea typeface="+mj-ea"/>
                <a:cs typeface="+mj-cs"/>
              </a:defRPr>
            </a:lvl1pPr>
          </a:lstStyle>
          <a:p>
            <a:pPr marL="0" marR="0" lvl="0" indent="0" algn="l" defTabSz="1043056"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GB" dirty="0"/>
          </a:p>
        </p:txBody>
      </p:sp>
      <p:sp>
        <p:nvSpPr>
          <p:cNvPr id="96" name="Text Placeholder 95"/>
          <p:cNvSpPr>
            <a:spLocks noGrp="1"/>
          </p:cNvSpPr>
          <p:nvPr>
            <p:ph type="body" sz="quarter" idx="10" hasCustomPrompt="1"/>
          </p:nvPr>
        </p:nvSpPr>
        <p:spPr bwMode="gray">
          <a:xfrm>
            <a:off x="2682875" y="1815297"/>
            <a:ext cx="3839260" cy="203200"/>
          </a:xfrm>
        </p:spPr>
        <p:txBody>
          <a:bodyPr wrap="none" anchor="ctr" anchorCtr="0"/>
          <a:lstStyle>
            <a:lvl1pPr>
              <a:defRPr>
                <a:solidFill>
                  <a:schemeClr val="accent1"/>
                </a:solidFill>
              </a:defRPr>
            </a:lvl1pPr>
          </a:lstStyle>
          <a:p>
            <a:pPr lvl="0"/>
            <a:r>
              <a:rPr lang="en-US" dirty="0" smtClean="0"/>
              <a:t>Date</a:t>
            </a:r>
          </a:p>
        </p:txBody>
      </p:sp>
      <p:sp>
        <p:nvSpPr>
          <p:cNvPr id="67" name="Subtitle 2"/>
          <p:cNvSpPr>
            <a:spLocks noGrp="1"/>
          </p:cNvSpPr>
          <p:nvPr>
            <p:ph type="subTitle" idx="1"/>
          </p:nvPr>
        </p:nvSpPr>
        <p:spPr bwMode="gray">
          <a:xfrm>
            <a:off x="2682876" y="1140218"/>
            <a:ext cx="5362234" cy="539750"/>
          </a:xfrm>
          <a:ln>
            <a:noFill/>
          </a:ln>
        </p:spPr>
        <p:txBody>
          <a:bodyPr vert="horz" lIns="0" tIns="0" rIns="0" bIns="0" rtlCol="0" anchor="t" anchorCtr="0">
            <a:noAutofit/>
          </a:bodyPr>
          <a:lstStyle>
            <a:lvl1pPr marL="0" indent="0" algn="l">
              <a:buNone/>
              <a:defRPr kumimoji="0" lang="en-GB" sz="1800" b="0" i="0" u="none" strike="noStrike" kern="1200" cap="none" spc="0" normalizeH="0" baseline="0" noProof="0" dirty="0" smtClean="0">
                <a:ln>
                  <a:noFill/>
                </a:ln>
                <a:solidFill>
                  <a:schemeClr val="accent1"/>
                </a:solidFill>
                <a:effectLst/>
                <a:uLnTx/>
                <a:uFillTx/>
                <a:latin typeface="+mn-lt"/>
                <a:ea typeface="+mn-ea"/>
                <a:cs typeface="+mn-cs"/>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pPr marL="0" marR="0" lvl="0" indent="0" algn="l" defTabSz="1043056" rtl="0" eaLnBrk="1" fontAlgn="auto" latinLnBrk="0" hangingPunct="1">
              <a:lnSpc>
                <a:spcPct val="90000"/>
              </a:lnSpc>
              <a:spcBef>
                <a:spcPts val="0"/>
              </a:spcBef>
              <a:spcAft>
                <a:spcPct val="0"/>
              </a:spcAft>
              <a:buClrTx/>
              <a:buSzTx/>
              <a:buFont typeface="Arial" pitchFamily="34" charset="0"/>
              <a:buNone/>
              <a:tabLst/>
              <a:defRPr/>
            </a:pPr>
            <a:r>
              <a:rPr lang="en-US" smtClean="0"/>
              <a:t>Click to edit Master subtitle style</a:t>
            </a:r>
            <a:endParaRPr lang="en-GB" dirty="0"/>
          </a:p>
        </p:txBody>
      </p:sp>
      <p:sp>
        <p:nvSpPr>
          <p:cNvPr id="37" name="Rectangle 36"/>
          <p:cNvSpPr/>
          <p:nvPr userDrawn="1"/>
        </p:nvSpPr>
        <p:spPr bwMode="white">
          <a:xfrm>
            <a:off x="593725" y="7085735"/>
            <a:ext cx="583911" cy="128588"/>
          </a:xfrm>
          <a:prstGeom prst="rect">
            <a:avLst/>
          </a:prstGeom>
          <a:solidFill>
            <a:schemeClr val="bg1"/>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pic>
        <p:nvPicPr>
          <p:cNvPr id="41" name="Picture 2"/>
          <p:cNvPicPr>
            <a:picLocks noChangeAspect="1" noChangeArrowheads="1"/>
          </p:cNvPicPr>
          <p:nvPr userDrawn="1"/>
        </p:nvPicPr>
        <p:blipFill>
          <a:blip r:embed="rId3" cstate="print"/>
          <a:srcRect/>
          <a:stretch>
            <a:fillRect/>
          </a:stretch>
        </p:blipFill>
        <p:spPr bwMode="auto">
          <a:xfrm>
            <a:off x="2668586" y="6450477"/>
            <a:ext cx="983483" cy="74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 Column Content">
    <p:spTree>
      <p:nvGrpSpPr>
        <p:cNvPr id="1" name=""/>
        <p:cNvGrpSpPr/>
        <p:nvPr/>
      </p:nvGrpSpPr>
      <p:grpSpPr>
        <a:xfrm>
          <a:off x="0" y="0"/>
          <a:ext cx="0" cy="0"/>
          <a:chOff x="0" y="0"/>
          <a:chExt cx="0" cy="0"/>
        </a:xfrm>
      </p:grpSpPr>
      <p:sp>
        <p:nvSpPr>
          <p:cNvPr id="8" name="Content Placeholder 7"/>
          <p:cNvSpPr>
            <a:spLocks noGrp="1"/>
          </p:cNvSpPr>
          <p:nvPr>
            <p:ph sz="quarter" idx="14"/>
          </p:nvPr>
        </p:nvSpPr>
        <p:spPr bwMode="gray">
          <a:xfrm>
            <a:off x="593725" y="1474787"/>
            <a:ext cx="9493252" cy="53292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 name="Title 1"/>
          <p:cNvSpPr>
            <a:spLocks noGrp="1"/>
          </p:cNvSpPr>
          <p:nvPr>
            <p:ph type="title"/>
          </p:nvPr>
        </p:nvSpPr>
        <p:spPr bwMode="gray">
          <a:xfrm>
            <a:off x="593725" y="709613"/>
            <a:ext cx="9491664" cy="612000"/>
          </a:xfrm>
        </p:spPr>
        <p:txBody>
          <a:bodyPr/>
          <a:lstStyle>
            <a:lvl1pPr>
              <a:lnSpc>
                <a:spcPct val="90000"/>
              </a:lnSpc>
              <a:defRPr/>
            </a:lvl1pPr>
          </a:lstStyle>
          <a:p>
            <a:r>
              <a:rPr lang="en-US" smtClean="0"/>
              <a:t>Click to edit Master title style</a:t>
            </a:r>
            <a:endParaRPr lang="en-GB" dirty="0"/>
          </a:p>
        </p:txBody>
      </p:sp>
      <p:sp>
        <p:nvSpPr>
          <p:cNvPr id="5" name="Footer Placeholder 4"/>
          <p:cNvSpPr>
            <a:spLocks noGrp="1"/>
          </p:cNvSpPr>
          <p:nvPr>
            <p:ph type="ftr" sz="quarter" idx="11"/>
          </p:nvPr>
        </p:nvSpPr>
        <p:spPr bwMode="gray">
          <a:xfrm>
            <a:off x="3587750" y="7051674"/>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899" y="7051674"/>
            <a:ext cx="485775" cy="144000"/>
          </a:xfrm>
        </p:spPr>
        <p:txBody>
          <a:bodyPr/>
          <a:lstStyle/>
          <a:p>
            <a:fld id="{F9A56513-F998-4254-9CEB-F507EE6F3742}"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lumn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94000" y="709613"/>
            <a:ext cx="9504363" cy="612000"/>
          </a:xfrm>
        </p:spPr>
        <p:txBody>
          <a:bodyPr/>
          <a:lstStyle/>
          <a:p>
            <a:r>
              <a:rPr lang="en-US" smtClean="0"/>
              <a:t>Click to edit Master title style</a:t>
            </a:r>
            <a:endParaRPr lang="en-GB" dirty="0"/>
          </a:p>
        </p:txBody>
      </p:sp>
      <p:sp>
        <p:nvSpPr>
          <p:cNvPr id="5" name="Footer Placeholder 4"/>
          <p:cNvSpPr>
            <a:spLocks noGrp="1"/>
          </p:cNvSpPr>
          <p:nvPr>
            <p:ph type="ftr" sz="quarter" idx="11"/>
          </p:nvPr>
        </p:nvSpPr>
        <p:spPr bwMode="gray">
          <a:xfrm>
            <a:off x="3587750" y="7051675"/>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899" y="7051675"/>
            <a:ext cx="485775" cy="144000"/>
          </a:xfrm>
        </p:spPr>
        <p:txBody>
          <a:bodyPr/>
          <a:lstStyle/>
          <a:p>
            <a:fld id="{F9A56513-F998-4254-9CEB-F507EE6F3742}" type="slidenum">
              <a:rPr lang="en-GB" smtClean="0"/>
              <a:pPr/>
              <a:t>‹#›</a:t>
            </a:fld>
            <a:endParaRPr lang="en-GB" dirty="0"/>
          </a:p>
        </p:txBody>
      </p:sp>
      <p:sp>
        <p:nvSpPr>
          <p:cNvPr id="17" name="Content Placeholder 12"/>
          <p:cNvSpPr>
            <a:spLocks noGrp="1"/>
          </p:cNvSpPr>
          <p:nvPr>
            <p:ph sz="quarter" idx="15"/>
          </p:nvPr>
        </p:nvSpPr>
        <p:spPr bwMode="gray">
          <a:xfrm>
            <a:off x="594000" y="1474788"/>
            <a:ext cx="4679950" cy="5327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8" name="Content Placeholder 15"/>
          <p:cNvSpPr>
            <a:spLocks noGrp="1"/>
          </p:cNvSpPr>
          <p:nvPr>
            <p:ph sz="quarter" idx="16"/>
          </p:nvPr>
        </p:nvSpPr>
        <p:spPr bwMode="gray">
          <a:xfrm>
            <a:off x="5408613" y="1474788"/>
            <a:ext cx="4681537" cy="5327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uble Row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93724" y="709613"/>
            <a:ext cx="9504363" cy="612000"/>
          </a:xfrm>
        </p:spPr>
        <p:txBody>
          <a:bodyPr/>
          <a:lstStyle/>
          <a:p>
            <a:r>
              <a:rPr lang="en-US" smtClean="0"/>
              <a:t>Click to edit Master title style</a:t>
            </a:r>
            <a:endParaRPr lang="en-GB" dirty="0"/>
          </a:p>
        </p:txBody>
      </p:sp>
      <p:sp>
        <p:nvSpPr>
          <p:cNvPr id="5" name="Footer Placeholder 4"/>
          <p:cNvSpPr>
            <a:spLocks noGrp="1"/>
          </p:cNvSpPr>
          <p:nvPr>
            <p:ph type="ftr" sz="quarter" idx="11"/>
          </p:nvPr>
        </p:nvSpPr>
        <p:spPr bwMode="gray">
          <a:xfrm>
            <a:off x="3587750" y="7051675"/>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900" y="7051675"/>
            <a:ext cx="473076" cy="144000"/>
          </a:xfrm>
        </p:spPr>
        <p:txBody>
          <a:bodyPr/>
          <a:lstStyle/>
          <a:p>
            <a:fld id="{F9A56513-F998-4254-9CEB-F507EE6F3742}" type="slidenum">
              <a:rPr lang="en-GB" smtClean="0"/>
              <a:pPr/>
              <a:t>‹#›</a:t>
            </a:fld>
            <a:endParaRPr lang="en-GB" dirty="0"/>
          </a:p>
        </p:txBody>
      </p:sp>
      <p:sp>
        <p:nvSpPr>
          <p:cNvPr id="17" name="Content Placeholder 12"/>
          <p:cNvSpPr>
            <a:spLocks noGrp="1"/>
          </p:cNvSpPr>
          <p:nvPr>
            <p:ph sz="quarter" idx="15"/>
          </p:nvPr>
        </p:nvSpPr>
        <p:spPr bwMode="gray">
          <a:xfrm>
            <a:off x="593724" y="1474788"/>
            <a:ext cx="9493251"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Content Placeholder 12"/>
          <p:cNvSpPr>
            <a:spLocks noGrp="1"/>
          </p:cNvSpPr>
          <p:nvPr>
            <p:ph sz="quarter" idx="17"/>
          </p:nvPr>
        </p:nvSpPr>
        <p:spPr bwMode="gray">
          <a:xfrm>
            <a:off x="593724" y="4210843"/>
            <a:ext cx="949325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lumn Content (1/3, 2/3)">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93725" y="709613"/>
            <a:ext cx="9489808" cy="612000"/>
          </a:xfrm>
        </p:spPr>
        <p:txBody>
          <a:bodyPr/>
          <a:lstStyle/>
          <a:p>
            <a:r>
              <a:rPr lang="en-US" smtClean="0"/>
              <a:t>Click to edit Master title style</a:t>
            </a:r>
            <a:endParaRPr lang="en-GB" dirty="0"/>
          </a:p>
        </p:txBody>
      </p:sp>
      <p:sp>
        <p:nvSpPr>
          <p:cNvPr id="5" name="Footer Placeholder 4"/>
          <p:cNvSpPr>
            <a:spLocks noGrp="1"/>
          </p:cNvSpPr>
          <p:nvPr>
            <p:ph type="ftr" sz="quarter" idx="11"/>
          </p:nvPr>
        </p:nvSpPr>
        <p:spPr bwMode="gray">
          <a:xfrm>
            <a:off x="3587750" y="7051675"/>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900" y="7051675"/>
            <a:ext cx="473076" cy="144000"/>
          </a:xfrm>
        </p:spPr>
        <p:txBody>
          <a:bodyPr/>
          <a:lstStyle/>
          <a:p>
            <a:fld id="{F9A56513-F998-4254-9CEB-F507EE6F3742}" type="slidenum">
              <a:rPr lang="en-GB" smtClean="0"/>
              <a:pPr/>
              <a:t>‹#›</a:t>
            </a:fld>
            <a:endParaRPr lang="en-GB" dirty="0"/>
          </a:p>
        </p:txBody>
      </p:sp>
      <p:sp>
        <p:nvSpPr>
          <p:cNvPr id="17" name="Content Placeholder 12"/>
          <p:cNvSpPr>
            <a:spLocks noGrp="1"/>
          </p:cNvSpPr>
          <p:nvPr>
            <p:ph sz="quarter" idx="15"/>
          </p:nvPr>
        </p:nvSpPr>
        <p:spPr bwMode="gray">
          <a:xfrm>
            <a:off x="593725" y="1474788"/>
            <a:ext cx="3060000" cy="5327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2" name="Content Placeholder 15"/>
          <p:cNvSpPr>
            <a:spLocks noGrp="1"/>
          </p:cNvSpPr>
          <p:nvPr>
            <p:ph sz="quarter" idx="17"/>
          </p:nvPr>
        </p:nvSpPr>
        <p:spPr bwMode="gray">
          <a:xfrm>
            <a:off x="3808628" y="1474788"/>
            <a:ext cx="6274904" cy="5327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ouble Column Content (2/3, 1/3)">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93725" y="709613"/>
            <a:ext cx="9489808" cy="612000"/>
          </a:xfrm>
        </p:spPr>
        <p:txBody>
          <a:bodyPr/>
          <a:lstStyle/>
          <a:p>
            <a:r>
              <a:rPr lang="en-US" smtClean="0"/>
              <a:t>Click to edit Master title style</a:t>
            </a:r>
            <a:endParaRPr lang="en-GB" dirty="0"/>
          </a:p>
        </p:txBody>
      </p:sp>
      <p:sp>
        <p:nvSpPr>
          <p:cNvPr id="5" name="Footer Placeholder 4"/>
          <p:cNvSpPr>
            <a:spLocks noGrp="1"/>
          </p:cNvSpPr>
          <p:nvPr>
            <p:ph type="ftr" sz="quarter" idx="11"/>
          </p:nvPr>
        </p:nvSpPr>
        <p:spPr bwMode="gray">
          <a:xfrm>
            <a:off x="3587750" y="7051675"/>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900" y="7051675"/>
            <a:ext cx="473076" cy="144000"/>
          </a:xfrm>
        </p:spPr>
        <p:txBody>
          <a:bodyPr/>
          <a:lstStyle/>
          <a:p>
            <a:fld id="{F9A56513-F998-4254-9CEB-F507EE6F3742}" type="slidenum">
              <a:rPr lang="en-GB" smtClean="0"/>
              <a:pPr/>
              <a:t>‹#›</a:t>
            </a:fld>
            <a:endParaRPr lang="en-GB" dirty="0"/>
          </a:p>
        </p:txBody>
      </p:sp>
      <p:sp>
        <p:nvSpPr>
          <p:cNvPr id="18" name="Content Placeholder 15"/>
          <p:cNvSpPr>
            <a:spLocks noGrp="1"/>
          </p:cNvSpPr>
          <p:nvPr>
            <p:ph sz="quarter" idx="16"/>
          </p:nvPr>
        </p:nvSpPr>
        <p:spPr bwMode="gray">
          <a:xfrm>
            <a:off x="7023532" y="1474788"/>
            <a:ext cx="3060000" cy="5327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2" name="Content Placeholder 15"/>
          <p:cNvSpPr>
            <a:spLocks noGrp="1"/>
          </p:cNvSpPr>
          <p:nvPr>
            <p:ph sz="quarter" idx="17"/>
          </p:nvPr>
        </p:nvSpPr>
        <p:spPr bwMode="gray">
          <a:xfrm>
            <a:off x="593725" y="1474788"/>
            <a:ext cx="6274903" cy="5327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iple Column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93725" y="709613"/>
            <a:ext cx="9489808" cy="612000"/>
          </a:xfrm>
        </p:spPr>
        <p:txBody>
          <a:bodyPr/>
          <a:lstStyle/>
          <a:p>
            <a:r>
              <a:rPr lang="en-US" smtClean="0"/>
              <a:t>Click to edit Master title style</a:t>
            </a:r>
            <a:endParaRPr lang="en-GB" dirty="0"/>
          </a:p>
        </p:txBody>
      </p:sp>
      <p:sp>
        <p:nvSpPr>
          <p:cNvPr id="5" name="Footer Placeholder 4"/>
          <p:cNvSpPr>
            <a:spLocks noGrp="1"/>
          </p:cNvSpPr>
          <p:nvPr>
            <p:ph type="ftr" sz="quarter" idx="11"/>
          </p:nvPr>
        </p:nvSpPr>
        <p:spPr bwMode="gray">
          <a:xfrm>
            <a:off x="3587750" y="7051675"/>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900" y="7051675"/>
            <a:ext cx="473076" cy="144000"/>
          </a:xfrm>
        </p:spPr>
        <p:txBody>
          <a:bodyPr/>
          <a:lstStyle/>
          <a:p>
            <a:fld id="{F9A56513-F998-4254-9CEB-F507EE6F3742}" type="slidenum">
              <a:rPr lang="en-GB" smtClean="0"/>
              <a:pPr/>
              <a:t>‹#›</a:t>
            </a:fld>
            <a:endParaRPr lang="en-GB" dirty="0"/>
          </a:p>
        </p:txBody>
      </p:sp>
      <p:sp>
        <p:nvSpPr>
          <p:cNvPr id="17" name="Content Placeholder 12"/>
          <p:cNvSpPr>
            <a:spLocks noGrp="1"/>
          </p:cNvSpPr>
          <p:nvPr>
            <p:ph sz="quarter" idx="15"/>
          </p:nvPr>
        </p:nvSpPr>
        <p:spPr bwMode="gray">
          <a:xfrm>
            <a:off x="593725" y="1474788"/>
            <a:ext cx="3060000" cy="5327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8" name="Content Placeholder 15"/>
          <p:cNvSpPr>
            <a:spLocks noGrp="1"/>
          </p:cNvSpPr>
          <p:nvPr>
            <p:ph sz="quarter" idx="16"/>
          </p:nvPr>
        </p:nvSpPr>
        <p:spPr bwMode="gray">
          <a:xfrm>
            <a:off x="7023532" y="1474788"/>
            <a:ext cx="3060000" cy="5327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2" name="Content Placeholder 15"/>
          <p:cNvSpPr>
            <a:spLocks noGrp="1"/>
          </p:cNvSpPr>
          <p:nvPr>
            <p:ph sz="quarter" idx="17"/>
          </p:nvPr>
        </p:nvSpPr>
        <p:spPr bwMode="gray">
          <a:xfrm>
            <a:off x="3808628" y="1474788"/>
            <a:ext cx="3060000" cy="5327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adruple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94000" y="709613"/>
            <a:ext cx="9493252" cy="612000"/>
          </a:xfrm>
        </p:spPr>
        <p:txBody>
          <a:bodyPr/>
          <a:lstStyle/>
          <a:p>
            <a:r>
              <a:rPr lang="en-US" smtClean="0"/>
              <a:t>Click to edit Master title style</a:t>
            </a:r>
            <a:endParaRPr lang="en-GB"/>
          </a:p>
        </p:txBody>
      </p:sp>
      <p:sp>
        <p:nvSpPr>
          <p:cNvPr id="5" name="Footer Placeholder 4"/>
          <p:cNvSpPr>
            <a:spLocks noGrp="1"/>
          </p:cNvSpPr>
          <p:nvPr>
            <p:ph type="ftr" sz="quarter" idx="11"/>
          </p:nvPr>
        </p:nvSpPr>
        <p:spPr bwMode="gray">
          <a:xfrm>
            <a:off x="3587750" y="7051675"/>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900" y="7051675"/>
            <a:ext cx="473076" cy="144000"/>
          </a:xfrm>
        </p:spPr>
        <p:txBody>
          <a:bodyPr/>
          <a:lstStyle/>
          <a:p>
            <a:fld id="{F9A56513-F998-4254-9CEB-F507EE6F3742}" type="slidenum">
              <a:rPr lang="en-GB" smtClean="0"/>
              <a:pPr/>
              <a:t>‹#›</a:t>
            </a:fld>
            <a:endParaRPr lang="en-GB" dirty="0"/>
          </a:p>
        </p:txBody>
      </p:sp>
      <p:sp>
        <p:nvSpPr>
          <p:cNvPr id="17" name="Content Placeholder 12"/>
          <p:cNvSpPr>
            <a:spLocks noGrp="1"/>
          </p:cNvSpPr>
          <p:nvPr>
            <p:ph sz="quarter" idx="15"/>
          </p:nvPr>
        </p:nvSpPr>
        <p:spPr bwMode="gray">
          <a:xfrm>
            <a:off x="594000" y="1474788"/>
            <a:ext cx="468000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8" name="Content Placeholder 15"/>
          <p:cNvSpPr>
            <a:spLocks noGrp="1"/>
          </p:cNvSpPr>
          <p:nvPr>
            <p:ph sz="quarter" idx="16"/>
          </p:nvPr>
        </p:nvSpPr>
        <p:spPr bwMode="gray">
          <a:xfrm>
            <a:off x="5408612" y="1474788"/>
            <a:ext cx="468000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Content Placeholder 12"/>
          <p:cNvSpPr>
            <a:spLocks noGrp="1"/>
          </p:cNvSpPr>
          <p:nvPr>
            <p:ph sz="quarter" idx="17"/>
          </p:nvPr>
        </p:nvSpPr>
        <p:spPr bwMode="gray">
          <a:xfrm>
            <a:off x="594000" y="4191793"/>
            <a:ext cx="468000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Content Placeholder 15"/>
          <p:cNvSpPr>
            <a:spLocks noGrp="1"/>
          </p:cNvSpPr>
          <p:nvPr>
            <p:ph sz="quarter" idx="18"/>
          </p:nvPr>
        </p:nvSpPr>
        <p:spPr bwMode="gray">
          <a:xfrm>
            <a:off x="5408612" y="4191793"/>
            <a:ext cx="468000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xtuple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93725" y="709613"/>
            <a:ext cx="9489808" cy="612000"/>
          </a:xfrm>
        </p:spPr>
        <p:txBody>
          <a:bodyPr/>
          <a:lstStyle/>
          <a:p>
            <a:r>
              <a:rPr lang="en-US" smtClean="0"/>
              <a:t>Click to edit Master title style</a:t>
            </a:r>
            <a:endParaRPr lang="en-GB" dirty="0"/>
          </a:p>
        </p:txBody>
      </p:sp>
      <p:sp>
        <p:nvSpPr>
          <p:cNvPr id="5" name="Footer Placeholder 4"/>
          <p:cNvSpPr>
            <a:spLocks noGrp="1"/>
          </p:cNvSpPr>
          <p:nvPr>
            <p:ph type="ftr" sz="quarter" idx="11"/>
          </p:nvPr>
        </p:nvSpPr>
        <p:spPr bwMode="gray">
          <a:xfrm>
            <a:off x="3587750" y="7051675"/>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900" y="7051675"/>
            <a:ext cx="473076" cy="144000"/>
          </a:xfrm>
        </p:spPr>
        <p:txBody>
          <a:bodyPr/>
          <a:lstStyle/>
          <a:p>
            <a:fld id="{F9A56513-F998-4254-9CEB-F507EE6F3742}" type="slidenum">
              <a:rPr lang="en-GB" smtClean="0"/>
              <a:pPr/>
              <a:t>‹#›</a:t>
            </a:fld>
            <a:endParaRPr lang="en-GB" dirty="0"/>
          </a:p>
        </p:txBody>
      </p:sp>
      <p:sp>
        <p:nvSpPr>
          <p:cNvPr id="17" name="Content Placeholder 12"/>
          <p:cNvSpPr>
            <a:spLocks noGrp="1"/>
          </p:cNvSpPr>
          <p:nvPr>
            <p:ph sz="quarter" idx="15"/>
          </p:nvPr>
        </p:nvSpPr>
        <p:spPr bwMode="gray">
          <a:xfrm>
            <a:off x="593725" y="1474788"/>
            <a:ext cx="3060000" cy="25923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8" name="Content Placeholder 15"/>
          <p:cNvSpPr>
            <a:spLocks noGrp="1"/>
          </p:cNvSpPr>
          <p:nvPr>
            <p:ph sz="quarter" idx="16"/>
          </p:nvPr>
        </p:nvSpPr>
        <p:spPr bwMode="gray">
          <a:xfrm>
            <a:off x="7023532" y="1474788"/>
            <a:ext cx="3060000" cy="25923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2" name="Content Placeholder 15"/>
          <p:cNvSpPr>
            <a:spLocks noGrp="1"/>
          </p:cNvSpPr>
          <p:nvPr>
            <p:ph sz="quarter" idx="17"/>
          </p:nvPr>
        </p:nvSpPr>
        <p:spPr bwMode="gray">
          <a:xfrm>
            <a:off x="3808628" y="1474788"/>
            <a:ext cx="3060000" cy="25923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8" name="Content Placeholder 12"/>
          <p:cNvSpPr>
            <a:spLocks noGrp="1"/>
          </p:cNvSpPr>
          <p:nvPr>
            <p:ph sz="quarter" idx="18"/>
          </p:nvPr>
        </p:nvSpPr>
        <p:spPr bwMode="gray">
          <a:xfrm>
            <a:off x="593725" y="4202113"/>
            <a:ext cx="3060000" cy="25923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9" name="Content Placeholder 15"/>
          <p:cNvSpPr>
            <a:spLocks noGrp="1"/>
          </p:cNvSpPr>
          <p:nvPr>
            <p:ph sz="quarter" idx="19"/>
          </p:nvPr>
        </p:nvSpPr>
        <p:spPr bwMode="gray">
          <a:xfrm>
            <a:off x="7023532" y="4202113"/>
            <a:ext cx="3060000" cy="25923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0" name="Content Placeholder 15"/>
          <p:cNvSpPr>
            <a:spLocks noGrp="1"/>
          </p:cNvSpPr>
          <p:nvPr>
            <p:ph sz="quarter" idx="20"/>
          </p:nvPr>
        </p:nvSpPr>
        <p:spPr bwMode="gray">
          <a:xfrm>
            <a:off x="3808628" y="4202113"/>
            <a:ext cx="3060000" cy="25923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ertical Content &amp; Double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94000" y="709613"/>
            <a:ext cx="9504363" cy="612000"/>
          </a:xfrm>
        </p:spPr>
        <p:txBody>
          <a:bodyPr/>
          <a:lstStyle/>
          <a:p>
            <a:r>
              <a:rPr lang="en-US" smtClean="0"/>
              <a:t>Click to edit Master title style</a:t>
            </a:r>
            <a:endParaRPr lang="en-GB" dirty="0"/>
          </a:p>
        </p:txBody>
      </p:sp>
      <p:sp>
        <p:nvSpPr>
          <p:cNvPr id="5" name="Footer Placeholder 4"/>
          <p:cNvSpPr>
            <a:spLocks noGrp="1"/>
          </p:cNvSpPr>
          <p:nvPr>
            <p:ph type="ftr" sz="quarter" idx="11"/>
          </p:nvPr>
        </p:nvSpPr>
        <p:spPr bwMode="gray">
          <a:xfrm>
            <a:off x="3587750" y="7051675"/>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900" y="7051675"/>
            <a:ext cx="473076" cy="144000"/>
          </a:xfrm>
        </p:spPr>
        <p:txBody>
          <a:bodyPr/>
          <a:lstStyle/>
          <a:p>
            <a:fld id="{F9A56513-F998-4254-9CEB-F507EE6F3742}" type="slidenum">
              <a:rPr lang="en-GB" smtClean="0"/>
              <a:pPr/>
              <a:t>‹#›</a:t>
            </a:fld>
            <a:endParaRPr lang="en-GB" dirty="0"/>
          </a:p>
        </p:txBody>
      </p:sp>
      <p:sp>
        <p:nvSpPr>
          <p:cNvPr id="17" name="Content Placeholder 12"/>
          <p:cNvSpPr>
            <a:spLocks noGrp="1"/>
          </p:cNvSpPr>
          <p:nvPr>
            <p:ph sz="quarter" idx="15"/>
          </p:nvPr>
        </p:nvSpPr>
        <p:spPr bwMode="gray">
          <a:xfrm>
            <a:off x="594000" y="1474788"/>
            <a:ext cx="4679950" cy="5327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8" name="Content Placeholder 15"/>
          <p:cNvSpPr>
            <a:spLocks noGrp="1"/>
          </p:cNvSpPr>
          <p:nvPr>
            <p:ph sz="quarter" idx="16"/>
          </p:nvPr>
        </p:nvSpPr>
        <p:spPr bwMode="gray">
          <a:xfrm>
            <a:off x="5399087" y="1474788"/>
            <a:ext cx="468000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Content Placeholder 15"/>
          <p:cNvSpPr>
            <a:spLocks noGrp="1"/>
          </p:cNvSpPr>
          <p:nvPr>
            <p:ph sz="quarter" idx="18"/>
          </p:nvPr>
        </p:nvSpPr>
        <p:spPr bwMode="gray">
          <a:xfrm>
            <a:off x="5399087" y="4191793"/>
            <a:ext cx="468000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Double Content &amp;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94000" y="709613"/>
            <a:ext cx="9504363" cy="612000"/>
          </a:xfrm>
        </p:spPr>
        <p:txBody>
          <a:bodyPr/>
          <a:lstStyle/>
          <a:p>
            <a:r>
              <a:rPr lang="en-US" smtClean="0"/>
              <a:t>Click to edit Master title style</a:t>
            </a:r>
            <a:endParaRPr lang="en-GB" dirty="0"/>
          </a:p>
        </p:txBody>
      </p:sp>
      <p:sp>
        <p:nvSpPr>
          <p:cNvPr id="5" name="Footer Placeholder 4"/>
          <p:cNvSpPr>
            <a:spLocks noGrp="1"/>
          </p:cNvSpPr>
          <p:nvPr>
            <p:ph type="ftr" sz="quarter" idx="11"/>
          </p:nvPr>
        </p:nvSpPr>
        <p:spPr bwMode="gray">
          <a:xfrm>
            <a:off x="3587750" y="7051675"/>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900" y="7051675"/>
            <a:ext cx="473076" cy="144000"/>
          </a:xfrm>
        </p:spPr>
        <p:txBody>
          <a:bodyPr/>
          <a:lstStyle/>
          <a:p>
            <a:fld id="{F9A56513-F998-4254-9CEB-F507EE6F3742}" type="slidenum">
              <a:rPr lang="en-GB" smtClean="0"/>
              <a:pPr/>
              <a:t>‹#›</a:t>
            </a:fld>
            <a:endParaRPr lang="en-GB" dirty="0"/>
          </a:p>
        </p:txBody>
      </p:sp>
      <p:sp>
        <p:nvSpPr>
          <p:cNvPr id="17" name="Content Placeholder 12"/>
          <p:cNvSpPr>
            <a:spLocks noGrp="1"/>
          </p:cNvSpPr>
          <p:nvPr>
            <p:ph sz="quarter" idx="15"/>
          </p:nvPr>
        </p:nvSpPr>
        <p:spPr bwMode="gray">
          <a:xfrm>
            <a:off x="594000" y="1474788"/>
            <a:ext cx="467995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8" name="Content Placeholder 15"/>
          <p:cNvSpPr>
            <a:spLocks noGrp="1"/>
          </p:cNvSpPr>
          <p:nvPr>
            <p:ph sz="quarter" idx="16"/>
          </p:nvPr>
        </p:nvSpPr>
        <p:spPr bwMode="gray">
          <a:xfrm>
            <a:off x="5399087" y="1474789"/>
            <a:ext cx="4680000" cy="530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Content Placeholder 12"/>
          <p:cNvSpPr>
            <a:spLocks noGrp="1"/>
          </p:cNvSpPr>
          <p:nvPr>
            <p:ph sz="quarter" idx="17"/>
          </p:nvPr>
        </p:nvSpPr>
        <p:spPr bwMode="gray">
          <a:xfrm>
            <a:off x="594000" y="4191793"/>
            <a:ext cx="467995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orizontal Content &amp; Double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94000" y="709613"/>
            <a:ext cx="9504363" cy="612000"/>
          </a:xfrm>
        </p:spPr>
        <p:txBody>
          <a:bodyPr/>
          <a:lstStyle/>
          <a:p>
            <a:r>
              <a:rPr lang="en-US" smtClean="0"/>
              <a:t>Click to edit Master title style</a:t>
            </a:r>
            <a:endParaRPr lang="en-GB"/>
          </a:p>
        </p:txBody>
      </p:sp>
      <p:sp>
        <p:nvSpPr>
          <p:cNvPr id="5" name="Footer Placeholder 4"/>
          <p:cNvSpPr>
            <a:spLocks noGrp="1"/>
          </p:cNvSpPr>
          <p:nvPr>
            <p:ph type="ftr" sz="quarter" idx="11"/>
          </p:nvPr>
        </p:nvSpPr>
        <p:spPr bwMode="gray">
          <a:xfrm>
            <a:off x="3587750" y="7051675"/>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900" y="7051675"/>
            <a:ext cx="473076" cy="144000"/>
          </a:xfrm>
        </p:spPr>
        <p:txBody>
          <a:bodyPr/>
          <a:lstStyle/>
          <a:p>
            <a:fld id="{F9A56513-F998-4254-9CEB-F507EE6F3742}" type="slidenum">
              <a:rPr lang="en-GB" smtClean="0"/>
              <a:pPr/>
              <a:t>‹#›</a:t>
            </a:fld>
            <a:endParaRPr lang="en-GB" dirty="0"/>
          </a:p>
        </p:txBody>
      </p:sp>
      <p:sp>
        <p:nvSpPr>
          <p:cNvPr id="17" name="Content Placeholder 12"/>
          <p:cNvSpPr>
            <a:spLocks noGrp="1"/>
          </p:cNvSpPr>
          <p:nvPr>
            <p:ph sz="quarter" idx="15"/>
          </p:nvPr>
        </p:nvSpPr>
        <p:spPr bwMode="gray">
          <a:xfrm>
            <a:off x="594000" y="1474788"/>
            <a:ext cx="9491662"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Content Placeholder 12"/>
          <p:cNvSpPr>
            <a:spLocks noGrp="1"/>
          </p:cNvSpPr>
          <p:nvPr>
            <p:ph sz="quarter" idx="17"/>
          </p:nvPr>
        </p:nvSpPr>
        <p:spPr bwMode="gray">
          <a:xfrm>
            <a:off x="594000" y="4191793"/>
            <a:ext cx="467995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Content Placeholder 15"/>
          <p:cNvSpPr>
            <a:spLocks noGrp="1"/>
          </p:cNvSpPr>
          <p:nvPr>
            <p:ph sz="quarter" idx="18"/>
          </p:nvPr>
        </p:nvSpPr>
        <p:spPr bwMode="gray">
          <a:xfrm>
            <a:off x="5399087" y="4191793"/>
            <a:ext cx="468000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orizontal Double Content &amp;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94000" y="709613"/>
            <a:ext cx="9504363" cy="612000"/>
          </a:xfrm>
        </p:spPr>
        <p:txBody>
          <a:bodyPr/>
          <a:lstStyle/>
          <a:p>
            <a:r>
              <a:rPr lang="en-US" smtClean="0"/>
              <a:t>Click to edit Master title style</a:t>
            </a:r>
            <a:endParaRPr lang="en-GB" dirty="0"/>
          </a:p>
        </p:txBody>
      </p:sp>
      <p:sp>
        <p:nvSpPr>
          <p:cNvPr id="5" name="Footer Placeholder 4"/>
          <p:cNvSpPr>
            <a:spLocks noGrp="1"/>
          </p:cNvSpPr>
          <p:nvPr>
            <p:ph type="ftr" sz="quarter" idx="11"/>
          </p:nvPr>
        </p:nvSpPr>
        <p:spPr bwMode="gray">
          <a:xfrm>
            <a:off x="3587750" y="7051675"/>
            <a:ext cx="5932487" cy="144000"/>
          </a:xfrm>
        </p:spPr>
        <p:txBody>
          <a:bodyPr/>
          <a:lstStyle/>
          <a:p>
            <a:endParaRPr lang="en-GB" dirty="0"/>
          </a:p>
        </p:txBody>
      </p:sp>
      <p:sp>
        <p:nvSpPr>
          <p:cNvPr id="6" name="Slide Number Placeholder 5"/>
          <p:cNvSpPr>
            <a:spLocks noGrp="1"/>
          </p:cNvSpPr>
          <p:nvPr>
            <p:ph type="sldNum" sz="quarter" idx="12"/>
          </p:nvPr>
        </p:nvSpPr>
        <p:spPr bwMode="gray">
          <a:xfrm>
            <a:off x="9613900" y="7051675"/>
            <a:ext cx="473076" cy="144000"/>
          </a:xfrm>
        </p:spPr>
        <p:txBody>
          <a:bodyPr/>
          <a:lstStyle/>
          <a:p>
            <a:fld id="{F9A56513-F998-4254-9CEB-F507EE6F3742}" type="slidenum">
              <a:rPr lang="en-GB" smtClean="0"/>
              <a:pPr/>
              <a:t>‹#›</a:t>
            </a:fld>
            <a:endParaRPr lang="en-GB" dirty="0"/>
          </a:p>
        </p:txBody>
      </p:sp>
      <p:sp>
        <p:nvSpPr>
          <p:cNvPr id="17" name="Content Placeholder 12"/>
          <p:cNvSpPr>
            <a:spLocks noGrp="1"/>
          </p:cNvSpPr>
          <p:nvPr>
            <p:ph sz="quarter" idx="15"/>
          </p:nvPr>
        </p:nvSpPr>
        <p:spPr bwMode="gray">
          <a:xfrm>
            <a:off x="594000" y="1474788"/>
            <a:ext cx="4679950"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8" name="Content Placeholder 15"/>
          <p:cNvSpPr>
            <a:spLocks noGrp="1"/>
          </p:cNvSpPr>
          <p:nvPr>
            <p:ph sz="quarter" idx="16"/>
          </p:nvPr>
        </p:nvSpPr>
        <p:spPr bwMode="gray">
          <a:xfrm>
            <a:off x="5418138" y="1474788"/>
            <a:ext cx="4668837"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Content Placeholder 12"/>
          <p:cNvSpPr>
            <a:spLocks noGrp="1"/>
          </p:cNvSpPr>
          <p:nvPr>
            <p:ph sz="quarter" idx="17"/>
          </p:nvPr>
        </p:nvSpPr>
        <p:spPr bwMode="gray">
          <a:xfrm>
            <a:off x="594000" y="4191793"/>
            <a:ext cx="9491662" cy="25915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94000" y="709613"/>
            <a:ext cx="9504363" cy="612000"/>
          </a:xfrm>
        </p:spPr>
        <p:txBody>
          <a:bodyPr/>
          <a:lstStyle/>
          <a:p>
            <a:r>
              <a:rPr lang="en-US" smtClean="0"/>
              <a:t>Click to edit Master title style</a:t>
            </a:r>
            <a:endParaRPr lang="en-GB"/>
          </a:p>
        </p:txBody>
      </p:sp>
      <p:sp>
        <p:nvSpPr>
          <p:cNvPr id="3" name="Footer Placeholder 2"/>
          <p:cNvSpPr>
            <a:spLocks noGrp="1"/>
          </p:cNvSpPr>
          <p:nvPr>
            <p:ph type="ftr" sz="quarter" idx="10"/>
          </p:nvPr>
        </p:nvSpPr>
        <p:spPr>
          <a:xfrm>
            <a:off x="3587750" y="7056087"/>
            <a:ext cx="5932487" cy="144000"/>
          </a:xfrm>
        </p:spPr>
        <p:txBody>
          <a:bodyPr/>
          <a:lstStyle/>
          <a:p>
            <a:endParaRPr lang="en-GB" dirty="0"/>
          </a:p>
        </p:txBody>
      </p:sp>
      <p:sp>
        <p:nvSpPr>
          <p:cNvPr id="4" name="Slide Number Placeholder 3"/>
          <p:cNvSpPr>
            <a:spLocks noGrp="1"/>
          </p:cNvSpPr>
          <p:nvPr>
            <p:ph type="sldNum" sz="quarter" idx="11"/>
          </p:nvPr>
        </p:nvSpPr>
        <p:spPr>
          <a:xfrm>
            <a:off x="9601200" y="7056087"/>
            <a:ext cx="488950" cy="144000"/>
          </a:xfrm>
        </p:spPr>
        <p:txBody>
          <a:bodyPr vert="horz" lIns="0" tIns="0" rIns="0" bIns="0" rtlCol="0" anchor="ctr"/>
          <a:lstStyle>
            <a:lvl1pPr marL="0" algn="r" defTabSz="1043056" rtl="0" eaLnBrk="1" latinLnBrk="0" hangingPunct="1">
              <a:defRPr lang="en-GB" sz="700" kern="1200" smtClean="0">
                <a:solidFill>
                  <a:schemeClr val="tx1">
                    <a:tint val="75000"/>
                  </a:schemeClr>
                </a:solidFill>
                <a:latin typeface="+mn-lt"/>
                <a:ea typeface="+mn-ea"/>
                <a:cs typeface="+mn-cs"/>
              </a:defRPr>
            </a:lvl1pPr>
          </a:lstStyle>
          <a:p>
            <a:fld id="{F9A56513-F998-4254-9CEB-F507EE6F3742}" type="slidenum">
              <a:rPr lang="en-GB" smtClean="0"/>
              <a:pPr/>
              <a:t>‹#›</a:t>
            </a:fld>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3587750" y="7056087"/>
            <a:ext cx="5932487" cy="144000"/>
          </a:xfrm>
        </p:spPr>
        <p:txBody>
          <a:bodyPr/>
          <a:lstStyle/>
          <a:p>
            <a:endParaRPr lang="en-GB" dirty="0"/>
          </a:p>
        </p:txBody>
      </p:sp>
      <p:sp>
        <p:nvSpPr>
          <p:cNvPr id="4" name="Slide Number Placeholder 3"/>
          <p:cNvSpPr>
            <a:spLocks noGrp="1"/>
          </p:cNvSpPr>
          <p:nvPr>
            <p:ph type="sldNum" sz="quarter" idx="11"/>
          </p:nvPr>
        </p:nvSpPr>
        <p:spPr>
          <a:xfrm>
            <a:off x="9601200" y="7056087"/>
            <a:ext cx="488950" cy="144000"/>
          </a:xfrm>
        </p:spPr>
        <p:txBody>
          <a:bodyPr/>
          <a:lstStyle/>
          <a:p>
            <a:fld id="{F9A56513-F998-4254-9CEB-F507EE6F3742}" type="slidenum">
              <a:rPr lang="en-GB" smtClean="0"/>
              <a:pPr/>
              <a:t>‹#›</a:t>
            </a:fld>
            <a:endParaRPr lang="en-GB"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6" name="Freeform 5"/>
          <p:cNvSpPr>
            <a:spLocks noChangeAspect="1"/>
          </p:cNvSpPr>
          <p:nvPr userDrawn="1"/>
        </p:nvSpPr>
        <p:spPr bwMode="gray">
          <a:xfrm>
            <a:off x="591233" y="783302"/>
            <a:ext cx="4640642" cy="4251321"/>
          </a:xfrm>
          <a:custGeom>
            <a:avLst/>
            <a:gdLst>
              <a:gd name="connsiteX0" fmla="*/ 0 w 10031"/>
              <a:gd name="connsiteY0" fmla="*/ 0 h 14589"/>
              <a:gd name="connsiteX1" fmla="*/ 31 w 10031"/>
              <a:gd name="connsiteY1" fmla="*/ 14589 h 14589"/>
              <a:gd name="connsiteX2" fmla="*/ 10031 w 10031"/>
              <a:gd name="connsiteY2" fmla="*/ 11790 h 14589"/>
              <a:gd name="connsiteX3" fmla="*/ 10031 w 10031"/>
              <a:gd name="connsiteY3" fmla="*/ 4589 h 14589"/>
              <a:gd name="connsiteX4" fmla="*/ 0 w 10031"/>
              <a:gd name="connsiteY4" fmla="*/ 0 h 14589"/>
              <a:gd name="connsiteX0" fmla="*/ 0 w 10031"/>
              <a:gd name="connsiteY0" fmla="*/ 0 h 14589"/>
              <a:gd name="connsiteX1" fmla="*/ 31 w 10031"/>
              <a:gd name="connsiteY1" fmla="*/ 14589 h 14589"/>
              <a:gd name="connsiteX2" fmla="*/ 10031 w 10031"/>
              <a:gd name="connsiteY2" fmla="*/ 11790 h 14589"/>
              <a:gd name="connsiteX3" fmla="*/ 10031 w 10031"/>
              <a:gd name="connsiteY3" fmla="*/ 0 h 14589"/>
              <a:gd name="connsiteX4" fmla="*/ 0 w 10031"/>
              <a:gd name="connsiteY4" fmla="*/ 0 h 14589"/>
              <a:gd name="connsiteX0" fmla="*/ 2 w 10033"/>
              <a:gd name="connsiteY0" fmla="*/ 0 h 14589"/>
              <a:gd name="connsiteX1" fmla="*/ 2 w 10033"/>
              <a:gd name="connsiteY1" fmla="*/ 14589 h 14589"/>
              <a:gd name="connsiteX2" fmla="*/ 10033 w 10033"/>
              <a:gd name="connsiteY2" fmla="*/ 11790 h 14589"/>
              <a:gd name="connsiteX3" fmla="*/ 10033 w 10033"/>
              <a:gd name="connsiteY3" fmla="*/ 0 h 14589"/>
              <a:gd name="connsiteX4" fmla="*/ 2 w 10033"/>
              <a:gd name="connsiteY4" fmla="*/ 0 h 14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3" h="14589">
                <a:moveTo>
                  <a:pt x="2" y="0"/>
                </a:moveTo>
                <a:cubicBezTo>
                  <a:pt x="12" y="4863"/>
                  <a:pt x="-8" y="9726"/>
                  <a:pt x="2" y="14589"/>
                </a:cubicBezTo>
                <a:lnTo>
                  <a:pt x="10033" y="11790"/>
                </a:lnTo>
                <a:lnTo>
                  <a:pt x="10033" y="0"/>
                </a:lnTo>
                <a:lnTo>
                  <a:pt x="2"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8" name="Text Placeholder 7"/>
          <p:cNvSpPr>
            <a:spLocks noGrp="1"/>
          </p:cNvSpPr>
          <p:nvPr>
            <p:ph type="body" sz="quarter" idx="10" hasCustomPrompt="1"/>
          </p:nvPr>
        </p:nvSpPr>
        <p:spPr bwMode="gray">
          <a:xfrm>
            <a:off x="882204" y="1278000"/>
            <a:ext cx="3924000" cy="280121"/>
          </a:xfrm>
        </p:spPr>
        <p:txBody>
          <a:bodyPr wrap="none" anchor="ctr" anchorCtr="0"/>
          <a:lstStyle>
            <a:lvl1pPr>
              <a:defRPr lang="en-US" sz="1400" b="1" kern="1200" dirty="0" smtClean="0">
                <a:solidFill>
                  <a:schemeClr val="accent1"/>
                </a:solidFill>
                <a:latin typeface="+mj-lt"/>
                <a:ea typeface="+mn-ea"/>
                <a:cs typeface="Arial" charset="0"/>
              </a:defRPr>
            </a:lvl1pPr>
          </a:lstStyle>
          <a:p>
            <a:pPr lvl="0"/>
            <a:r>
              <a:rPr lang="en-US" dirty="0" smtClean="0"/>
              <a:t>Section #</a:t>
            </a:r>
          </a:p>
        </p:txBody>
      </p:sp>
      <p:sp>
        <p:nvSpPr>
          <p:cNvPr id="10" name="Text Placeholder 9"/>
          <p:cNvSpPr>
            <a:spLocks noGrp="1"/>
          </p:cNvSpPr>
          <p:nvPr>
            <p:ph type="body" sz="quarter" idx="11" hasCustomPrompt="1"/>
          </p:nvPr>
        </p:nvSpPr>
        <p:spPr bwMode="gray">
          <a:xfrm>
            <a:off x="882204" y="1581150"/>
            <a:ext cx="3924000" cy="781050"/>
          </a:xfrm>
        </p:spPr>
        <p:txBody>
          <a:bodyPr/>
          <a:lstStyle>
            <a:lvl1pPr>
              <a:lnSpc>
                <a:spcPct val="90000"/>
              </a:lnSpc>
              <a:spcAft>
                <a:spcPts val="0"/>
              </a:spcAft>
              <a:defRPr lang="en-GB" sz="3000" b="1" kern="1200" dirty="0" smtClean="0">
                <a:solidFill>
                  <a:schemeClr val="accent1"/>
                </a:solidFill>
                <a:latin typeface="+mn-lt"/>
                <a:ea typeface="+mn-ea"/>
                <a:cs typeface="Arial" charset="0"/>
              </a:defRPr>
            </a:lvl1pPr>
          </a:lstStyle>
          <a:p>
            <a:pPr lvl="0"/>
            <a:r>
              <a:rPr lang="en-GB" dirty="0" smtClean="0"/>
              <a:t>Section</a:t>
            </a:r>
            <a:endParaRPr lang="en-GB"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Divider">
    <p:spTree>
      <p:nvGrpSpPr>
        <p:cNvPr id="1" name=""/>
        <p:cNvGrpSpPr/>
        <p:nvPr/>
      </p:nvGrpSpPr>
      <p:grpSpPr>
        <a:xfrm>
          <a:off x="0" y="0"/>
          <a:ext cx="0" cy="0"/>
          <a:chOff x="0" y="0"/>
          <a:chExt cx="0" cy="0"/>
        </a:xfrm>
      </p:grpSpPr>
      <p:sp>
        <p:nvSpPr>
          <p:cNvPr id="6" name="Freeform 5"/>
          <p:cNvSpPr>
            <a:spLocks noChangeAspect="1"/>
          </p:cNvSpPr>
          <p:nvPr userDrawn="1"/>
        </p:nvSpPr>
        <p:spPr bwMode="gray">
          <a:xfrm>
            <a:off x="591335" y="783302"/>
            <a:ext cx="3034249" cy="2770858"/>
          </a:xfrm>
          <a:custGeom>
            <a:avLst/>
            <a:gdLst>
              <a:gd name="connsiteX0" fmla="*/ 0 w 10031"/>
              <a:gd name="connsiteY0" fmla="*/ 0 h 14589"/>
              <a:gd name="connsiteX1" fmla="*/ 31 w 10031"/>
              <a:gd name="connsiteY1" fmla="*/ 14589 h 14589"/>
              <a:gd name="connsiteX2" fmla="*/ 10031 w 10031"/>
              <a:gd name="connsiteY2" fmla="*/ 11790 h 14589"/>
              <a:gd name="connsiteX3" fmla="*/ 10031 w 10031"/>
              <a:gd name="connsiteY3" fmla="*/ 4589 h 14589"/>
              <a:gd name="connsiteX4" fmla="*/ 0 w 10031"/>
              <a:gd name="connsiteY4" fmla="*/ 0 h 14589"/>
              <a:gd name="connsiteX0" fmla="*/ 0 w 10031"/>
              <a:gd name="connsiteY0" fmla="*/ 0 h 14589"/>
              <a:gd name="connsiteX1" fmla="*/ 31 w 10031"/>
              <a:gd name="connsiteY1" fmla="*/ 14589 h 14589"/>
              <a:gd name="connsiteX2" fmla="*/ 10031 w 10031"/>
              <a:gd name="connsiteY2" fmla="*/ 11790 h 14589"/>
              <a:gd name="connsiteX3" fmla="*/ 10031 w 10031"/>
              <a:gd name="connsiteY3" fmla="*/ 0 h 14589"/>
              <a:gd name="connsiteX4" fmla="*/ 0 w 10031"/>
              <a:gd name="connsiteY4" fmla="*/ 0 h 14589"/>
              <a:gd name="connsiteX0" fmla="*/ 33 w 10064"/>
              <a:gd name="connsiteY0" fmla="*/ 0 h 14589"/>
              <a:gd name="connsiteX1" fmla="*/ 1 w 10064"/>
              <a:gd name="connsiteY1" fmla="*/ 14589 h 14589"/>
              <a:gd name="connsiteX2" fmla="*/ 10064 w 10064"/>
              <a:gd name="connsiteY2" fmla="*/ 11790 h 14589"/>
              <a:gd name="connsiteX3" fmla="*/ 10064 w 10064"/>
              <a:gd name="connsiteY3" fmla="*/ 0 h 14589"/>
              <a:gd name="connsiteX4" fmla="*/ 33 w 10064"/>
              <a:gd name="connsiteY4" fmla="*/ 0 h 14589"/>
              <a:gd name="connsiteX0" fmla="*/ 2 w 10065"/>
              <a:gd name="connsiteY0" fmla="*/ 0 h 14589"/>
              <a:gd name="connsiteX1" fmla="*/ 2 w 10065"/>
              <a:gd name="connsiteY1" fmla="*/ 14589 h 14589"/>
              <a:gd name="connsiteX2" fmla="*/ 10065 w 10065"/>
              <a:gd name="connsiteY2" fmla="*/ 11790 h 14589"/>
              <a:gd name="connsiteX3" fmla="*/ 10065 w 10065"/>
              <a:gd name="connsiteY3" fmla="*/ 0 h 14589"/>
              <a:gd name="connsiteX4" fmla="*/ 2 w 10065"/>
              <a:gd name="connsiteY4" fmla="*/ 0 h 14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5" h="14589">
                <a:moveTo>
                  <a:pt x="2" y="0"/>
                </a:moveTo>
                <a:cubicBezTo>
                  <a:pt x="12" y="4863"/>
                  <a:pt x="-8" y="9726"/>
                  <a:pt x="2" y="14589"/>
                </a:cubicBezTo>
                <a:lnTo>
                  <a:pt x="10065" y="11790"/>
                </a:lnTo>
                <a:lnTo>
                  <a:pt x="10065" y="0"/>
                </a:lnTo>
                <a:lnTo>
                  <a:pt x="2"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8" name="Text Placeholder 7"/>
          <p:cNvSpPr>
            <a:spLocks noGrp="1"/>
          </p:cNvSpPr>
          <p:nvPr>
            <p:ph type="body" sz="quarter" idx="10" hasCustomPrompt="1"/>
          </p:nvPr>
        </p:nvSpPr>
        <p:spPr bwMode="gray">
          <a:xfrm>
            <a:off x="882204" y="1277726"/>
            <a:ext cx="2520000" cy="280121"/>
          </a:xfrm>
        </p:spPr>
        <p:txBody>
          <a:bodyPr wrap="none" anchor="ctr" anchorCtr="0"/>
          <a:lstStyle>
            <a:lvl1pPr>
              <a:defRPr lang="en-US" sz="1400" b="1" kern="1200" dirty="0" smtClean="0">
                <a:solidFill>
                  <a:schemeClr val="accent1"/>
                </a:solidFill>
                <a:latin typeface="+mj-lt"/>
                <a:ea typeface="+mn-ea"/>
                <a:cs typeface="Arial" charset="0"/>
              </a:defRPr>
            </a:lvl1pPr>
          </a:lstStyle>
          <a:p>
            <a:pPr lvl="0"/>
            <a:r>
              <a:rPr lang="en-US" dirty="0" smtClean="0"/>
              <a:t>Section #</a:t>
            </a:r>
          </a:p>
        </p:txBody>
      </p:sp>
      <p:sp>
        <p:nvSpPr>
          <p:cNvPr id="10" name="Text Placeholder 9"/>
          <p:cNvSpPr>
            <a:spLocks noGrp="1"/>
          </p:cNvSpPr>
          <p:nvPr>
            <p:ph type="body" sz="quarter" idx="11" hasCustomPrompt="1"/>
          </p:nvPr>
        </p:nvSpPr>
        <p:spPr bwMode="gray">
          <a:xfrm>
            <a:off x="3798888" y="1155654"/>
            <a:ext cx="2520000" cy="781050"/>
          </a:xfrm>
        </p:spPr>
        <p:txBody>
          <a:bodyPr/>
          <a:lstStyle>
            <a:lvl1pPr>
              <a:lnSpc>
                <a:spcPct val="90000"/>
              </a:lnSpc>
              <a:spcAft>
                <a:spcPts val="0"/>
              </a:spcAft>
              <a:defRPr lang="en-GB" sz="3000" b="1" kern="1200" dirty="0" smtClean="0">
                <a:solidFill>
                  <a:schemeClr val="accent1"/>
                </a:solidFill>
                <a:latin typeface="+mn-lt"/>
                <a:ea typeface="+mn-ea"/>
                <a:cs typeface="Arial" charset="0"/>
              </a:defRPr>
            </a:lvl1pPr>
          </a:lstStyle>
          <a:p>
            <a:pPr lvl="0"/>
            <a:r>
              <a:rPr lang="en-GB" dirty="0" smtClean="0"/>
              <a:t>Section</a:t>
            </a:r>
            <a:endParaRPr lang="en-GB" dirty="0"/>
          </a:p>
        </p:txBody>
      </p:sp>
    </p:spTree>
    <p:extLst>
      <p:ext uri="{BB962C8B-B14F-4D97-AF65-F5344CB8AC3E}">
        <p14:creationId xmlns:p14="http://schemas.microsoft.com/office/powerpoint/2010/main" val="7348825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V layou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bwMode="gray">
          <a:xfrm>
            <a:off x="3587750" y="7051676"/>
            <a:ext cx="5932487" cy="144000"/>
          </a:xfrm>
        </p:spPr>
        <p:txBody>
          <a:bodyPr/>
          <a:lstStyle/>
          <a:p>
            <a:endParaRPr lang="en-GB" dirty="0"/>
          </a:p>
        </p:txBody>
      </p:sp>
      <p:sp>
        <p:nvSpPr>
          <p:cNvPr id="6" name="Slide Number Placeholder 5"/>
          <p:cNvSpPr>
            <a:spLocks noGrp="1"/>
          </p:cNvSpPr>
          <p:nvPr>
            <p:ph type="sldNum" sz="quarter" idx="12"/>
          </p:nvPr>
        </p:nvSpPr>
        <p:spPr bwMode="gray">
          <a:xfrm>
            <a:off x="9604172" y="7051676"/>
            <a:ext cx="473076" cy="144000"/>
          </a:xfrm>
        </p:spPr>
        <p:txBody>
          <a:bodyPr/>
          <a:lstStyle/>
          <a:p>
            <a:fld id="{F9A56513-F998-4254-9CEB-F507EE6F3742}" type="slidenum">
              <a:rPr lang="en-GB" smtClean="0"/>
              <a:pPr/>
              <a:t>‹#›</a:t>
            </a:fld>
            <a:endParaRPr lang="en-GB" dirty="0"/>
          </a:p>
        </p:txBody>
      </p:sp>
      <p:sp>
        <p:nvSpPr>
          <p:cNvPr id="8" name="Text Placeholder 7"/>
          <p:cNvSpPr>
            <a:spLocks noGrp="1"/>
          </p:cNvSpPr>
          <p:nvPr>
            <p:ph type="body" sz="quarter" idx="13"/>
          </p:nvPr>
        </p:nvSpPr>
        <p:spPr bwMode="gray">
          <a:xfrm>
            <a:off x="594000" y="2532063"/>
            <a:ext cx="3042000" cy="1788510"/>
          </a:xfrm>
        </p:spPr>
        <p:txBody>
          <a:bodyPr/>
          <a:lstStyle>
            <a:lvl1pPr>
              <a:defRPr sz="800"/>
            </a:lvl1pPr>
            <a:lvl2pPr>
              <a:spcBef>
                <a:spcPts val="0"/>
              </a:spcBef>
              <a:defRPr sz="1200"/>
            </a:lvl2pPr>
            <a:lvl3pPr>
              <a:spcBef>
                <a:spcPts val="0"/>
              </a:spcBef>
              <a:defRPr sz="1000"/>
            </a:lvl3pPr>
            <a:lvl4pPr>
              <a:defRPr sz="800"/>
            </a:lvl4pPr>
            <a:lvl5pPr>
              <a:defRPr sz="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7" name="Slide Number Placeholder 5"/>
          <p:cNvSpPr txBox="1">
            <a:spLocks/>
          </p:cNvSpPr>
          <p:nvPr/>
        </p:nvSpPr>
        <p:spPr bwMode="gray">
          <a:xfrm>
            <a:off x="11449099" y="7065963"/>
            <a:ext cx="673099" cy="106362"/>
          </a:xfrm>
          <a:prstGeom prst="rect">
            <a:avLst/>
          </a:prstGeom>
          <a:noFill/>
        </p:spPr>
        <p:txBody>
          <a:bodyPr vert="horz" lIns="0" tIns="0" rIns="0" bIns="0" rtlCol="0" anchor="ctr"/>
          <a:lstStyle/>
          <a:p>
            <a:pPr marL="0" marR="0" lvl="0" indent="0" algn="r" defTabSz="995363" rtl="0" eaLnBrk="1" fontAlgn="auto" latinLnBrk="0" hangingPunct="1">
              <a:lnSpc>
                <a:spcPct val="100000"/>
              </a:lnSpc>
              <a:spcBef>
                <a:spcPts val="0"/>
              </a:spcBef>
              <a:spcAft>
                <a:spcPts val="0"/>
              </a:spcAft>
              <a:buClrTx/>
              <a:buSzTx/>
              <a:buFontTx/>
              <a:buNone/>
              <a:tabLst/>
              <a:defRPr/>
            </a:pPr>
            <a:fld id="{D51AFCD6-FAF1-4D1C-9B2E-BFFBCC7B4BD7}" type="slidenum">
              <a:rPr kumimoji="0" lang="en-GB" sz="7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95363" rtl="0" eaLnBrk="1" fontAlgn="auto" latinLnBrk="0" hangingPunct="1">
                <a:lnSpc>
                  <a:spcPct val="100000"/>
                </a:lnSpc>
                <a:spcBef>
                  <a:spcPts val="0"/>
                </a:spcBef>
                <a:spcAft>
                  <a:spcPts val="0"/>
                </a:spcAft>
                <a:buClrTx/>
                <a:buSzTx/>
                <a:buFontTx/>
                <a:buNone/>
                <a:tabLst/>
                <a:defRPr/>
              </a:pPr>
              <a:t>‹#›</a:t>
            </a:fld>
            <a:endParaRPr kumimoji="0" lang="en-GB" sz="7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5" name="Text Placeholder 7"/>
          <p:cNvSpPr>
            <a:spLocks noGrp="1"/>
          </p:cNvSpPr>
          <p:nvPr>
            <p:ph type="body" sz="quarter" idx="17"/>
          </p:nvPr>
        </p:nvSpPr>
        <p:spPr bwMode="gray">
          <a:xfrm>
            <a:off x="3807842" y="2532063"/>
            <a:ext cx="3042000" cy="4271962"/>
          </a:xfrm>
        </p:spPr>
        <p:txBody>
          <a:bodyPr/>
          <a:lstStyle>
            <a:lvl1pPr>
              <a:defRPr sz="800"/>
            </a:lvl1pPr>
            <a:lvl2pPr>
              <a:spcBef>
                <a:spcPts val="0"/>
              </a:spcBef>
              <a:defRPr sz="1200"/>
            </a:lvl2pPr>
            <a:lvl3pPr>
              <a:spcBef>
                <a:spcPts val="0"/>
              </a:spcBef>
              <a:defRPr sz="1000"/>
            </a:lvl3pPr>
            <a:lvl4pPr>
              <a:defRPr sz="800"/>
            </a:lvl4pPr>
            <a:lvl5pPr>
              <a:defRPr sz="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1" name="Text Placeholder 7"/>
          <p:cNvSpPr>
            <a:spLocks noGrp="1"/>
          </p:cNvSpPr>
          <p:nvPr>
            <p:ph type="body" sz="quarter" idx="19"/>
          </p:nvPr>
        </p:nvSpPr>
        <p:spPr bwMode="gray">
          <a:xfrm>
            <a:off x="594000" y="4860925"/>
            <a:ext cx="3042000" cy="1943100"/>
          </a:xfrm>
        </p:spPr>
        <p:txBody>
          <a:bodyPr/>
          <a:lstStyle>
            <a:lvl1pPr>
              <a:defRPr sz="800"/>
            </a:lvl1pPr>
            <a:lvl2pPr>
              <a:spcBef>
                <a:spcPts val="0"/>
              </a:spcBef>
              <a:defRPr sz="1200"/>
            </a:lvl2pPr>
            <a:lvl3pPr>
              <a:spcBef>
                <a:spcPts val="0"/>
              </a:spcBef>
              <a:defRPr sz="1000"/>
            </a:lvl3pPr>
            <a:lvl4pPr>
              <a:defRPr sz="800"/>
            </a:lvl4pPr>
            <a:lvl5pPr>
              <a:defRPr sz="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5" name="Text Placeholder 7"/>
          <p:cNvSpPr>
            <a:spLocks noGrp="1"/>
          </p:cNvSpPr>
          <p:nvPr>
            <p:ph type="body" sz="quarter" idx="20"/>
          </p:nvPr>
        </p:nvSpPr>
        <p:spPr bwMode="gray">
          <a:xfrm>
            <a:off x="7031038" y="2532063"/>
            <a:ext cx="3042000" cy="4271962"/>
          </a:xfrm>
        </p:spPr>
        <p:txBody>
          <a:bodyPr/>
          <a:lstStyle>
            <a:lvl1pPr>
              <a:defRPr sz="800"/>
            </a:lvl1pPr>
            <a:lvl2pPr>
              <a:spcBef>
                <a:spcPts val="0"/>
              </a:spcBef>
              <a:defRPr sz="1200"/>
            </a:lvl2pPr>
            <a:lvl3pPr>
              <a:spcBef>
                <a:spcPts val="0"/>
              </a:spcBef>
              <a:defRPr sz="1000"/>
            </a:lvl3pPr>
            <a:lvl4pPr>
              <a:defRPr sz="800"/>
            </a:lvl4pPr>
            <a:lvl5pPr>
              <a:defRPr sz="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3" name="Rectangle 2"/>
          <p:cNvSpPr/>
          <p:nvPr userDrawn="1"/>
        </p:nvSpPr>
        <p:spPr bwMode="white">
          <a:xfrm>
            <a:off x="593725" y="7085735"/>
            <a:ext cx="583911" cy="128588"/>
          </a:xfrm>
          <a:prstGeom prst="rect">
            <a:avLst/>
          </a:prstGeom>
          <a:solidFill>
            <a:schemeClr val="bg1"/>
          </a:solidFill>
          <a:ln w="9525"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4" name="TextBox 3"/>
          <p:cNvSpPr txBox="1"/>
          <p:nvPr userDrawn="1"/>
        </p:nvSpPr>
        <p:spPr bwMode="gray">
          <a:xfrm>
            <a:off x="593725" y="684213"/>
            <a:ext cx="2824149" cy="2592362"/>
          </a:xfrm>
          <a:prstGeom prst="rect">
            <a:avLst/>
          </a:prstGeom>
          <a:noFill/>
        </p:spPr>
        <p:txBody>
          <a:bodyPr wrap="square" lIns="0" tIns="0" rIns="0" bIns="0" rtlCol="0">
            <a:noAutofit/>
          </a:bodyPr>
          <a:lstStyle/>
          <a:p>
            <a:pPr marL="0" marR="0" lvl="0" indent="0" algn="l" defTabSz="1043056" rtl="0" eaLnBrk="1" fontAlgn="auto" latinLnBrk="0" hangingPunct="1">
              <a:lnSpc>
                <a:spcPct val="100000"/>
              </a:lnSpc>
              <a:spcBef>
                <a:spcPts val="0"/>
              </a:spcBef>
              <a:spcAft>
                <a:spcPts val="1200"/>
              </a:spcAft>
              <a:buClrTx/>
              <a:buSzTx/>
              <a:buFont typeface="Arial" pitchFamily="34" charset="0"/>
              <a:buNone/>
              <a:tabLst/>
              <a:defRPr/>
            </a:pPr>
            <a:r>
              <a:rPr kumimoji="0" lang="en-US" sz="1000" b="1" i="0" u="none" strike="noStrike" kern="1200" cap="none" spc="0" normalizeH="0" baseline="0" noProof="0" dirty="0" smtClean="0">
                <a:ln>
                  <a:noFill/>
                </a:ln>
                <a:solidFill>
                  <a:schemeClr val="tx1"/>
                </a:solidFill>
                <a:effectLst/>
                <a:uLnTx/>
                <a:uFillTx/>
                <a:latin typeface="+mn-lt"/>
                <a:ea typeface="+mn-ea"/>
                <a:cs typeface="+mn-cs"/>
              </a:rPr>
              <a:t>EY</a:t>
            </a:r>
            <a:r>
              <a:rPr kumimoji="0" lang="en-GB" sz="1000" b="0" i="0" u="none" strike="noStrike" kern="1200" cap="none" spc="0" normalizeH="0" baseline="0" noProof="0" dirty="0" smtClean="0">
                <a:ln>
                  <a:noFill/>
                </a:ln>
                <a:solidFill>
                  <a:schemeClr val="tx1"/>
                </a:solidFill>
                <a:effectLst/>
                <a:uLnTx/>
                <a:uFillTx/>
                <a:latin typeface="+mn-lt"/>
                <a:ea typeface="+mn-ea"/>
                <a:cs typeface="+mn-cs"/>
              </a:rPr>
              <a:t> | Assurance | Tax | Transactions | Advisory</a:t>
            </a:r>
          </a:p>
          <a:p>
            <a:pPr marL="0" marR="0" lvl="3" indent="0" algn="l" defTabSz="1043056" rtl="0" eaLnBrk="1" fontAlgn="auto" latinLnBrk="0" hangingPunct="1">
              <a:lnSpc>
                <a:spcPct val="100000"/>
              </a:lnSpc>
              <a:spcBef>
                <a:spcPts val="0"/>
              </a:spcBef>
              <a:spcAft>
                <a:spcPts val="1200"/>
              </a:spcAft>
              <a:buClrTx/>
              <a:buSzPct val="75000"/>
              <a:buFontTx/>
              <a:buNone/>
              <a:tabLst/>
              <a:defRPr/>
            </a:pPr>
            <a:r>
              <a:rPr kumimoji="0" lang="en-GB" sz="1000" b="0" i="0" u="none" strike="noStrike" kern="1200" cap="none" spc="0" normalizeH="0" baseline="0" noProof="0" dirty="0" smtClean="0">
                <a:ln>
                  <a:noFill/>
                </a:ln>
                <a:solidFill>
                  <a:schemeClr val="tx1"/>
                </a:solidFill>
                <a:effectLst/>
                <a:uLnTx/>
                <a:uFillTx/>
                <a:latin typeface="+mn-lt"/>
                <a:ea typeface="+mn-ea"/>
                <a:cs typeface="+mn-cs"/>
              </a:rPr>
              <a:t>Ernst &amp; Young LLP</a:t>
            </a:r>
          </a:p>
          <a:p>
            <a:pPr marL="0" marR="0" lvl="3" indent="0" algn="l" defTabSz="1043056" rtl="0" eaLnBrk="1" fontAlgn="auto" latinLnBrk="0" hangingPunct="1">
              <a:lnSpc>
                <a:spcPct val="100000"/>
              </a:lnSpc>
              <a:spcBef>
                <a:spcPts val="0"/>
              </a:spcBef>
              <a:spcAft>
                <a:spcPts val="500"/>
              </a:spcAft>
              <a:buClrTx/>
              <a:buSzPct val="75000"/>
              <a:buFontTx/>
              <a:buNone/>
              <a:tabLst/>
              <a:defRPr/>
            </a:pPr>
            <a:r>
              <a:rPr kumimoji="0" lang="en-GB" sz="600" b="0" i="0" u="none" strike="noStrike" kern="1200" cap="none" spc="0" normalizeH="0" baseline="0" noProof="0" dirty="0" smtClean="0">
                <a:ln>
                  <a:noFill/>
                </a:ln>
                <a:solidFill>
                  <a:schemeClr val="tx1"/>
                </a:solidFill>
                <a:effectLst/>
                <a:uLnTx/>
                <a:uFillTx/>
                <a:latin typeface="+mn-lt"/>
                <a:ea typeface="+mn-ea"/>
                <a:cs typeface="+mn-cs"/>
              </a:rPr>
              <a:t>© Ernst &amp; Young LLP. Published in the UK.</a:t>
            </a:r>
            <a:br>
              <a:rPr kumimoji="0" lang="en-GB" sz="600" b="0" i="0" u="none" strike="noStrike" kern="1200" cap="none" spc="0" normalizeH="0" baseline="0" noProof="0" dirty="0" smtClean="0">
                <a:ln>
                  <a:noFill/>
                </a:ln>
                <a:solidFill>
                  <a:schemeClr val="tx1"/>
                </a:solidFill>
                <a:effectLst/>
                <a:uLnTx/>
                <a:uFillTx/>
                <a:latin typeface="+mn-lt"/>
                <a:ea typeface="+mn-ea"/>
                <a:cs typeface="+mn-cs"/>
              </a:rPr>
            </a:br>
            <a:r>
              <a:rPr kumimoji="0" lang="en-GB" sz="600" b="0" i="0" u="none" strike="noStrike" kern="1200" cap="none" spc="0" normalizeH="0" baseline="0" noProof="0" dirty="0" smtClean="0">
                <a:ln>
                  <a:noFill/>
                </a:ln>
                <a:solidFill>
                  <a:schemeClr val="tx1"/>
                </a:solidFill>
                <a:effectLst/>
                <a:uLnTx/>
                <a:uFillTx/>
                <a:latin typeface="+mn-lt"/>
                <a:ea typeface="+mn-ea"/>
                <a:cs typeface="+mn-cs"/>
              </a:rPr>
              <a:t>All Rights Reserved.</a:t>
            </a:r>
          </a:p>
          <a:p>
            <a:pPr marL="0" marR="0" lvl="3" indent="0" algn="l" defTabSz="1043056" rtl="0" eaLnBrk="1" fontAlgn="auto" latinLnBrk="0" hangingPunct="1">
              <a:lnSpc>
                <a:spcPct val="100000"/>
              </a:lnSpc>
              <a:spcBef>
                <a:spcPts val="0"/>
              </a:spcBef>
              <a:spcAft>
                <a:spcPts val="500"/>
              </a:spcAft>
              <a:buClrTx/>
              <a:buSzPct val="75000"/>
              <a:buFontTx/>
              <a:buNone/>
              <a:tabLst/>
              <a:defRPr/>
            </a:pPr>
            <a:r>
              <a:rPr kumimoji="0" lang="en-GB" sz="500" b="0" i="0" u="none" strike="noStrike" kern="1200" cap="none" spc="0" normalizeH="0" baseline="0" noProof="0" dirty="0" smtClean="0">
                <a:ln>
                  <a:noFill/>
                </a:ln>
                <a:solidFill>
                  <a:schemeClr val="tx1"/>
                </a:solidFill>
                <a:effectLst/>
                <a:uLnTx/>
                <a:uFillTx/>
                <a:latin typeface="+mn-lt"/>
                <a:ea typeface="+mn-ea"/>
                <a:cs typeface="+mn-cs"/>
              </a:rPr>
              <a:t>The UK firm Ernst &amp; Young LLP is a limited liability partnership registered in England and Wales</a:t>
            </a:r>
            <a:br>
              <a:rPr kumimoji="0" lang="en-GB" sz="500" b="0" i="0" u="none" strike="noStrike" kern="1200" cap="none" spc="0" normalizeH="0" baseline="0" noProof="0" dirty="0" smtClean="0">
                <a:ln>
                  <a:noFill/>
                </a:ln>
                <a:solidFill>
                  <a:schemeClr val="tx1"/>
                </a:solidFill>
                <a:effectLst/>
                <a:uLnTx/>
                <a:uFillTx/>
                <a:latin typeface="+mn-lt"/>
                <a:ea typeface="+mn-ea"/>
                <a:cs typeface="+mn-cs"/>
              </a:rPr>
            </a:br>
            <a:r>
              <a:rPr kumimoji="0" lang="en-GB" sz="500" b="0" i="0" u="none" strike="noStrike" kern="1200" cap="none" spc="0" normalizeH="0" baseline="0" noProof="0" dirty="0" smtClean="0">
                <a:ln>
                  <a:noFill/>
                </a:ln>
                <a:solidFill>
                  <a:schemeClr val="tx1"/>
                </a:solidFill>
                <a:effectLst/>
                <a:uLnTx/>
                <a:uFillTx/>
                <a:latin typeface="+mn-lt"/>
                <a:ea typeface="+mn-ea"/>
                <a:cs typeface="+mn-cs"/>
              </a:rPr>
              <a:t>with registered number OC300001 and is a member firm of Ernst &amp; Young Global Limited.</a:t>
            </a:r>
          </a:p>
          <a:p>
            <a:pPr marL="0" marR="0" lvl="3" indent="0" algn="l" defTabSz="1043056" rtl="0" eaLnBrk="1" fontAlgn="auto" latinLnBrk="0" hangingPunct="1">
              <a:lnSpc>
                <a:spcPct val="100000"/>
              </a:lnSpc>
              <a:spcBef>
                <a:spcPts val="0"/>
              </a:spcBef>
              <a:spcAft>
                <a:spcPts val="500"/>
              </a:spcAft>
              <a:buClrTx/>
              <a:buSzPct val="75000"/>
              <a:buFontTx/>
              <a:buNone/>
              <a:tabLst/>
              <a:defRPr/>
            </a:pPr>
            <a:r>
              <a:rPr kumimoji="0" lang="en-GB" sz="500" b="0" i="0" u="none" strike="noStrike" kern="1200" cap="none" spc="0" normalizeH="0" baseline="0" noProof="0" dirty="0" smtClean="0">
                <a:ln>
                  <a:noFill/>
                </a:ln>
                <a:solidFill>
                  <a:schemeClr val="tx1"/>
                </a:solidFill>
                <a:effectLst/>
                <a:uLnTx/>
                <a:uFillTx/>
                <a:latin typeface="+mn-lt"/>
                <a:ea typeface="+mn-ea"/>
                <a:cs typeface="+mn-cs"/>
              </a:rPr>
              <a:t>Ernst &amp; Young LLP, 1 More London Place, London, SE1 2AF.</a:t>
            </a:r>
          </a:p>
          <a:p>
            <a:pPr marL="0" marR="0" lvl="3" indent="0" algn="l" defTabSz="1043056" rtl="0" eaLnBrk="1" fontAlgn="auto" latinLnBrk="0" hangingPunct="1">
              <a:lnSpc>
                <a:spcPct val="100000"/>
              </a:lnSpc>
              <a:spcBef>
                <a:spcPts val="0"/>
              </a:spcBef>
              <a:spcAft>
                <a:spcPts val="500"/>
              </a:spcAft>
              <a:buClrTx/>
              <a:buSzPct val="75000"/>
              <a:buFontTx/>
              <a:buNone/>
              <a:tabLst/>
              <a:defRPr/>
            </a:pPr>
            <a:r>
              <a:rPr kumimoji="0" lang="en-GB" sz="800" b="0" i="0" u="none" strike="noStrike" kern="1200" cap="none" spc="0" normalizeH="0" baseline="0" noProof="0" dirty="0" smtClean="0">
                <a:ln>
                  <a:noFill/>
                </a:ln>
                <a:solidFill>
                  <a:schemeClr val="tx1"/>
                </a:solidFill>
                <a:effectLst/>
                <a:uLnTx/>
                <a:uFillTx/>
                <a:latin typeface="+mn-lt"/>
                <a:ea typeface="+mn-ea"/>
                <a:cs typeface="+mn-cs"/>
              </a:rPr>
              <a:t>ey.com</a:t>
            </a:r>
            <a:endParaRPr kumimoji="0" lang="en-GB" sz="6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594000" y="709613"/>
            <a:ext cx="9504363" cy="612000"/>
          </a:xfrm>
          <a:prstGeom prst="rect">
            <a:avLst/>
          </a:prstGeom>
        </p:spPr>
        <p:txBody>
          <a:bodyPr vert="horz" lIns="0" tIns="0" rIns="0" bIns="0" rtlCol="0" anchor="b" anchorCtr="0">
            <a:noAutofit/>
          </a:bodyPr>
          <a:lstStyle/>
          <a:p>
            <a:r>
              <a:rPr lang="en-US" smtClean="0"/>
              <a:t>Click to edit Master title style</a:t>
            </a:r>
            <a:endParaRPr lang="en-GB" dirty="0"/>
          </a:p>
        </p:txBody>
      </p:sp>
      <p:sp>
        <p:nvSpPr>
          <p:cNvPr id="3" name="Text Placeholder 2"/>
          <p:cNvSpPr>
            <a:spLocks noGrp="1"/>
          </p:cNvSpPr>
          <p:nvPr>
            <p:ph type="body" idx="1"/>
          </p:nvPr>
        </p:nvSpPr>
        <p:spPr bwMode="gray">
          <a:xfrm>
            <a:off x="594000" y="1474787"/>
            <a:ext cx="9504362" cy="5329238"/>
          </a:xfrm>
          <a:prstGeom prst="rect">
            <a:avLst/>
          </a:prstGeom>
        </p:spPr>
        <p:txBody>
          <a:bodyPr vert="horz" lIns="0" tIns="0" rIns="0" bIns="0" rtlCol="0" anchor="t" anchorCtr="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bwMode="gray">
          <a:xfrm>
            <a:off x="3587750" y="7056087"/>
            <a:ext cx="5932487" cy="144000"/>
          </a:xfrm>
          <a:prstGeom prst="rect">
            <a:avLst/>
          </a:prstGeom>
        </p:spPr>
        <p:txBody>
          <a:bodyPr vert="horz" lIns="0" tIns="0" rIns="0" bIns="0" rtlCol="0" anchor="ctr"/>
          <a:lstStyle>
            <a:lvl1pPr algn="l">
              <a:defRPr sz="7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bwMode="gray">
          <a:xfrm>
            <a:off x="9610725" y="7056087"/>
            <a:ext cx="488950" cy="144000"/>
          </a:xfrm>
          <a:prstGeom prst="rect">
            <a:avLst/>
          </a:prstGeom>
        </p:spPr>
        <p:txBody>
          <a:bodyPr vert="horz" lIns="0" tIns="0" rIns="0" bIns="0" rtlCol="0" anchor="ctr"/>
          <a:lstStyle>
            <a:lvl1pPr algn="r">
              <a:defRPr sz="700">
                <a:solidFill>
                  <a:schemeClr val="tx1">
                    <a:tint val="75000"/>
                  </a:schemeClr>
                </a:solidFill>
              </a:defRPr>
            </a:lvl1pPr>
          </a:lstStyle>
          <a:p>
            <a:fld id="{F9A56513-F998-4254-9CEB-F507EE6F3742}"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846" r:id="rId1"/>
    <p:sldLayoutId id="2147483848" r:id="rId2"/>
    <p:sldLayoutId id="2147483849" r:id="rId3"/>
    <p:sldLayoutId id="2147483868" r:id="rId4"/>
    <p:sldLayoutId id="2147483870" r:id="rId5"/>
    <p:sldLayoutId id="2147483871" r:id="rId6"/>
    <p:sldLayoutId id="2147483850" r:id="rId7"/>
    <p:sldLayoutId id="2147483851" r:id="rId8"/>
    <p:sldLayoutId id="2147483869" r:id="rId9"/>
    <p:sldLayoutId id="2147483852" r:id="rId10"/>
    <p:sldLayoutId id="2147483853" r:id="rId11"/>
    <p:sldLayoutId id="2147483854" r:id="rId12"/>
    <p:sldLayoutId id="2147483855" r:id="rId13"/>
    <p:sldLayoutId id="2147483864" r:id="rId14"/>
    <p:sldLayoutId id="2147483865" r:id="rId15"/>
    <p:sldLayoutId id="2147483856" r:id="rId16"/>
    <p:sldLayoutId id="2147483872" r:id="rId17"/>
    <p:sldLayoutId id="2147483866" r:id="rId18"/>
    <p:sldLayoutId id="2147483862" r:id="rId19"/>
  </p:sldLayoutIdLst>
  <p:hf hdr="0"/>
  <p:txStyles>
    <p:titleStyle>
      <a:lvl1pPr algn="l" defTabSz="1043056" rtl="0" eaLnBrk="1" latinLnBrk="0" hangingPunct="1">
        <a:lnSpc>
          <a:spcPct val="90000"/>
        </a:lnSpc>
        <a:spcBef>
          <a:spcPct val="0"/>
        </a:spcBef>
        <a:buNone/>
        <a:defRPr sz="2400" kern="1200">
          <a:solidFill>
            <a:schemeClr val="accent1"/>
          </a:solidFill>
          <a:latin typeface="+mj-lt"/>
          <a:ea typeface="+mj-ea"/>
          <a:cs typeface="+mj-cs"/>
        </a:defRPr>
      </a:lvl1pPr>
    </p:titleStyle>
    <p:bodyStyle>
      <a:lvl1pPr marL="0" indent="0" algn="l" defTabSz="1043056" rtl="0" eaLnBrk="1" latinLnBrk="0" hangingPunct="1">
        <a:spcBef>
          <a:spcPts val="0"/>
        </a:spcBef>
        <a:spcAft>
          <a:spcPts val="500"/>
        </a:spcAft>
        <a:buFont typeface="Arial" pitchFamily="34" charset="0"/>
        <a:buNone/>
        <a:defRPr sz="1000" kern="1200">
          <a:solidFill>
            <a:schemeClr val="tx1"/>
          </a:solidFill>
          <a:latin typeface="+mn-lt"/>
          <a:ea typeface="+mn-ea"/>
          <a:cs typeface="+mn-cs"/>
        </a:defRPr>
      </a:lvl1pPr>
      <a:lvl2pPr marL="0" indent="0" algn="l" defTabSz="1043056" rtl="0" eaLnBrk="1" latinLnBrk="0" hangingPunct="1">
        <a:spcBef>
          <a:spcPts val="200"/>
        </a:spcBef>
        <a:spcAft>
          <a:spcPts val="500"/>
        </a:spcAft>
        <a:buFontTx/>
        <a:buNone/>
        <a:defRPr sz="1400" b="1" kern="1200">
          <a:solidFill>
            <a:schemeClr val="tx1"/>
          </a:solidFill>
          <a:latin typeface="+mn-lt"/>
          <a:ea typeface="+mn-ea"/>
          <a:cs typeface="+mn-cs"/>
        </a:defRPr>
      </a:lvl2pPr>
      <a:lvl3pPr marL="0" indent="0" algn="l" defTabSz="1043056" rtl="0" eaLnBrk="1" latinLnBrk="0" hangingPunct="1">
        <a:spcBef>
          <a:spcPts val="200"/>
        </a:spcBef>
        <a:spcAft>
          <a:spcPts val="500"/>
        </a:spcAft>
        <a:buFontTx/>
        <a:buNone/>
        <a:defRPr sz="1200" b="1" kern="1200">
          <a:solidFill>
            <a:schemeClr val="accent1"/>
          </a:solidFill>
          <a:latin typeface="+mn-lt"/>
          <a:ea typeface="+mn-ea"/>
          <a:cs typeface="+mn-cs"/>
        </a:defRPr>
      </a:lvl3pPr>
      <a:lvl4pPr marL="177800" indent="-177800" algn="l" defTabSz="1043056"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4pPr>
      <a:lvl5pPr marL="342900" indent="-165100" algn="l" defTabSz="1043056"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4.png"/><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3.emf"/><Relationship Id="rId5" Type="http://schemas.openxmlformats.org/officeDocument/2006/relationships/oleObject" Target="../embeddings/oleObject4.bin"/><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slideLayout" Target="../slideLayouts/slideLayout3.xml"/><Relationship Id="rId7" Type="http://schemas.openxmlformats.org/officeDocument/2006/relationships/diagramData" Target="../diagrams/data1.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3.emf"/><Relationship Id="rId11" Type="http://schemas.microsoft.com/office/2007/relationships/diagramDrawing" Target="../diagrams/drawing1.xml"/><Relationship Id="rId5" Type="http://schemas.openxmlformats.org/officeDocument/2006/relationships/oleObject" Target="../embeddings/oleObject5.bin"/><Relationship Id="rId10" Type="http://schemas.openxmlformats.org/officeDocument/2006/relationships/diagramColors" Target="../diagrams/colors1.xml"/><Relationship Id="rId4" Type="http://schemas.openxmlformats.org/officeDocument/2006/relationships/notesSlide" Target="../notesSlides/notesSlide7.xml"/><Relationship Id="rId9"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Layout" Target="../slideLayouts/slideLayout3.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12.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3.emf"/><Relationship Id="rId5" Type="http://schemas.openxmlformats.org/officeDocument/2006/relationships/oleObject" Target="../embeddings/oleObject7.bin"/><Relationship Id="rId4"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3.emf"/><Relationship Id="rId5" Type="http://schemas.openxmlformats.org/officeDocument/2006/relationships/oleObject" Target="../embeddings/oleObject8.bin"/><Relationship Id="rId4"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16.png"/><Relationship Id="rId5" Type="http://schemas.openxmlformats.org/officeDocument/2006/relationships/image" Target="../media/image15.emf"/><Relationship Id="rId4" Type="http://schemas.openxmlformats.org/officeDocument/2006/relationships/image" Target="../media/image14.emf"/></Relationships>
</file>

<file path=ppt/slides/_rels/slide2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3.xml"/><Relationship Id="rId7" Type="http://schemas.openxmlformats.org/officeDocument/2006/relationships/image" Target="../media/image17.png"/><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3.emf"/><Relationship Id="rId5" Type="http://schemas.openxmlformats.org/officeDocument/2006/relationships/oleObject" Target="../embeddings/oleObject9.bin"/><Relationship Id="rId4"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1.xml"/><Relationship Id="rId1" Type="http://schemas.openxmlformats.org/officeDocument/2006/relationships/vmlDrawing" Target="../drawings/vmlDrawing10.vml"/><Relationship Id="rId6" Type="http://schemas.openxmlformats.org/officeDocument/2006/relationships/image" Target="../media/image3.emf"/><Relationship Id="rId5" Type="http://schemas.openxmlformats.org/officeDocument/2006/relationships/oleObject" Target="../embeddings/oleObject10.bin"/><Relationship Id="rId4" Type="http://schemas.openxmlformats.org/officeDocument/2006/relationships/notesSlide" Target="../notesSlides/notesSlide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2.xml"/><Relationship Id="rId1" Type="http://schemas.openxmlformats.org/officeDocument/2006/relationships/vmlDrawing" Target="../drawings/vmlDrawing11.vml"/><Relationship Id="rId6" Type="http://schemas.openxmlformats.org/officeDocument/2006/relationships/image" Target="../media/image3.emf"/><Relationship Id="rId5" Type="http://schemas.openxmlformats.org/officeDocument/2006/relationships/oleObject" Target="../embeddings/oleObject11.bin"/><Relationship Id="rId4"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3.xml"/><Relationship Id="rId1" Type="http://schemas.openxmlformats.org/officeDocument/2006/relationships/vmlDrawing" Target="../drawings/vmlDrawing12.vml"/><Relationship Id="rId6" Type="http://schemas.openxmlformats.org/officeDocument/2006/relationships/image" Target="../media/image3.emf"/><Relationship Id="rId5" Type="http://schemas.openxmlformats.org/officeDocument/2006/relationships/oleObject" Target="../embeddings/oleObject12.bin"/><Relationship Id="rId4"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4.xml"/><Relationship Id="rId1" Type="http://schemas.openxmlformats.org/officeDocument/2006/relationships/vmlDrawing" Target="../drawings/vmlDrawing13.vml"/><Relationship Id="rId6" Type="http://schemas.openxmlformats.org/officeDocument/2006/relationships/image" Target="../media/image3.emf"/><Relationship Id="rId5" Type="http://schemas.openxmlformats.org/officeDocument/2006/relationships/oleObject" Target="../embeddings/oleObject13.bin"/><Relationship Id="rId4" Type="http://schemas.openxmlformats.org/officeDocument/2006/relationships/notesSlide" Target="../notesSlides/notesSlide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5.xml"/><Relationship Id="rId1" Type="http://schemas.openxmlformats.org/officeDocument/2006/relationships/vmlDrawing" Target="../drawings/vmlDrawing14.vml"/><Relationship Id="rId6" Type="http://schemas.openxmlformats.org/officeDocument/2006/relationships/image" Target="../media/image3.emf"/><Relationship Id="rId5" Type="http://schemas.openxmlformats.org/officeDocument/2006/relationships/oleObject" Target="../embeddings/oleObject14.bin"/><Relationship Id="rId4"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827859" y="525553"/>
            <a:ext cx="7317877" cy="869831"/>
          </a:xfrm>
        </p:spPr>
        <p:txBody>
          <a:bodyPr/>
          <a:lstStyle/>
          <a:p>
            <a:r>
              <a:rPr lang="en-GB" sz="2700" b="0" dirty="0" smtClean="0"/>
              <a:t>EY People and Organisational Change and UnLtd Fast Growth Social Entrepreneurs</a:t>
            </a:r>
            <a:endParaRPr lang="en-GB" sz="2700" dirty="0"/>
          </a:p>
        </p:txBody>
      </p:sp>
      <p:sp>
        <p:nvSpPr>
          <p:cNvPr id="7" name="Text Placeholder 6"/>
          <p:cNvSpPr>
            <a:spLocks noGrp="1"/>
          </p:cNvSpPr>
          <p:nvPr>
            <p:ph type="body" sz="quarter" idx="10"/>
          </p:nvPr>
        </p:nvSpPr>
        <p:spPr>
          <a:xfrm>
            <a:off x="2830224" y="2340471"/>
            <a:ext cx="3274774" cy="354783"/>
          </a:xfrm>
        </p:spPr>
        <p:txBody>
          <a:bodyPr/>
          <a:lstStyle/>
          <a:p>
            <a:r>
              <a:rPr lang="en-GB" sz="1400" dirty="0" smtClean="0">
                <a:latin typeface="+mj-lt"/>
              </a:rPr>
              <a:t>Friday 25</a:t>
            </a:r>
            <a:r>
              <a:rPr lang="en-GB" sz="1400" baseline="30000" dirty="0" smtClean="0">
                <a:latin typeface="+mj-lt"/>
              </a:rPr>
              <a:t>th</a:t>
            </a:r>
            <a:r>
              <a:rPr lang="en-GB" sz="1400" dirty="0" smtClean="0">
                <a:latin typeface="+mj-lt"/>
              </a:rPr>
              <a:t> July </a:t>
            </a:r>
            <a:r>
              <a:rPr lang="en-GB" sz="1400" dirty="0">
                <a:latin typeface="+mj-lt"/>
              </a:rPr>
              <a:t>2014</a:t>
            </a:r>
          </a:p>
        </p:txBody>
      </p:sp>
      <p:sp>
        <p:nvSpPr>
          <p:cNvPr id="8" name="Text Placeholder 6"/>
          <p:cNvSpPr txBox="1">
            <a:spLocks/>
          </p:cNvSpPr>
          <p:nvPr/>
        </p:nvSpPr>
        <p:spPr>
          <a:xfrm>
            <a:off x="2830224" y="1536155"/>
            <a:ext cx="7053551" cy="516283"/>
          </a:xfrm>
          <a:prstGeom prst="rect">
            <a:avLst/>
          </a:prstGeom>
        </p:spPr>
        <p:txBody>
          <a:bodyPr vert="horz" wrap="none" lIns="0" tIns="0" rIns="0" bIns="0" rtlCol="0" anchor="ctr" anchorCtr="0">
            <a:noAutofit/>
          </a:bodyPr>
          <a:lstStyle>
            <a:lvl1pPr marL="0" indent="0" algn="l" defTabSz="914400" rtl="0" eaLnBrk="1" latinLnBrk="0" hangingPunct="1">
              <a:spcBef>
                <a:spcPts val="600"/>
              </a:spcBef>
              <a:buFontTx/>
              <a:buNone/>
              <a:defRPr sz="1600" kern="1200">
                <a:solidFill>
                  <a:schemeClr val="tx1"/>
                </a:solidFill>
                <a:latin typeface="+mn-lt"/>
                <a:ea typeface="+mn-ea"/>
                <a:cs typeface="+mn-cs"/>
              </a:defRPr>
            </a:lvl1pPr>
            <a:lvl2pPr marL="0" indent="0" algn="l" defTabSz="914400" rtl="0" eaLnBrk="1" latinLnBrk="0" hangingPunct="1">
              <a:spcBef>
                <a:spcPts val="600"/>
              </a:spcBef>
              <a:buFontTx/>
              <a:buNone/>
              <a:defRPr sz="2400" b="1" kern="1200" baseline="0">
                <a:solidFill>
                  <a:schemeClr val="tx1"/>
                </a:solidFill>
                <a:latin typeface="+mn-lt"/>
                <a:ea typeface="+mn-ea"/>
                <a:cs typeface="+mn-cs"/>
              </a:defRPr>
            </a:lvl2pPr>
            <a:lvl3pPr marL="355600" indent="-355600" algn="l" defTabSz="914400" rtl="0" eaLnBrk="1" latinLnBrk="0" hangingPunct="1">
              <a:spcBef>
                <a:spcPts val="600"/>
              </a:spcBef>
              <a:buClr>
                <a:schemeClr val="accent2"/>
              </a:buClr>
              <a:buSzPct val="70000"/>
              <a:buFont typeface="Arial" pitchFamily="34" charset="0"/>
              <a:buChar char="►"/>
              <a:defRPr sz="2400" kern="1200" baseline="0">
                <a:solidFill>
                  <a:schemeClr val="tx1"/>
                </a:solidFill>
                <a:latin typeface="+mn-lt"/>
                <a:ea typeface="+mn-ea"/>
                <a:cs typeface="+mn-cs"/>
              </a:defRPr>
            </a:lvl3pPr>
            <a:lvl4pPr marL="692150" indent="-330200" algn="l" defTabSz="914400" rtl="0" eaLnBrk="1" latinLnBrk="0" hangingPunct="1">
              <a:spcBef>
                <a:spcPts val="600"/>
              </a:spcBef>
              <a:buClr>
                <a:schemeClr val="accent2"/>
              </a:buClr>
              <a:buSzPct val="70000"/>
              <a:buFont typeface="Arial" pitchFamily="34" charset="0"/>
              <a:buChar char="►"/>
              <a:defRPr sz="2000" kern="1200" baseline="0">
                <a:solidFill>
                  <a:schemeClr val="tx1"/>
                </a:solidFill>
                <a:latin typeface="+mn-lt"/>
                <a:ea typeface="+mn-ea"/>
                <a:cs typeface="+mn-cs"/>
              </a:defRPr>
            </a:lvl4pPr>
            <a:lvl5pPr marL="1035050" indent="-317500" algn="l" defTabSz="914400" rtl="0" eaLnBrk="1" latinLnBrk="0" hangingPunct="1">
              <a:spcBef>
                <a:spcPts val="600"/>
              </a:spcBef>
              <a:buClr>
                <a:schemeClr val="accent2"/>
              </a:buClr>
              <a:buSzPct val="70000"/>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latin typeface="+mj-lt"/>
              </a:rPr>
              <a:t>B</a:t>
            </a:r>
            <a:r>
              <a:rPr lang="en-GB" dirty="0" smtClean="0">
                <a:latin typeface="+mj-lt"/>
              </a:rPr>
              <a:t>usiness and change skills workshop</a:t>
            </a:r>
          </a:p>
        </p:txBody>
      </p:sp>
    </p:spTree>
    <p:extLst>
      <p:ext uri="{BB962C8B-B14F-4D97-AF65-F5344CB8AC3E}">
        <p14:creationId xmlns:p14="http://schemas.microsoft.com/office/powerpoint/2010/main" val="20705780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smtClean="0"/>
              <a:t>Session 1 – 13:15 to 14:00</a:t>
            </a:r>
            <a:endParaRPr lang="en-GB" dirty="0"/>
          </a:p>
        </p:txBody>
      </p:sp>
      <p:sp>
        <p:nvSpPr>
          <p:cNvPr id="3" name="Text Placeholder 2"/>
          <p:cNvSpPr>
            <a:spLocks noGrp="1"/>
          </p:cNvSpPr>
          <p:nvPr>
            <p:ph type="body" sz="quarter" idx="11"/>
          </p:nvPr>
        </p:nvSpPr>
        <p:spPr>
          <a:xfrm>
            <a:off x="882204" y="1581149"/>
            <a:ext cx="3924000" cy="1767434"/>
          </a:xfrm>
        </p:spPr>
        <p:txBody>
          <a:bodyPr/>
          <a:lstStyle/>
          <a:p>
            <a:r>
              <a:rPr lang="en-GB" dirty="0" smtClean="0"/>
              <a:t>Understanding the key opportunities and challenges for your business</a:t>
            </a:r>
            <a:endParaRPr lang="en-GB" dirty="0"/>
          </a:p>
        </p:txBody>
      </p:sp>
    </p:spTree>
    <p:extLst>
      <p:ext uri="{BB962C8B-B14F-4D97-AF65-F5344CB8AC3E}">
        <p14:creationId xmlns:p14="http://schemas.microsoft.com/office/powerpoint/2010/main" val="29590746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33168551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2880"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290910" y="288311"/>
            <a:ext cx="10096350" cy="612000"/>
          </a:xfrm>
        </p:spPr>
        <p:txBody>
          <a:bodyPr/>
          <a:lstStyle/>
          <a:p>
            <a:r>
              <a:rPr lang="en-GB" dirty="0" smtClean="0"/>
              <a:t>Understanding the key opportunities and challenges for your business</a:t>
            </a:r>
            <a:endParaRPr lang="en-GB" dirty="0"/>
          </a:p>
        </p:txBody>
      </p:sp>
      <p:sp>
        <p:nvSpPr>
          <p:cNvPr id="15"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2</a:t>
            </a:fld>
            <a:endParaRPr lang="en-GB" sz="800" dirty="0">
              <a:solidFill>
                <a:srgbClr val="808080"/>
              </a:solidFill>
            </a:endParaRPr>
          </a:p>
        </p:txBody>
      </p:sp>
      <p:sp>
        <p:nvSpPr>
          <p:cNvPr id="10" name="Rectangle 9"/>
          <p:cNvSpPr/>
          <p:nvPr/>
        </p:nvSpPr>
        <p:spPr>
          <a:xfrm>
            <a:off x="304427" y="1332359"/>
            <a:ext cx="10082833" cy="646331"/>
          </a:xfrm>
          <a:prstGeom prst="rect">
            <a:avLst/>
          </a:prstGeom>
          <a:solidFill>
            <a:srgbClr val="FFD200"/>
          </a:solidFill>
          <a:ln w="12700">
            <a:solidFill>
              <a:srgbClr val="FFD200"/>
            </a:solidFill>
          </a:ln>
        </p:spPr>
        <p:txBody>
          <a:bodyPr wrap="square">
            <a:spAutoFit/>
          </a:bodyPr>
          <a:lstStyle/>
          <a:p>
            <a:r>
              <a:rPr lang="en-GB" sz="1200" b="1" dirty="0" smtClean="0"/>
              <a:t>Activity (25 minutes): Using the entrepreneur  profile and questionnaire responses as a starting point, complete a SWOT analysis to help us to understand the main opportunities, challenges and aspirations for your growing business. The outputs of this analysis will inform activities in the next session. </a:t>
            </a:r>
          </a:p>
        </p:txBody>
      </p:sp>
      <p:sp>
        <p:nvSpPr>
          <p:cNvPr id="11" name="Rectangle 10"/>
          <p:cNvSpPr/>
          <p:nvPr/>
        </p:nvSpPr>
        <p:spPr>
          <a:xfrm>
            <a:off x="234132" y="900113"/>
            <a:ext cx="10082833" cy="338554"/>
          </a:xfrm>
          <a:prstGeom prst="rect">
            <a:avLst/>
          </a:prstGeom>
        </p:spPr>
        <p:txBody>
          <a:bodyPr wrap="square">
            <a:spAutoFit/>
          </a:bodyPr>
          <a:lstStyle/>
          <a:p>
            <a:r>
              <a:rPr lang="en-GB" sz="1600" dirty="0" smtClean="0">
                <a:solidFill>
                  <a:schemeClr val="bg1">
                    <a:lumMod val="50000"/>
                  </a:schemeClr>
                </a:solidFill>
                <a:effectLst/>
              </a:rPr>
              <a:t>SWOT Analysis</a:t>
            </a:r>
          </a:p>
        </p:txBody>
      </p:sp>
      <p:sp>
        <p:nvSpPr>
          <p:cNvPr id="4" name="Rectangle 3"/>
          <p:cNvSpPr/>
          <p:nvPr/>
        </p:nvSpPr>
        <p:spPr>
          <a:xfrm>
            <a:off x="306140" y="2124447"/>
            <a:ext cx="10081120" cy="720080"/>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300" b="1" dirty="0" smtClean="0">
                <a:solidFill>
                  <a:schemeClr val="tx1"/>
                </a:solidFill>
              </a:rPr>
              <a:t>SWOT Analysis Template</a:t>
            </a:r>
          </a:p>
          <a:p>
            <a:r>
              <a:rPr lang="en-GB" sz="1300" b="1" dirty="0" smtClean="0">
                <a:solidFill>
                  <a:schemeClr val="tx1"/>
                </a:solidFill>
              </a:rPr>
              <a:t>The name of the business that you are assessing: </a:t>
            </a:r>
          </a:p>
          <a:p>
            <a:r>
              <a:rPr lang="en-GB" sz="1000" dirty="0" smtClean="0">
                <a:solidFill>
                  <a:schemeClr val="tx1"/>
                </a:solidFill>
              </a:rPr>
              <a:t>(</a:t>
            </a:r>
            <a:r>
              <a:rPr lang="en-GB" sz="1000" i="1" dirty="0" smtClean="0">
                <a:solidFill>
                  <a:schemeClr val="tx1"/>
                </a:solidFill>
              </a:rPr>
              <a:t>This particular example is for a new business opportunity. Many criteria can apply to more than one quadrant. Identify criteria appropriate to your own SWOT situation) </a:t>
            </a:r>
          </a:p>
        </p:txBody>
      </p:sp>
      <p:sp>
        <p:nvSpPr>
          <p:cNvPr id="16" name="Rectangle 15"/>
          <p:cNvSpPr/>
          <p:nvPr/>
        </p:nvSpPr>
        <p:spPr>
          <a:xfrm>
            <a:off x="2178050" y="2988544"/>
            <a:ext cx="3097213" cy="1872207"/>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000" b="1" dirty="0" smtClean="0">
                <a:solidFill>
                  <a:schemeClr val="tx1"/>
                </a:solidFill>
              </a:rPr>
              <a:t>Strengths</a:t>
            </a: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smtClean="0">
              <a:solidFill>
                <a:schemeClr val="tx1"/>
              </a:solidFill>
            </a:endParaRPr>
          </a:p>
          <a:p>
            <a:endParaRPr lang="en-GB" sz="1000" b="1" dirty="0" smtClean="0">
              <a:solidFill>
                <a:schemeClr val="tx1"/>
              </a:solidFill>
            </a:endParaRPr>
          </a:p>
        </p:txBody>
      </p:sp>
      <p:sp>
        <p:nvSpPr>
          <p:cNvPr id="17" name="Rectangle 16"/>
          <p:cNvSpPr/>
          <p:nvPr/>
        </p:nvSpPr>
        <p:spPr>
          <a:xfrm>
            <a:off x="5398762" y="2988544"/>
            <a:ext cx="3097213" cy="1872207"/>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000" b="1" dirty="0" smtClean="0">
                <a:solidFill>
                  <a:schemeClr val="tx1"/>
                </a:solidFill>
              </a:rPr>
              <a:t>Weaknesses</a:t>
            </a: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smtClean="0">
              <a:solidFill>
                <a:schemeClr val="tx1"/>
              </a:solidFill>
            </a:endParaRPr>
          </a:p>
          <a:p>
            <a:endParaRPr lang="en-GB" sz="1000" b="1" dirty="0" smtClean="0">
              <a:solidFill>
                <a:schemeClr val="tx1"/>
              </a:solidFill>
            </a:endParaRPr>
          </a:p>
        </p:txBody>
      </p:sp>
      <p:sp>
        <p:nvSpPr>
          <p:cNvPr id="18" name="Rectangle 17"/>
          <p:cNvSpPr/>
          <p:nvPr/>
        </p:nvSpPr>
        <p:spPr>
          <a:xfrm>
            <a:off x="5427663" y="5004767"/>
            <a:ext cx="3097213" cy="1872207"/>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000" b="1" dirty="0" smtClean="0">
                <a:solidFill>
                  <a:schemeClr val="tx1"/>
                </a:solidFill>
              </a:rPr>
              <a:t>Threats</a:t>
            </a: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smtClean="0">
              <a:solidFill>
                <a:schemeClr val="tx1"/>
              </a:solidFill>
            </a:endParaRPr>
          </a:p>
          <a:p>
            <a:endParaRPr lang="en-GB" sz="1000" b="1" dirty="0" smtClean="0">
              <a:solidFill>
                <a:schemeClr val="tx1"/>
              </a:solidFill>
            </a:endParaRPr>
          </a:p>
        </p:txBody>
      </p:sp>
      <p:sp>
        <p:nvSpPr>
          <p:cNvPr id="19" name="Rectangle 18"/>
          <p:cNvSpPr/>
          <p:nvPr/>
        </p:nvSpPr>
        <p:spPr>
          <a:xfrm>
            <a:off x="2178348" y="5004767"/>
            <a:ext cx="3097213" cy="1872207"/>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000" b="1" dirty="0" smtClean="0">
                <a:solidFill>
                  <a:schemeClr val="tx1"/>
                </a:solidFill>
              </a:rPr>
              <a:t>Opportunities</a:t>
            </a: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smtClean="0">
              <a:solidFill>
                <a:schemeClr val="tx1"/>
              </a:solidFill>
            </a:endParaRPr>
          </a:p>
          <a:p>
            <a:endParaRPr lang="en-GB" sz="1000" b="1" dirty="0" smtClean="0">
              <a:solidFill>
                <a:schemeClr val="tx1"/>
              </a:solidFill>
            </a:endParaRPr>
          </a:p>
        </p:txBody>
      </p:sp>
      <p:sp>
        <p:nvSpPr>
          <p:cNvPr id="20" name="Rectangle 19"/>
          <p:cNvSpPr/>
          <p:nvPr/>
        </p:nvSpPr>
        <p:spPr>
          <a:xfrm>
            <a:off x="306140" y="2988543"/>
            <a:ext cx="1728192" cy="1872208"/>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700" b="1" dirty="0" smtClean="0">
                <a:solidFill>
                  <a:schemeClr val="tx1"/>
                </a:solidFill>
              </a:rPr>
              <a:t>Examples</a:t>
            </a:r>
          </a:p>
          <a:p>
            <a:r>
              <a:rPr lang="en-GB" sz="700" dirty="0" smtClean="0">
                <a:solidFill>
                  <a:schemeClr val="tx1"/>
                </a:solidFill>
              </a:rPr>
              <a:t>Advantages of proposition</a:t>
            </a:r>
          </a:p>
          <a:p>
            <a:r>
              <a:rPr lang="en-GB" sz="700" dirty="0" smtClean="0">
                <a:solidFill>
                  <a:schemeClr val="tx1"/>
                </a:solidFill>
              </a:rPr>
              <a:t>Capabilities</a:t>
            </a:r>
          </a:p>
          <a:p>
            <a:r>
              <a:rPr lang="en-GB" sz="700" dirty="0" smtClean="0">
                <a:solidFill>
                  <a:schemeClr val="tx1"/>
                </a:solidFill>
              </a:rPr>
              <a:t>Competitive landscape</a:t>
            </a:r>
          </a:p>
          <a:p>
            <a:r>
              <a:rPr lang="en-GB" sz="700" dirty="0" smtClean="0">
                <a:solidFill>
                  <a:schemeClr val="tx1"/>
                </a:solidFill>
              </a:rPr>
              <a:t>USP’s</a:t>
            </a:r>
          </a:p>
          <a:p>
            <a:r>
              <a:rPr lang="en-GB" sz="700" dirty="0" smtClean="0">
                <a:solidFill>
                  <a:schemeClr val="tx1"/>
                </a:solidFill>
              </a:rPr>
              <a:t>Resources, Assets, People, Experience, knowledge, data</a:t>
            </a:r>
          </a:p>
          <a:p>
            <a:r>
              <a:rPr lang="en-GB" sz="700" dirty="0" smtClean="0">
                <a:solidFill>
                  <a:schemeClr val="tx1"/>
                </a:solidFill>
              </a:rPr>
              <a:t>Financial reserves, likely returns</a:t>
            </a:r>
          </a:p>
          <a:p>
            <a:r>
              <a:rPr lang="en-GB" sz="700" dirty="0" smtClean="0">
                <a:solidFill>
                  <a:schemeClr val="tx1"/>
                </a:solidFill>
              </a:rPr>
              <a:t>Marketing – reach, distribution, awareness</a:t>
            </a:r>
          </a:p>
          <a:p>
            <a:r>
              <a:rPr lang="en-GB" sz="700" dirty="0" smtClean="0">
                <a:solidFill>
                  <a:schemeClr val="tx1"/>
                </a:solidFill>
              </a:rPr>
              <a:t>Innovative aspects</a:t>
            </a:r>
          </a:p>
          <a:p>
            <a:r>
              <a:rPr lang="en-GB" sz="700" dirty="0" smtClean="0">
                <a:solidFill>
                  <a:schemeClr val="tx1"/>
                </a:solidFill>
              </a:rPr>
              <a:t>Location &amp; geographical</a:t>
            </a:r>
          </a:p>
          <a:p>
            <a:r>
              <a:rPr lang="en-GB" sz="700" dirty="0" smtClean="0">
                <a:solidFill>
                  <a:schemeClr val="tx1"/>
                </a:solidFill>
              </a:rPr>
              <a:t>Price, value, quality</a:t>
            </a:r>
          </a:p>
          <a:p>
            <a:r>
              <a:rPr lang="en-GB" sz="700" dirty="0" smtClean="0">
                <a:solidFill>
                  <a:schemeClr val="tx1"/>
                </a:solidFill>
              </a:rPr>
              <a:t>Accreditations, qualifications, certifications</a:t>
            </a:r>
          </a:p>
          <a:p>
            <a:r>
              <a:rPr lang="en-GB" sz="700" dirty="0" smtClean="0">
                <a:solidFill>
                  <a:schemeClr val="tx1"/>
                </a:solidFill>
              </a:rPr>
              <a:t>Process, systems, IT, communications</a:t>
            </a:r>
          </a:p>
        </p:txBody>
      </p:sp>
      <p:sp>
        <p:nvSpPr>
          <p:cNvPr id="24" name="Rectangle 23"/>
          <p:cNvSpPr/>
          <p:nvPr/>
        </p:nvSpPr>
        <p:spPr>
          <a:xfrm>
            <a:off x="8659068" y="2981208"/>
            <a:ext cx="1728192" cy="1872208"/>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700" b="1" dirty="0" smtClean="0">
                <a:solidFill>
                  <a:schemeClr val="tx1"/>
                </a:solidFill>
              </a:rPr>
              <a:t>Examples</a:t>
            </a:r>
          </a:p>
          <a:p>
            <a:r>
              <a:rPr lang="en-GB" sz="700" dirty="0" smtClean="0">
                <a:solidFill>
                  <a:schemeClr val="tx1"/>
                </a:solidFill>
              </a:rPr>
              <a:t>Disadvantages of proposition</a:t>
            </a:r>
          </a:p>
          <a:p>
            <a:r>
              <a:rPr lang="en-GB" sz="700" dirty="0" smtClean="0">
                <a:solidFill>
                  <a:schemeClr val="tx1"/>
                </a:solidFill>
              </a:rPr>
              <a:t>Gaps in capabilities</a:t>
            </a:r>
          </a:p>
          <a:p>
            <a:r>
              <a:rPr lang="en-GB" sz="700" dirty="0" smtClean="0">
                <a:solidFill>
                  <a:schemeClr val="tx1"/>
                </a:solidFill>
              </a:rPr>
              <a:t>Lack of competitive strength</a:t>
            </a:r>
          </a:p>
          <a:p>
            <a:r>
              <a:rPr lang="en-GB" sz="700" dirty="0" smtClean="0">
                <a:solidFill>
                  <a:schemeClr val="tx1"/>
                </a:solidFill>
              </a:rPr>
              <a:t>Reputation, presence and reach</a:t>
            </a:r>
          </a:p>
          <a:p>
            <a:r>
              <a:rPr lang="en-GB" sz="700" dirty="0" smtClean="0">
                <a:solidFill>
                  <a:schemeClr val="tx1"/>
                </a:solidFill>
              </a:rPr>
              <a:t>Financials</a:t>
            </a:r>
          </a:p>
          <a:p>
            <a:r>
              <a:rPr lang="en-GB" sz="700" dirty="0" smtClean="0">
                <a:solidFill>
                  <a:schemeClr val="tx1"/>
                </a:solidFill>
              </a:rPr>
              <a:t>Own known vulnerabilities</a:t>
            </a:r>
          </a:p>
          <a:p>
            <a:r>
              <a:rPr lang="en-GB" sz="700" dirty="0" smtClean="0">
                <a:solidFill>
                  <a:schemeClr val="tx1"/>
                </a:solidFill>
              </a:rPr>
              <a:t>Timescales, deadlines and pressures</a:t>
            </a:r>
          </a:p>
          <a:p>
            <a:r>
              <a:rPr lang="en-GB" sz="700" dirty="0" smtClean="0">
                <a:solidFill>
                  <a:schemeClr val="tx1"/>
                </a:solidFill>
              </a:rPr>
              <a:t>Cash flow, start up cash-drain</a:t>
            </a:r>
          </a:p>
          <a:p>
            <a:r>
              <a:rPr lang="en-GB" sz="700" dirty="0" smtClean="0">
                <a:solidFill>
                  <a:schemeClr val="tx1"/>
                </a:solidFill>
              </a:rPr>
              <a:t>Continuity, supply chain robustness</a:t>
            </a:r>
          </a:p>
          <a:p>
            <a:r>
              <a:rPr lang="en-GB" sz="700" dirty="0" smtClean="0">
                <a:solidFill>
                  <a:schemeClr val="tx1"/>
                </a:solidFill>
              </a:rPr>
              <a:t>External effects on core activities</a:t>
            </a:r>
          </a:p>
          <a:p>
            <a:r>
              <a:rPr lang="en-GB" sz="700" dirty="0" smtClean="0">
                <a:solidFill>
                  <a:schemeClr val="tx1"/>
                </a:solidFill>
              </a:rPr>
              <a:t>Reliability of data, plan predictability</a:t>
            </a:r>
          </a:p>
          <a:p>
            <a:r>
              <a:rPr lang="en-GB" sz="700" dirty="0" smtClean="0">
                <a:solidFill>
                  <a:schemeClr val="tx1"/>
                </a:solidFill>
              </a:rPr>
              <a:t>Morale, commitment, leadership capability</a:t>
            </a:r>
          </a:p>
          <a:p>
            <a:r>
              <a:rPr lang="en-GB" sz="700" dirty="0" smtClean="0">
                <a:solidFill>
                  <a:schemeClr val="tx1"/>
                </a:solidFill>
              </a:rPr>
              <a:t>Accreditations etc.</a:t>
            </a:r>
          </a:p>
        </p:txBody>
      </p:sp>
      <p:sp>
        <p:nvSpPr>
          <p:cNvPr id="25" name="Rectangle 24"/>
          <p:cNvSpPr/>
          <p:nvPr/>
        </p:nvSpPr>
        <p:spPr>
          <a:xfrm>
            <a:off x="8659068" y="4998724"/>
            <a:ext cx="1728192" cy="1872208"/>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700" b="1" dirty="0" smtClean="0">
                <a:solidFill>
                  <a:schemeClr val="tx1"/>
                </a:solidFill>
              </a:rPr>
              <a:t>Examples</a:t>
            </a:r>
          </a:p>
          <a:p>
            <a:r>
              <a:rPr lang="en-GB" sz="700" dirty="0" smtClean="0">
                <a:solidFill>
                  <a:schemeClr val="tx1"/>
                </a:solidFill>
              </a:rPr>
              <a:t>Political effects</a:t>
            </a:r>
          </a:p>
          <a:p>
            <a:r>
              <a:rPr lang="en-GB" sz="700" dirty="0" smtClean="0">
                <a:solidFill>
                  <a:schemeClr val="tx1"/>
                </a:solidFill>
              </a:rPr>
              <a:t>Legislative effects</a:t>
            </a:r>
          </a:p>
          <a:p>
            <a:r>
              <a:rPr lang="en-GB" sz="700" dirty="0" smtClean="0">
                <a:solidFill>
                  <a:schemeClr val="tx1"/>
                </a:solidFill>
              </a:rPr>
              <a:t>Environmental effects</a:t>
            </a:r>
          </a:p>
          <a:p>
            <a:r>
              <a:rPr lang="en-GB" sz="700" dirty="0" smtClean="0">
                <a:solidFill>
                  <a:schemeClr val="tx1"/>
                </a:solidFill>
              </a:rPr>
              <a:t>Own Technology development</a:t>
            </a:r>
          </a:p>
          <a:p>
            <a:r>
              <a:rPr lang="en-GB" sz="700" dirty="0" smtClean="0">
                <a:solidFill>
                  <a:schemeClr val="tx1"/>
                </a:solidFill>
              </a:rPr>
              <a:t>New technologies, services, ideas</a:t>
            </a:r>
          </a:p>
          <a:p>
            <a:r>
              <a:rPr lang="en-GB" sz="700" dirty="0" smtClean="0">
                <a:solidFill>
                  <a:schemeClr val="tx1"/>
                </a:solidFill>
              </a:rPr>
              <a:t>Competitor intentions</a:t>
            </a:r>
          </a:p>
          <a:p>
            <a:r>
              <a:rPr lang="en-GB" sz="700" dirty="0" smtClean="0">
                <a:solidFill>
                  <a:schemeClr val="tx1"/>
                </a:solidFill>
              </a:rPr>
              <a:t>Market demand</a:t>
            </a:r>
          </a:p>
          <a:p>
            <a:r>
              <a:rPr lang="en-GB" sz="700" dirty="0" smtClean="0">
                <a:solidFill>
                  <a:schemeClr val="tx1"/>
                </a:solidFill>
              </a:rPr>
              <a:t>Vital contracts and partners</a:t>
            </a:r>
          </a:p>
          <a:p>
            <a:r>
              <a:rPr lang="en-GB" sz="700" dirty="0" smtClean="0">
                <a:solidFill>
                  <a:schemeClr val="tx1"/>
                </a:solidFill>
              </a:rPr>
              <a:t>Sustaining internal capabilities</a:t>
            </a:r>
          </a:p>
          <a:p>
            <a:r>
              <a:rPr lang="en-GB" sz="700" dirty="0" smtClean="0">
                <a:solidFill>
                  <a:schemeClr val="tx1"/>
                </a:solidFill>
              </a:rPr>
              <a:t>Obstacles faced</a:t>
            </a:r>
          </a:p>
          <a:p>
            <a:r>
              <a:rPr lang="en-GB" sz="700" dirty="0" smtClean="0">
                <a:solidFill>
                  <a:schemeClr val="tx1"/>
                </a:solidFill>
              </a:rPr>
              <a:t>Insurmountable weaknesses</a:t>
            </a:r>
          </a:p>
          <a:p>
            <a:r>
              <a:rPr lang="en-GB" sz="700" dirty="0" smtClean="0">
                <a:solidFill>
                  <a:schemeClr val="tx1"/>
                </a:solidFill>
              </a:rPr>
              <a:t>Loss of key resources</a:t>
            </a:r>
          </a:p>
          <a:p>
            <a:r>
              <a:rPr lang="en-GB" sz="700" dirty="0" smtClean="0">
                <a:solidFill>
                  <a:schemeClr val="tx1"/>
                </a:solidFill>
              </a:rPr>
              <a:t>Sustainable financial backing</a:t>
            </a:r>
          </a:p>
          <a:p>
            <a:r>
              <a:rPr lang="en-GB" sz="700" dirty="0" smtClean="0">
                <a:solidFill>
                  <a:schemeClr val="tx1"/>
                </a:solidFill>
              </a:rPr>
              <a:t>Economy – home, abroad</a:t>
            </a:r>
          </a:p>
          <a:p>
            <a:r>
              <a:rPr lang="en-GB" sz="700" dirty="0" smtClean="0">
                <a:solidFill>
                  <a:schemeClr val="tx1"/>
                </a:solidFill>
              </a:rPr>
              <a:t>Seasonality</a:t>
            </a:r>
          </a:p>
          <a:p>
            <a:endParaRPr lang="en-GB" sz="700" dirty="0" smtClean="0">
              <a:solidFill>
                <a:schemeClr val="tx1"/>
              </a:solidFill>
            </a:endParaRPr>
          </a:p>
        </p:txBody>
      </p:sp>
      <p:sp>
        <p:nvSpPr>
          <p:cNvPr id="26" name="Rectangle 25"/>
          <p:cNvSpPr/>
          <p:nvPr/>
        </p:nvSpPr>
        <p:spPr>
          <a:xfrm>
            <a:off x="306140" y="5004767"/>
            <a:ext cx="1728192" cy="1872208"/>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700" b="1" dirty="0" smtClean="0">
                <a:solidFill>
                  <a:schemeClr val="tx1"/>
                </a:solidFill>
              </a:rPr>
              <a:t>Examples</a:t>
            </a:r>
          </a:p>
          <a:p>
            <a:r>
              <a:rPr lang="en-GB" sz="700" dirty="0" smtClean="0">
                <a:solidFill>
                  <a:schemeClr val="tx1"/>
                </a:solidFill>
              </a:rPr>
              <a:t>Market developments, predictions about future market conditions</a:t>
            </a:r>
          </a:p>
          <a:p>
            <a:r>
              <a:rPr lang="en-GB" sz="700" dirty="0" smtClean="0">
                <a:solidFill>
                  <a:schemeClr val="tx1"/>
                </a:solidFill>
              </a:rPr>
              <a:t>Competitor’s vulnerabilities</a:t>
            </a:r>
          </a:p>
          <a:p>
            <a:r>
              <a:rPr lang="en-GB" sz="700" dirty="0" smtClean="0">
                <a:solidFill>
                  <a:schemeClr val="tx1"/>
                </a:solidFill>
              </a:rPr>
              <a:t>Industry or lifestyle trends</a:t>
            </a:r>
          </a:p>
          <a:p>
            <a:r>
              <a:rPr lang="en-GB" sz="700" dirty="0" smtClean="0">
                <a:solidFill>
                  <a:schemeClr val="tx1"/>
                </a:solidFill>
              </a:rPr>
              <a:t>Technology development and innovation</a:t>
            </a:r>
          </a:p>
          <a:p>
            <a:r>
              <a:rPr lang="en-GB" sz="700" dirty="0" smtClean="0">
                <a:solidFill>
                  <a:schemeClr val="tx1"/>
                </a:solidFill>
              </a:rPr>
              <a:t>Global influences</a:t>
            </a:r>
          </a:p>
          <a:p>
            <a:r>
              <a:rPr lang="en-GB" sz="700" dirty="0" smtClean="0">
                <a:solidFill>
                  <a:schemeClr val="tx1"/>
                </a:solidFill>
              </a:rPr>
              <a:t>New markets, vertical, horizontal</a:t>
            </a:r>
          </a:p>
          <a:p>
            <a:r>
              <a:rPr lang="en-GB" sz="700" dirty="0" smtClean="0">
                <a:solidFill>
                  <a:schemeClr val="tx1"/>
                </a:solidFill>
              </a:rPr>
              <a:t>Niche target markets</a:t>
            </a:r>
          </a:p>
          <a:p>
            <a:r>
              <a:rPr lang="en-GB" sz="700" dirty="0" smtClean="0">
                <a:solidFill>
                  <a:schemeClr val="tx1"/>
                </a:solidFill>
              </a:rPr>
              <a:t>Geographical, export, import</a:t>
            </a:r>
          </a:p>
          <a:p>
            <a:r>
              <a:rPr lang="en-GB" sz="700" dirty="0" smtClean="0">
                <a:solidFill>
                  <a:schemeClr val="tx1"/>
                </a:solidFill>
              </a:rPr>
              <a:t>New USP’s</a:t>
            </a:r>
          </a:p>
          <a:p>
            <a:r>
              <a:rPr lang="en-GB" sz="700" dirty="0" smtClean="0">
                <a:solidFill>
                  <a:schemeClr val="tx1"/>
                </a:solidFill>
              </a:rPr>
              <a:t>Tactic’s e.g. major contracts</a:t>
            </a:r>
          </a:p>
          <a:p>
            <a:r>
              <a:rPr lang="en-GB" sz="700" dirty="0" smtClean="0">
                <a:solidFill>
                  <a:schemeClr val="tx1"/>
                </a:solidFill>
              </a:rPr>
              <a:t>Business and product development</a:t>
            </a:r>
          </a:p>
          <a:p>
            <a:r>
              <a:rPr lang="en-GB" sz="700" dirty="0" smtClean="0">
                <a:solidFill>
                  <a:schemeClr val="tx1"/>
                </a:solidFill>
              </a:rPr>
              <a:t>Information and research</a:t>
            </a:r>
          </a:p>
          <a:p>
            <a:r>
              <a:rPr lang="en-GB" sz="700" dirty="0" smtClean="0">
                <a:solidFill>
                  <a:schemeClr val="tx1"/>
                </a:solidFill>
              </a:rPr>
              <a:t>Partnerships, agencies </a:t>
            </a:r>
          </a:p>
        </p:txBody>
      </p:sp>
      <p:sp>
        <p:nvSpPr>
          <p:cNvPr id="27" name="Rectangle 26"/>
          <p:cNvSpPr/>
          <p:nvPr/>
        </p:nvSpPr>
        <p:spPr>
          <a:xfrm>
            <a:off x="304426" y="6948983"/>
            <a:ext cx="10081120" cy="512440"/>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lvl="2" defTabSz="914400">
              <a:buClr>
                <a:schemeClr val="accent2"/>
              </a:buClr>
              <a:buSzPct val="70000"/>
              <a:defRPr/>
            </a:pPr>
            <a:endParaRPr lang="en-GB" sz="1000" b="1" dirty="0" smtClean="0">
              <a:solidFill>
                <a:schemeClr val="tx1"/>
              </a:solidFill>
            </a:endParaRPr>
          </a:p>
          <a:p>
            <a:pPr marL="0" lvl="2" defTabSz="914400">
              <a:buClr>
                <a:schemeClr val="accent2"/>
              </a:buClr>
              <a:buSzPct val="70000"/>
              <a:defRPr/>
            </a:pPr>
            <a:endParaRPr lang="en-GB" sz="1000" b="1" dirty="0">
              <a:solidFill>
                <a:schemeClr val="tx1"/>
              </a:solidFill>
            </a:endParaRPr>
          </a:p>
          <a:p>
            <a:pPr marL="0" lvl="2" defTabSz="914400">
              <a:buClr>
                <a:schemeClr val="accent2"/>
              </a:buClr>
              <a:buSzPct val="70000"/>
              <a:defRPr/>
            </a:pPr>
            <a:r>
              <a:rPr lang="en-GB" sz="1000" b="1" dirty="0" smtClean="0">
                <a:solidFill>
                  <a:schemeClr val="tx1"/>
                </a:solidFill>
              </a:rPr>
              <a:t>Aspirations for the business and the drivers of growth. How does that fit with  the company’s vision and ambitions to scale?</a:t>
            </a:r>
          </a:p>
          <a:p>
            <a:pPr marL="0" lvl="2" defTabSz="914400">
              <a:buClr>
                <a:schemeClr val="accent2"/>
              </a:buClr>
              <a:buSzPct val="70000"/>
              <a:defRPr/>
            </a:pPr>
            <a:endParaRPr lang="en-GB" sz="1000" b="1" dirty="0">
              <a:solidFill>
                <a:schemeClr val="tx1"/>
              </a:solidFill>
            </a:endParaRPr>
          </a:p>
          <a:p>
            <a:pPr marL="0" lvl="2" defTabSz="914400">
              <a:buClr>
                <a:schemeClr val="accent2"/>
              </a:buClr>
              <a:buSzPct val="70000"/>
              <a:defRPr/>
            </a:pPr>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p:txBody>
      </p:sp>
    </p:spTree>
    <p:extLst>
      <p:ext uri="{BB962C8B-B14F-4D97-AF65-F5344CB8AC3E}">
        <p14:creationId xmlns:p14="http://schemas.microsoft.com/office/powerpoint/2010/main" val="2864159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294028030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944"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306140" y="288311"/>
            <a:ext cx="9504363" cy="612000"/>
          </a:xfrm>
        </p:spPr>
        <p:txBody>
          <a:bodyPr/>
          <a:lstStyle/>
          <a:p>
            <a:r>
              <a:rPr lang="en-GB" dirty="0" smtClean="0"/>
              <a:t>Example of a completed SWOT analysis</a:t>
            </a:r>
            <a:endParaRPr lang="en-GB" dirty="0"/>
          </a:p>
        </p:txBody>
      </p:sp>
      <p:sp>
        <p:nvSpPr>
          <p:cNvPr id="15" name="Slide Number Placeholder 4"/>
          <p:cNvSpPr>
            <a:spLocks noGrp="1"/>
          </p:cNvSpPr>
          <p:nvPr>
            <p:ph type="sldNum" sz="quarter" idx="12"/>
          </p:nvPr>
        </p:nvSpPr>
        <p:spPr>
          <a:xfrm>
            <a:off x="9613898" y="6251202"/>
            <a:ext cx="485776" cy="144000"/>
          </a:xfrm>
        </p:spPr>
        <p:txBody>
          <a:bodyPr/>
          <a:lstStyle/>
          <a:p>
            <a:fld id="{F9A56513-F998-4254-9CEB-F507EE6F3742}" type="slidenum">
              <a:rPr lang="en-GB" sz="800" smtClean="0">
                <a:solidFill>
                  <a:srgbClr val="808080"/>
                </a:solidFill>
              </a:rPr>
              <a:pPr/>
              <a:t>3</a:t>
            </a:fld>
            <a:endParaRPr lang="en-GB" sz="800" dirty="0">
              <a:solidFill>
                <a:srgbClr val="808080"/>
              </a:solidFill>
            </a:endParaRPr>
          </a:p>
        </p:txBody>
      </p:sp>
      <p:sp>
        <p:nvSpPr>
          <p:cNvPr id="4" name="Rectangle 3"/>
          <p:cNvSpPr/>
          <p:nvPr/>
        </p:nvSpPr>
        <p:spPr>
          <a:xfrm>
            <a:off x="306140" y="1323975"/>
            <a:ext cx="10081120" cy="720080"/>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300" b="1" dirty="0" smtClean="0">
                <a:solidFill>
                  <a:schemeClr val="tx1"/>
                </a:solidFill>
              </a:rPr>
              <a:t>SWOT Analysis Template</a:t>
            </a:r>
          </a:p>
          <a:p>
            <a:r>
              <a:rPr lang="en-GB" sz="1300" b="1" dirty="0" smtClean="0">
                <a:solidFill>
                  <a:schemeClr val="tx1"/>
                </a:solidFill>
              </a:rPr>
              <a:t>Starbucks 2013</a:t>
            </a:r>
          </a:p>
        </p:txBody>
      </p:sp>
      <p:sp>
        <p:nvSpPr>
          <p:cNvPr id="16" name="Rectangle 15"/>
          <p:cNvSpPr/>
          <p:nvPr/>
        </p:nvSpPr>
        <p:spPr>
          <a:xfrm>
            <a:off x="2178050" y="2188072"/>
            <a:ext cx="3097213" cy="1872207"/>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000" b="1" dirty="0" smtClean="0">
                <a:solidFill>
                  <a:schemeClr val="tx1"/>
                </a:solidFill>
              </a:rPr>
              <a:t>Strengths</a:t>
            </a:r>
          </a:p>
          <a:p>
            <a:endParaRPr lang="en-GB" sz="1000" b="1" dirty="0">
              <a:solidFill>
                <a:schemeClr val="tx1"/>
              </a:solidFill>
            </a:endParaRPr>
          </a:p>
          <a:p>
            <a:pPr marL="171450" indent="-171450">
              <a:buFont typeface="Arial" panose="020B0604020202020204" pitchFamily="34" charset="0"/>
              <a:buChar char="•"/>
            </a:pPr>
            <a:r>
              <a:rPr lang="en-GB" sz="1000" dirty="0" smtClean="0">
                <a:solidFill>
                  <a:schemeClr val="tx1"/>
                </a:solidFill>
              </a:rPr>
              <a:t>Sound financial records </a:t>
            </a:r>
          </a:p>
          <a:p>
            <a:pPr marL="171450" indent="-171450">
              <a:buFont typeface="Arial" panose="020B0604020202020204" pitchFamily="34" charset="0"/>
              <a:buChar char="•"/>
            </a:pPr>
            <a:r>
              <a:rPr lang="en-GB" sz="1000" dirty="0" smtClean="0">
                <a:solidFill>
                  <a:schemeClr val="tx1"/>
                </a:solidFill>
              </a:rPr>
              <a:t>No. 1 brand in coffeehouse segment valued at $4 billion</a:t>
            </a:r>
          </a:p>
          <a:p>
            <a:pPr marL="171450" indent="-171450">
              <a:buFont typeface="Arial" panose="020B0604020202020204" pitchFamily="34" charset="0"/>
              <a:buChar char="•"/>
            </a:pPr>
            <a:r>
              <a:rPr lang="en-GB" sz="1000" dirty="0" smtClean="0">
                <a:solidFill>
                  <a:schemeClr val="tx1"/>
                </a:solidFill>
              </a:rPr>
              <a:t>Starbucks experience</a:t>
            </a:r>
          </a:p>
          <a:p>
            <a:pPr marL="171450" indent="-171450">
              <a:buFont typeface="Arial" panose="020B0604020202020204" pitchFamily="34" charset="0"/>
              <a:buChar char="•"/>
            </a:pPr>
            <a:r>
              <a:rPr lang="en-GB" sz="1000" dirty="0" smtClean="0">
                <a:solidFill>
                  <a:schemeClr val="tx1"/>
                </a:solidFill>
              </a:rPr>
              <a:t>Largest coffeehouse chain in the world</a:t>
            </a:r>
          </a:p>
          <a:p>
            <a:pPr marL="171450" indent="-171450">
              <a:buFont typeface="Arial" panose="020B0604020202020204" pitchFamily="34" charset="0"/>
              <a:buChar char="•"/>
            </a:pPr>
            <a:r>
              <a:rPr lang="en-GB" sz="1000" dirty="0" smtClean="0">
                <a:solidFill>
                  <a:schemeClr val="tx1"/>
                </a:solidFill>
              </a:rPr>
              <a:t>Employee management</a:t>
            </a:r>
            <a:endParaRPr lang="en-GB" sz="1000" b="1" dirty="0" smtClean="0">
              <a:solidFill>
                <a:schemeClr val="tx1"/>
              </a:solidFill>
            </a:endParaRPr>
          </a:p>
          <a:p>
            <a:endParaRPr lang="en-GB" sz="1000" b="1" dirty="0" smtClean="0">
              <a:solidFill>
                <a:schemeClr val="tx1"/>
              </a:solidFill>
            </a:endParaRPr>
          </a:p>
          <a:p>
            <a:endParaRPr lang="en-GB" sz="1000" b="1" dirty="0" smtClean="0">
              <a:solidFill>
                <a:schemeClr val="tx1"/>
              </a:solidFill>
            </a:endParaRPr>
          </a:p>
          <a:p>
            <a:endParaRPr lang="en-GB" sz="1000" b="1" dirty="0" smtClean="0">
              <a:solidFill>
                <a:schemeClr val="tx1"/>
              </a:solidFill>
            </a:endParaRPr>
          </a:p>
        </p:txBody>
      </p:sp>
      <p:sp>
        <p:nvSpPr>
          <p:cNvPr id="17" name="Rectangle 16"/>
          <p:cNvSpPr/>
          <p:nvPr/>
        </p:nvSpPr>
        <p:spPr>
          <a:xfrm>
            <a:off x="5398762" y="2188072"/>
            <a:ext cx="3097213" cy="1872207"/>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000" b="1" dirty="0" smtClean="0">
                <a:solidFill>
                  <a:schemeClr val="tx1"/>
                </a:solidFill>
              </a:rPr>
              <a:t>Weaknesses</a:t>
            </a:r>
          </a:p>
          <a:p>
            <a:endParaRPr lang="en-GB" sz="1000" b="1" dirty="0">
              <a:solidFill>
                <a:schemeClr val="tx1"/>
              </a:solidFill>
            </a:endParaRPr>
          </a:p>
          <a:p>
            <a:pPr marL="171450" indent="-171450">
              <a:buFont typeface="Arial" panose="020B0604020202020204" pitchFamily="34" charset="0"/>
              <a:buChar char="•"/>
            </a:pPr>
            <a:r>
              <a:rPr lang="en-GB" sz="1000" dirty="0">
                <a:solidFill>
                  <a:schemeClr val="tx1"/>
                </a:solidFill>
              </a:rPr>
              <a:t>Coffee beans price is the major influence over firm’s profits</a:t>
            </a:r>
          </a:p>
          <a:p>
            <a:pPr marL="171450" indent="-171450">
              <a:buFont typeface="Arial" panose="020B0604020202020204" pitchFamily="34" charset="0"/>
              <a:buChar char="•"/>
            </a:pPr>
            <a:r>
              <a:rPr lang="en-GB" sz="1000" dirty="0">
                <a:solidFill>
                  <a:schemeClr val="tx1"/>
                </a:solidFill>
              </a:rPr>
              <a:t>Product pricing</a:t>
            </a:r>
          </a:p>
          <a:p>
            <a:pPr marL="171450" indent="-171450">
              <a:buFont typeface="Arial" panose="020B0604020202020204" pitchFamily="34" charset="0"/>
              <a:buChar char="•"/>
            </a:pPr>
            <a:r>
              <a:rPr lang="en-GB" sz="1000" dirty="0">
                <a:solidFill>
                  <a:schemeClr val="tx1"/>
                </a:solidFill>
              </a:rPr>
              <a:t>Negative publicity</a:t>
            </a: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smtClean="0">
              <a:solidFill>
                <a:schemeClr val="tx1"/>
              </a:solidFill>
            </a:endParaRPr>
          </a:p>
          <a:p>
            <a:endParaRPr lang="en-GB" sz="1000" b="1" dirty="0" smtClean="0">
              <a:solidFill>
                <a:schemeClr val="tx1"/>
              </a:solidFill>
            </a:endParaRPr>
          </a:p>
        </p:txBody>
      </p:sp>
      <p:sp>
        <p:nvSpPr>
          <p:cNvPr id="18" name="Rectangle 17"/>
          <p:cNvSpPr/>
          <p:nvPr/>
        </p:nvSpPr>
        <p:spPr>
          <a:xfrm>
            <a:off x="5427663" y="4204295"/>
            <a:ext cx="3097213" cy="1872207"/>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000" b="1" dirty="0" smtClean="0">
                <a:solidFill>
                  <a:schemeClr val="tx1"/>
                </a:solidFill>
              </a:rPr>
              <a:t>Threats</a:t>
            </a:r>
          </a:p>
          <a:p>
            <a:endParaRPr lang="en-GB" sz="1000" b="1" dirty="0">
              <a:solidFill>
                <a:schemeClr val="tx1"/>
              </a:solidFill>
            </a:endParaRPr>
          </a:p>
          <a:p>
            <a:pPr marL="171450" indent="-171450">
              <a:buFont typeface="Arial" panose="020B0604020202020204" pitchFamily="34" charset="0"/>
              <a:buChar char="•"/>
            </a:pPr>
            <a:r>
              <a:rPr lang="en-GB" sz="1000" dirty="0">
                <a:solidFill>
                  <a:schemeClr val="tx1"/>
                </a:solidFill>
              </a:rPr>
              <a:t>Rising prices of coffee beans and dairy products</a:t>
            </a:r>
          </a:p>
          <a:p>
            <a:pPr marL="171450" indent="-171450">
              <a:buFont typeface="Arial" panose="020B0604020202020204" pitchFamily="34" charset="0"/>
              <a:buChar char="•"/>
            </a:pPr>
            <a:r>
              <a:rPr lang="en-GB" sz="1000" dirty="0">
                <a:solidFill>
                  <a:schemeClr val="tx1"/>
                </a:solidFill>
              </a:rPr>
              <a:t>Trademark infringements</a:t>
            </a:r>
          </a:p>
          <a:p>
            <a:pPr marL="171450" indent="-171450">
              <a:buFont typeface="Arial" panose="020B0604020202020204" pitchFamily="34" charset="0"/>
              <a:buChar char="•"/>
            </a:pPr>
            <a:r>
              <a:rPr lang="en-GB" sz="1000" dirty="0">
                <a:solidFill>
                  <a:schemeClr val="tx1"/>
                </a:solidFill>
              </a:rPr>
              <a:t>Increased competition from local cafes and specialization of other coffeehouse chains</a:t>
            </a:r>
          </a:p>
          <a:p>
            <a:pPr marL="171450" indent="-171450">
              <a:buFont typeface="Arial" panose="020B0604020202020204" pitchFamily="34" charset="0"/>
              <a:buChar char="•"/>
            </a:pPr>
            <a:r>
              <a:rPr lang="en-GB" sz="1000" dirty="0">
                <a:solidFill>
                  <a:schemeClr val="tx1"/>
                </a:solidFill>
              </a:rPr>
              <a:t>Saturated markets in the developed economies</a:t>
            </a:r>
          </a:p>
          <a:p>
            <a:pPr marL="171450" indent="-171450">
              <a:buFont typeface="Arial" panose="020B0604020202020204" pitchFamily="34" charset="0"/>
              <a:buChar char="•"/>
            </a:pPr>
            <a:r>
              <a:rPr lang="en-GB" sz="1000" dirty="0">
                <a:solidFill>
                  <a:schemeClr val="tx1"/>
                </a:solidFill>
              </a:rPr>
              <a:t>Supply disruptions</a:t>
            </a: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p:txBody>
      </p:sp>
      <p:sp>
        <p:nvSpPr>
          <p:cNvPr id="19" name="Rectangle 18"/>
          <p:cNvSpPr/>
          <p:nvPr/>
        </p:nvSpPr>
        <p:spPr>
          <a:xfrm>
            <a:off x="2178348" y="4204295"/>
            <a:ext cx="3097213" cy="1872207"/>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000" b="1" dirty="0" smtClean="0">
                <a:solidFill>
                  <a:schemeClr val="tx1"/>
                </a:solidFill>
              </a:rPr>
              <a:t>Opportunities</a:t>
            </a:r>
          </a:p>
          <a:p>
            <a:endParaRPr lang="en-GB" sz="1000" b="1" dirty="0">
              <a:solidFill>
                <a:schemeClr val="tx1"/>
              </a:solidFill>
            </a:endParaRPr>
          </a:p>
          <a:p>
            <a:pPr marL="228600" indent="-228600">
              <a:buFont typeface="Arial" panose="020B0604020202020204" pitchFamily="34" charset="0"/>
              <a:buChar char="•"/>
            </a:pPr>
            <a:r>
              <a:rPr lang="en-GB" sz="1000" dirty="0">
                <a:solidFill>
                  <a:schemeClr val="tx1"/>
                </a:solidFill>
              </a:rPr>
              <a:t>Extend supplier range</a:t>
            </a:r>
          </a:p>
          <a:p>
            <a:pPr marL="228600" indent="-228600">
              <a:buFont typeface="Arial" panose="020B0604020202020204" pitchFamily="34" charset="0"/>
              <a:buChar char="•"/>
            </a:pPr>
            <a:r>
              <a:rPr lang="en-GB" sz="1000" dirty="0">
                <a:solidFill>
                  <a:schemeClr val="tx1"/>
                </a:solidFill>
              </a:rPr>
              <a:t>Expansion to emerging economies</a:t>
            </a:r>
          </a:p>
          <a:p>
            <a:pPr marL="228600" indent="-228600">
              <a:buFont typeface="Arial" panose="020B0604020202020204" pitchFamily="34" charset="0"/>
              <a:buChar char="•"/>
            </a:pPr>
            <a:r>
              <a:rPr lang="en-GB" sz="1000" dirty="0">
                <a:solidFill>
                  <a:schemeClr val="tx1"/>
                </a:solidFill>
              </a:rPr>
              <a:t>Increase product offerings</a:t>
            </a:r>
          </a:p>
          <a:p>
            <a:pPr marL="228600" indent="-228600">
              <a:buFont typeface="Arial" panose="020B0604020202020204" pitchFamily="34" charset="0"/>
              <a:buChar char="•"/>
            </a:pPr>
            <a:r>
              <a:rPr lang="en-GB" sz="1000" dirty="0">
                <a:solidFill>
                  <a:schemeClr val="tx1"/>
                </a:solidFill>
              </a:rPr>
              <a:t>Expansion of retail </a:t>
            </a:r>
            <a:r>
              <a:rPr lang="en-GB" sz="1000" dirty="0"/>
              <a:t>operations</a:t>
            </a:r>
          </a:p>
          <a:p>
            <a:endParaRPr lang="en-GB" sz="1000" b="1" dirty="0" smtClean="0">
              <a:solidFill>
                <a:schemeClr val="tx1"/>
              </a:solidFill>
            </a:endParaRPr>
          </a:p>
          <a:p>
            <a:endParaRPr lang="en-GB" sz="1000" b="1" dirty="0">
              <a:solidFill>
                <a:schemeClr val="tx1"/>
              </a:solidFill>
            </a:endParaRPr>
          </a:p>
          <a:p>
            <a:endParaRPr lang="en-GB" sz="1000" b="1" dirty="0" smtClean="0">
              <a:solidFill>
                <a:schemeClr val="tx1"/>
              </a:solidFill>
            </a:endParaRPr>
          </a:p>
          <a:p>
            <a:endParaRPr lang="en-GB" sz="1000" b="1" dirty="0" smtClean="0">
              <a:solidFill>
                <a:schemeClr val="tx1"/>
              </a:solidFill>
            </a:endParaRPr>
          </a:p>
          <a:p>
            <a:endParaRPr lang="en-GB" sz="1000" b="1" dirty="0" smtClean="0">
              <a:solidFill>
                <a:schemeClr val="tx1"/>
              </a:solidFill>
            </a:endParaRPr>
          </a:p>
        </p:txBody>
      </p:sp>
      <p:sp>
        <p:nvSpPr>
          <p:cNvPr id="20" name="Rectangle 19"/>
          <p:cNvSpPr/>
          <p:nvPr/>
        </p:nvSpPr>
        <p:spPr>
          <a:xfrm>
            <a:off x="306140" y="2188071"/>
            <a:ext cx="1728192" cy="1872208"/>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700" b="1" dirty="0" smtClean="0">
                <a:solidFill>
                  <a:schemeClr val="tx1"/>
                </a:solidFill>
              </a:rPr>
              <a:t>Examples</a:t>
            </a:r>
          </a:p>
          <a:p>
            <a:endParaRPr lang="en-GB" sz="700" b="1" dirty="0" smtClean="0">
              <a:solidFill>
                <a:schemeClr val="tx1"/>
              </a:solidFill>
            </a:endParaRPr>
          </a:p>
          <a:p>
            <a:r>
              <a:rPr lang="en-GB" sz="700" dirty="0" smtClean="0">
                <a:solidFill>
                  <a:schemeClr val="tx1"/>
                </a:solidFill>
              </a:rPr>
              <a:t>Advantages of proposition</a:t>
            </a:r>
          </a:p>
          <a:p>
            <a:r>
              <a:rPr lang="en-GB" sz="700" dirty="0" smtClean="0">
                <a:solidFill>
                  <a:schemeClr val="tx1"/>
                </a:solidFill>
              </a:rPr>
              <a:t>Capabilities</a:t>
            </a:r>
          </a:p>
          <a:p>
            <a:r>
              <a:rPr lang="en-GB" sz="700" dirty="0" smtClean="0">
                <a:solidFill>
                  <a:schemeClr val="tx1"/>
                </a:solidFill>
              </a:rPr>
              <a:t>Competitive advantages</a:t>
            </a:r>
          </a:p>
          <a:p>
            <a:r>
              <a:rPr lang="en-GB" sz="700" dirty="0" smtClean="0">
                <a:solidFill>
                  <a:schemeClr val="tx1"/>
                </a:solidFill>
              </a:rPr>
              <a:t>USP’s</a:t>
            </a:r>
          </a:p>
          <a:p>
            <a:r>
              <a:rPr lang="en-GB" sz="700" dirty="0" smtClean="0">
                <a:solidFill>
                  <a:schemeClr val="tx1"/>
                </a:solidFill>
              </a:rPr>
              <a:t>Resources, Assets, People, Experience, knowledge, data</a:t>
            </a:r>
          </a:p>
          <a:p>
            <a:r>
              <a:rPr lang="en-GB" sz="700" dirty="0" smtClean="0">
                <a:solidFill>
                  <a:schemeClr val="tx1"/>
                </a:solidFill>
              </a:rPr>
              <a:t>Financial reserves, likely returns</a:t>
            </a:r>
          </a:p>
          <a:p>
            <a:r>
              <a:rPr lang="en-GB" sz="700" dirty="0" smtClean="0">
                <a:solidFill>
                  <a:schemeClr val="tx1"/>
                </a:solidFill>
              </a:rPr>
              <a:t>Marketing – reach, distribution, awareness</a:t>
            </a:r>
          </a:p>
          <a:p>
            <a:r>
              <a:rPr lang="en-GB" sz="700" dirty="0" smtClean="0">
                <a:solidFill>
                  <a:schemeClr val="tx1"/>
                </a:solidFill>
              </a:rPr>
              <a:t>Innovative aspects</a:t>
            </a:r>
          </a:p>
          <a:p>
            <a:r>
              <a:rPr lang="en-GB" sz="700" dirty="0" smtClean="0">
                <a:solidFill>
                  <a:schemeClr val="tx1"/>
                </a:solidFill>
              </a:rPr>
              <a:t>Location &amp; geographical</a:t>
            </a:r>
          </a:p>
          <a:p>
            <a:r>
              <a:rPr lang="en-GB" sz="700" dirty="0" smtClean="0">
                <a:solidFill>
                  <a:schemeClr val="tx1"/>
                </a:solidFill>
              </a:rPr>
              <a:t>Price, value, quality</a:t>
            </a:r>
          </a:p>
          <a:p>
            <a:r>
              <a:rPr lang="en-GB" sz="700" dirty="0" smtClean="0">
                <a:solidFill>
                  <a:schemeClr val="tx1"/>
                </a:solidFill>
              </a:rPr>
              <a:t>Accreditations, qualifications, certifications</a:t>
            </a:r>
          </a:p>
          <a:p>
            <a:r>
              <a:rPr lang="en-GB" sz="700" dirty="0" smtClean="0">
                <a:solidFill>
                  <a:schemeClr val="tx1"/>
                </a:solidFill>
              </a:rPr>
              <a:t>Process, systems, IT, communications</a:t>
            </a:r>
          </a:p>
        </p:txBody>
      </p:sp>
      <p:sp>
        <p:nvSpPr>
          <p:cNvPr id="24" name="Rectangle 23"/>
          <p:cNvSpPr/>
          <p:nvPr/>
        </p:nvSpPr>
        <p:spPr>
          <a:xfrm>
            <a:off x="8659068" y="2180736"/>
            <a:ext cx="1728192" cy="1872208"/>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700" b="1" dirty="0" smtClean="0">
                <a:solidFill>
                  <a:schemeClr val="tx1"/>
                </a:solidFill>
              </a:rPr>
              <a:t>Examples</a:t>
            </a:r>
          </a:p>
          <a:p>
            <a:endParaRPr lang="en-GB" sz="700" b="1" dirty="0" smtClean="0">
              <a:solidFill>
                <a:schemeClr val="tx1"/>
              </a:solidFill>
            </a:endParaRPr>
          </a:p>
          <a:p>
            <a:r>
              <a:rPr lang="en-GB" sz="700" dirty="0" smtClean="0">
                <a:solidFill>
                  <a:schemeClr val="tx1"/>
                </a:solidFill>
              </a:rPr>
              <a:t>Disadvantages of proposition</a:t>
            </a:r>
          </a:p>
          <a:p>
            <a:r>
              <a:rPr lang="en-GB" sz="700" dirty="0" smtClean="0">
                <a:solidFill>
                  <a:schemeClr val="tx1"/>
                </a:solidFill>
              </a:rPr>
              <a:t>Gaps in capabilities</a:t>
            </a:r>
          </a:p>
          <a:p>
            <a:r>
              <a:rPr lang="en-GB" sz="700" dirty="0" smtClean="0">
                <a:solidFill>
                  <a:schemeClr val="tx1"/>
                </a:solidFill>
              </a:rPr>
              <a:t>Lack of competitive strength</a:t>
            </a:r>
          </a:p>
          <a:p>
            <a:r>
              <a:rPr lang="en-GB" sz="700" dirty="0" smtClean="0">
                <a:solidFill>
                  <a:schemeClr val="tx1"/>
                </a:solidFill>
              </a:rPr>
              <a:t>Reputation, presence and reach</a:t>
            </a:r>
          </a:p>
          <a:p>
            <a:r>
              <a:rPr lang="en-GB" sz="700" dirty="0" smtClean="0">
                <a:solidFill>
                  <a:schemeClr val="tx1"/>
                </a:solidFill>
              </a:rPr>
              <a:t>Financials</a:t>
            </a:r>
          </a:p>
          <a:p>
            <a:r>
              <a:rPr lang="en-GB" sz="700" dirty="0" smtClean="0">
                <a:solidFill>
                  <a:schemeClr val="tx1"/>
                </a:solidFill>
              </a:rPr>
              <a:t>Own known vulnerabilities</a:t>
            </a:r>
          </a:p>
          <a:p>
            <a:r>
              <a:rPr lang="en-GB" sz="700" dirty="0" smtClean="0">
                <a:solidFill>
                  <a:schemeClr val="tx1"/>
                </a:solidFill>
              </a:rPr>
              <a:t>Timescales, deadlines and pressures</a:t>
            </a:r>
          </a:p>
          <a:p>
            <a:r>
              <a:rPr lang="en-GB" sz="700" dirty="0" smtClean="0">
                <a:solidFill>
                  <a:schemeClr val="tx1"/>
                </a:solidFill>
              </a:rPr>
              <a:t>Cash flow, start up cash-drain</a:t>
            </a:r>
          </a:p>
          <a:p>
            <a:r>
              <a:rPr lang="en-GB" sz="700" dirty="0" smtClean="0">
                <a:solidFill>
                  <a:schemeClr val="tx1"/>
                </a:solidFill>
              </a:rPr>
              <a:t>Continuity, supply chain robustness</a:t>
            </a:r>
          </a:p>
          <a:p>
            <a:r>
              <a:rPr lang="en-GB" sz="700" dirty="0" smtClean="0">
                <a:solidFill>
                  <a:schemeClr val="tx1"/>
                </a:solidFill>
              </a:rPr>
              <a:t>External effects on core activities</a:t>
            </a:r>
          </a:p>
          <a:p>
            <a:r>
              <a:rPr lang="en-GB" sz="700" dirty="0" smtClean="0">
                <a:solidFill>
                  <a:schemeClr val="tx1"/>
                </a:solidFill>
              </a:rPr>
              <a:t>Reliability of data, plan predictability</a:t>
            </a:r>
          </a:p>
          <a:p>
            <a:r>
              <a:rPr lang="en-GB" sz="700" dirty="0" smtClean="0">
                <a:solidFill>
                  <a:schemeClr val="tx1"/>
                </a:solidFill>
              </a:rPr>
              <a:t>Morale, commitment, leadership capability</a:t>
            </a:r>
          </a:p>
          <a:p>
            <a:r>
              <a:rPr lang="en-GB" sz="700" dirty="0" smtClean="0">
                <a:solidFill>
                  <a:schemeClr val="tx1"/>
                </a:solidFill>
              </a:rPr>
              <a:t>Accreditations etc.</a:t>
            </a:r>
          </a:p>
        </p:txBody>
      </p:sp>
      <p:sp>
        <p:nvSpPr>
          <p:cNvPr id="25" name="Rectangle 24"/>
          <p:cNvSpPr/>
          <p:nvPr/>
        </p:nvSpPr>
        <p:spPr>
          <a:xfrm>
            <a:off x="8659068" y="4198252"/>
            <a:ext cx="1728192" cy="1872208"/>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700" b="1" dirty="0" smtClean="0">
                <a:solidFill>
                  <a:schemeClr val="tx1"/>
                </a:solidFill>
              </a:rPr>
              <a:t>Examples</a:t>
            </a:r>
          </a:p>
          <a:p>
            <a:endParaRPr lang="en-GB" sz="700" b="1" dirty="0" smtClean="0">
              <a:solidFill>
                <a:schemeClr val="tx1"/>
              </a:solidFill>
            </a:endParaRPr>
          </a:p>
          <a:p>
            <a:r>
              <a:rPr lang="en-GB" sz="700" dirty="0" smtClean="0">
                <a:solidFill>
                  <a:schemeClr val="tx1"/>
                </a:solidFill>
              </a:rPr>
              <a:t>Political effects</a:t>
            </a:r>
          </a:p>
          <a:p>
            <a:r>
              <a:rPr lang="en-GB" sz="700" dirty="0" smtClean="0">
                <a:solidFill>
                  <a:schemeClr val="tx1"/>
                </a:solidFill>
              </a:rPr>
              <a:t>Legislative effects</a:t>
            </a:r>
          </a:p>
          <a:p>
            <a:r>
              <a:rPr lang="en-GB" sz="700" dirty="0" smtClean="0">
                <a:solidFill>
                  <a:schemeClr val="tx1"/>
                </a:solidFill>
              </a:rPr>
              <a:t>Environmental effects</a:t>
            </a:r>
          </a:p>
          <a:p>
            <a:r>
              <a:rPr lang="en-GB" sz="700" dirty="0" smtClean="0">
                <a:solidFill>
                  <a:schemeClr val="tx1"/>
                </a:solidFill>
              </a:rPr>
              <a:t>Own Technology development</a:t>
            </a:r>
          </a:p>
          <a:p>
            <a:r>
              <a:rPr lang="en-GB" sz="700" dirty="0" smtClean="0">
                <a:solidFill>
                  <a:schemeClr val="tx1"/>
                </a:solidFill>
              </a:rPr>
              <a:t>New technologies, services, ideas</a:t>
            </a:r>
          </a:p>
          <a:p>
            <a:r>
              <a:rPr lang="en-GB" sz="700" dirty="0" smtClean="0">
                <a:solidFill>
                  <a:schemeClr val="tx1"/>
                </a:solidFill>
              </a:rPr>
              <a:t>Competitor intentions</a:t>
            </a:r>
          </a:p>
          <a:p>
            <a:r>
              <a:rPr lang="en-GB" sz="700" dirty="0" smtClean="0">
                <a:solidFill>
                  <a:schemeClr val="tx1"/>
                </a:solidFill>
              </a:rPr>
              <a:t>Market demand</a:t>
            </a:r>
          </a:p>
          <a:p>
            <a:r>
              <a:rPr lang="en-GB" sz="700" dirty="0" smtClean="0">
                <a:solidFill>
                  <a:schemeClr val="tx1"/>
                </a:solidFill>
              </a:rPr>
              <a:t>Vital contracts and partners</a:t>
            </a:r>
          </a:p>
          <a:p>
            <a:r>
              <a:rPr lang="en-GB" sz="700" dirty="0" smtClean="0">
                <a:solidFill>
                  <a:schemeClr val="tx1"/>
                </a:solidFill>
              </a:rPr>
              <a:t>Sustaining internal capabilities</a:t>
            </a:r>
          </a:p>
          <a:p>
            <a:r>
              <a:rPr lang="en-GB" sz="700" dirty="0" smtClean="0">
                <a:solidFill>
                  <a:schemeClr val="tx1"/>
                </a:solidFill>
              </a:rPr>
              <a:t>Obstacles faced</a:t>
            </a:r>
          </a:p>
          <a:p>
            <a:r>
              <a:rPr lang="en-GB" sz="700" dirty="0" smtClean="0">
                <a:solidFill>
                  <a:schemeClr val="tx1"/>
                </a:solidFill>
              </a:rPr>
              <a:t>Insurmountable weaknesses</a:t>
            </a:r>
          </a:p>
          <a:p>
            <a:r>
              <a:rPr lang="en-GB" sz="700" dirty="0" smtClean="0">
                <a:solidFill>
                  <a:schemeClr val="tx1"/>
                </a:solidFill>
              </a:rPr>
              <a:t>Loss of key resources</a:t>
            </a:r>
          </a:p>
          <a:p>
            <a:r>
              <a:rPr lang="en-GB" sz="700" dirty="0" smtClean="0">
                <a:solidFill>
                  <a:schemeClr val="tx1"/>
                </a:solidFill>
              </a:rPr>
              <a:t>Sustainable financial backing</a:t>
            </a:r>
          </a:p>
          <a:p>
            <a:r>
              <a:rPr lang="en-GB" sz="700" dirty="0" smtClean="0">
                <a:solidFill>
                  <a:schemeClr val="tx1"/>
                </a:solidFill>
              </a:rPr>
              <a:t>Economy – home, abroad</a:t>
            </a:r>
          </a:p>
          <a:p>
            <a:r>
              <a:rPr lang="en-GB" sz="700" dirty="0" smtClean="0">
                <a:solidFill>
                  <a:schemeClr val="tx1"/>
                </a:solidFill>
              </a:rPr>
              <a:t>Seasonality</a:t>
            </a:r>
          </a:p>
        </p:txBody>
      </p:sp>
      <p:sp>
        <p:nvSpPr>
          <p:cNvPr id="26" name="Rectangle 25"/>
          <p:cNvSpPr/>
          <p:nvPr/>
        </p:nvSpPr>
        <p:spPr>
          <a:xfrm>
            <a:off x="306140" y="4204295"/>
            <a:ext cx="1728192" cy="1872208"/>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700" b="1" dirty="0" smtClean="0">
                <a:solidFill>
                  <a:schemeClr val="tx1"/>
                </a:solidFill>
              </a:rPr>
              <a:t>Examples</a:t>
            </a:r>
          </a:p>
          <a:p>
            <a:endParaRPr lang="en-GB" sz="700" b="1" dirty="0" smtClean="0">
              <a:solidFill>
                <a:schemeClr val="tx1"/>
              </a:solidFill>
            </a:endParaRPr>
          </a:p>
          <a:p>
            <a:r>
              <a:rPr lang="en-GB" sz="700" dirty="0" smtClean="0">
                <a:solidFill>
                  <a:schemeClr val="tx1"/>
                </a:solidFill>
              </a:rPr>
              <a:t>Market developments</a:t>
            </a:r>
          </a:p>
          <a:p>
            <a:r>
              <a:rPr lang="en-GB" sz="700" dirty="0" smtClean="0">
                <a:solidFill>
                  <a:schemeClr val="tx1"/>
                </a:solidFill>
              </a:rPr>
              <a:t>Competitor’s vulnerabilities</a:t>
            </a:r>
          </a:p>
          <a:p>
            <a:r>
              <a:rPr lang="en-GB" sz="700" dirty="0" smtClean="0">
                <a:solidFill>
                  <a:schemeClr val="tx1"/>
                </a:solidFill>
              </a:rPr>
              <a:t>Industry or lifestyle trends</a:t>
            </a:r>
          </a:p>
          <a:p>
            <a:r>
              <a:rPr lang="en-GB" sz="700" dirty="0" smtClean="0">
                <a:solidFill>
                  <a:schemeClr val="tx1"/>
                </a:solidFill>
              </a:rPr>
              <a:t>Technology development and innovation</a:t>
            </a:r>
          </a:p>
          <a:p>
            <a:r>
              <a:rPr lang="en-GB" sz="700" dirty="0" smtClean="0">
                <a:solidFill>
                  <a:schemeClr val="tx1"/>
                </a:solidFill>
              </a:rPr>
              <a:t>Global influences</a:t>
            </a:r>
          </a:p>
          <a:p>
            <a:r>
              <a:rPr lang="en-GB" sz="700" dirty="0" smtClean="0">
                <a:solidFill>
                  <a:schemeClr val="tx1"/>
                </a:solidFill>
              </a:rPr>
              <a:t>New markets, vertical, horizontal</a:t>
            </a:r>
          </a:p>
          <a:p>
            <a:r>
              <a:rPr lang="en-GB" sz="700" dirty="0" smtClean="0">
                <a:solidFill>
                  <a:schemeClr val="tx1"/>
                </a:solidFill>
              </a:rPr>
              <a:t>Niche target markets</a:t>
            </a:r>
          </a:p>
          <a:p>
            <a:r>
              <a:rPr lang="en-GB" sz="700" dirty="0" smtClean="0">
                <a:solidFill>
                  <a:schemeClr val="tx1"/>
                </a:solidFill>
              </a:rPr>
              <a:t>Geographical, export, import</a:t>
            </a:r>
          </a:p>
          <a:p>
            <a:r>
              <a:rPr lang="en-GB" sz="700" dirty="0" smtClean="0">
                <a:solidFill>
                  <a:schemeClr val="tx1"/>
                </a:solidFill>
              </a:rPr>
              <a:t>New USP’s</a:t>
            </a:r>
          </a:p>
          <a:p>
            <a:r>
              <a:rPr lang="en-GB" sz="700" dirty="0" smtClean="0">
                <a:solidFill>
                  <a:schemeClr val="tx1"/>
                </a:solidFill>
              </a:rPr>
              <a:t>Tactic’s e.g. major contracts</a:t>
            </a:r>
          </a:p>
          <a:p>
            <a:r>
              <a:rPr lang="en-GB" sz="700" dirty="0" smtClean="0">
                <a:solidFill>
                  <a:schemeClr val="tx1"/>
                </a:solidFill>
              </a:rPr>
              <a:t>Business and product development</a:t>
            </a:r>
          </a:p>
          <a:p>
            <a:r>
              <a:rPr lang="en-GB" sz="700" dirty="0" smtClean="0">
                <a:solidFill>
                  <a:schemeClr val="tx1"/>
                </a:solidFill>
              </a:rPr>
              <a:t>Information and research</a:t>
            </a:r>
          </a:p>
          <a:p>
            <a:r>
              <a:rPr lang="en-GB" sz="700" dirty="0" smtClean="0">
                <a:solidFill>
                  <a:schemeClr val="tx1"/>
                </a:solidFill>
              </a:rPr>
              <a:t>Partnerships, agencies </a:t>
            </a:r>
          </a:p>
          <a:p>
            <a:endParaRPr lang="en-GB" sz="700" dirty="0" smtClean="0">
              <a:solidFill>
                <a:schemeClr val="tx1"/>
              </a:solidFill>
            </a:endParaRPr>
          </a:p>
        </p:txBody>
      </p:sp>
      <p:sp>
        <p:nvSpPr>
          <p:cNvPr id="27" name="Rectangle 26"/>
          <p:cNvSpPr/>
          <p:nvPr/>
        </p:nvSpPr>
        <p:spPr>
          <a:xfrm>
            <a:off x="304427" y="6148511"/>
            <a:ext cx="10081120" cy="872480"/>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just"/>
            <a:r>
              <a:rPr lang="en-GB" sz="1000" b="1" dirty="0" smtClean="0">
                <a:solidFill>
                  <a:schemeClr val="tx1"/>
                </a:solidFill>
              </a:rPr>
              <a:t>Aspirations for the business: </a:t>
            </a:r>
            <a:r>
              <a:rPr lang="en-GB" sz="1000" dirty="0" smtClean="0">
                <a:solidFill>
                  <a:schemeClr val="tx1"/>
                </a:solidFill>
              </a:rPr>
              <a:t>Mission is to </a:t>
            </a:r>
            <a:r>
              <a:rPr lang="en-GB" sz="1000" dirty="0">
                <a:solidFill>
                  <a:schemeClr val="tx1"/>
                </a:solidFill>
              </a:rPr>
              <a:t>inspire and nurture the human spirit – one person, one cup and one neighbourhood at a time</a:t>
            </a:r>
            <a:r>
              <a:rPr lang="en-GB" sz="1000" dirty="0" smtClean="0">
                <a:solidFill>
                  <a:schemeClr val="tx1"/>
                </a:solidFill>
              </a:rPr>
              <a:t>.  Currently have 18,000 </a:t>
            </a:r>
            <a:r>
              <a:rPr lang="en-GB" sz="1000" dirty="0">
                <a:solidFill>
                  <a:schemeClr val="tx1"/>
                </a:solidFill>
              </a:rPr>
              <a:t>stores world-wide of which roughly 13,000 are in the North America and 255 are in New York City. </a:t>
            </a:r>
            <a:r>
              <a:rPr lang="en-GB" sz="1000" dirty="0" smtClean="0">
                <a:solidFill>
                  <a:schemeClr val="tx1"/>
                </a:solidFill>
              </a:rPr>
              <a:t>Growth plans include world-wide expansion, today </a:t>
            </a:r>
            <a:r>
              <a:rPr lang="en-GB" sz="1000" dirty="0">
                <a:solidFill>
                  <a:schemeClr val="tx1"/>
                </a:solidFill>
              </a:rPr>
              <a:t>Starbucks is in 62 countries around the globe, including most recently </a:t>
            </a:r>
            <a:r>
              <a:rPr lang="en-GB" sz="1000" dirty="0" smtClean="0">
                <a:solidFill>
                  <a:schemeClr val="tx1"/>
                </a:solidFill>
              </a:rPr>
              <a:t>India, planned to open 1300 stores worldwide in 2103 and 2014. The potential </a:t>
            </a:r>
            <a:r>
              <a:rPr lang="en-GB" sz="1000" dirty="0">
                <a:solidFill>
                  <a:schemeClr val="tx1"/>
                </a:solidFill>
              </a:rPr>
              <a:t>for ongoing growth in China is important for </a:t>
            </a:r>
            <a:r>
              <a:rPr lang="en-GB" sz="1000" dirty="0" smtClean="0">
                <a:solidFill>
                  <a:schemeClr val="tx1"/>
                </a:solidFill>
              </a:rPr>
              <a:t>Starbucks, there </a:t>
            </a:r>
            <a:r>
              <a:rPr lang="en-GB" sz="1000" dirty="0">
                <a:solidFill>
                  <a:schemeClr val="tx1"/>
                </a:solidFill>
              </a:rPr>
              <a:t>are more than 3,000 stores in China, and it is one of the fastest growing countries for the Company</a:t>
            </a:r>
            <a:r>
              <a:rPr lang="en-GB" sz="1000" dirty="0" smtClean="0">
                <a:solidFill>
                  <a:schemeClr val="tx1"/>
                </a:solidFill>
              </a:rPr>
              <a:t>.</a:t>
            </a:r>
            <a:r>
              <a:rPr lang="en-GB" sz="1000" dirty="0">
                <a:solidFill>
                  <a:schemeClr val="tx1"/>
                </a:solidFill>
              </a:rPr>
              <a:t> </a:t>
            </a:r>
            <a:r>
              <a:rPr lang="en-GB" sz="1000" dirty="0" smtClean="0">
                <a:solidFill>
                  <a:schemeClr val="tx1"/>
                </a:solidFill>
              </a:rPr>
              <a:t>Half of the new stores will be opened in China as they </a:t>
            </a:r>
            <a:r>
              <a:rPr lang="en-GB" sz="1000" dirty="0">
                <a:solidFill>
                  <a:schemeClr val="tx1"/>
                </a:solidFill>
              </a:rPr>
              <a:t>are planning for China to be the Company’s second largest market by </a:t>
            </a:r>
            <a:r>
              <a:rPr lang="en-GB" sz="1000" dirty="0" smtClean="0">
                <a:solidFill>
                  <a:schemeClr val="tx1"/>
                </a:solidFill>
              </a:rPr>
              <a:t>2014. </a:t>
            </a:r>
          </a:p>
        </p:txBody>
      </p:sp>
      <p:pic>
        <p:nvPicPr>
          <p:cNvPr id="18434" name="Picture 2" descr="Starbucks log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84998" y="67804"/>
            <a:ext cx="1130254" cy="1145225"/>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p:cNvSpPr/>
          <p:nvPr/>
        </p:nvSpPr>
        <p:spPr>
          <a:xfrm>
            <a:off x="304427" y="900113"/>
            <a:ext cx="10082833" cy="338554"/>
          </a:xfrm>
          <a:prstGeom prst="rect">
            <a:avLst/>
          </a:prstGeom>
        </p:spPr>
        <p:txBody>
          <a:bodyPr wrap="square">
            <a:spAutoFit/>
          </a:bodyPr>
          <a:lstStyle/>
          <a:p>
            <a:r>
              <a:rPr lang="en-GB" sz="1600" dirty="0" smtClean="0">
                <a:solidFill>
                  <a:schemeClr val="bg1">
                    <a:lumMod val="50000"/>
                  </a:schemeClr>
                </a:solidFill>
                <a:effectLst/>
              </a:rPr>
              <a:t>Starbucks 2013*</a:t>
            </a:r>
          </a:p>
        </p:txBody>
      </p:sp>
      <p:sp>
        <p:nvSpPr>
          <p:cNvPr id="3" name="TextBox 2"/>
          <p:cNvSpPr txBox="1"/>
          <p:nvPr/>
        </p:nvSpPr>
        <p:spPr>
          <a:xfrm>
            <a:off x="306140" y="7092999"/>
            <a:ext cx="10081120" cy="215444"/>
          </a:xfrm>
          <a:prstGeom prst="rect">
            <a:avLst/>
          </a:prstGeom>
          <a:noFill/>
        </p:spPr>
        <p:txBody>
          <a:bodyPr wrap="square" rtlCol="0">
            <a:spAutoFit/>
          </a:bodyPr>
          <a:lstStyle/>
          <a:p>
            <a:r>
              <a:rPr lang="en-GB" sz="800" i="1" dirty="0" smtClean="0"/>
              <a:t>*Strategic </a:t>
            </a:r>
            <a:r>
              <a:rPr lang="en-GB" sz="800" i="1" dirty="0"/>
              <a:t>management insights: http://www.strategicmanagementinsight.com/swot-analyses/starbucks-swot-analysis.html</a:t>
            </a:r>
          </a:p>
        </p:txBody>
      </p:sp>
    </p:spTree>
    <p:extLst>
      <p:ext uri="{BB962C8B-B14F-4D97-AF65-F5344CB8AC3E}">
        <p14:creationId xmlns:p14="http://schemas.microsoft.com/office/powerpoint/2010/main" val="38938270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smtClean="0"/>
              <a:t>Session 2 – 14:10 to 16:10</a:t>
            </a:r>
            <a:endParaRPr lang="en-GB" dirty="0"/>
          </a:p>
        </p:txBody>
      </p:sp>
      <p:sp>
        <p:nvSpPr>
          <p:cNvPr id="3" name="Text Placeholder 2"/>
          <p:cNvSpPr>
            <a:spLocks noGrp="1"/>
          </p:cNvSpPr>
          <p:nvPr>
            <p:ph type="body" sz="quarter" idx="11"/>
          </p:nvPr>
        </p:nvSpPr>
        <p:spPr>
          <a:xfrm>
            <a:off x="882204" y="1581149"/>
            <a:ext cx="3924000" cy="1767434"/>
          </a:xfrm>
        </p:spPr>
        <p:txBody>
          <a:bodyPr/>
          <a:lstStyle/>
          <a:p>
            <a:r>
              <a:rPr lang="en-GB" dirty="0" smtClean="0"/>
              <a:t>Exploring </a:t>
            </a:r>
            <a:r>
              <a:rPr lang="en-GB" dirty="0"/>
              <a:t>y</a:t>
            </a:r>
            <a:r>
              <a:rPr lang="en-GB" dirty="0" smtClean="0"/>
              <a:t>our priority focus area</a:t>
            </a:r>
            <a:endParaRPr lang="en-GB" dirty="0"/>
          </a:p>
        </p:txBody>
      </p:sp>
    </p:spTree>
    <p:extLst>
      <p:ext uri="{BB962C8B-B14F-4D97-AF65-F5344CB8AC3E}">
        <p14:creationId xmlns:p14="http://schemas.microsoft.com/office/powerpoint/2010/main" val="7366762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smtClean="0"/>
              <a:t>Group 1</a:t>
            </a:r>
            <a:endParaRPr lang="en-GB" dirty="0"/>
          </a:p>
        </p:txBody>
      </p:sp>
      <p:sp>
        <p:nvSpPr>
          <p:cNvPr id="3" name="Text Placeholder 2"/>
          <p:cNvSpPr>
            <a:spLocks noGrp="1"/>
          </p:cNvSpPr>
          <p:nvPr>
            <p:ph type="body" sz="quarter" idx="11"/>
          </p:nvPr>
        </p:nvSpPr>
        <p:spPr/>
        <p:txBody>
          <a:bodyPr/>
          <a:lstStyle/>
          <a:p>
            <a:r>
              <a:rPr lang="en-GB" dirty="0" smtClean="0"/>
              <a:t>Business Case</a:t>
            </a:r>
            <a:endParaRPr lang="en-GB" dirty="0"/>
          </a:p>
        </p:txBody>
      </p:sp>
      <p:sp>
        <p:nvSpPr>
          <p:cNvPr id="4" name="Text Placeholder 1"/>
          <p:cNvSpPr txBox="1">
            <a:spLocks/>
          </p:cNvSpPr>
          <p:nvPr/>
        </p:nvSpPr>
        <p:spPr bwMode="gray">
          <a:xfrm>
            <a:off x="882206" y="1980431"/>
            <a:ext cx="4176462" cy="864096"/>
          </a:xfrm>
          <a:prstGeom prst="rect">
            <a:avLst/>
          </a:prstGeom>
        </p:spPr>
        <p:txBody>
          <a:bodyPr vert="horz" wrap="none" lIns="0" tIns="0" rIns="0" bIns="0" rtlCol="0" anchor="ctr" anchorCtr="0">
            <a:noAutofit/>
          </a:bodyPr>
          <a:lstStyle>
            <a:lvl1pPr marL="0" indent="0" algn="l" defTabSz="1042688" rtl="0" eaLnBrk="1" latinLnBrk="0" hangingPunct="1">
              <a:spcBef>
                <a:spcPts val="0"/>
              </a:spcBef>
              <a:spcAft>
                <a:spcPts val="500"/>
              </a:spcAft>
              <a:buFont typeface="Arial" pitchFamily="34" charset="0"/>
              <a:buNone/>
              <a:defRPr lang="en-US" sz="1400" b="1" kern="1200" dirty="0" smtClean="0">
                <a:solidFill>
                  <a:schemeClr val="accent1"/>
                </a:solidFill>
                <a:latin typeface="+mj-lt"/>
                <a:ea typeface="+mn-ea"/>
                <a:cs typeface="Arial" charset="0"/>
              </a:defRPr>
            </a:lvl1pPr>
            <a:lvl2pPr marL="0" indent="0" algn="l" defTabSz="1042688" rtl="0" eaLnBrk="1" latinLnBrk="0" hangingPunct="1">
              <a:spcBef>
                <a:spcPts val="200"/>
              </a:spcBef>
              <a:spcAft>
                <a:spcPts val="500"/>
              </a:spcAft>
              <a:buFontTx/>
              <a:buNone/>
              <a:defRPr sz="1400" b="1" kern="1200">
                <a:solidFill>
                  <a:schemeClr val="tx1"/>
                </a:solidFill>
                <a:latin typeface="+mn-lt"/>
                <a:ea typeface="+mn-ea"/>
                <a:cs typeface="+mn-cs"/>
              </a:defRPr>
            </a:lvl2pPr>
            <a:lvl3pPr marL="0" indent="0" algn="l" defTabSz="1042688" rtl="0" eaLnBrk="1" latinLnBrk="0" hangingPunct="1">
              <a:spcBef>
                <a:spcPts val="200"/>
              </a:spcBef>
              <a:spcAft>
                <a:spcPts val="500"/>
              </a:spcAft>
              <a:buFontTx/>
              <a:buNone/>
              <a:defRPr sz="1300" b="1" kern="1200">
                <a:solidFill>
                  <a:schemeClr val="accent1"/>
                </a:solidFill>
                <a:latin typeface="+mn-lt"/>
                <a:ea typeface="+mn-ea"/>
                <a:cs typeface="+mn-cs"/>
              </a:defRPr>
            </a:lvl3pPr>
            <a:lvl4pPr marL="177738" indent="-177738"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4pPr>
            <a:lvl5pPr marL="342779" indent="-165042"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5pPr>
            <a:lvl6pPr marL="2867392"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735"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0080"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1424"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en-GB" dirty="0" smtClean="0"/>
              <a:t>Session Aim: Supporting you to develop </a:t>
            </a:r>
            <a:r>
              <a:rPr lang="en-GB" dirty="0"/>
              <a:t>a long </a:t>
            </a:r>
            <a:endParaRPr lang="en-GB" dirty="0" smtClean="0"/>
          </a:p>
          <a:p>
            <a:r>
              <a:rPr lang="en-GB" dirty="0" smtClean="0"/>
              <a:t>term </a:t>
            </a:r>
            <a:r>
              <a:rPr lang="en-GB" dirty="0"/>
              <a:t>vision, </a:t>
            </a:r>
            <a:r>
              <a:rPr lang="en-GB" dirty="0" smtClean="0"/>
              <a:t>mission</a:t>
            </a:r>
            <a:r>
              <a:rPr lang="en-GB" dirty="0"/>
              <a:t>, aims and </a:t>
            </a:r>
            <a:r>
              <a:rPr lang="en-GB" dirty="0" smtClean="0"/>
              <a:t>objectives </a:t>
            </a:r>
            <a:r>
              <a:rPr lang="en-GB" dirty="0"/>
              <a:t>for </a:t>
            </a:r>
            <a:endParaRPr lang="en-GB" dirty="0" smtClean="0"/>
          </a:p>
          <a:p>
            <a:r>
              <a:rPr lang="en-GB" dirty="0" smtClean="0"/>
              <a:t>your business</a:t>
            </a:r>
            <a:endParaRPr lang="en-GB" dirty="0"/>
          </a:p>
        </p:txBody>
      </p:sp>
    </p:spTree>
    <p:extLst>
      <p:ext uri="{BB962C8B-B14F-4D97-AF65-F5344CB8AC3E}">
        <p14:creationId xmlns:p14="http://schemas.microsoft.com/office/powerpoint/2010/main" val="23945100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1720965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7983"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791469" y="108223"/>
            <a:ext cx="9504363" cy="612000"/>
          </a:xfrm>
        </p:spPr>
        <p:txBody>
          <a:bodyPr/>
          <a:lstStyle/>
          <a:p>
            <a:r>
              <a:rPr lang="en-GB" dirty="0" smtClean="0"/>
              <a:t>Business case</a:t>
            </a:r>
            <a:endParaRPr lang="en-GB" dirty="0"/>
          </a:p>
        </p:txBody>
      </p:sp>
      <p:sp>
        <p:nvSpPr>
          <p:cNvPr id="11" name="Rectangle 10"/>
          <p:cNvSpPr/>
          <p:nvPr/>
        </p:nvSpPr>
        <p:spPr>
          <a:xfrm>
            <a:off x="738188" y="900113"/>
            <a:ext cx="9577064" cy="338554"/>
          </a:xfrm>
          <a:prstGeom prst="rect">
            <a:avLst/>
          </a:prstGeom>
        </p:spPr>
        <p:txBody>
          <a:bodyPr wrap="square">
            <a:spAutoFit/>
          </a:bodyPr>
          <a:lstStyle/>
          <a:p>
            <a:pPr lvl="0"/>
            <a:r>
              <a:rPr lang="en-GB" sz="1600" b="1" dirty="0" smtClean="0">
                <a:solidFill>
                  <a:schemeClr val="bg1">
                    <a:lumMod val="50000"/>
                  </a:schemeClr>
                </a:solidFill>
              </a:rPr>
              <a:t>Session Aim</a:t>
            </a:r>
            <a:r>
              <a:rPr lang="en-GB" sz="1600" dirty="0" smtClean="0">
                <a:solidFill>
                  <a:schemeClr val="bg1">
                    <a:lumMod val="50000"/>
                  </a:schemeClr>
                </a:solidFill>
              </a:rPr>
              <a:t>: Support you to develop </a:t>
            </a:r>
            <a:r>
              <a:rPr lang="en-GB" sz="1600" dirty="0">
                <a:solidFill>
                  <a:schemeClr val="bg1">
                    <a:lumMod val="50000"/>
                  </a:schemeClr>
                </a:solidFill>
              </a:rPr>
              <a:t>a</a:t>
            </a:r>
            <a:r>
              <a:rPr lang="en-GB" sz="1600" dirty="0" smtClean="0">
                <a:solidFill>
                  <a:schemeClr val="bg1">
                    <a:lumMod val="50000"/>
                  </a:schemeClr>
                </a:solidFill>
              </a:rPr>
              <a:t> </a:t>
            </a:r>
            <a:r>
              <a:rPr lang="en-GB" sz="1600" dirty="0">
                <a:solidFill>
                  <a:schemeClr val="bg1">
                    <a:lumMod val="50000"/>
                  </a:schemeClr>
                </a:solidFill>
              </a:rPr>
              <a:t>long term vision, </a:t>
            </a:r>
            <a:r>
              <a:rPr lang="en-GB" sz="1600" dirty="0" smtClean="0">
                <a:solidFill>
                  <a:schemeClr val="bg1">
                    <a:lumMod val="50000"/>
                  </a:schemeClr>
                </a:solidFill>
              </a:rPr>
              <a:t>mission, aims </a:t>
            </a:r>
            <a:r>
              <a:rPr lang="en-GB" sz="1600" dirty="0">
                <a:solidFill>
                  <a:schemeClr val="bg1">
                    <a:lumMod val="50000"/>
                  </a:schemeClr>
                </a:solidFill>
              </a:rPr>
              <a:t>and </a:t>
            </a:r>
            <a:r>
              <a:rPr lang="en-GB" sz="1600" dirty="0" smtClean="0">
                <a:solidFill>
                  <a:schemeClr val="bg1">
                    <a:lumMod val="50000"/>
                  </a:schemeClr>
                </a:solidFill>
              </a:rPr>
              <a:t>objectives for your business</a:t>
            </a:r>
            <a:endParaRPr lang="en-GB" sz="1600" dirty="0">
              <a:solidFill>
                <a:schemeClr val="bg1">
                  <a:lumMod val="50000"/>
                </a:schemeClr>
              </a:solidFill>
            </a:endParaRPr>
          </a:p>
        </p:txBody>
      </p:sp>
      <p:sp>
        <p:nvSpPr>
          <p:cNvPr id="46"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6</a:t>
            </a:fld>
            <a:endParaRPr lang="en-GB" sz="800" dirty="0">
              <a:solidFill>
                <a:srgbClr val="808080"/>
              </a:solidFill>
            </a:endParaRPr>
          </a:p>
        </p:txBody>
      </p:sp>
      <p:sp>
        <p:nvSpPr>
          <p:cNvPr id="22" name="Rectangle 21"/>
          <p:cNvSpPr>
            <a:spLocks noChangeArrowheads="1"/>
          </p:cNvSpPr>
          <p:nvPr/>
        </p:nvSpPr>
        <p:spPr bwMode="gray">
          <a:xfrm>
            <a:off x="809625" y="1558975"/>
            <a:ext cx="1368425" cy="1501576"/>
          </a:xfrm>
          <a:prstGeom prst="rect">
            <a:avLst/>
          </a:prstGeom>
          <a:solidFill>
            <a:schemeClr val="tx1"/>
          </a:solidFill>
          <a:ln w="19050">
            <a:noFill/>
            <a:miter lim="800000"/>
            <a:headEnd/>
            <a:tailEnd/>
          </a:ln>
          <a:effectLst/>
        </p:spPr>
        <p:txBody>
          <a:bodyPr wrap="none" lIns="72000" tIns="72000" rIns="72000" bIns="72000" anchor="ctr"/>
          <a:lstStyle/>
          <a:p>
            <a:pPr algn="ctr" fontAlgn="base">
              <a:spcBef>
                <a:spcPct val="0"/>
              </a:spcBef>
              <a:spcAft>
                <a:spcPct val="0"/>
              </a:spcAft>
            </a:pPr>
            <a:r>
              <a:rPr lang="en-GB" sz="1200" b="1" dirty="0" smtClean="0">
                <a:solidFill>
                  <a:schemeClr val="bg1"/>
                </a:solidFill>
              </a:rPr>
              <a:t>Purpose of the</a:t>
            </a:r>
          </a:p>
          <a:p>
            <a:pPr algn="ctr" fontAlgn="base">
              <a:spcBef>
                <a:spcPct val="0"/>
              </a:spcBef>
              <a:spcAft>
                <a:spcPct val="0"/>
              </a:spcAft>
            </a:pPr>
            <a:r>
              <a:rPr lang="en-GB" sz="1200" b="1" dirty="0" smtClean="0">
                <a:solidFill>
                  <a:schemeClr val="bg1"/>
                </a:solidFill>
              </a:rPr>
              <a:t> Business case</a:t>
            </a:r>
            <a:endParaRPr lang="en-GB" sz="1200" b="1" dirty="0">
              <a:solidFill>
                <a:schemeClr val="bg1"/>
              </a:solidFill>
            </a:endParaRPr>
          </a:p>
        </p:txBody>
      </p:sp>
      <p:sp>
        <p:nvSpPr>
          <p:cNvPr id="23" name="Rectangle 22"/>
          <p:cNvSpPr>
            <a:spLocks noChangeArrowheads="1"/>
          </p:cNvSpPr>
          <p:nvPr/>
        </p:nvSpPr>
        <p:spPr bwMode="gray">
          <a:xfrm>
            <a:off x="2466380" y="1572175"/>
            <a:ext cx="7201073" cy="1488376"/>
          </a:xfrm>
          <a:prstGeom prst="rect">
            <a:avLst/>
          </a:prstGeom>
          <a:noFill/>
          <a:ln w="19050">
            <a:solidFill>
              <a:schemeClr val="tx1"/>
            </a:solidFill>
            <a:miter lim="800000"/>
            <a:headEnd/>
            <a:tailEnd/>
          </a:ln>
          <a:effectLst/>
        </p:spPr>
        <p:txBody>
          <a:bodyPr wrap="none" lIns="72000" tIns="72000" rIns="72000" bIns="72000" anchor="ctr"/>
          <a:lstStyle/>
          <a:p>
            <a:pPr algn="ctr" fontAlgn="base">
              <a:spcBef>
                <a:spcPct val="0"/>
              </a:spcBef>
              <a:spcAft>
                <a:spcPct val="0"/>
              </a:spcAft>
            </a:pPr>
            <a:endParaRPr lang="en-GB" sz="1200" dirty="0" smtClean="0"/>
          </a:p>
        </p:txBody>
      </p:sp>
      <p:sp>
        <p:nvSpPr>
          <p:cNvPr id="6" name="TextBox 5"/>
          <p:cNvSpPr txBox="1"/>
          <p:nvPr/>
        </p:nvSpPr>
        <p:spPr>
          <a:xfrm>
            <a:off x="2466380" y="1632585"/>
            <a:ext cx="7128792" cy="1384995"/>
          </a:xfrm>
          <a:prstGeom prst="rect">
            <a:avLst/>
          </a:prstGeom>
          <a:noFill/>
        </p:spPr>
        <p:txBody>
          <a:bodyPr wrap="square" rtlCol="0">
            <a:spAutoFit/>
          </a:bodyPr>
          <a:lstStyle/>
          <a:p>
            <a:pPr algn="just" fontAlgn="base">
              <a:spcBef>
                <a:spcPct val="0"/>
              </a:spcBef>
              <a:spcAft>
                <a:spcPct val="0"/>
              </a:spcAft>
            </a:pPr>
            <a:r>
              <a:rPr lang="en-GB" sz="1200" dirty="0"/>
              <a:t>To get stakeholders to buy into your proposition you will need to build a solid business </a:t>
            </a:r>
            <a:r>
              <a:rPr lang="en-GB" sz="1200" dirty="0" smtClean="0"/>
              <a:t>case to </a:t>
            </a:r>
            <a:r>
              <a:rPr lang="en-GB" sz="1200" dirty="0"/>
              <a:t>demonstrate why the </a:t>
            </a:r>
            <a:r>
              <a:rPr lang="en-GB" sz="1200" dirty="0" smtClean="0"/>
              <a:t>business </a:t>
            </a:r>
            <a:r>
              <a:rPr lang="en-GB" sz="1200" dirty="0"/>
              <a:t>is needed and what the </a:t>
            </a:r>
            <a:r>
              <a:rPr lang="en-GB" sz="1200" dirty="0" smtClean="0"/>
              <a:t>benefits. </a:t>
            </a:r>
            <a:r>
              <a:rPr lang="en-GB" sz="1200" dirty="0"/>
              <a:t>The reasons and benefits of your project may </a:t>
            </a:r>
            <a:r>
              <a:rPr lang="en-GB" sz="1200" dirty="0" smtClean="0"/>
              <a:t>seem </a:t>
            </a:r>
            <a:r>
              <a:rPr lang="en-GB" sz="1200" dirty="0"/>
              <a:t>perfectly obvious to you and others who are intimately involved with it, but to stakeholders and other decision makers it may not be so obvious. T</a:t>
            </a:r>
            <a:r>
              <a:rPr lang="en-GB" sz="1200" dirty="0" smtClean="0"/>
              <a:t>he </a:t>
            </a:r>
            <a:r>
              <a:rPr lang="en-GB" sz="1200" dirty="0"/>
              <a:t>basic steps for creating the business </a:t>
            </a:r>
            <a:r>
              <a:rPr lang="en-GB" sz="1200" dirty="0" smtClean="0"/>
              <a:t>case:</a:t>
            </a:r>
          </a:p>
          <a:p>
            <a:pPr algn="just" fontAlgn="base">
              <a:spcBef>
                <a:spcPct val="0"/>
              </a:spcBef>
              <a:spcAft>
                <a:spcPct val="0"/>
              </a:spcAft>
            </a:pPr>
            <a:r>
              <a:rPr lang="en-GB" sz="1200" dirty="0" smtClean="0"/>
              <a:t>1. Explaining the current situation 2. Explaining the desired future situation  3. Outlining how you will transition from the current to the future state 4. The return on investment</a:t>
            </a:r>
            <a:endParaRPr lang="en-GB" sz="1200" dirty="0"/>
          </a:p>
        </p:txBody>
      </p:sp>
      <p:sp>
        <p:nvSpPr>
          <p:cNvPr id="26" name="Rectangle 25"/>
          <p:cNvSpPr/>
          <p:nvPr/>
        </p:nvSpPr>
        <p:spPr>
          <a:xfrm>
            <a:off x="803974" y="3145432"/>
            <a:ext cx="9085452" cy="307777"/>
          </a:xfrm>
          <a:prstGeom prst="rect">
            <a:avLst/>
          </a:prstGeom>
        </p:spPr>
        <p:txBody>
          <a:bodyPr wrap="square">
            <a:spAutoFit/>
          </a:bodyPr>
          <a:lstStyle/>
          <a:p>
            <a:pPr lvl="0"/>
            <a:r>
              <a:rPr lang="en-GB" sz="1400" b="1" dirty="0" smtClean="0"/>
              <a:t>5 key elements of good practice business case</a:t>
            </a:r>
            <a:endParaRPr lang="en-GB" sz="1400" dirty="0"/>
          </a:p>
        </p:txBody>
      </p:sp>
      <p:grpSp>
        <p:nvGrpSpPr>
          <p:cNvPr id="27" name="Group 3"/>
          <p:cNvGrpSpPr>
            <a:grpSpLocks/>
          </p:cNvGrpSpPr>
          <p:nvPr/>
        </p:nvGrpSpPr>
        <p:grpSpPr bwMode="auto">
          <a:xfrm>
            <a:off x="3258468" y="3505125"/>
            <a:ext cx="4248472" cy="3371850"/>
            <a:chOff x="2135" y="1440"/>
            <a:chExt cx="1964" cy="1920"/>
          </a:xfrm>
        </p:grpSpPr>
        <p:grpSp>
          <p:nvGrpSpPr>
            <p:cNvPr id="28" name="Group 4"/>
            <p:cNvGrpSpPr>
              <a:grpSpLocks/>
            </p:cNvGrpSpPr>
            <p:nvPr/>
          </p:nvGrpSpPr>
          <p:grpSpPr bwMode="auto">
            <a:xfrm>
              <a:off x="2382" y="1708"/>
              <a:ext cx="1471" cy="1399"/>
              <a:chOff x="2412" y="1708"/>
              <a:chExt cx="1471" cy="1399"/>
            </a:xfrm>
          </p:grpSpPr>
          <p:sp>
            <p:nvSpPr>
              <p:cNvPr id="49" name="Freeform 5"/>
              <p:cNvSpPr>
                <a:spLocks/>
              </p:cNvSpPr>
              <p:nvPr/>
            </p:nvSpPr>
            <p:spPr bwMode="auto">
              <a:xfrm>
                <a:off x="2428" y="1708"/>
                <a:ext cx="1455" cy="1399"/>
              </a:xfrm>
              <a:custGeom>
                <a:avLst/>
                <a:gdLst>
                  <a:gd name="T0" fmla="*/ 0 w 1247"/>
                  <a:gd name="T1" fmla="*/ 545 h 1262"/>
                  <a:gd name="T2" fmla="*/ 279 w 1247"/>
                  <a:gd name="T3" fmla="*/ 1398 h 1262"/>
                  <a:gd name="T4" fmla="*/ 1157 w 1247"/>
                  <a:gd name="T5" fmla="*/ 1398 h 1262"/>
                  <a:gd name="T6" fmla="*/ 1454 w 1247"/>
                  <a:gd name="T7" fmla="*/ 538 h 1262"/>
                  <a:gd name="T8" fmla="*/ 722 w 1247"/>
                  <a:gd name="T9" fmla="*/ 0 h 1262"/>
                  <a:gd name="T10" fmla="*/ 0 w 1247"/>
                  <a:gd name="T11" fmla="*/ 545 h 1262"/>
                  <a:gd name="T12" fmla="*/ 0 60000 65536"/>
                  <a:gd name="T13" fmla="*/ 0 60000 65536"/>
                  <a:gd name="T14" fmla="*/ 0 60000 65536"/>
                  <a:gd name="T15" fmla="*/ 0 60000 65536"/>
                  <a:gd name="T16" fmla="*/ 0 60000 65536"/>
                  <a:gd name="T17" fmla="*/ 0 60000 65536"/>
                  <a:gd name="T18" fmla="*/ 0 w 1247"/>
                  <a:gd name="T19" fmla="*/ 0 h 1262"/>
                  <a:gd name="T20" fmla="*/ 1247 w 1247"/>
                  <a:gd name="T21" fmla="*/ 1262 h 1262"/>
                </a:gdLst>
                <a:ahLst/>
                <a:cxnLst>
                  <a:cxn ang="T12">
                    <a:pos x="T0" y="T1"/>
                  </a:cxn>
                  <a:cxn ang="T13">
                    <a:pos x="T2" y="T3"/>
                  </a:cxn>
                  <a:cxn ang="T14">
                    <a:pos x="T4" y="T5"/>
                  </a:cxn>
                  <a:cxn ang="T15">
                    <a:pos x="T6" y="T7"/>
                  </a:cxn>
                  <a:cxn ang="T16">
                    <a:pos x="T8" y="T9"/>
                  </a:cxn>
                  <a:cxn ang="T17">
                    <a:pos x="T10" y="T11"/>
                  </a:cxn>
                </a:cxnLst>
                <a:rect l="T18" t="T19" r="T20" b="T21"/>
                <a:pathLst>
                  <a:path w="1247" h="1262">
                    <a:moveTo>
                      <a:pt x="0" y="492"/>
                    </a:moveTo>
                    <a:lnTo>
                      <a:pt x="239" y="1261"/>
                    </a:lnTo>
                    <a:lnTo>
                      <a:pt x="992" y="1261"/>
                    </a:lnTo>
                    <a:lnTo>
                      <a:pt x="1246" y="485"/>
                    </a:lnTo>
                    <a:lnTo>
                      <a:pt x="619" y="0"/>
                    </a:lnTo>
                    <a:lnTo>
                      <a:pt x="0" y="492"/>
                    </a:lnTo>
                  </a:path>
                </a:pathLst>
              </a:custGeom>
              <a:noFill/>
              <a:ln w="6350" cap="rnd" cmpd="sng">
                <a:solidFill>
                  <a:schemeClr val="tx1"/>
                </a:solidFill>
                <a:prstDash val="solid"/>
                <a:round/>
                <a:headEnd/>
                <a:tailEnd/>
              </a:ln>
            </p:spPr>
            <p:txBody>
              <a:bodyPr lIns="45720" rIns="45720" anchor="ctr" anchorCtr="1"/>
              <a:lstStyle/>
              <a:p>
                <a:endParaRPr lang="en-GB"/>
              </a:p>
            </p:txBody>
          </p:sp>
          <p:sp>
            <p:nvSpPr>
              <p:cNvPr id="50" name="Line 6"/>
              <p:cNvSpPr>
                <a:spLocks noChangeShapeType="1"/>
              </p:cNvSpPr>
              <p:nvPr/>
            </p:nvSpPr>
            <p:spPr bwMode="auto">
              <a:xfrm>
                <a:off x="2420" y="2254"/>
                <a:ext cx="1148" cy="844"/>
              </a:xfrm>
              <a:prstGeom prst="line">
                <a:avLst/>
              </a:prstGeom>
              <a:noFill/>
              <a:ln w="6350">
                <a:solidFill>
                  <a:schemeClr val="tx1"/>
                </a:solidFill>
                <a:round/>
                <a:headEnd type="none" w="sm" len="sm"/>
                <a:tailEnd type="none" w="sm" len="sm"/>
              </a:ln>
            </p:spPr>
            <p:txBody>
              <a:bodyPr wrap="none" lIns="45720" rIns="45720" anchor="ctr" anchorCtr="1"/>
              <a:lstStyle/>
              <a:p>
                <a:endParaRPr lang="en-GB"/>
              </a:p>
            </p:txBody>
          </p:sp>
          <p:sp>
            <p:nvSpPr>
              <p:cNvPr id="51" name="Line 7"/>
              <p:cNvSpPr>
                <a:spLocks noChangeShapeType="1"/>
              </p:cNvSpPr>
              <p:nvPr/>
            </p:nvSpPr>
            <p:spPr bwMode="auto">
              <a:xfrm flipV="1">
                <a:off x="2698" y="2219"/>
                <a:ext cx="1184" cy="861"/>
              </a:xfrm>
              <a:prstGeom prst="line">
                <a:avLst/>
              </a:prstGeom>
              <a:noFill/>
              <a:ln w="6350">
                <a:solidFill>
                  <a:schemeClr val="tx1"/>
                </a:solidFill>
                <a:round/>
                <a:headEnd type="none" w="sm" len="sm"/>
                <a:tailEnd type="none" w="sm" len="sm"/>
              </a:ln>
            </p:spPr>
            <p:txBody>
              <a:bodyPr wrap="none" lIns="45720" rIns="45720" anchor="ctr" anchorCtr="1"/>
              <a:lstStyle/>
              <a:p>
                <a:endParaRPr lang="en-GB"/>
              </a:p>
            </p:txBody>
          </p:sp>
          <p:sp>
            <p:nvSpPr>
              <p:cNvPr id="52" name="Line 8"/>
              <p:cNvSpPr>
                <a:spLocks noChangeShapeType="1"/>
              </p:cNvSpPr>
              <p:nvPr/>
            </p:nvSpPr>
            <p:spPr bwMode="auto">
              <a:xfrm flipH="1" flipV="1">
                <a:off x="3142" y="1724"/>
                <a:ext cx="434" cy="1356"/>
              </a:xfrm>
              <a:prstGeom prst="line">
                <a:avLst/>
              </a:prstGeom>
              <a:noFill/>
              <a:ln w="6350">
                <a:solidFill>
                  <a:schemeClr val="tx1"/>
                </a:solidFill>
                <a:round/>
                <a:headEnd type="none" w="sm" len="sm"/>
                <a:tailEnd type="none" w="sm" len="sm"/>
              </a:ln>
            </p:spPr>
            <p:txBody>
              <a:bodyPr wrap="none" lIns="45720" rIns="45720" anchor="ctr" anchorCtr="1"/>
              <a:lstStyle/>
              <a:p>
                <a:endParaRPr lang="en-GB"/>
              </a:p>
            </p:txBody>
          </p:sp>
          <p:sp>
            <p:nvSpPr>
              <p:cNvPr id="53" name="Line 9"/>
              <p:cNvSpPr>
                <a:spLocks noChangeShapeType="1"/>
              </p:cNvSpPr>
              <p:nvPr/>
            </p:nvSpPr>
            <p:spPr bwMode="auto">
              <a:xfrm flipV="1">
                <a:off x="2688" y="1715"/>
                <a:ext cx="446" cy="1383"/>
              </a:xfrm>
              <a:prstGeom prst="line">
                <a:avLst/>
              </a:prstGeom>
              <a:noFill/>
              <a:ln w="6350">
                <a:solidFill>
                  <a:schemeClr val="tx1"/>
                </a:solidFill>
                <a:round/>
                <a:headEnd type="none" w="sm" len="sm"/>
                <a:tailEnd type="none" w="sm" len="sm"/>
              </a:ln>
            </p:spPr>
            <p:txBody>
              <a:bodyPr wrap="none" lIns="45720" rIns="45720" anchor="ctr" anchorCtr="1"/>
              <a:lstStyle/>
              <a:p>
                <a:endParaRPr lang="en-GB"/>
              </a:p>
            </p:txBody>
          </p:sp>
          <p:sp>
            <p:nvSpPr>
              <p:cNvPr id="54" name="Line 10"/>
              <p:cNvSpPr>
                <a:spLocks noChangeShapeType="1"/>
              </p:cNvSpPr>
              <p:nvPr/>
            </p:nvSpPr>
            <p:spPr bwMode="auto">
              <a:xfrm>
                <a:off x="2412" y="2254"/>
                <a:ext cx="1470" cy="0"/>
              </a:xfrm>
              <a:prstGeom prst="line">
                <a:avLst/>
              </a:prstGeom>
              <a:noFill/>
              <a:ln w="6350">
                <a:solidFill>
                  <a:schemeClr val="tx1"/>
                </a:solidFill>
                <a:round/>
                <a:headEnd type="none" w="sm" len="sm"/>
                <a:tailEnd type="none" w="sm" len="sm"/>
              </a:ln>
            </p:spPr>
            <p:txBody>
              <a:bodyPr wrap="none" lIns="45720" rIns="45720" anchor="ctr" anchorCtr="1"/>
              <a:lstStyle/>
              <a:p>
                <a:endParaRPr lang="en-GB"/>
              </a:p>
            </p:txBody>
          </p:sp>
        </p:grpSp>
        <p:sp>
          <p:nvSpPr>
            <p:cNvPr id="29" name="Oval 11"/>
            <p:cNvSpPr>
              <a:spLocks noChangeArrowheads="1"/>
            </p:cNvSpPr>
            <p:nvPr/>
          </p:nvSpPr>
          <p:spPr bwMode="auto">
            <a:xfrm>
              <a:off x="2395" y="2845"/>
              <a:ext cx="540" cy="515"/>
            </a:xfrm>
            <a:prstGeom prst="ellipse">
              <a:avLst/>
            </a:prstGeom>
            <a:solidFill>
              <a:srgbClr val="FFD200"/>
            </a:solidFill>
            <a:ln w="6350">
              <a:solidFill>
                <a:srgbClr val="FFD200"/>
              </a:solidFill>
              <a:round/>
              <a:headEnd/>
              <a:tailEnd/>
            </a:ln>
          </p:spPr>
          <p:txBody>
            <a:bodyPr wrap="none" lIns="45720" rIns="45720" anchor="ctr" anchorCtr="1"/>
            <a:lstStyle/>
            <a:p>
              <a:pPr eaLnBrk="0" hangingPunct="0">
                <a:spcBef>
                  <a:spcPct val="50000"/>
                </a:spcBef>
              </a:pPr>
              <a:r>
                <a:rPr lang="en-US" sz="1300" b="1" dirty="0" smtClean="0"/>
                <a:t>Financial</a:t>
              </a:r>
              <a:endParaRPr lang="en-US" sz="1300" b="1" dirty="0"/>
            </a:p>
          </p:txBody>
        </p:sp>
        <p:sp>
          <p:nvSpPr>
            <p:cNvPr id="30" name="Oval 12"/>
            <p:cNvSpPr>
              <a:spLocks noChangeArrowheads="1"/>
            </p:cNvSpPr>
            <p:nvPr/>
          </p:nvSpPr>
          <p:spPr bwMode="auto">
            <a:xfrm>
              <a:off x="2135" y="1998"/>
              <a:ext cx="542" cy="515"/>
            </a:xfrm>
            <a:prstGeom prst="ellipse">
              <a:avLst/>
            </a:prstGeom>
            <a:solidFill>
              <a:srgbClr val="FFD200"/>
            </a:solidFill>
            <a:ln w="6350">
              <a:solidFill>
                <a:srgbClr val="FFD200"/>
              </a:solidFill>
              <a:round/>
              <a:headEnd/>
              <a:tailEnd/>
            </a:ln>
          </p:spPr>
          <p:txBody>
            <a:bodyPr wrap="none" lIns="45720" rIns="45720" anchor="ctr" anchorCtr="1"/>
            <a:lstStyle/>
            <a:p>
              <a:pPr eaLnBrk="0" hangingPunct="0">
                <a:spcBef>
                  <a:spcPct val="50000"/>
                </a:spcBef>
              </a:pPr>
              <a:r>
                <a:rPr lang="en-US" sz="1300" b="1" dirty="0" smtClean="0"/>
                <a:t>Feasibility </a:t>
              </a:r>
              <a:endParaRPr lang="en-US" sz="1300" b="1" dirty="0"/>
            </a:p>
          </p:txBody>
        </p:sp>
        <p:sp>
          <p:nvSpPr>
            <p:cNvPr id="31" name="Oval 13"/>
            <p:cNvSpPr>
              <a:spLocks noChangeArrowheads="1"/>
            </p:cNvSpPr>
            <p:nvPr/>
          </p:nvSpPr>
          <p:spPr bwMode="auto">
            <a:xfrm>
              <a:off x="2846" y="1440"/>
              <a:ext cx="543" cy="515"/>
            </a:xfrm>
            <a:prstGeom prst="ellipse">
              <a:avLst/>
            </a:prstGeom>
            <a:solidFill>
              <a:srgbClr val="FFD200"/>
            </a:solidFill>
            <a:ln w="6350">
              <a:solidFill>
                <a:srgbClr val="FFD200"/>
              </a:solidFill>
              <a:round/>
              <a:headEnd/>
              <a:tailEnd/>
            </a:ln>
          </p:spPr>
          <p:txBody>
            <a:bodyPr wrap="none" lIns="45720" rIns="45720" anchor="ctr" anchorCtr="1"/>
            <a:lstStyle/>
            <a:p>
              <a:pPr eaLnBrk="0" hangingPunct="0">
                <a:spcBef>
                  <a:spcPct val="50000"/>
                </a:spcBef>
              </a:pPr>
              <a:r>
                <a:rPr lang="en-US" sz="1300" b="1" dirty="0" smtClean="0"/>
                <a:t>Vision</a:t>
              </a:r>
              <a:endParaRPr lang="en-US" sz="1300" b="1" dirty="0"/>
            </a:p>
          </p:txBody>
        </p:sp>
        <p:sp>
          <p:nvSpPr>
            <p:cNvPr id="47" name="Oval 14"/>
            <p:cNvSpPr>
              <a:spLocks noChangeArrowheads="1"/>
            </p:cNvSpPr>
            <p:nvPr/>
          </p:nvSpPr>
          <p:spPr bwMode="auto">
            <a:xfrm>
              <a:off x="3557" y="1998"/>
              <a:ext cx="542" cy="515"/>
            </a:xfrm>
            <a:prstGeom prst="ellipse">
              <a:avLst/>
            </a:prstGeom>
            <a:solidFill>
              <a:srgbClr val="FFD200"/>
            </a:solidFill>
            <a:ln w="6350">
              <a:solidFill>
                <a:srgbClr val="FFD200"/>
              </a:solidFill>
              <a:round/>
              <a:headEnd/>
              <a:tailEnd/>
            </a:ln>
          </p:spPr>
          <p:txBody>
            <a:bodyPr wrap="none" lIns="45720" rIns="45720" anchor="ctr" anchorCtr="1"/>
            <a:lstStyle/>
            <a:p>
              <a:pPr eaLnBrk="0" hangingPunct="0">
                <a:spcBef>
                  <a:spcPct val="50000"/>
                </a:spcBef>
              </a:pPr>
              <a:r>
                <a:rPr lang="en-GB" sz="1300" b="1" dirty="0" smtClean="0"/>
                <a:t>Clear path</a:t>
              </a:r>
              <a:endParaRPr lang="en-US" sz="1300" b="1" dirty="0"/>
            </a:p>
          </p:txBody>
        </p:sp>
        <p:sp>
          <p:nvSpPr>
            <p:cNvPr id="48" name="Oval 15"/>
            <p:cNvSpPr>
              <a:spLocks noChangeArrowheads="1"/>
            </p:cNvSpPr>
            <p:nvPr/>
          </p:nvSpPr>
          <p:spPr bwMode="auto">
            <a:xfrm>
              <a:off x="3299" y="2845"/>
              <a:ext cx="540" cy="515"/>
            </a:xfrm>
            <a:prstGeom prst="ellipse">
              <a:avLst/>
            </a:prstGeom>
            <a:solidFill>
              <a:srgbClr val="FFD200"/>
            </a:solidFill>
            <a:ln w="6350">
              <a:solidFill>
                <a:srgbClr val="FFD200"/>
              </a:solidFill>
              <a:round/>
              <a:headEnd/>
              <a:tailEnd/>
            </a:ln>
          </p:spPr>
          <p:txBody>
            <a:bodyPr wrap="none" lIns="45720" rIns="45720" anchor="ctr" anchorCtr="1"/>
            <a:lstStyle/>
            <a:p>
              <a:pPr eaLnBrk="0" hangingPunct="0">
                <a:spcBef>
                  <a:spcPct val="50000"/>
                </a:spcBef>
              </a:pPr>
              <a:r>
                <a:rPr lang="en-US" sz="1300" b="1" dirty="0" smtClean="0"/>
                <a:t>Management</a:t>
              </a:r>
              <a:endParaRPr lang="en-US" sz="1300" b="1" dirty="0"/>
            </a:p>
          </p:txBody>
        </p:sp>
      </p:grpSp>
      <p:sp>
        <p:nvSpPr>
          <p:cNvPr id="8" name="TextBox 7"/>
          <p:cNvSpPr txBox="1"/>
          <p:nvPr/>
        </p:nvSpPr>
        <p:spPr>
          <a:xfrm>
            <a:off x="6028564" y="3276575"/>
            <a:ext cx="2270464" cy="938719"/>
          </a:xfrm>
          <a:prstGeom prst="rect">
            <a:avLst/>
          </a:prstGeom>
          <a:noFill/>
        </p:spPr>
        <p:txBody>
          <a:bodyPr wrap="square" rtlCol="0">
            <a:spAutoFit/>
          </a:bodyPr>
          <a:lstStyle/>
          <a:p>
            <a:pPr algn="just"/>
            <a:r>
              <a:rPr lang="en-GB" sz="1100" b="1" dirty="0" smtClean="0"/>
              <a:t>Sell it!</a:t>
            </a:r>
            <a:endParaRPr lang="en-GB" sz="1100" b="1" dirty="0"/>
          </a:p>
          <a:p>
            <a:pPr marL="171450" indent="-171450" algn="just">
              <a:buFont typeface="Arial" panose="020B0604020202020204" pitchFamily="34" charset="0"/>
              <a:buChar char="•"/>
            </a:pPr>
            <a:r>
              <a:rPr lang="en-GB" sz="1100" dirty="0" smtClean="0"/>
              <a:t>What is the strategic fit? </a:t>
            </a:r>
          </a:p>
          <a:p>
            <a:pPr marL="171450" indent="-171450" algn="just">
              <a:buFont typeface="Arial" panose="020B0604020202020204" pitchFamily="34" charset="0"/>
              <a:buChar char="•"/>
            </a:pPr>
            <a:r>
              <a:rPr lang="en-GB" sz="1100" dirty="0"/>
              <a:t>Is it compelling? </a:t>
            </a:r>
            <a:endParaRPr lang="en-GB" sz="1100" dirty="0" smtClean="0"/>
          </a:p>
          <a:p>
            <a:pPr marL="171450" indent="-171450" algn="just">
              <a:buFont typeface="Arial" panose="020B0604020202020204" pitchFamily="34" charset="0"/>
              <a:buChar char="•"/>
            </a:pPr>
            <a:r>
              <a:rPr lang="en-GB" sz="1100" dirty="0" smtClean="0"/>
              <a:t>What is the business case and the competitive landscape?</a:t>
            </a:r>
            <a:endParaRPr lang="en-GB" sz="1100" dirty="0"/>
          </a:p>
        </p:txBody>
      </p:sp>
      <p:sp>
        <p:nvSpPr>
          <p:cNvPr id="55" name="TextBox 54"/>
          <p:cNvSpPr txBox="1"/>
          <p:nvPr/>
        </p:nvSpPr>
        <p:spPr>
          <a:xfrm>
            <a:off x="7506940" y="4573101"/>
            <a:ext cx="2160513" cy="1107996"/>
          </a:xfrm>
          <a:prstGeom prst="rect">
            <a:avLst/>
          </a:prstGeom>
          <a:noFill/>
        </p:spPr>
        <p:txBody>
          <a:bodyPr wrap="square" rtlCol="0">
            <a:spAutoFit/>
          </a:bodyPr>
          <a:lstStyle/>
          <a:p>
            <a:pPr algn="just"/>
            <a:r>
              <a:rPr lang="en-GB" sz="1100" b="1" dirty="0" smtClean="0"/>
              <a:t>Plan it!</a:t>
            </a:r>
          </a:p>
          <a:p>
            <a:pPr marL="171450" indent="-171450" algn="just">
              <a:buFont typeface="Arial" panose="020B0604020202020204" pitchFamily="34" charset="0"/>
              <a:buChar char="•"/>
            </a:pPr>
            <a:r>
              <a:rPr lang="en-GB" sz="1100" dirty="0" smtClean="0"/>
              <a:t>Where are we now?</a:t>
            </a:r>
          </a:p>
          <a:p>
            <a:pPr marL="171450" indent="-171450" algn="just">
              <a:buFont typeface="Arial" panose="020B0604020202020204" pitchFamily="34" charset="0"/>
              <a:buChar char="•"/>
            </a:pPr>
            <a:r>
              <a:rPr lang="en-GB" sz="1100" dirty="0" smtClean="0"/>
              <a:t>Where to we want to be?</a:t>
            </a:r>
          </a:p>
          <a:p>
            <a:pPr marL="171450" indent="-171450" algn="just">
              <a:buFont typeface="Arial" panose="020B0604020202020204" pitchFamily="34" charset="0"/>
              <a:buChar char="•"/>
            </a:pPr>
            <a:r>
              <a:rPr lang="en-GB" sz="1100" dirty="0" smtClean="0"/>
              <a:t>How are we going to get there?</a:t>
            </a:r>
          </a:p>
          <a:p>
            <a:pPr marL="171450" indent="-171450" algn="just">
              <a:buFont typeface="Arial" panose="020B0604020202020204" pitchFamily="34" charset="0"/>
              <a:buChar char="•"/>
            </a:pPr>
            <a:endParaRPr lang="en-GB" sz="1100" dirty="0"/>
          </a:p>
        </p:txBody>
      </p:sp>
      <p:sp>
        <p:nvSpPr>
          <p:cNvPr id="56" name="TextBox 55"/>
          <p:cNvSpPr txBox="1"/>
          <p:nvPr/>
        </p:nvSpPr>
        <p:spPr>
          <a:xfrm>
            <a:off x="7007310" y="5868863"/>
            <a:ext cx="2155814" cy="1277273"/>
          </a:xfrm>
          <a:prstGeom prst="rect">
            <a:avLst/>
          </a:prstGeom>
          <a:noFill/>
        </p:spPr>
        <p:txBody>
          <a:bodyPr wrap="square" rtlCol="0">
            <a:spAutoFit/>
          </a:bodyPr>
          <a:lstStyle/>
          <a:p>
            <a:pPr algn="just"/>
            <a:r>
              <a:rPr lang="en-GB" sz="1100" b="1" dirty="0" smtClean="0"/>
              <a:t>Implement it!</a:t>
            </a:r>
          </a:p>
          <a:p>
            <a:pPr marL="171450" indent="-171450" algn="just">
              <a:buFont typeface="Arial" panose="020B0604020202020204" pitchFamily="34" charset="0"/>
              <a:buChar char="•"/>
            </a:pPr>
            <a:r>
              <a:rPr lang="en-GB" sz="1100" dirty="0"/>
              <a:t>I</a:t>
            </a:r>
            <a:r>
              <a:rPr lang="en-GB" sz="1100" dirty="0" smtClean="0"/>
              <a:t>s </a:t>
            </a:r>
            <a:r>
              <a:rPr lang="en-GB" sz="1100" dirty="0"/>
              <a:t>it achievable  and can it successfully be delivered?</a:t>
            </a:r>
          </a:p>
          <a:p>
            <a:pPr marL="171450" indent="-171450" algn="just">
              <a:buFont typeface="Arial" panose="020B0604020202020204" pitchFamily="34" charset="0"/>
              <a:buChar char="•"/>
            </a:pPr>
            <a:r>
              <a:rPr lang="en-GB" sz="1100" dirty="0" smtClean="0"/>
              <a:t>Project plan with timeline, risk analysis and outline of how goals will be achieved</a:t>
            </a:r>
          </a:p>
          <a:p>
            <a:pPr algn="just"/>
            <a:endParaRPr lang="en-GB" sz="1100" dirty="0"/>
          </a:p>
        </p:txBody>
      </p:sp>
      <p:sp>
        <p:nvSpPr>
          <p:cNvPr id="57" name="TextBox 56"/>
          <p:cNvSpPr txBox="1"/>
          <p:nvPr/>
        </p:nvSpPr>
        <p:spPr>
          <a:xfrm>
            <a:off x="1792709" y="5580831"/>
            <a:ext cx="2000063" cy="1615827"/>
          </a:xfrm>
          <a:prstGeom prst="rect">
            <a:avLst/>
          </a:prstGeom>
          <a:noFill/>
        </p:spPr>
        <p:txBody>
          <a:bodyPr wrap="square" rtlCol="0">
            <a:spAutoFit/>
          </a:bodyPr>
          <a:lstStyle/>
          <a:p>
            <a:pPr algn="just"/>
            <a:r>
              <a:rPr lang="en-GB" sz="1100" b="1" dirty="0" smtClean="0"/>
              <a:t>Quantify it!</a:t>
            </a:r>
          </a:p>
          <a:p>
            <a:pPr algn="just"/>
            <a:r>
              <a:rPr lang="en-GB" sz="1100" dirty="0"/>
              <a:t>Is it affordable within the available funding? Does it optimise value for money</a:t>
            </a:r>
            <a:r>
              <a:rPr lang="en-GB" sz="1100" dirty="0" smtClean="0"/>
              <a:t>?</a:t>
            </a:r>
          </a:p>
          <a:p>
            <a:pPr marL="171450" indent="-171450" algn="just">
              <a:buFont typeface="Arial" panose="020B0604020202020204" pitchFamily="34" charset="0"/>
              <a:buChar char="•"/>
            </a:pPr>
            <a:r>
              <a:rPr lang="en-GB" sz="1100" dirty="0" smtClean="0"/>
              <a:t>Cost benefit analysis</a:t>
            </a:r>
          </a:p>
          <a:p>
            <a:pPr marL="171450" indent="-171450" algn="just">
              <a:buFont typeface="Arial" panose="020B0604020202020204" pitchFamily="34" charset="0"/>
              <a:buChar char="•"/>
            </a:pPr>
            <a:r>
              <a:rPr lang="en-GB" sz="1100" dirty="0" smtClean="0"/>
              <a:t>Profit and loss</a:t>
            </a:r>
          </a:p>
          <a:p>
            <a:pPr marL="171450" indent="-171450" algn="just">
              <a:buFont typeface="Arial" panose="020B0604020202020204" pitchFamily="34" charset="0"/>
              <a:buChar char="•"/>
            </a:pPr>
            <a:r>
              <a:rPr lang="en-GB" sz="1100" dirty="0" smtClean="0"/>
              <a:t>Cash flow</a:t>
            </a:r>
          </a:p>
          <a:p>
            <a:pPr marL="171450" indent="-171450" algn="just">
              <a:buFont typeface="Arial" panose="020B0604020202020204" pitchFamily="34" charset="0"/>
              <a:buChar char="•"/>
            </a:pPr>
            <a:r>
              <a:rPr lang="en-GB" sz="1100" dirty="0" smtClean="0"/>
              <a:t>Balance sheet</a:t>
            </a:r>
          </a:p>
          <a:p>
            <a:pPr marL="171450" indent="-171450" algn="just">
              <a:buFont typeface="Arial" panose="020B0604020202020204" pitchFamily="34" charset="0"/>
              <a:buChar char="•"/>
            </a:pPr>
            <a:r>
              <a:rPr lang="en-GB" sz="1100" dirty="0" smtClean="0"/>
              <a:t>Investment appraisal</a:t>
            </a:r>
          </a:p>
        </p:txBody>
      </p:sp>
      <p:sp>
        <p:nvSpPr>
          <p:cNvPr id="59" name="TextBox 58"/>
          <p:cNvSpPr txBox="1"/>
          <p:nvPr/>
        </p:nvSpPr>
        <p:spPr>
          <a:xfrm>
            <a:off x="1873056" y="4354080"/>
            <a:ext cx="1457420" cy="938719"/>
          </a:xfrm>
          <a:prstGeom prst="rect">
            <a:avLst/>
          </a:prstGeom>
          <a:noFill/>
        </p:spPr>
        <p:txBody>
          <a:bodyPr wrap="square" rtlCol="0">
            <a:spAutoFit/>
          </a:bodyPr>
          <a:lstStyle/>
          <a:p>
            <a:pPr algn="just"/>
            <a:r>
              <a:rPr lang="en-GB" sz="1100" b="1" dirty="0" smtClean="0"/>
              <a:t>Prove it!</a:t>
            </a:r>
          </a:p>
          <a:p>
            <a:pPr marL="171450" indent="-171450" algn="just">
              <a:buFont typeface="Arial" panose="020B0604020202020204" pitchFamily="34" charset="0"/>
              <a:buChar char="•"/>
            </a:pPr>
            <a:r>
              <a:rPr lang="en-GB" sz="1100" dirty="0" smtClean="0"/>
              <a:t>Market validation</a:t>
            </a:r>
          </a:p>
          <a:p>
            <a:pPr marL="171450" indent="-171450" algn="just">
              <a:buFont typeface="Arial" panose="020B0604020202020204" pitchFamily="34" charset="0"/>
              <a:buChar char="•"/>
            </a:pPr>
            <a:r>
              <a:rPr lang="en-GB" sz="1100" dirty="0" smtClean="0"/>
              <a:t>Research/Test</a:t>
            </a:r>
          </a:p>
          <a:p>
            <a:pPr marL="171450" indent="-171450" algn="just">
              <a:buFont typeface="Arial" panose="020B0604020202020204" pitchFamily="34" charset="0"/>
              <a:buChar char="•"/>
            </a:pPr>
            <a:r>
              <a:rPr lang="en-GB" sz="1100" dirty="0" smtClean="0"/>
              <a:t>Analysis</a:t>
            </a:r>
          </a:p>
          <a:p>
            <a:pPr marL="171450" indent="-171450" algn="just">
              <a:buFont typeface="Arial" panose="020B0604020202020204" pitchFamily="34" charset="0"/>
              <a:buChar char="•"/>
            </a:pPr>
            <a:r>
              <a:rPr lang="en-GB" sz="1100" dirty="0" smtClean="0"/>
              <a:t>Conclusions</a:t>
            </a:r>
          </a:p>
        </p:txBody>
      </p:sp>
    </p:spTree>
    <p:extLst>
      <p:ext uri="{BB962C8B-B14F-4D97-AF65-F5344CB8AC3E}">
        <p14:creationId xmlns:p14="http://schemas.microsoft.com/office/powerpoint/2010/main" val="12980797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29007999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5945"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791469" y="108223"/>
            <a:ext cx="9504363" cy="612000"/>
          </a:xfrm>
        </p:spPr>
        <p:txBody>
          <a:bodyPr/>
          <a:lstStyle/>
          <a:p>
            <a:r>
              <a:rPr lang="en-GB" dirty="0" smtClean="0"/>
              <a:t>Vision</a:t>
            </a:r>
            <a:endParaRPr lang="en-GB" dirty="0"/>
          </a:p>
        </p:txBody>
      </p:sp>
      <p:sp>
        <p:nvSpPr>
          <p:cNvPr id="32" name="Rectangle 31"/>
          <p:cNvSpPr>
            <a:spLocks noChangeArrowheads="1"/>
          </p:cNvSpPr>
          <p:nvPr/>
        </p:nvSpPr>
        <p:spPr bwMode="gray">
          <a:xfrm>
            <a:off x="2464059" y="1669984"/>
            <a:ext cx="862013" cy="698400"/>
          </a:xfrm>
          <a:prstGeom prst="rect">
            <a:avLst/>
          </a:prstGeom>
          <a:solidFill>
            <a:srgbClr val="FFFF00"/>
          </a:solidFill>
          <a:ln w="19050">
            <a:noFill/>
            <a:miter lim="800000"/>
            <a:headEnd/>
            <a:tailEnd/>
          </a:ln>
          <a:effectLst/>
        </p:spPr>
        <p:txBody>
          <a:bodyPr wrap="none" lIns="72000" tIns="72000" rIns="72000" bIns="72000" anchor="ctr"/>
          <a:lstStyle/>
          <a:p>
            <a:pPr algn="ctr" fontAlgn="base">
              <a:spcBef>
                <a:spcPct val="0"/>
              </a:spcBef>
              <a:spcAft>
                <a:spcPct val="0"/>
              </a:spcAft>
            </a:pPr>
            <a:r>
              <a:rPr lang="en-GB" sz="1200" b="1" dirty="0"/>
              <a:t>Vision</a:t>
            </a:r>
          </a:p>
        </p:txBody>
      </p:sp>
      <p:sp>
        <p:nvSpPr>
          <p:cNvPr id="33" name="Rectangle 32"/>
          <p:cNvSpPr>
            <a:spLocks noChangeArrowheads="1"/>
          </p:cNvSpPr>
          <p:nvPr/>
        </p:nvSpPr>
        <p:spPr bwMode="gray">
          <a:xfrm>
            <a:off x="2462472" y="2545324"/>
            <a:ext cx="862012" cy="698400"/>
          </a:xfrm>
          <a:prstGeom prst="rect">
            <a:avLst/>
          </a:prstGeom>
          <a:solidFill>
            <a:schemeClr val="accent5">
              <a:lumMod val="75000"/>
            </a:schemeClr>
          </a:solidFill>
          <a:ln w="19050">
            <a:noFill/>
            <a:miter lim="800000"/>
            <a:headEnd/>
            <a:tailEnd/>
          </a:ln>
          <a:effectLst/>
        </p:spPr>
        <p:txBody>
          <a:bodyPr wrap="none" lIns="72000" tIns="72000" rIns="72000" bIns="72000" anchor="ctr"/>
          <a:lstStyle/>
          <a:p>
            <a:pPr algn="ctr" fontAlgn="base">
              <a:spcBef>
                <a:spcPct val="0"/>
              </a:spcBef>
              <a:spcAft>
                <a:spcPct val="0"/>
              </a:spcAft>
            </a:pPr>
            <a:r>
              <a:rPr lang="en-GB" sz="1200" b="1" dirty="0"/>
              <a:t>Mission</a:t>
            </a:r>
          </a:p>
        </p:txBody>
      </p:sp>
      <p:sp>
        <p:nvSpPr>
          <p:cNvPr id="34" name="Rectangle 33"/>
          <p:cNvSpPr>
            <a:spLocks noChangeArrowheads="1"/>
          </p:cNvSpPr>
          <p:nvPr/>
        </p:nvSpPr>
        <p:spPr bwMode="gray">
          <a:xfrm>
            <a:off x="4143759" y="3311946"/>
            <a:ext cx="900000" cy="698400"/>
          </a:xfrm>
          <a:prstGeom prst="rect">
            <a:avLst/>
          </a:prstGeom>
          <a:solidFill>
            <a:schemeClr val="accent5">
              <a:lumMod val="75000"/>
            </a:schemeClr>
          </a:solidFill>
          <a:ln w="19050">
            <a:noFill/>
            <a:miter lim="800000"/>
            <a:headEnd/>
            <a:tailEnd/>
          </a:ln>
          <a:effectLst/>
        </p:spPr>
        <p:txBody>
          <a:bodyPr wrap="none" lIns="72000" tIns="72000" rIns="72000" bIns="72000" anchor="ctr"/>
          <a:lstStyle/>
          <a:p>
            <a:pPr algn="ctr" fontAlgn="base">
              <a:spcBef>
                <a:spcPct val="0"/>
              </a:spcBef>
              <a:spcAft>
                <a:spcPct val="0"/>
              </a:spcAft>
            </a:pPr>
            <a:r>
              <a:rPr lang="en-GB" sz="1200" b="1" dirty="0"/>
              <a:t>Values</a:t>
            </a:r>
          </a:p>
        </p:txBody>
      </p:sp>
      <p:sp>
        <p:nvSpPr>
          <p:cNvPr id="35" name="Rectangle 34"/>
          <p:cNvSpPr>
            <a:spLocks noChangeArrowheads="1"/>
          </p:cNvSpPr>
          <p:nvPr/>
        </p:nvSpPr>
        <p:spPr bwMode="gray">
          <a:xfrm>
            <a:off x="808297" y="3311946"/>
            <a:ext cx="900000" cy="699404"/>
          </a:xfrm>
          <a:prstGeom prst="rect">
            <a:avLst/>
          </a:prstGeom>
          <a:solidFill>
            <a:schemeClr val="accent5">
              <a:lumMod val="75000"/>
            </a:schemeClr>
          </a:solidFill>
          <a:ln w="19050">
            <a:noFill/>
            <a:miter lim="800000"/>
            <a:headEnd/>
            <a:tailEnd/>
          </a:ln>
          <a:effectLst/>
        </p:spPr>
        <p:txBody>
          <a:bodyPr wrap="square" lIns="72000" tIns="72000" rIns="72000" bIns="72000" anchor="ctr">
            <a:spAutoFit/>
          </a:bodyPr>
          <a:lstStyle/>
          <a:p>
            <a:pPr algn="ctr" fontAlgn="base">
              <a:spcBef>
                <a:spcPct val="0"/>
              </a:spcBef>
              <a:spcAft>
                <a:spcPct val="0"/>
              </a:spcAft>
            </a:pPr>
            <a:r>
              <a:rPr lang="en-GB" sz="1200" b="1" dirty="0" smtClean="0"/>
              <a:t>Objective</a:t>
            </a:r>
            <a:br>
              <a:rPr lang="en-GB" sz="1200" b="1" dirty="0" smtClean="0"/>
            </a:br>
            <a:r>
              <a:rPr lang="en-GB" sz="1200" b="1" dirty="0" smtClean="0"/>
              <a:t>and</a:t>
            </a:r>
          </a:p>
          <a:p>
            <a:pPr algn="ctr" fontAlgn="base">
              <a:spcBef>
                <a:spcPct val="0"/>
              </a:spcBef>
              <a:spcAft>
                <a:spcPct val="0"/>
              </a:spcAft>
            </a:pPr>
            <a:r>
              <a:rPr lang="en-GB" sz="1200" b="1" dirty="0" smtClean="0"/>
              <a:t>Goal(s)</a:t>
            </a:r>
            <a:endParaRPr lang="en-GB" sz="1200" b="1" dirty="0"/>
          </a:p>
        </p:txBody>
      </p:sp>
      <p:sp>
        <p:nvSpPr>
          <p:cNvPr id="36" name="Rectangle 35"/>
          <p:cNvSpPr>
            <a:spLocks noChangeArrowheads="1"/>
          </p:cNvSpPr>
          <p:nvPr/>
        </p:nvSpPr>
        <p:spPr bwMode="gray">
          <a:xfrm>
            <a:off x="4142172" y="4731424"/>
            <a:ext cx="900000" cy="698400"/>
          </a:xfrm>
          <a:prstGeom prst="rect">
            <a:avLst/>
          </a:prstGeom>
          <a:solidFill>
            <a:schemeClr val="accent5">
              <a:lumMod val="75000"/>
            </a:schemeClr>
          </a:solidFill>
          <a:ln w="19050">
            <a:noFill/>
            <a:miter lim="800000"/>
            <a:headEnd/>
            <a:tailEnd/>
          </a:ln>
          <a:effectLst/>
        </p:spPr>
        <p:txBody>
          <a:bodyPr wrap="none" lIns="72000" tIns="72000" rIns="72000" bIns="72000" anchor="ctr"/>
          <a:lstStyle/>
          <a:p>
            <a:pPr algn="ctr" fontAlgn="base">
              <a:spcBef>
                <a:spcPct val="0"/>
              </a:spcBef>
              <a:spcAft>
                <a:spcPct val="0"/>
              </a:spcAft>
            </a:pPr>
            <a:r>
              <a:rPr lang="en-GB" sz="1200" b="1" dirty="0"/>
              <a:t>Behaviours</a:t>
            </a:r>
          </a:p>
        </p:txBody>
      </p:sp>
      <p:sp>
        <p:nvSpPr>
          <p:cNvPr id="37" name="Rectangle 36"/>
          <p:cNvSpPr>
            <a:spLocks noChangeArrowheads="1"/>
          </p:cNvSpPr>
          <p:nvPr/>
        </p:nvSpPr>
        <p:spPr bwMode="gray">
          <a:xfrm>
            <a:off x="805122" y="4731424"/>
            <a:ext cx="900000" cy="698400"/>
          </a:xfrm>
          <a:prstGeom prst="rect">
            <a:avLst/>
          </a:prstGeom>
          <a:solidFill>
            <a:schemeClr val="accent5">
              <a:lumMod val="75000"/>
            </a:schemeClr>
          </a:solidFill>
          <a:ln w="19050">
            <a:noFill/>
            <a:miter lim="800000"/>
            <a:headEnd/>
            <a:tailEnd/>
          </a:ln>
          <a:effectLst/>
        </p:spPr>
        <p:txBody>
          <a:bodyPr wrap="none" lIns="72000" tIns="72000" rIns="72000" bIns="72000" anchor="ctr"/>
          <a:lstStyle/>
          <a:p>
            <a:pPr algn="ctr" fontAlgn="base">
              <a:spcBef>
                <a:spcPct val="0"/>
              </a:spcBef>
              <a:spcAft>
                <a:spcPct val="0"/>
              </a:spcAft>
            </a:pPr>
            <a:r>
              <a:rPr lang="en-GB" sz="1200" b="1" dirty="0"/>
              <a:t>Strategy</a:t>
            </a:r>
          </a:p>
        </p:txBody>
      </p:sp>
      <p:sp>
        <p:nvSpPr>
          <p:cNvPr id="38" name="Rectangle 37"/>
          <p:cNvSpPr>
            <a:spLocks noChangeArrowheads="1"/>
          </p:cNvSpPr>
          <p:nvPr/>
        </p:nvSpPr>
        <p:spPr bwMode="gray">
          <a:xfrm>
            <a:off x="791469" y="5656014"/>
            <a:ext cx="4267199" cy="500881"/>
          </a:xfrm>
          <a:prstGeom prst="rect">
            <a:avLst/>
          </a:prstGeom>
          <a:solidFill>
            <a:schemeClr val="accent5">
              <a:lumMod val="75000"/>
            </a:schemeClr>
          </a:solidFill>
          <a:ln w="19050">
            <a:noFill/>
            <a:miter lim="800000"/>
            <a:headEnd/>
            <a:tailEnd/>
          </a:ln>
          <a:effectLst/>
        </p:spPr>
        <p:txBody>
          <a:bodyPr wrap="none" lIns="72000" tIns="72000" rIns="72000" bIns="72000" anchor="ctr"/>
          <a:lstStyle/>
          <a:p>
            <a:pPr algn="ctr" fontAlgn="base">
              <a:spcBef>
                <a:spcPct val="0"/>
              </a:spcBef>
              <a:spcAft>
                <a:spcPct val="0"/>
              </a:spcAft>
            </a:pPr>
            <a:r>
              <a:rPr lang="en-GB" sz="1200" b="1" dirty="0" smtClean="0"/>
              <a:t>Outcome/Results/Success/Achievement</a:t>
            </a:r>
          </a:p>
        </p:txBody>
      </p:sp>
      <p:sp>
        <p:nvSpPr>
          <p:cNvPr id="39" name="Down Arrow 38"/>
          <p:cNvSpPr/>
          <p:nvPr/>
        </p:nvSpPr>
        <p:spPr bwMode="gray">
          <a:xfrm>
            <a:off x="2244349" y="3982205"/>
            <a:ext cx="1341120" cy="1463605"/>
          </a:xfrm>
          <a:prstGeom prst="downArrow">
            <a:avLst/>
          </a:prstGeom>
          <a:solidFill>
            <a:srgbClr val="CCCBCD"/>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72000" tIns="72000" rIns="72000" bIns="72000" rtlCol="0" anchor="ctr"/>
          <a:lstStyle/>
          <a:p>
            <a:pPr algn="ctr" fontAlgn="base">
              <a:spcBef>
                <a:spcPct val="0"/>
              </a:spcBef>
              <a:spcAft>
                <a:spcPct val="0"/>
              </a:spcAft>
            </a:pPr>
            <a:r>
              <a:rPr lang="en-GB" sz="1200" b="1" dirty="0" smtClean="0">
                <a:solidFill>
                  <a:schemeClr val="tx1"/>
                </a:solidFill>
              </a:rPr>
              <a:t>The Future</a:t>
            </a:r>
            <a:endParaRPr lang="en-GB" sz="1200" b="1" dirty="0">
              <a:solidFill>
                <a:schemeClr val="tx1"/>
              </a:solidFill>
            </a:endParaRPr>
          </a:p>
        </p:txBody>
      </p:sp>
      <p:cxnSp>
        <p:nvCxnSpPr>
          <p:cNvPr id="40" name="Straight Connector 39"/>
          <p:cNvCxnSpPr>
            <a:stCxn id="32" idx="2"/>
            <a:endCxn id="33" idx="0"/>
          </p:cNvCxnSpPr>
          <p:nvPr/>
        </p:nvCxnSpPr>
        <p:spPr bwMode="gray">
          <a:xfrm flipH="1">
            <a:off x="2893478" y="2368384"/>
            <a:ext cx="1588" cy="1769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30"/>
          <p:cNvCxnSpPr>
            <a:stCxn id="33" idx="2"/>
            <a:endCxn id="35" idx="3"/>
          </p:cNvCxnSpPr>
          <p:nvPr/>
        </p:nvCxnSpPr>
        <p:spPr bwMode="gray">
          <a:xfrm flipH="1">
            <a:off x="1708297" y="3243724"/>
            <a:ext cx="1185181" cy="417924"/>
          </a:xfrm>
          <a:prstGeom prst="straightConnector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30"/>
          <p:cNvCxnSpPr>
            <a:stCxn id="33" idx="2"/>
            <a:endCxn id="34" idx="1"/>
          </p:cNvCxnSpPr>
          <p:nvPr/>
        </p:nvCxnSpPr>
        <p:spPr bwMode="gray">
          <a:xfrm>
            <a:off x="2893478" y="3243724"/>
            <a:ext cx="1250281" cy="417422"/>
          </a:xfrm>
          <a:prstGeom prst="straightConnector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7" idx="0"/>
            <a:endCxn id="35" idx="2"/>
          </p:cNvCxnSpPr>
          <p:nvPr/>
        </p:nvCxnSpPr>
        <p:spPr bwMode="gray">
          <a:xfrm flipV="1">
            <a:off x="1255122" y="4011350"/>
            <a:ext cx="3175" cy="7200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6" idx="0"/>
            <a:endCxn id="34" idx="2"/>
          </p:cNvCxnSpPr>
          <p:nvPr/>
        </p:nvCxnSpPr>
        <p:spPr bwMode="gray">
          <a:xfrm flipV="1">
            <a:off x="4592172" y="4010346"/>
            <a:ext cx="1587" cy="7210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738188" y="900311"/>
            <a:ext cx="9074150" cy="338554"/>
          </a:xfrm>
          <a:prstGeom prst="rect">
            <a:avLst/>
          </a:prstGeom>
        </p:spPr>
        <p:txBody>
          <a:bodyPr wrap="square">
            <a:spAutoFit/>
          </a:bodyPr>
          <a:lstStyle/>
          <a:p>
            <a:pPr lvl="0"/>
            <a:r>
              <a:rPr lang="en-GB" sz="1600" dirty="0"/>
              <a:t>One thing in common </a:t>
            </a:r>
            <a:r>
              <a:rPr lang="en-GB" sz="1600" dirty="0" smtClean="0"/>
              <a:t>in successful businesses is </a:t>
            </a:r>
            <a:r>
              <a:rPr lang="en-GB" sz="1600" dirty="0"/>
              <a:t>that they each have a </a:t>
            </a:r>
            <a:r>
              <a:rPr lang="en-GB" sz="1600" dirty="0" smtClean="0"/>
              <a:t>vision, mission and goals. </a:t>
            </a:r>
            <a:endParaRPr lang="en-GB" sz="1600" dirty="0"/>
          </a:p>
        </p:txBody>
      </p:sp>
      <p:sp>
        <p:nvSpPr>
          <p:cNvPr id="46"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7</a:t>
            </a:fld>
            <a:endParaRPr lang="en-GB" sz="800" dirty="0">
              <a:solidFill>
                <a:srgbClr val="808080"/>
              </a:solidFill>
            </a:endParaRPr>
          </a:p>
        </p:txBody>
      </p:sp>
      <p:sp>
        <p:nvSpPr>
          <p:cNvPr id="3" name="Rectangle 2"/>
          <p:cNvSpPr/>
          <p:nvPr/>
        </p:nvSpPr>
        <p:spPr>
          <a:xfrm>
            <a:off x="791470" y="6372919"/>
            <a:ext cx="9092306" cy="792088"/>
          </a:xfrm>
          <a:prstGeom prst="rect">
            <a:avLst/>
          </a:prstGeom>
          <a:solidFill>
            <a:schemeClr val="accent4"/>
          </a:solidFill>
          <a:ln w="9525" cmpd="sng">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endParaRPr lang="en-GB" sz="1400" dirty="0" smtClean="0">
              <a:solidFill>
                <a:schemeClr val="tx1"/>
              </a:solidFill>
            </a:endParaRPr>
          </a:p>
          <a:p>
            <a:r>
              <a:rPr lang="en-GB" sz="1400" dirty="0" smtClean="0">
                <a:solidFill>
                  <a:schemeClr val="tx1"/>
                </a:solidFill>
              </a:rPr>
              <a:t>The benefits of creating a vision, mission and  include developing a sense </a:t>
            </a:r>
            <a:r>
              <a:rPr lang="en-GB" sz="1400" dirty="0">
                <a:solidFill>
                  <a:schemeClr val="tx1"/>
                </a:solidFill>
              </a:rPr>
              <a:t>of the </a:t>
            </a:r>
            <a:r>
              <a:rPr lang="en-GB" sz="1400" dirty="0" smtClean="0">
                <a:solidFill>
                  <a:schemeClr val="tx1"/>
                </a:solidFill>
              </a:rPr>
              <a:t>future, having a clear purpose, creating a framework to guide </a:t>
            </a:r>
            <a:r>
              <a:rPr lang="en-GB" sz="1400" dirty="0">
                <a:solidFill>
                  <a:schemeClr val="tx1"/>
                </a:solidFill>
              </a:rPr>
              <a:t>decision making and strategy, </a:t>
            </a:r>
            <a:r>
              <a:rPr lang="en-GB" sz="1400" dirty="0" smtClean="0">
                <a:solidFill>
                  <a:schemeClr val="tx1"/>
                </a:solidFill>
              </a:rPr>
              <a:t>generating the ability to secure buy </a:t>
            </a:r>
            <a:r>
              <a:rPr lang="en-GB" sz="1400" dirty="0">
                <a:solidFill>
                  <a:schemeClr val="tx1"/>
                </a:solidFill>
              </a:rPr>
              <a:t>in from key </a:t>
            </a:r>
            <a:r>
              <a:rPr lang="en-GB" sz="1400" dirty="0" smtClean="0">
                <a:solidFill>
                  <a:schemeClr val="tx1"/>
                </a:solidFill>
              </a:rPr>
              <a:t>stakeholders</a:t>
            </a:r>
            <a:r>
              <a:rPr lang="en-GB" sz="1400" dirty="0">
                <a:solidFill>
                  <a:schemeClr val="tx1"/>
                </a:solidFill>
              </a:rPr>
              <a:t> </a:t>
            </a:r>
            <a:r>
              <a:rPr lang="en-GB" sz="1400" dirty="0" smtClean="0">
                <a:solidFill>
                  <a:schemeClr val="tx1"/>
                </a:solidFill>
              </a:rPr>
              <a:t>and developing a tool to harness energies and drive momentum for growth. </a:t>
            </a:r>
          </a:p>
          <a:p>
            <a:endParaRPr lang="en-GB" sz="1000" b="1" dirty="0" smtClean="0">
              <a:solidFill>
                <a:schemeClr val="tx1"/>
              </a:solidFill>
            </a:endParaRPr>
          </a:p>
        </p:txBody>
      </p:sp>
      <p:sp>
        <p:nvSpPr>
          <p:cNvPr id="4" name="Rectangle 3"/>
          <p:cNvSpPr/>
          <p:nvPr/>
        </p:nvSpPr>
        <p:spPr>
          <a:xfrm>
            <a:off x="5202684" y="1669984"/>
            <a:ext cx="4699247" cy="4494693"/>
          </a:xfrm>
          <a:prstGeom prst="rect">
            <a:avLst/>
          </a:prstGeom>
          <a:solidFill>
            <a:schemeClr val="bg1">
              <a:lumMod val="95000"/>
            </a:schemeClr>
          </a:solidFill>
          <a:ln w="9525" cmpd="sng">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fontAlgn="base">
              <a:spcAft>
                <a:spcPts val="600"/>
              </a:spcAft>
              <a:buFont typeface="Arial" panose="020B0604020202020204" pitchFamily="34" charset="0"/>
              <a:buChar char="►"/>
            </a:pPr>
            <a:r>
              <a:rPr lang="en-GB" sz="1200" b="1" dirty="0">
                <a:solidFill>
                  <a:schemeClr val="tx1"/>
                </a:solidFill>
              </a:rPr>
              <a:t>Vision: </a:t>
            </a:r>
            <a:r>
              <a:rPr lang="en-GB" sz="1200" dirty="0">
                <a:solidFill>
                  <a:schemeClr val="tx1"/>
                </a:solidFill>
              </a:rPr>
              <a:t>A picture of a desired future state that is appealing and compelling enough to drive the business forward. </a:t>
            </a:r>
            <a:r>
              <a:rPr lang="en-GB" sz="1200" b="1" i="1" dirty="0">
                <a:solidFill>
                  <a:schemeClr val="tx1"/>
                </a:solidFill>
              </a:rPr>
              <a:t>Where do we want to be?</a:t>
            </a:r>
          </a:p>
          <a:p>
            <a:pPr fontAlgn="base">
              <a:spcAft>
                <a:spcPts val="600"/>
              </a:spcAft>
            </a:pPr>
            <a:endParaRPr lang="en-GB" sz="1200" b="1" i="1" dirty="0">
              <a:solidFill>
                <a:schemeClr val="tx1"/>
              </a:solidFill>
            </a:endParaRPr>
          </a:p>
          <a:p>
            <a:pPr marL="171450" indent="-171450" fontAlgn="base">
              <a:spcAft>
                <a:spcPts val="600"/>
              </a:spcAft>
              <a:buFont typeface="Arial" panose="020B0604020202020204" pitchFamily="34" charset="0"/>
              <a:buChar char="►"/>
            </a:pPr>
            <a:r>
              <a:rPr lang="en-GB" sz="1200" b="1" dirty="0">
                <a:solidFill>
                  <a:schemeClr val="tx1"/>
                </a:solidFill>
              </a:rPr>
              <a:t>Mission</a:t>
            </a:r>
            <a:r>
              <a:rPr lang="en-GB" sz="1200" dirty="0">
                <a:solidFill>
                  <a:schemeClr val="tx1"/>
                </a:solidFill>
              </a:rPr>
              <a:t>: The organisation’s objective. </a:t>
            </a:r>
            <a:r>
              <a:rPr lang="en-GB" sz="1200" b="1" i="1" dirty="0">
                <a:solidFill>
                  <a:schemeClr val="tx1"/>
                </a:solidFill>
              </a:rPr>
              <a:t>What do we need to achieve our mission?</a:t>
            </a:r>
          </a:p>
          <a:p>
            <a:pPr fontAlgn="base">
              <a:spcAft>
                <a:spcPts val="600"/>
              </a:spcAft>
            </a:pPr>
            <a:endParaRPr lang="en-GB" sz="1200" b="1" i="1" dirty="0">
              <a:solidFill>
                <a:schemeClr val="tx1"/>
              </a:solidFill>
            </a:endParaRPr>
          </a:p>
          <a:p>
            <a:pPr marL="171450" indent="-171450" fontAlgn="base">
              <a:spcAft>
                <a:spcPts val="600"/>
              </a:spcAft>
              <a:buFont typeface="Arial" panose="020B0604020202020204" pitchFamily="34" charset="0"/>
              <a:buChar char="►"/>
            </a:pPr>
            <a:r>
              <a:rPr lang="en-GB" sz="1200" b="1" dirty="0">
                <a:solidFill>
                  <a:schemeClr val="tx1"/>
                </a:solidFill>
              </a:rPr>
              <a:t>Objectives and Goals</a:t>
            </a:r>
            <a:r>
              <a:rPr lang="en-GB" sz="1200" dirty="0">
                <a:solidFill>
                  <a:schemeClr val="tx1"/>
                </a:solidFill>
              </a:rPr>
              <a:t>: The purpose of the organisation. </a:t>
            </a:r>
            <a:r>
              <a:rPr lang="en-GB" sz="1200" b="1" i="1" dirty="0">
                <a:solidFill>
                  <a:schemeClr val="tx1"/>
                </a:solidFill>
              </a:rPr>
              <a:t>What do we want to achieve?</a:t>
            </a:r>
          </a:p>
          <a:p>
            <a:pPr marL="171450" indent="-171450" fontAlgn="base">
              <a:spcAft>
                <a:spcPts val="600"/>
              </a:spcAft>
              <a:buFont typeface="Arial" panose="020B0604020202020204" pitchFamily="34" charset="0"/>
              <a:buChar char="►"/>
            </a:pPr>
            <a:endParaRPr lang="en-GB" sz="1200" b="1" i="1" dirty="0">
              <a:solidFill>
                <a:schemeClr val="tx1"/>
              </a:solidFill>
            </a:endParaRPr>
          </a:p>
          <a:p>
            <a:pPr marL="171450" indent="-171450" fontAlgn="base">
              <a:spcAft>
                <a:spcPts val="600"/>
              </a:spcAft>
              <a:buFont typeface="Arial" panose="020B0604020202020204" pitchFamily="34" charset="0"/>
              <a:buChar char="►"/>
            </a:pPr>
            <a:r>
              <a:rPr lang="en-GB" sz="1200" b="1" dirty="0">
                <a:solidFill>
                  <a:schemeClr val="tx1"/>
                </a:solidFill>
              </a:rPr>
              <a:t>Strategy: </a:t>
            </a:r>
            <a:r>
              <a:rPr lang="en-GB" sz="1200" dirty="0">
                <a:solidFill>
                  <a:schemeClr val="tx1"/>
                </a:solidFill>
              </a:rPr>
              <a:t>The approach adopted to achieve the goals that support the strategy. </a:t>
            </a:r>
            <a:r>
              <a:rPr lang="en-GB" sz="1200" b="1" i="1" dirty="0">
                <a:solidFill>
                  <a:schemeClr val="tx1"/>
                </a:solidFill>
              </a:rPr>
              <a:t>How will we achieve our goals?</a:t>
            </a:r>
          </a:p>
          <a:p>
            <a:pPr marL="171450" indent="-171450" fontAlgn="base">
              <a:spcAft>
                <a:spcPts val="600"/>
              </a:spcAft>
              <a:buFont typeface="Arial" panose="020B0604020202020204" pitchFamily="34" charset="0"/>
              <a:buChar char="►"/>
            </a:pPr>
            <a:endParaRPr lang="en-GB" sz="1200" b="1" i="1" dirty="0">
              <a:solidFill>
                <a:schemeClr val="tx1"/>
              </a:solidFill>
            </a:endParaRPr>
          </a:p>
          <a:p>
            <a:pPr marL="171450" indent="-171450" fontAlgn="base">
              <a:spcAft>
                <a:spcPts val="600"/>
              </a:spcAft>
              <a:buFont typeface="Arial" panose="020B0604020202020204" pitchFamily="34" charset="0"/>
              <a:buChar char="►"/>
            </a:pPr>
            <a:r>
              <a:rPr lang="en-GB" sz="1200" b="1" dirty="0">
                <a:solidFill>
                  <a:schemeClr val="tx1"/>
                </a:solidFill>
              </a:rPr>
              <a:t>Values: </a:t>
            </a:r>
            <a:r>
              <a:rPr lang="en-GB" sz="1200" dirty="0">
                <a:solidFill>
                  <a:schemeClr val="tx1"/>
                </a:solidFill>
              </a:rPr>
              <a:t>The underlying principles and ethics that drive it. </a:t>
            </a:r>
            <a:r>
              <a:rPr lang="en-GB" sz="1200" b="1" i="1" dirty="0">
                <a:solidFill>
                  <a:schemeClr val="tx1"/>
                </a:solidFill>
              </a:rPr>
              <a:t>How do we want to act to guide us towards our vision?</a:t>
            </a:r>
          </a:p>
          <a:p>
            <a:pPr marL="171450" indent="-171450" fontAlgn="base">
              <a:spcAft>
                <a:spcPts val="600"/>
              </a:spcAft>
              <a:buFont typeface="Arial" panose="020B0604020202020204" pitchFamily="34" charset="0"/>
              <a:buChar char="►"/>
            </a:pPr>
            <a:endParaRPr lang="en-GB" sz="1200" b="1" i="1" dirty="0">
              <a:solidFill>
                <a:schemeClr val="tx1"/>
              </a:solidFill>
            </a:endParaRPr>
          </a:p>
          <a:p>
            <a:pPr marL="171450" indent="-171450" fontAlgn="base">
              <a:spcAft>
                <a:spcPts val="600"/>
              </a:spcAft>
              <a:buFont typeface="Arial" panose="020B0604020202020204" pitchFamily="34" charset="0"/>
              <a:buChar char="►"/>
            </a:pPr>
            <a:r>
              <a:rPr lang="en-GB" sz="1200" b="1" dirty="0">
                <a:solidFill>
                  <a:schemeClr val="tx1"/>
                </a:solidFill>
              </a:rPr>
              <a:t>Behaviours</a:t>
            </a:r>
            <a:r>
              <a:rPr lang="en-GB" sz="1200" dirty="0">
                <a:solidFill>
                  <a:schemeClr val="tx1"/>
                </a:solidFill>
              </a:rPr>
              <a:t>: The way in which people in the organisation act to bring the strategy and desired culture to life. </a:t>
            </a:r>
            <a:r>
              <a:rPr lang="en-GB" sz="1200" b="1" i="1" dirty="0">
                <a:solidFill>
                  <a:schemeClr val="tx1"/>
                </a:solidFill>
              </a:rPr>
              <a:t>How will we bring our values to life?</a:t>
            </a:r>
          </a:p>
        </p:txBody>
      </p:sp>
    </p:spTree>
    <p:extLst>
      <p:ext uri="{BB962C8B-B14F-4D97-AF65-F5344CB8AC3E}">
        <p14:creationId xmlns:p14="http://schemas.microsoft.com/office/powerpoint/2010/main" val="31211160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5"/>
          <p:cNvGrpSpPr/>
          <p:nvPr/>
        </p:nvGrpSpPr>
        <p:grpSpPr bwMode="gray">
          <a:xfrm>
            <a:off x="846850" y="972319"/>
            <a:ext cx="9036926" cy="798021"/>
            <a:chOff x="476250" y="1416760"/>
            <a:chExt cx="8588605" cy="576298"/>
          </a:xfrm>
        </p:grpSpPr>
        <p:sp>
          <p:nvSpPr>
            <p:cNvPr id="12" name="Freeform 11"/>
            <p:cNvSpPr/>
            <p:nvPr/>
          </p:nvSpPr>
          <p:spPr bwMode="gray">
            <a:xfrm>
              <a:off x="476250" y="1417058"/>
              <a:ext cx="792000" cy="576000"/>
            </a:xfrm>
            <a:custGeom>
              <a:avLst/>
              <a:gdLst>
                <a:gd name="connsiteX0" fmla="*/ 0 w 460871"/>
                <a:gd name="connsiteY0" fmla="*/ 0 h 322609"/>
                <a:gd name="connsiteX1" fmla="*/ 299567 w 460871"/>
                <a:gd name="connsiteY1" fmla="*/ 0 h 322609"/>
                <a:gd name="connsiteX2" fmla="*/ 460871 w 460871"/>
                <a:gd name="connsiteY2" fmla="*/ 161305 h 322609"/>
                <a:gd name="connsiteX3" fmla="*/ 299567 w 460871"/>
                <a:gd name="connsiteY3" fmla="*/ 322609 h 322609"/>
                <a:gd name="connsiteX4" fmla="*/ 0 w 460871"/>
                <a:gd name="connsiteY4" fmla="*/ 322609 h 322609"/>
                <a:gd name="connsiteX5" fmla="*/ 161305 w 460871"/>
                <a:gd name="connsiteY5" fmla="*/ 161305 h 322609"/>
                <a:gd name="connsiteX6" fmla="*/ 0 w 460871"/>
                <a:gd name="connsiteY6" fmla="*/ 0 h 3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871" h="322609">
                  <a:moveTo>
                    <a:pt x="460871" y="0"/>
                  </a:moveTo>
                  <a:lnTo>
                    <a:pt x="460871" y="209696"/>
                  </a:lnTo>
                  <a:lnTo>
                    <a:pt x="230435" y="322609"/>
                  </a:lnTo>
                  <a:lnTo>
                    <a:pt x="0" y="209696"/>
                  </a:lnTo>
                  <a:lnTo>
                    <a:pt x="0" y="0"/>
                  </a:lnTo>
                  <a:lnTo>
                    <a:pt x="230435" y="112913"/>
                  </a:lnTo>
                  <a:lnTo>
                    <a:pt x="460871" y="0"/>
                  </a:lnTo>
                  <a:close/>
                </a:path>
              </a:pathLst>
            </a:custGeom>
            <a:solidFill>
              <a:schemeClr val="tx1"/>
            </a:solidFill>
            <a:ln>
              <a:solidFill>
                <a:schemeClr val="tx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algn="ctr" defTabSz="456337">
                <a:spcBef>
                  <a:spcPct val="0"/>
                </a:spcBef>
              </a:pPr>
              <a:r>
                <a:rPr lang="en-GB" sz="1100" b="1" dirty="0" smtClean="0">
                  <a:solidFill>
                    <a:schemeClr val="bg1"/>
                  </a:solidFill>
                </a:rPr>
                <a:t>Amazon</a:t>
              </a:r>
              <a:endParaRPr lang="en-GB" sz="1100" b="1" dirty="0">
                <a:solidFill>
                  <a:schemeClr val="bg1"/>
                </a:solidFill>
              </a:endParaRPr>
            </a:p>
          </p:txBody>
        </p:sp>
        <p:sp>
          <p:nvSpPr>
            <p:cNvPr id="13" name="Rectangle 12"/>
            <p:cNvSpPr/>
            <p:nvPr/>
          </p:nvSpPr>
          <p:spPr bwMode="gray">
            <a:xfrm>
              <a:off x="1274872" y="1416760"/>
              <a:ext cx="7789983" cy="380480"/>
            </a:xfrm>
            <a:prstGeom prst="rect">
              <a:avLst/>
            </a:prstGeom>
            <a:noFill/>
            <a:ln>
              <a:solidFill>
                <a:schemeClr val="tx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 tIns="36000" rIns="36000" bIns="36000" numCol="1" spcCol="1270" anchor="ctr" anchorCtr="0">
              <a:noAutofit/>
            </a:bodyPr>
            <a:lstStyle/>
            <a:p>
              <a:pPr marL="201219" lvl="1" indent="-201219" defTabSz="456337">
                <a:spcBef>
                  <a:spcPct val="0"/>
                </a:spcBef>
                <a:buSzPct val="75000"/>
                <a:buFont typeface="Arial" pitchFamily="34" charset="0"/>
                <a:buChar char="►"/>
              </a:pPr>
              <a:r>
                <a:rPr lang="en-GB" sz="1200" dirty="0" smtClean="0">
                  <a:solidFill>
                    <a:schemeClr val="tx1"/>
                  </a:solidFill>
                </a:rPr>
                <a:t>To be Earth’s most customer-centric company where customers can find and discover anything they might want to buy online, and endeavours to offer its customers the lowest possible prices </a:t>
              </a:r>
              <a:endParaRPr lang="en-GB" sz="1200" dirty="0">
                <a:solidFill>
                  <a:schemeClr val="tx1"/>
                </a:solidFill>
              </a:endParaRPr>
            </a:p>
          </p:txBody>
        </p:sp>
      </p:grpSp>
      <p:grpSp>
        <p:nvGrpSpPr>
          <p:cNvPr id="47" name="Group 46"/>
          <p:cNvGrpSpPr/>
          <p:nvPr/>
        </p:nvGrpSpPr>
        <p:grpSpPr bwMode="gray">
          <a:xfrm>
            <a:off x="846850" y="1597487"/>
            <a:ext cx="9036926" cy="808572"/>
            <a:chOff x="476250" y="1902738"/>
            <a:chExt cx="8588605" cy="583917"/>
          </a:xfrm>
          <a:solidFill>
            <a:srgbClr val="FFFF00"/>
          </a:solidFill>
        </p:grpSpPr>
        <p:sp>
          <p:nvSpPr>
            <p:cNvPr id="14" name="Freeform 13"/>
            <p:cNvSpPr/>
            <p:nvPr/>
          </p:nvSpPr>
          <p:spPr bwMode="gray">
            <a:xfrm>
              <a:off x="476250" y="1910655"/>
              <a:ext cx="792000" cy="576000"/>
            </a:xfrm>
            <a:custGeom>
              <a:avLst/>
              <a:gdLst>
                <a:gd name="connsiteX0" fmla="*/ 0 w 460871"/>
                <a:gd name="connsiteY0" fmla="*/ 0 h 322609"/>
                <a:gd name="connsiteX1" fmla="*/ 299567 w 460871"/>
                <a:gd name="connsiteY1" fmla="*/ 0 h 322609"/>
                <a:gd name="connsiteX2" fmla="*/ 460871 w 460871"/>
                <a:gd name="connsiteY2" fmla="*/ 161305 h 322609"/>
                <a:gd name="connsiteX3" fmla="*/ 299567 w 460871"/>
                <a:gd name="connsiteY3" fmla="*/ 322609 h 322609"/>
                <a:gd name="connsiteX4" fmla="*/ 0 w 460871"/>
                <a:gd name="connsiteY4" fmla="*/ 322609 h 322609"/>
                <a:gd name="connsiteX5" fmla="*/ 161305 w 460871"/>
                <a:gd name="connsiteY5" fmla="*/ 161305 h 322609"/>
                <a:gd name="connsiteX6" fmla="*/ 0 w 460871"/>
                <a:gd name="connsiteY6" fmla="*/ 0 h 3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871" h="322609">
                  <a:moveTo>
                    <a:pt x="460871" y="0"/>
                  </a:moveTo>
                  <a:lnTo>
                    <a:pt x="460871" y="209696"/>
                  </a:lnTo>
                  <a:lnTo>
                    <a:pt x="230435" y="322609"/>
                  </a:lnTo>
                  <a:lnTo>
                    <a:pt x="0" y="209696"/>
                  </a:lnTo>
                  <a:lnTo>
                    <a:pt x="0" y="0"/>
                  </a:lnTo>
                  <a:lnTo>
                    <a:pt x="230435" y="112913"/>
                  </a:lnTo>
                  <a:lnTo>
                    <a:pt x="460871" y="0"/>
                  </a:lnTo>
                  <a:close/>
                </a:path>
              </a:pathLst>
            </a:custGeom>
            <a:solidFill>
              <a:schemeClr val="tx1"/>
            </a:solidFill>
            <a:ln>
              <a:solidFill>
                <a:schemeClr val="tx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000" tIns="72000" rIns="36000" bIns="36000" numCol="1" spcCol="1270" anchor="ctr" anchorCtr="0">
              <a:noAutofit/>
            </a:bodyPr>
            <a:lstStyle/>
            <a:p>
              <a:pPr algn="ctr" defTabSz="456337">
                <a:spcBef>
                  <a:spcPct val="0"/>
                </a:spcBef>
              </a:pPr>
              <a:r>
                <a:rPr lang="en-GB" sz="1100" b="1" dirty="0">
                  <a:solidFill>
                    <a:schemeClr val="bg1"/>
                  </a:solidFill>
                </a:rPr>
                <a:t>Apple</a:t>
              </a:r>
            </a:p>
          </p:txBody>
        </p:sp>
        <p:sp>
          <p:nvSpPr>
            <p:cNvPr id="34" name="Rectangle 33"/>
            <p:cNvSpPr/>
            <p:nvPr/>
          </p:nvSpPr>
          <p:spPr bwMode="gray">
            <a:xfrm>
              <a:off x="1274872" y="1902738"/>
              <a:ext cx="7789983" cy="380480"/>
            </a:xfrm>
            <a:prstGeom prst="rect">
              <a:avLst/>
            </a:prstGeom>
            <a:noFill/>
            <a:ln>
              <a:solidFill>
                <a:schemeClr val="tx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 tIns="36000" rIns="36000" bIns="36000" numCol="1" spcCol="1270" anchor="ctr" anchorCtr="0">
              <a:noAutofit/>
            </a:bodyPr>
            <a:lstStyle/>
            <a:p>
              <a:pPr marL="201219" lvl="1" indent="-201219" defTabSz="456337">
                <a:spcBef>
                  <a:spcPct val="0"/>
                </a:spcBef>
                <a:buClr>
                  <a:schemeClr val="tx1"/>
                </a:buClr>
                <a:buSzPct val="75000"/>
                <a:buFont typeface="Arial" pitchFamily="34" charset="0"/>
                <a:buChar char="►"/>
              </a:pPr>
              <a:r>
                <a:rPr lang="en-GB" sz="1200" dirty="0" smtClean="0">
                  <a:solidFill>
                    <a:schemeClr val="tx1"/>
                  </a:solidFill>
                </a:rPr>
                <a:t>Is committed to </a:t>
              </a:r>
              <a:r>
                <a:rPr lang="en-GB" sz="1200" dirty="0">
                  <a:solidFill>
                    <a:schemeClr val="tx1"/>
                  </a:solidFill>
                </a:rPr>
                <a:t>bringing the best personal computing experience to students, educators, creative professionals and consumers around the world through its innovative hardware, software and Internet offerings</a:t>
              </a:r>
            </a:p>
          </p:txBody>
        </p:sp>
      </p:grpSp>
      <p:grpSp>
        <p:nvGrpSpPr>
          <p:cNvPr id="45" name="Group 44"/>
          <p:cNvGrpSpPr/>
          <p:nvPr/>
        </p:nvGrpSpPr>
        <p:grpSpPr bwMode="gray">
          <a:xfrm>
            <a:off x="846850" y="2231054"/>
            <a:ext cx="9036926" cy="685481"/>
            <a:chOff x="476250" y="2376732"/>
            <a:chExt cx="8588605" cy="495026"/>
          </a:xfrm>
        </p:grpSpPr>
        <p:sp>
          <p:nvSpPr>
            <p:cNvPr id="16" name="Freeform 15"/>
            <p:cNvSpPr/>
            <p:nvPr/>
          </p:nvSpPr>
          <p:spPr bwMode="gray">
            <a:xfrm>
              <a:off x="476250" y="2376733"/>
              <a:ext cx="792000" cy="495025"/>
            </a:xfrm>
            <a:custGeom>
              <a:avLst/>
              <a:gdLst>
                <a:gd name="connsiteX0" fmla="*/ 0 w 460871"/>
                <a:gd name="connsiteY0" fmla="*/ 0 h 322609"/>
                <a:gd name="connsiteX1" fmla="*/ 299567 w 460871"/>
                <a:gd name="connsiteY1" fmla="*/ 0 h 322609"/>
                <a:gd name="connsiteX2" fmla="*/ 460871 w 460871"/>
                <a:gd name="connsiteY2" fmla="*/ 161305 h 322609"/>
                <a:gd name="connsiteX3" fmla="*/ 299567 w 460871"/>
                <a:gd name="connsiteY3" fmla="*/ 322609 h 322609"/>
                <a:gd name="connsiteX4" fmla="*/ 0 w 460871"/>
                <a:gd name="connsiteY4" fmla="*/ 322609 h 322609"/>
                <a:gd name="connsiteX5" fmla="*/ 161305 w 460871"/>
                <a:gd name="connsiteY5" fmla="*/ 161305 h 322609"/>
                <a:gd name="connsiteX6" fmla="*/ 0 w 460871"/>
                <a:gd name="connsiteY6" fmla="*/ 0 h 3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871" h="322609">
                  <a:moveTo>
                    <a:pt x="460871" y="0"/>
                  </a:moveTo>
                  <a:lnTo>
                    <a:pt x="460871" y="209696"/>
                  </a:lnTo>
                  <a:lnTo>
                    <a:pt x="230435" y="322609"/>
                  </a:lnTo>
                  <a:lnTo>
                    <a:pt x="0" y="209696"/>
                  </a:lnTo>
                  <a:lnTo>
                    <a:pt x="0" y="0"/>
                  </a:lnTo>
                  <a:lnTo>
                    <a:pt x="230435" y="112913"/>
                  </a:lnTo>
                  <a:lnTo>
                    <a:pt x="460871" y="0"/>
                  </a:lnTo>
                  <a:close/>
                </a:path>
              </a:pathLst>
            </a:custGeom>
            <a:solidFill>
              <a:schemeClr val="tx1"/>
            </a:solidFill>
            <a:ln>
              <a:solidFill>
                <a:schemeClr val="tx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000" tIns="72000" rIns="36000" bIns="36000" numCol="1" spcCol="1270" anchor="ctr" anchorCtr="0">
              <a:noAutofit/>
            </a:bodyPr>
            <a:lstStyle/>
            <a:p>
              <a:pPr algn="ctr" defTabSz="456337">
                <a:spcBef>
                  <a:spcPct val="0"/>
                </a:spcBef>
              </a:pPr>
              <a:r>
                <a:rPr lang="en-GB" sz="1100" b="1" dirty="0" smtClean="0">
                  <a:solidFill>
                    <a:schemeClr val="bg1"/>
                  </a:solidFill>
                </a:rPr>
                <a:t>Dell</a:t>
              </a:r>
              <a:endParaRPr lang="en-GB" sz="1100" b="1" dirty="0">
                <a:solidFill>
                  <a:schemeClr val="bg1"/>
                </a:solidFill>
              </a:endParaRPr>
            </a:p>
          </p:txBody>
        </p:sp>
        <p:sp>
          <p:nvSpPr>
            <p:cNvPr id="35" name="Rectangle 34"/>
            <p:cNvSpPr/>
            <p:nvPr/>
          </p:nvSpPr>
          <p:spPr bwMode="gray">
            <a:xfrm>
              <a:off x="1274872" y="2376732"/>
              <a:ext cx="7789983" cy="380480"/>
            </a:xfrm>
            <a:prstGeom prst="rect">
              <a:avLst/>
            </a:prstGeom>
            <a:noFill/>
            <a:ln>
              <a:solidFill>
                <a:schemeClr val="tx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 tIns="36000" rIns="36000" bIns="36000" numCol="1" spcCol="1270" anchor="ctr" anchorCtr="0">
              <a:noAutofit/>
            </a:bodyPr>
            <a:lstStyle/>
            <a:p>
              <a:pPr marL="201219" lvl="1" indent="-201219" defTabSz="456337">
                <a:spcBef>
                  <a:spcPct val="0"/>
                </a:spcBef>
                <a:buSzPct val="75000"/>
                <a:buFont typeface="Arial" pitchFamily="34" charset="0"/>
                <a:buChar char="►"/>
              </a:pPr>
              <a:r>
                <a:rPr lang="en-GB" sz="1200" dirty="0" smtClean="0">
                  <a:solidFill>
                    <a:schemeClr val="tx1"/>
                  </a:solidFill>
                </a:rPr>
                <a:t>To </a:t>
              </a:r>
              <a:r>
                <a:rPr lang="en-GB" sz="1200" dirty="0">
                  <a:solidFill>
                    <a:schemeClr val="tx1"/>
                  </a:solidFill>
                </a:rPr>
                <a:t>be the most </a:t>
              </a:r>
              <a:r>
                <a:rPr lang="en-GB" sz="1200" dirty="0" smtClean="0">
                  <a:solidFill>
                    <a:schemeClr val="tx1"/>
                  </a:solidFill>
                </a:rPr>
                <a:t>successful IT systems company </a:t>
              </a:r>
              <a:r>
                <a:rPr lang="en-GB" sz="1200" dirty="0">
                  <a:solidFill>
                    <a:schemeClr val="tx1"/>
                  </a:solidFill>
                </a:rPr>
                <a:t>in the world </a:t>
              </a:r>
              <a:r>
                <a:rPr lang="en-GB" sz="1200" dirty="0" smtClean="0">
                  <a:solidFill>
                    <a:schemeClr val="tx1"/>
                  </a:solidFill>
                </a:rPr>
                <a:t>by </a:t>
              </a:r>
              <a:r>
                <a:rPr lang="en-GB" sz="1200" dirty="0">
                  <a:solidFill>
                    <a:schemeClr val="tx1"/>
                  </a:solidFill>
                </a:rPr>
                <a:t>delivering the best customer experience in </a:t>
              </a:r>
              <a:r>
                <a:rPr lang="en-GB" sz="1200" dirty="0" smtClean="0">
                  <a:solidFill>
                    <a:schemeClr val="tx1"/>
                  </a:solidFill>
                </a:rPr>
                <a:t> all markets </a:t>
              </a:r>
              <a:r>
                <a:rPr lang="en-GB" sz="1200" dirty="0">
                  <a:solidFill>
                    <a:schemeClr val="tx1"/>
                  </a:solidFill>
                </a:rPr>
                <a:t>we serve</a:t>
              </a:r>
            </a:p>
          </p:txBody>
        </p:sp>
      </p:grpSp>
      <p:grpSp>
        <p:nvGrpSpPr>
          <p:cNvPr id="44" name="Group 43"/>
          <p:cNvGrpSpPr/>
          <p:nvPr/>
        </p:nvGrpSpPr>
        <p:grpSpPr bwMode="gray">
          <a:xfrm>
            <a:off x="810196" y="2844527"/>
            <a:ext cx="9073580" cy="396917"/>
            <a:chOff x="476250" y="2830117"/>
            <a:chExt cx="8588605" cy="360000"/>
          </a:xfrm>
          <a:solidFill>
            <a:srgbClr val="FFFF00"/>
          </a:solidFill>
        </p:grpSpPr>
        <p:sp>
          <p:nvSpPr>
            <p:cNvPr id="18" name="Freeform 17"/>
            <p:cNvSpPr/>
            <p:nvPr/>
          </p:nvSpPr>
          <p:spPr bwMode="gray">
            <a:xfrm>
              <a:off x="476250" y="2830117"/>
              <a:ext cx="792000" cy="360000"/>
            </a:xfrm>
            <a:custGeom>
              <a:avLst/>
              <a:gdLst>
                <a:gd name="connsiteX0" fmla="*/ 0 w 460871"/>
                <a:gd name="connsiteY0" fmla="*/ 0 h 322609"/>
                <a:gd name="connsiteX1" fmla="*/ 299567 w 460871"/>
                <a:gd name="connsiteY1" fmla="*/ 0 h 322609"/>
                <a:gd name="connsiteX2" fmla="*/ 460871 w 460871"/>
                <a:gd name="connsiteY2" fmla="*/ 161305 h 322609"/>
                <a:gd name="connsiteX3" fmla="*/ 299567 w 460871"/>
                <a:gd name="connsiteY3" fmla="*/ 322609 h 322609"/>
                <a:gd name="connsiteX4" fmla="*/ 0 w 460871"/>
                <a:gd name="connsiteY4" fmla="*/ 322609 h 322609"/>
                <a:gd name="connsiteX5" fmla="*/ 161305 w 460871"/>
                <a:gd name="connsiteY5" fmla="*/ 161305 h 322609"/>
                <a:gd name="connsiteX6" fmla="*/ 0 w 460871"/>
                <a:gd name="connsiteY6" fmla="*/ 0 h 3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871" h="322609">
                  <a:moveTo>
                    <a:pt x="460871" y="0"/>
                  </a:moveTo>
                  <a:lnTo>
                    <a:pt x="460871" y="209696"/>
                  </a:lnTo>
                  <a:lnTo>
                    <a:pt x="230435" y="322609"/>
                  </a:lnTo>
                  <a:lnTo>
                    <a:pt x="0" y="209696"/>
                  </a:lnTo>
                  <a:lnTo>
                    <a:pt x="0" y="0"/>
                  </a:lnTo>
                  <a:lnTo>
                    <a:pt x="230435" y="112913"/>
                  </a:lnTo>
                  <a:lnTo>
                    <a:pt x="460871" y="0"/>
                  </a:lnTo>
                  <a:close/>
                </a:path>
              </a:pathLst>
            </a:custGeom>
            <a:solidFill>
              <a:schemeClr val="tx1"/>
            </a:solidFill>
            <a:ln>
              <a:solidFill>
                <a:schemeClr val="tx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000" tIns="72000" rIns="36000" bIns="36000" numCol="1" spcCol="1270" anchor="ctr" anchorCtr="0">
              <a:noAutofit/>
            </a:bodyPr>
            <a:lstStyle/>
            <a:p>
              <a:pPr algn="ctr" defTabSz="456337">
                <a:spcBef>
                  <a:spcPct val="0"/>
                </a:spcBef>
              </a:pPr>
              <a:r>
                <a:rPr lang="en-GB" sz="1100" b="1" dirty="0" smtClean="0">
                  <a:solidFill>
                    <a:schemeClr val="bg1"/>
                  </a:solidFill>
                </a:rPr>
                <a:t>Facebook </a:t>
              </a:r>
              <a:endParaRPr lang="en-GB" sz="1100" b="1" dirty="0">
                <a:solidFill>
                  <a:schemeClr val="bg1"/>
                </a:solidFill>
              </a:endParaRPr>
            </a:p>
          </p:txBody>
        </p:sp>
        <p:sp>
          <p:nvSpPr>
            <p:cNvPr id="36" name="Rectangle 35"/>
            <p:cNvSpPr/>
            <p:nvPr/>
          </p:nvSpPr>
          <p:spPr bwMode="gray">
            <a:xfrm>
              <a:off x="1274872" y="2830118"/>
              <a:ext cx="7789983" cy="234000"/>
            </a:xfrm>
            <a:prstGeom prst="rect">
              <a:avLst/>
            </a:prstGeom>
            <a:noFill/>
            <a:ln>
              <a:solidFill>
                <a:schemeClr val="tx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 tIns="36000" rIns="36000" bIns="36000" numCol="1" spcCol="1270" anchor="ctr" anchorCtr="0">
              <a:noAutofit/>
            </a:bodyPr>
            <a:lstStyle/>
            <a:p>
              <a:pPr marL="201219" lvl="1" indent="-201219" defTabSz="456337">
                <a:spcBef>
                  <a:spcPct val="0"/>
                </a:spcBef>
                <a:buSzPct val="75000"/>
                <a:buFont typeface="Arial" pitchFamily="34" charset="0"/>
                <a:buChar char="►"/>
              </a:pPr>
              <a:r>
                <a:rPr lang="en-GB" sz="1200" dirty="0">
                  <a:solidFill>
                    <a:schemeClr val="tx1"/>
                  </a:solidFill>
                </a:rPr>
                <a:t>T</a:t>
              </a:r>
              <a:r>
                <a:rPr lang="en-GB" sz="1200" dirty="0" smtClean="0">
                  <a:solidFill>
                    <a:schemeClr val="tx1"/>
                  </a:solidFill>
                </a:rPr>
                <a:t>o </a:t>
              </a:r>
              <a:r>
                <a:rPr lang="en-GB" sz="1200" dirty="0">
                  <a:solidFill>
                    <a:schemeClr val="tx1"/>
                  </a:solidFill>
                </a:rPr>
                <a:t>give people the power to share and make the world more open and connected</a:t>
              </a:r>
            </a:p>
          </p:txBody>
        </p:sp>
      </p:grpSp>
      <p:grpSp>
        <p:nvGrpSpPr>
          <p:cNvPr id="53" name="Group 52"/>
          <p:cNvGrpSpPr/>
          <p:nvPr/>
        </p:nvGrpSpPr>
        <p:grpSpPr bwMode="gray">
          <a:xfrm>
            <a:off x="809626" y="3204567"/>
            <a:ext cx="9070418" cy="498506"/>
            <a:chOff x="476250" y="3203432"/>
            <a:chExt cx="8620435" cy="360000"/>
          </a:xfrm>
        </p:grpSpPr>
        <p:sp>
          <p:nvSpPr>
            <p:cNvPr id="20" name="Freeform 19"/>
            <p:cNvSpPr/>
            <p:nvPr/>
          </p:nvSpPr>
          <p:spPr bwMode="gray">
            <a:xfrm>
              <a:off x="476250" y="3203432"/>
              <a:ext cx="792000" cy="360000"/>
            </a:xfrm>
            <a:custGeom>
              <a:avLst/>
              <a:gdLst>
                <a:gd name="connsiteX0" fmla="*/ 0 w 460871"/>
                <a:gd name="connsiteY0" fmla="*/ 0 h 322609"/>
                <a:gd name="connsiteX1" fmla="*/ 299567 w 460871"/>
                <a:gd name="connsiteY1" fmla="*/ 0 h 322609"/>
                <a:gd name="connsiteX2" fmla="*/ 460871 w 460871"/>
                <a:gd name="connsiteY2" fmla="*/ 161305 h 322609"/>
                <a:gd name="connsiteX3" fmla="*/ 299567 w 460871"/>
                <a:gd name="connsiteY3" fmla="*/ 322609 h 322609"/>
                <a:gd name="connsiteX4" fmla="*/ 0 w 460871"/>
                <a:gd name="connsiteY4" fmla="*/ 322609 h 322609"/>
                <a:gd name="connsiteX5" fmla="*/ 161305 w 460871"/>
                <a:gd name="connsiteY5" fmla="*/ 161305 h 322609"/>
                <a:gd name="connsiteX6" fmla="*/ 0 w 460871"/>
                <a:gd name="connsiteY6" fmla="*/ 0 h 3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871" h="322609">
                  <a:moveTo>
                    <a:pt x="460871" y="0"/>
                  </a:moveTo>
                  <a:lnTo>
                    <a:pt x="460871" y="209696"/>
                  </a:lnTo>
                  <a:lnTo>
                    <a:pt x="230435" y="322609"/>
                  </a:lnTo>
                  <a:lnTo>
                    <a:pt x="0" y="209696"/>
                  </a:lnTo>
                  <a:lnTo>
                    <a:pt x="0" y="0"/>
                  </a:lnTo>
                  <a:lnTo>
                    <a:pt x="230435" y="112913"/>
                  </a:lnTo>
                  <a:lnTo>
                    <a:pt x="460871" y="0"/>
                  </a:lnTo>
                  <a:close/>
                </a:path>
              </a:pathLst>
            </a:custGeom>
            <a:solidFill>
              <a:schemeClr val="tx1"/>
            </a:solidFill>
            <a:ln>
              <a:solidFill>
                <a:schemeClr val="tx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000" tIns="72000" rIns="36000" bIns="36000" numCol="1" spcCol="1270" anchor="ctr" anchorCtr="0">
              <a:noAutofit/>
            </a:bodyPr>
            <a:lstStyle/>
            <a:p>
              <a:pPr algn="ctr" defTabSz="456337">
                <a:spcBef>
                  <a:spcPct val="0"/>
                </a:spcBef>
              </a:pPr>
              <a:r>
                <a:rPr lang="en-GB" sz="1100" b="1" dirty="0" smtClean="0">
                  <a:solidFill>
                    <a:schemeClr val="bg1"/>
                  </a:solidFill>
                </a:rPr>
                <a:t>Google</a:t>
              </a:r>
              <a:endParaRPr lang="en-GB" sz="1100" b="1" dirty="0">
                <a:solidFill>
                  <a:schemeClr val="bg1"/>
                </a:solidFill>
              </a:endParaRPr>
            </a:p>
          </p:txBody>
        </p:sp>
        <p:sp>
          <p:nvSpPr>
            <p:cNvPr id="37" name="Rectangle 36"/>
            <p:cNvSpPr/>
            <p:nvPr/>
          </p:nvSpPr>
          <p:spPr bwMode="gray">
            <a:xfrm>
              <a:off x="1274872" y="3203432"/>
              <a:ext cx="7821813" cy="234000"/>
            </a:xfrm>
            <a:prstGeom prst="rect">
              <a:avLst/>
            </a:prstGeom>
            <a:noFill/>
            <a:ln>
              <a:solidFill>
                <a:schemeClr val="tx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 tIns="36000" rIns="36000" bIns="36000" numCol="1" spcCol="1270" anchor="ctr" anchorCtr="0">
              <a:noAutofit/>
            </a:bodyPr>
            <a:lstStyle/>
            <a:p>
              <a:pPr marL="201219" lvl="1" indent="-201219" defTabSz="456337">
                <a:spcBef>
                  <a:spcPct val="0"/>
                </a:spcBef>
                <a:buSzPct val="75000"/>
                <a:buFont typeface="Arial" pitchFamily="34" charset="0"/>
                <a:buChar char="►"/>
              </a:pPr>
              <a:r>
                <a:rPr lang="en-GB" sz="1200" dirty="0">
                  <a:solidFill>
                    <a:schemeClr val="tx1"/>
                  </a:solidFill>
                </a:rPr>
                <a:t>T</a:t>
              </a:r>
              <a:r>
                <a:rPr lang="en-GB" sz="1200" dirty="0" smtClean="0">
                  <a:solidFill>
                    <a:schemeClr val="tx1"/>
                  </a:solidFill>
                </a:rPr>
                <a:t>o organise </a:t>
              </a:r>
              <a:r>
                <a:rPr lang="en-GB" sz="1200" dirty="0">
                  <a:solidFill>
                    <a:schemeClr val="tx1"/>
                  </a:solidFill>
                </a:rPr>
                <a:t>the world‘s information and make it universally accessible and useful</a:t>
              </a:r>
            </a:p>
          </p:txBody>
        </p:sp>
      </p:grpSp>
      <p:grpSp>
        <p:nvGrpSpPr>
          <p:cNvPr id="52" name="Group 51"/>
          <p:cNvGrpSpPr/>
          <p:nvPr/>
        </p:nvGrpSpPr>
        <p:grpSpPr bwMode="gray">
          <a:xfrm>
            <a:off x="810196" y="3648505"/>
            <a:ext cx="9036926" cy="708191"/>
            <a:chOff x="441414" y="3604453"/>
            <a:chExt cx="8588605" cy="511426"/>
          </a:xfrm>
        </p:grpSpPr>
        <p:sp>
          <p:nvSpPr>
            <p:cNvPr id="22" name="Freeform 21"/>
            <p:cNvSpPr/>
            <p:nvPr/>
          </p:nvSpPr>
          <p:spPr bwMode="gray">
            <a:xfrm>
              <a:off x="441414" y="3604453"/>
              <a:ext cx="792000" cy="511426"/>
            </a:xfrm>
            <a:custGeom>
              <a:avLst/>
              <a:gdLst>
                <a:gd name="connsiteX0" fmla="*/ 0 w 460871"/>
                <a:gd name="connsiteY0" fmla="*/ 0 h 322609"/>
                <a:gd name="connsiteX1" fmla="*/ 299567 w 460871"/>
                <a:gd name="connsiteY1" fmla="*/ 0 h 322609"/>
                <a:gd name="connsiteX2" fmla="*/ 460871 w 460871"/>
                <a:gd name="connsiteY2" fmla="*/ 161305 h 322609"/>
                <a:gd name="connsiteX3" fmla="*/ 299567 w 460871"/>
                <a:gd name="connsiteY3" fmla="*/ 322609 h 322609"/>
                <a:gd name="connsiteX4" fmla="*/ 0 w 460871"/>
                <a:gd name="connsiteY4" fmla="*/ 322609 h 322609"/>
                <a:gd name="connsiteX5" fmla="*/ 161305 w 460871"/>
                <a:gd name="connsiteY5" fmla="*/ 161305 h 322609"/>
                <a:gd name="connsiteX6" fmla="*/ 0 w 460871"/>
                <a:gd name="connsiteY6" fmla="*/ 0 h 3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871" h="322609">
                  <a:moveTo>
                    <a:pt x="460871" y="0"/>
                  </a:moveTo>
                  <a:lnTo>
                    <a:pt x="460871" y="209696"/>
                  </a:lnTo>
                  <a:lnTo>
                    <a:pt x="230435" y="322609"/>
                  </a:lnTo>
                  <a:lnTo>
                    <a:pt x="0" y="209696"/>
                  </a:lnTo>
                  <a:lnTo>
                    <a:pt x="0" y="0"/>
                  </a:lnTo>
                  <a:lnTo>
                    <a:pt x="230435" y="112913"/>
                  </a:lnTo>
                  <a:lnTo>
                    <a:pt x="460871" y="0"/>
                  </a:lnTo>
                  <a:close/>
                </a:path>
              </a:pathLst>
            </a:custGeom>
            <a:solidFill>
              <a:schemeClr val="tx1"/>
            </a:solidFill>
            <a:ln>
              <a:solidFill>
                <a:schemeClr val="tx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000" tIns="72000" rIns="36000" bIns="36000" numCol="1" spcCol="1270" anchor="ctr" anchorCtr="0">
              <a:noAutofit/>
            </a:bodyPr>
            <a:lstStyle/>
            <a:p>
              <a:pPr algn="ctr" defTabSz="456337">
                <a:spcBef>
                  <a:spcPct val="0"/>
                </a:spcBef>
              </a:pPr>
              <a:r>
                <a:rPr lang="en-GB" sz="1100" b="1" dirty="0" smtClean="0">
                  <a:solidFill>
                    <a:schemeClr val="bg1"/>
                  </a:solidFill>
                </a:rPr>
                <a:t>Microsoft</a:t>
              </a:r>
              <a:endParaRPr lang="en-GB" sz="1100" b="1" dirty="0">
                <a:solidFill>
                  <a:schemeClr val="bg1"/>
                </a:solidFill>
              </a:endParaRPr>
            </a:p>
          </p:txBody>
        </p:sp>
        <p:sp>
          <p:nvSpPr>
            <p:cNvPr id="38" name="Rectangle 37"/>
            <p:cNvSpPr/>
            <p:nvPr/>
          </p:nvSpPr>
          <p:spPr bwMode="gray">
            <a:xfrm>
              <a:off x="1240036" y="3604454"/>
              <a:ext cx="7789983" cy="355081"/>
            </a:xfrm>
            <a:prstGeom prst="rect">
              <a:avLst/>
            </a:prstGeom>
            <a:noFill/>
            <a:ln>
              <a:solidFill>
                <a:schemeClr val="tx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 tIns="36000" rIns="36000" bIns="36000" numCol="1" spcCol="1270" anchor="ctr" anchorCtr="0">
              <a:noAutofit/>
            </a:bodyPr>
            <a:lstStyle/>
            <a:p>
              <a:pPr marL="201219" lvl="1" indent="-201219" defTabSz="456337">
                <a:spcBef>
                  <a:spcPct val="0"/>
                </a:spcBef>
                <a:buSzPct val="75000"/>
                <a:buFont typeface="Arial" pitchFamily="34" charset="0"/>
                <a:buChar char="►"/>
              </a:pPr>
              <a:r>
                <a:rPr lang="en-GB" sz="1200" dirty="0">
                  <a:solidFill>
                    <a:schemeClr val="tx1"/>
                  </a:solidFill>
                </a:rPr>
                <a:t>T</a:t>
              </a:r>
              <a:r>
                <a:rPr lang="en-GB" sz="1200" dirty="0" smtClean="0">
                  <a:solidFill>
                    <a:schemeClr val="tx1"/>
                  </a:solidFill>
                </a:rPr>
                <a:t>o </a:t>
              </a:r>
              <a:r>
                <a:rPr lang="en-GB" sz="1200" dirty="0">
                  <a:solidFill>
                    <a:schemeClr val="tx1"/>
                  </a:solidFill>
                </a:rPr>
                <a:t>enable people and businesses throughout the world to realise their full </a:t>
              </a:r>
              <a:r>
                <a:rPr lang="en-GB" sz="1200" dirty="0" smtClean="0">
                  <a:solidFill>
                    <a:schemeClr val="tx1"/>
                  </a:solidFill>
                </a:rPr>
                <a:t>potential. ‘</a:t>
              </a:r>
              <a:r>
                <a:rPr lang="en-GB" sz="1200" i="1" dirty="0" smtClean="0">
                  <a:solidFill>
                    <a:schemeClr val="tx1"/>
                  </a:solidFill>
                </a:rPr>
                <a:t>There </a:t>
              </a:r>
              <a:r>
                <a:rPr lang="en-GB" sz="1200" i="1" dirty="0">
                  <a:solidFill>
                    <a:schemeClr val="tx1"/>
                  </a:solidFill>
                </a:rPr>
                <a:t>will be a personal computer on every desk running Microsoft </a:t>
              </a:r>
              <a:r>
                <a:rPr lang="en-GB" sz="1200" i="1" dirty="0" smtClean="0">
                  <a:solidFill>
                    <a:schemeClr val="tx1"/>
                  </a:solidFill>
                </a:rPr>
                <a:t>software.’</a:t>
              </a:r>
              <a:endParaRPr lang="en-GB" sz="1200" i="1" dirty="0">
                <a:solidFill>
                  <a:schemeClr val="tx1"/>
                </a:solidFill>
              </a:endParaRPr>
            </a:p>
          </p:txBody>
        </p:sp>
      </p:grpSp>
      <p:grpSp>
        <p:nvGrpSpPr>
          <p:cNvPr id="51" name="Group 50"/>
          <p:cNvGrpSpPr/>
          <p:nvPr/>
        </p:nvGrpSpPr>
        <p:grpSpPr bwMode="gray">
          <a:xfrm>
            <a:off x="810196" y="4212679"/>
            <a:ext cx="9036926" cy="498506"/>
            <a:chOff x="476250" y="4227800"/>
            <a:chExt cx="8588605" cy="360000"/>
          </a:xfrm>
        </p:grpSpPr>
        <p:sp>
          <p:nvSpPr>
            <p:cNvPr id="24" name="Freeform 23"/>
            <p:cNvSpPr/>
            <p:nvPr/>
          </p:nvSpPr>
          <p:spPr bwMode="gray">
            <a:xfrm>
              <a:off x="476250" y="4227800"/>
              <a:ext cx="792000" cy="360000"/>
            </a:xfrm>
            <a:custGeom>
              <a:avLst/>
              <a:gdLst>
                <a:gd name="connsiteX0" fmla="*/ 0 w 460871"/>
                <a:gd name="connsiteY0" fmla="*/ 0 h 322609"/>
                <a:gd name="connsiteX1" fmla="*/ 299567 w 460871"/>
                <a:gd name="connsiteY1" fmla="*/ 0 h 322609"/>
                <a:gd name="connsiteX2" fmla="*/ 460871 w 460871"/>
                <a:gd name="connsiteY2" fmla="*/ 161305 h 322609"/>
                <a:gd name="connsiteX3" fmla="*/ 299567 w 460871"/>
                <a:gd name="connsiteY3" fmla="*/ 322609 h 322609"/>
                <a:gd name="connsiteX4" fmla="*/ 0 w 460871"/>
                <a:gd name="connsiteY4" fmla="*/ 322609 h 322609"/>
                <a:gd name="connsiteX5" fmla="*/ 161305 w 460871"/>
                <a:gd name="connsiteY5" fmla="*/ 161305 h 322609"/>
                <a:gd name="connsiteX6" fmla="*/ 0 w 460871"/>
                <a:gd name="connsiteY6" fmla="*/ 0 h 3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871" h="322609">
                  <a:moveTo>
                    <a:pt x="460871" y="0"/>
                  </a:moveTo>
                  <a:lnTo>
                    <a:pt x="460871" y="209696"/>
                  </a:lnTo>
                  <a:lnTo>
                    <a:pt x="230435" y="322609"/>
                  </a:lnTo>
                  <a:lnTo>
                    <a:pt x="0" y="209696"/>
                  </a:lnTo>
                  <a:lnTo>
                    <a:pt x="0" y="0"/>
                  </a:lnTo>
                  <a:lnTo>
                    <a:pt x="230435" y="112913"/>
                  </a:lnTo>
                  <a:lnTo>
                    <a:pt x="460871" y="0"/>
                  </a:lnTo>
                  <a:close/>
                </a:path>
              </a:pathLst>
            </a:custGeom>
            <a:solidFill>
              <a:schemeClr val="tx1"/>
            </a:solidFill>
            <a:ln>
              <a:solidFill>
                <a:schemeClr val="tx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000" tIns="72000" rIns="36000" bIns="36000" numCol="1" spcCol="1270" anchor="ctr" anchorCtr="0">
              <a:noAutofit/>
            </a:bodyPr>
            <a:lstStyle/>
            <a:p>
              <a:pPr algn="ctr" defTabSz="456337">
                <a:spcBef>
                  <a:spcPct val="0"/>
                </a:spcBef>
              </a:pPr>
              <a:r>
                <a:rPr lang="en-GB" sz="1100" b="1" dirty="0" smtClean="0">
                  <a:solidFill>
                    <a:schemeClr val="bg1"/>
                  </a:solidFill>
                </a:rPr>
                <a:t>Skype</a:t>
              </a:r>
              <a:endParaRPr lang="en-GB" sz="1100" b="1" dirty="0">
                <a:solidFill>
                  <a:schemeClr val="bg1"/>
                </a:solidFill>
              </a:endParaRPr>
            </a:p>
          </p:txBody>
        </p:sp>
        <p:sp>
          <p:nvSpPr>
            <p:cNvPr id="39" name="Rectangle 38"/>
            <p:cNvSpPr/>
            <p:nvPr/>
          </p:nvSpPr>
          <p:spPr bwMode="gray">
            <a:xfrm>
              <a:off x="1274872" y="4227800"/>
              <a:ext cx="7789983" cy="234000"/>
            </a:xfrm>
            <a:prstGeom prst="rect">
              <a:avLst/>
            </a:prstGeom>
            <a:noFill/>
            <a:ln>
              <a:solidFill>
                <a:schemeClr val="tx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 tIns="36000" rIns="36000" bIns="36000" numCol="1" spcCol="1270" anchor="ctr" anchorCtr="0">
              <a:noAutofit/>
            </a:bodyPr>
            <a:lstStyle/>
            <a:p>
              <a:pPr marL="201219" lvl="1" indent="-201219" defTabSz="456337">
                <a:spcBef>
                  <a:spcPct val="0"/>
                </a:spcBef>
                <a:buSzPct val="75000"/>
                <a:buFont typeface="Arial" pitchFamily="34" charset="0"/>
                <a:buChar char="►"/>
              </a:pPr>
              <a:r>
                <a:rPr lang="en-GB" sz="1200" dirty="0">
                  <a:solidFill>
                    <a:schemeClr val="tx1"/>
                  </a:solidFill>
                </a:rPr>
                <a:t>T</a:t>
              </a:r>
              <a:r>
                <a:rPr lang="en-GB" sz="1200" dirty="0" smtClean="0">
                  <a:solidFill>
                    <a:schemeClr val="tx1"/>
                  </a:solidFill>
                </a:rPr>
                <a:t>o </a:t>
              </a:r>
              <a:r>
                <a:rPr lang="en-GB" sz="1200" dirty="0">
                  <a:solidFill>
                    <a:schemeClr val="tx1"/>
                  </a:solidFill>
                </a:rPr>
                <a:t>be the fabric of real-time communication on the web</a:t>
              </a:r>
            </a:p>
          </p:txBody>
        </p:sp>
      </p:grpSp>
      <p:grpSp>
        <p:nvGrpSpPr>
          <p:cNvPr id="50" name="Group 49"/>
          <p:cNvGrpSpPr/>
          <p:nvPr/>
        </p:nvGrpSpPr>
        <p:grpSpPr bwMode="gray">
          <a:xfrm>
            <a:off x="810196" y="4599369"/>
            <a:ext cx="9036926" cy="498506"/>
            <a:chOff x="476250" y="4618257"/>
            <a:chExt cx="8588605" cy="360000"/>
          </a:xfrm>
        </p:grpSpPr>
        <p:sp>
          <p:nvSpPr>
            <p:cNvPr id="26" name="Freeform 25"/>
            <p:cNvSpPr/>
            <p:nvPr/>
          </p:nvSpPr>
          <p:spPr bwMode="gray">
            <a:xfrm>
              <a:off x="476250" y="4618257"/>
              <a:ext cx="792000" cy="360000"/>
            </a:xfrm>
            <a:custGeom>
              <a:avLst/>
              <a:gdLst>
                <a:gd name="connsiteX0" fmla="*/ 0 w 460871"/>
                <a:gd name="connsiteY0" fmla="*/ 0 h 322609"/>
                <a:gd name="connsiteX1" fmla="*/ 299567 w 460871"/>
                <a:gd name="connsiteY1" fmla="*/ 0 h 322609"/>
                <a:gd name="connsiteX2" fmla="*/ 460871 w 460871"/>
                <a:gd name="connsiteY2" fmla="*/ 161305 h 322609"/>
                <a:gd name="connsiteX3" fmla="*/ 299567 w 460871"/>
                <a:gd name="connsiteY3" fmla="*/ 322609 h 322609"/>
                <a:gd name="connsiteX4" fmla="*/ 0 w 460871"/>
                <a:gd name="connsiteY4" fmla="*/ 322609 h 322609"/>
                <a:gd name="connsiteX5" fmla="*/ 161305 w 460871"/>
                <a:gd name="connsiteY5" fmla="*/ 161305 h 322609"/>
                <a:gd name="connsiteX6" fmla="*/ 0 w 460871"/>
                <a:gd name="connsiteY6" fmla="*/ 0 h 3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871" h="322609">
                  <a:moveTo>
                    <a:pt x="460871" y="0"/>
                  </a:moveTo>
                  <a:lnTo>
                    <a:pt x="460871" y="209696"/>
                  </a:lnTo>
                  <a:lnTo>
                    <a:pt x="230435" y="322609"/>
                  </a:lnTo>
                  <a:lnTo>
                    <a:pt x="0" y="209696"/>
                  </a:lnTo>
                  <a:lnTo>
                    <a:pt x="0" y="0"/>
                  </a:lnTo>
                  <a:lnTo>
                    <a:pt x="230435" y="112913"/>
                  </a:lnTo>
                  <a:lnTo>
                    <a:pt x="460871" y="0"/>
                  </a:lnTo>
                  <a:close/>
                </a:path>
              </a:pathLst>
            </a:custGeom>
            <a:solidFill>
              <a:schemeClr val="tx1"/>
            </a:solidFill>
            <a:ln>
              <a:solidFill>
                <a:schemeClr val="tx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000" tIns="72000" rIns="36000" bIns="36000" numCol="1" spcCol="1270" anchor="ctr" anchorCtr="0">
              <a:noAutofit/>
            </a:bodyPr>
            <a:lstStyle/>
            <a:p>
              <a:pPr algn="ctr" defTabSz="456337">
                <a:spcBef>
                  <a:spcPct val="0"/>
                </a:spcBef>
              </a:pPr>
              <a:r>
                <a:rPr lang="en-GB" sz="1100" b="1" dirty="0">
                  <a:solidFill>
                    <a:schemeClr val="bg1"/>
                  </a:solidFill>
                </a:rPr>
                <a:t>Twitter</a:t>
              </a:r>
            </a:p>
          </p:txBody>
        </p:sp>
        <p:sp>
          <p:nvSpPr>
            <p:cNvPr id="40" name="Rectangle 39"/>
            <p:cNvSpPr/>
            <p:nvPr/>
          </p:nvSpPr>
          <p:spPr bwMode="gray">
            <a:xfrm>
              <a:off x="1274872" y="4618257"/>
              <a:ext cx="7789983" cy="234000"/>
            </a:xfrm>
            <a:prstGeom prst="rect">
              <a:avLst/>
            </a:prstGeom>
            <a:noFill/>
            <a:ln>
              <a:solidFill>
                <a:schemeClr val="tx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 tIns="36000" rIns="36000" bIns="36000" numCol="1" spcCol="1270" anchor="ctr" anchorCtr="0">
              <a:noAutofit/>
            </a:bodyPr>
            <a:lstStyle/>
            <a:p>
              <a:pPr marL="201219" lvl="1" indent="-201219" defTabSz="456337">
                <a:spcBef>
                  <a:spcPct val="0"/>
                </a:spcBef>
                <a:buClr>
                  <a:schemeClr val="tx1"/>
                </a:buClr>
                <a:buSzPct val="75000"/>
                <a:buFont typeface="Arial" pitchFamily="34" charset="0"/>
                <a:buChar char="►"/>
              </a:pPr>
              <a:r>
                <a:rPr lang="en-GB" sz="1200" dirty="0" smtClean="0">
                  <a:solidFill>
                    <a:schemeClr val="tx1"/>
                  </a:solidFill>
                </a:rPr>
                <a:t>To give everyone the power to create and share ideas and information instantly without barriers</a:t>
              </a:r>
              <a:endParaRPr lang="en-GB" sz="1200" dirty="0">
                <a:solidFill>
                  <a:schemeClr val="tx1"/>
                </a:solidFill>
              </a:endParaRPr>
            </a:p>
          </p:txBody>
        </p:sp>
      </p:grpSp>
      <p:grpSp>
        <p:nvGrpSpPr>
          <p:cNvPr id="49" name="Group 48"/>
          <p:cNvGrpSpPr/>
          <p:nvPr/>
        </p:nvGrpSpPr>
        <p:grpSpPr bwMode="gray">
          <a:xfrm>
            <a:off x="810196" y="4986058"/>
            <a:ext cx="9036926" cy="498506"/>
            <a:chOff x="476250" y="5008714"/>
            <a:chExt cx="8588605" cy="360000"/>
          </a:xfrm>
        </p:grpSpPr>
        <p:sp>
          <p:nvSpPr>
            <p:cNvPr id="28" name="Freeform 27"/>
            <p:cNvSpPr/>
            <p:nvPr/>
          </p:nvSpPr>
          <p:spPr bwMode="gray">
            <a:xfrm>
              <a:off x="476250" y="5008714"/>
              <a:ext cx="792000" cy="360000"/>
            </a:xfrm>
            <a:custGeom>
              <a:avLst/>
              <a:gdLst>
                <a:gd name="connsiteX0" fmla="*/ 0 w 460871"/>
                <a:gd name="connsiteY0" fmla="*/ 0 h 322609"/>
                <a:gd name="connsiteX1" fmla="*/ 299567 w 460871"/>
                <a:gd name="connsiteY1" fmla="*/ 0 h 322609"/>
                <a:gd name="connsiteX2" fmla="*/ 460871 w 460871"/>
                <a:gd name="connsiteY2" fmla="*/ 161305 h 322609"/>
                <a:gd name="connsiteX3" fmla="*/ 299567 w 460871"/>
                <a:gd name="connsiteY3" fmla="*/ 322609 h 322609"/>
                <a:gd name="connsiteX4" fmla="*/ 0 w 460871"/>
                <a:gd name="connsiteY4" fmla="*/ 322609 h 322609"/>
                <a:gd name="connsiteX5" fmla="*/ 161305 w 460871"/>
                <a:gd name="connsiteY5" fmla="*/ 161305 h 322609"/>
                <a:gd name="connsiteX6" fmla="*/ 0 w 460871"/>
                <a:gd name="connsiteY6" fmla="*/ 0 h 3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871" h="322609">
                  <a:moveTo>
                    <a:pt x="460871" y="0"/>
                  </a:moveTo>
                  <a:lnTo>
                    <a:pt x="460871" y="209696"/>
                  </a:lnTo>
                  <a:lnTo>
                    <a:pt x="230435" y="322609"/>
                  </a:lnTo>
                  <a:lnTo>
                    <a:pt x="0" y="209696"/>
                  </a:lnTo>
                  <a:lnTo>
                    <a:pt x="0" y="0"/>
                  </a:lnTo>
                  <a:lnTo>
                    <a:pt x="230435" y="112913"/>
                  </a:lnTo>
                  <a:lnTo>
                    <a:pt x="460871" y="0"/>
                  </a:lnTo>
                  <a:close/>
                </a:path>
              </a:pathLst>
            </a:custGeom>
            <a:solidFill>
              <a:schemeClr val="tx1"/>
            </a:solidFill>
            <a:ln>
              <a:solidFill>
                <a:schemeClr val="tx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000" tIns="72000" rIns="36000" bIns="36000" numCol="1" spcCol="1270" anchor="ctr" anchorCtr="0">
              <a:noAutofit/>
            </a:bodyPr>
            <a:lstStyle/>
            <a:p>
              <a:pPr algn="ctr" defTabSz="456337">
                <a:spcBef>
                  <a:spcPct val="0"/>
                </a:spcBef>
              </a:pPr>
              <a:r>
                <a:rPr lang="en-GB" sz="1100" b="1" dirty="0">
                  <a:solidFill>
                    <a:schemeClr val="bg1"/>
                  </a:solidFill>
                </a:rPr>
                <a:t> Yahoo</a:t>
              </a:r>
              <a:r>
                <a:rPr lang="en-GB" sz="1100" b="1" dirty="0" smtClean="0">
                  <a:solidFill>
                    <a:schemeClr val="bg1"/>
                  </a:solidFill>
                </a:rPr>
                <a:t>!</a:t>
              </a:r>
              <a:endParaRPr lang="en-GB" sz="1100" b="1" dirty="0">
                <a:solidFill>
                  <a:schemeClr val="bg1"/>
                </a:solidFill>
              </a:endParaRPr>
            </a:p>
          </p:txBody>
        </p:sp>
        <p:sp>
          <p:nvSpPr>
            <p:cNvPr id="41" name="Rectangle 40"/>
            <p:cNvSpPr/>
            <p:nvPr/>
          </p:nvSpPr>
          <p:spPr bwMode="gray">
            <a:xfrm>
              <a:off x="1274872" y="5008714"/>
              <a:ext cx="7789983" cy="234000"/>
            </a:xfrm>
            <a:prstGeom prst="rect">
              <a:avLst/>
            </a:prstGeom>
            <a:noFill/>
            <a:ln>
              <a:solidFill>
                <a:schemeClr val="tx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 tIns="36000" rIns="36000" bIns="36000" numCol="1" spcCol="1270" anchor="ctr" anchorCtr="0">
              <a:noAutofit/>
            </a:bodyPr>
            <a:lstStyle/>
            <a:p>
              <a:pPr marL="201219" lvl="1" indent="-201219" defTabSz="456337">
                <a:spcBef>
                  <a:spcPct val="0"/>
                </a:spcBef>
                <a:buSzPct val="75000"/>
                <a:buFont typeface="Arial" pitchFamily="34" charset="0"/>
                <a:buChar char="►"/>
              </a:pPr>
              <a:r>
                <a:rPr lang="en-GB" sz="1200" dirty="0">
                  <a:solidFill>
                    <a:schemeClr val="tx1"/>
                  </a:solidFill>
                </a:rPr>
                <a:t>T</a:t>
              </a:r>
              <a:r>
                <a:rPr lang="en-GB" sz="1200" dirty="0" smtClean="0">
                  <a:solidFill>
                    <a:schemeClr val="tx1"/>
                  </a:solidFill>
                </a:rPr>
                <a:t>o </a:t>
              </a:r>
              <a:r>
                <a:rPr lang="en-GB" sz="1200" dirty="0">
                  <a:solidFill>
                    <a:schemeClr val="tx1"/>
                  </a:solidFill>
                </a:rPr>
                <a:t>be the most essential global Internet service for consumers and businesses</a:t>
              </a:r>
            </a:p>
          </p:txBody>
        </p:sp>
      </p:grpSp>
      <p:grpSp>
        <p:nvGrpSpPr>
          <p:cNvPr id="48" name="Group 47"/>
          <p:cNvGrpSpPr/>
          <p:nvPr/>
        </p:nvGrpSpPr>
        <p:grpSpPr bwMode="gray">
          <a:xfrm>
            <a:off x="810196" y="5372744"/>
            <a:ext cx="9036926" cy="498506"/>
            <a:chOff x="476250" y="5521088"/>
            <a:chExt cx="8588605" cy="360000"/>
          </a:xfrm>
        </p:grpSpPr>
        <p:sp>
          <p:nvSpPr>
            <p:cNvPr id="30" name="Freeform 29"/>
            <p:cNvSpPr/>
            <p:nvPr/>
          </p:nvSpPr>
          <p:spPr bwMode="gray">
            <a:xfrm>
              <a:off x="476250" y="5521088"/>
              <a:ext cx="792000" cy="360000"/>
            </a:xfrm>
            <a:custGeom>
              <a:avLst/>
              <a:gdLst>
                <a:gd name="connsiteX0" fmla="*/ 0 w 460871"/>
                <a:gd name="connsiteY0" fmla="*/ 0 h 322609"/>
                <a:gd name="connsiteX1" fmla="*/ 299567 w 460871"/>
                <a:gd name="connsiteY1" fmla="*/ 0 h 322609"/>
                <a:gd name="connsiteX2" fmla="*/ 460871 w 460871"/>
                <a:gd name="connsiteY2" fmla="*/ 161305 h 322609"/>
                <a:gd name="connsiteX3" fmla="*/ 299567 w 460871"/>
                <a:gd name="connsiteY3" fmla="*/ 322609 h 322609"/>
                <a:gd name="connsiteX4" fmla="*/ 0 w 460871"/>
                <a:gd name="connsiteY4" fmla="*/ 322609 h 322609"/>
                <a:gd name="connsiteX5" fmla="*/ 161305 w 460871"/>
                <a:gd name="connsiteY5" fmla="*/ 161305 h 322609"/>
                <a:gd name="connsiteX6" fmla="*/ 0 w 460871"/>
                <a:gd name="connsiteY6" fmla="*/ 0 h 3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871" h="322609">
                  <a:moveTo>
                    <a:pt x="460871" y="0"/>
                  </a:moveTo>
                  <a:lnTo>
                    <a:pt x="460871" y="209696"/>
                  </a:lnTo>
                  <a:lnTo>
                    <a:pt x="230435" y="322609"/>
                  </a:lnTo>
                  <a:lnTo>
                    <a:pt x="0" y="209696"/>
                  </a:lnTo>
                  <a:lnTo>
                    <a:pt x="0" y="0"/>
                  </a:lnTo>
                  <a:lnTo>
                    <a:pt x="230435" y="112913"/>
                  </a:lnTo>
                  <a:lnTo>
                    <a:pt x="460871" y="0"/>
                  </a:lnTo>
                  <a:close/>
                </a:path>
              </a:pathLst>
            </a:custGeom>
            <a:solidFill>
              <a:schemeClr val="tx1"/>
            </a:solidFill>
            <a:ln>
              <a:solidFill>
                <a:schemeClr val="tx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000" tIns="72000" rIns="36000" bIns="36000" numCol="1" spcCol="1270" anchor="ctr" anchorCtr="0">
              <a:noAutofit/>
            </a:bodyPr>
            <a:lstStyle/>
            <a:p>
              <a:pPr algn="ctr" defTabSz="456337">
                <a:spcBef>
                  <a:spcPct val="0"/>
                </a:spcBef>
              </a:pPr>
              <a:r>
                <a:rPr lang="en-GB" sz="1100" b="1" dirty="0" smtClean="0">
                  <a:solidFill>
                    <a:schemeClr val="bg1"/>
                  </a:solidFill>
                </a:rPr>
                <a:t>YouTube</a:t>
              </a:r>
              <a:endParaRPr lang="en-GB" sz="1100" b="1" dirty="0">
                <a:solidFill>
                  <a:schemeClr val="bg1"/>
                </a:solidFill>
              </a:endParaRPr>
            </a:p>
          </p:txBody>
        </p:sp>
        <p:sp>
          <p:nvSpPr>
            <p:cNvPr id="42" name="Rectangle 41"/>
            <p:cNvSpPr/>
            <p:nvPr/>
          </p:nvSpPr>
          <p:spPr bwMode="gray">
            <a:xfrm>
              <a:off x="1244889" y="5530367"/>
              <a:ext cx="7819966" cy="234000"/>
            </a:xfrm>
            <a:prstGeom prst="rect">
              <a:avLst/>
            </a:prstGeom>
            <a:noFill/>
            <a:ln>
              <a:solidFill>
                <a:schemeClr val="tx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 tIns="36000" rIns="36000" bIns="36000" numCol="1" spcCol="1270" anchor="ctr" anchorCtr="0">
              <a:noAutofit/>
            </a:bodyPr>
            <a:lstStyle/>
            <a:p>
              <a:pPr marL="201219" lvl="1" indent="-201219" defTabSz="456337">
                <a:spcBef>
                  <a:spcPct val="0"/>
                </a:spcBef>
                <a:buSzPct val="75000"/>
                <a:buFont typeface="Arial" pitchFamily="34" charset="0"/>
                <a:buChar char="►"/>
              </a:pPr>
              <a:r>
                <a:rPr lang="en-GB" sz="1200" dirty="0" smtClean="0">
                  <a:solidFill>
                    <a:schemeClr val="tx1"/>
                  </a:solidFill>
                </a:rPr>
                <a:t>To </a:t>
              </a:r>
              <a:r>
                <a:rPr lang="en-GB" sz="1200" dirty="0">
                  <a:solidFill>
                    <a:schemeClr val="tx1"/>
                  </a:solidFill>
                </a:rPr>
                <a:t>provide fast and easy video access and the ability to share videos frequently</a:t>
              </a:r>
            </a:p>
          </p:txBody>
        </p:sp>
      </p:grpSp>
      <p:sp>
        <p:nvSpPr>
          <p:cNvPr id="43" name="Title 1"/>
          <p:cNvSpPr txBox="1">
            <a:spLocks/>
          </p:cNvSpPr>
          <p:nvPr/>
        </p:nvSpPr>
        <p:spPr bwMode="gray">
          <a:xfrm>
            <a:off x="769240" y="108223"/>
            <a:ext cx="9041263" cy="612000"/>
          </a:xfrm>
          <a:prstGeom prst="rect">
            <a:avLst/>
          </a:prstGeom>
        </p:spPr>
        <p:txBody>
          <a:bodyPr vert="horz" lIns="0" tIns="0" rIns="0" bIns="0" rtlCol="0" anchor="b" anchorCtr="0">
            <a:noAutofit/>
          </a:bodyPr>
          <a:lstStyle>
            <a:lvl1pPr algn="l" defTabSz="1043056" rtl="0" eaLnBrk="1" latinLnBrk="0" hangingPunct="1">
              <a:lnSpc>
                <a:spcPct val="90000"/>
              </a:lnSpc>
              <a:spcBef>
                <a:spcPct val="0"/>
              </a:spcBef>
              <a:buNone/>
              <a:defRPr sz="2400" kern="1200">
                <a:solidFill>
                  <a:schemeClr val="accent1"/>
                </a:solidFill>
                <a:latin typeface="+mj-lt"/>
                <a:ea typeface="+mj-ea"/>
                <a:cs typeface="+mj-cs"/>
              </a:defRPr>
            </a:lvl1pPr>
          </a:lstStyle>
          <a:p>
            <a:r>
              <a:rPr lang="en-GB" dirty="0" smtClean="0"/>
              <a:t>Examples of high </a:t>
            </a:r>
            <a:r>
              <a:rPr lang="en-GB" dirty="0"/>
              <a:t>t</a:t>
            </a:r>
            <a:r>
              <a:rPr lang="en-GB" dirty="0" smtClean="0"/>
              <a:t>ech </a:t>
            </a:r>
            <a:r>
              <a:rPr lang="en-GB" dirty="0"/>
              <a:t>m</a:t>
            </a:r>
            <a:r>
              <a:rPr lang="en-GB" dirty="0" smtClean="0"/>
              <a:t>ission </a:t>
            </a:r>
            <a:r>
              <a:rPr lang="en-GB" dirty="0"/>
              <a:t>s</a:t>
            </a:r>
            <a:r>
              <a:rPr lang="en-GB" dirty="0" smtClean="0"/>
              <a:t>tatements</a:t>
            </a:r>
            <a:endParaRPr lang="en-GB" dirty="0"/>
          </a:p>
        </p:txBody>
      </p:sp>
      <p:sp>
        <p:nvSpPr>
          <p:cNvPr id="11" name="Rectangle 10"/>
          <p:cNvSpPr/>
          <p:nvPr/>
        </p:nvSpPr>
        <p:spPr>
          <a:xfrm>
            <a:off x="769240" y="5924028"/>
            <a:ext cx="9110804" cy="1384995"/>
          </a:xfrm>
          <a:prstGeom prst="rect">
            <a:avLst/>
          </a:prstGeom>
          <a:solidFill>
            <a:schemeClr val="bg1">
              <a:lumMod val="95000"/>
            </a:schemeClr>
          </a:solidFill>
        </p:spPr>
        <p:txBody>
          <a:bodyPr wrap="square">
            <a:spAutoFit/>
          </a:bodyPr>
          <a:lstStyle/>
          <a:p>
            <a:pPr marL="1588" lvl="1"/>
            <a:r>
              <a:rPr lang="en-GB" sz="1200" b="1" dirty="0"/>
              <a:t>Poor vision </a:t>
            </a:r>
            <a:r>
              <a:rPr lang="en-GB" sz="1200" b="1" dirty="0" smtClean="0"/>
              <a:t>statements</a:t>
            </a:r>
          </a:p>
          <a:p>
            <a:pPr marL="173038" lvl="1" indent="-171450">
              <a:buFont typeface="Arial" panose="020B0604020202020204" pitchFamily="34" charset="0"/>
              <a:buChar char="•"/>
            </a:pPr>
            <a:r>
              <a:rPr lang="en-GB" sz="1200" b="1" dirty="0" smtClean="0"/>
              <a:t>The </a:t>
            </a:r>
            <a:r>
              <a:rPr lang="en-GB" sz="1200" b="1" dirty="0"/>
              <a:t>kitchen </a:t>
            </a:r>
            <a:r>
              <a:rPr lang="en-GB" sz="1200" b="1" dirty="0" smtClean="0"/>
              <a:t>sink</a:t>
            </a:r>
            <a:r>
              <a:rPr lang="en-GB" sz="1200" dirty="0" smtClean="0"/>
              <a:t>: </a:t>
            </a:r>
            <a:r>
              <a:rPr lang="en-GB" sz="1200" dirty="0"/>
              <a:t>Maximise our customers’ ability to get their work </a:t>
            </a:r>
            <a:r>
              <a:rPr lang="en-GB" sz="1200" dirty="0" smtClean="0"/>
              <a:t>done</a:t>
            </a:r>
          </a:p>
          <a:p>
            <a:pPr marL="173038" lvl="1" indent="-171450">
              <a:buFont typeface="Arial" panose="020B0604020202020204" pitchFamily="34" charset="0"/>
              <a:buChar char="•"/>
            </a:pPr>
            <a:r>
              <a:rPr lang="en-GB" sz="1200" b="1" dirty="0" smtClean="0"/>
              <a:t>The mumbo-jumbo</a:t>
            </a:r>
            <a:r>
              <a:rPr lang="en-GB" sz="1200" dirty="0" smtClean="0"/>
              <a:t>: Develop</a:t>
            </a:r>
            <a:r>
              <a:rPr lang="en-GB" sz="1200" dirty="0"/>
              <a:t>, deploy, and manage a diverse set of scalable, performance, and strategic knowledge management tools to best serve our constituents, partners, and collaborative organizations, improving the possibility of overall satisfaction among our diverse customer </a:t>
            </a:r>
            <a:r>
              <a:rPr lang="en-GB" sz="1200" dirty="0" smtClean="0"/>
              <a:t>profiles</a:t>
            </a:r>
          </a:p>
          <a:p>
            <a:pPr marL="173038" lvl="1" indent="-171450">
              <a:buFont typeface="Arial" panose="020B0604020202020204" pitchFamily="34" charset="0"/>
              <a:buChar char="•"/>
            </a:pPr>
            <a:r>
              <a:rPr lang="en-GB" sz="1200" b="1" dirty="0" smtClean="0"/>
              <a:t>The wimp-o-</a:t>
            </a:r>
            <a:r>
              <a:rPr lang="en-GB" sz="1200" b="1" dirty="0" err="1" smtClean="0"/>
              <a:t>matic</a:t>
            </a:r>
            <a:r>
              <a:rPr lang="en-GB" sz="1200" dirty="0" smtClean="0"/>
              <a:t>: We </a:t>
            </a:r>
            <a:r>
              <a:rPr lang="en-GB" sz="1200" dirty="0"/>
              <a:t>may eventually consider trying to do something that’s kind of better than what we’ve done before. At least that’s what we think our vision should be now. But don’t go too far because we think it might change again pretty </a:t>
            </a:r>
            <a:r>
              <a:rPr lang="en-GB" sz="1200" dirty="0" smtClean="0"/>
              <a:t>soon</a:t>
            </a:r>
          </a:p>
        </p:txBody>
      </p:sp>
      <p:sp>
        <p:nvSpPr>
          <p:cNvPr id="56"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8</a:t>
            </a:fld>
            <a:endParaRPr lang="en-GB" sz="800" dirty="0">
              <a:solidFill>
                <a:srgbClr val="808080"/>
              </a:solidFill>
            </a:endParaRPr>
          </a:p>
        </p:txBody>
      </p:sp>
    </p:spTree>
    <p:extLst>
      <p:ext uri="{BB962C8B-B14F-4D97-AF65-F5344CB8AC3E}">
        <p14:creationId xmlns:p14="http://schemas.microsoft.com/office/powerpoint/2010/main" val="29101759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a:spLocks noGrp="1"/>
          </p:cNvSpPr>
          <p:nvPr>
            <p:ph type="title"/>
          </p:nvPr>
        </p:nvSpPr>
        <p:spPr>
          <a:xfrm>
            <a:off x="809054" y="900311"/>
            <a:ext cx="9074150" cy="612000"/>
          </a:xfrm>
        </p:spPr>
        <p:txBody>
          <a:bodyPr/>
          <a:lstStyle/>
          <a:p>
            <a:r>
              <a:rPr lang="en-GB" dirty="0" smtClean="0"/>
              <a:t>Step 1: Develop your vision and mission</a:t>
            </a:r>
            <a:endParaRPr lang="en-GB" dirty="0"/>
          </a:p>
        </p:txBody>
      </p:sp>
      <p:sp>
        <p:nvSpPr>
          <p:cNvPr id="23" name="Rectangle 22"/>
          <p:cNvSpPr>
            <a:spLocks noChangeArrowheads="1"/>
          </p:cNvSpPr>
          <p:nvPr/>
        </p:nvSpPr>
        <p:spPr bwMode="gray">
          <a:xfrm>
            <a:off x="809624" y="1869562"/>
            <a:ext cx="1274178" cy="997520"/>
          </a:xfrm>
          <a:prstGeom prst="rect">
            <a:avLst/>
          </a:prstGeom>
          <a:noFill/>
          <a:ln w="19050">
            <a:solidFill>
              <a:schemeClr val="tx1"/>
            </a:solidFill>
            <a:miter lim="800000"/>
            <a:headEnd/>
            <a:tailEnd/>
          </a:ln>
          <a:effectLst/>
        </p:spPr>
        <p:txBody>
          <a:bodyPr wrap="none" lIns="72000" tIns="72000" rIns="72000" bIns="72000" anchor="ctr"/>
          <a:lstStyle/>
          <a:p>
            <a:pPr algn="ctr" fontAlgn="base">
              <a:spcBef>
                <a:spcPct val="0"/>
              </a:spcBef>
              <a:spcAft>
                <a:spcPct val="0"/>
              </a:spcAft>
            </a:pPr>
            <a:r>
              <a:rPr lang="en-GB" sz="1400" b="1" dirty="0"/>
              <a:t>Vision</a:t>
            </a:r>
          </a:p>
        </p:txBody>
      </p:sp>
      <p:sp>
        <p:nvSpPr>
          <p:cNvPr id="24" name="Rectangle 23"/>
          <p:cNvSpPr>
            <a:spLocks noChangeArrowheads="1"/>
          </p:cNvSpPr>
          <p:nvPr/>
        </p:nvSpPr>
        <p:spPr bwMode="gray">
          <a:xfrm>
            <a:off x="809626" y="2970783"/>
            <a:ext cx="1274176" cy="1025871"/>
          </a:xfrm>
          <a:prstGeom prst="rect">
            <a:avLst/>
          </a:prstGeom>
          <a:noFill/>
          <a:ln w="19050">
            <a:solidFill>
              <a:schemeClr val="tx1"/>
            </a:solidFill>
            <a:miter lim="800000"/>
            <a:headEnd/>
            <a:tailEnd/>
          </a:ln>
          <a:effectLst/>
        </p:spPr>
        <p:txBody>
          <a:bodyPr wrap="none" lIns="72000" tIns="72000" rIns="72000" bIns="72000" anchor="ctr"/>
          <a:lstStyle/>
          <a:p>
            <a:pPr algn="ctr" fontAlgn="base">
              <a:spcBef>
                <a:spcPct val="0"/>
              </a:spcBef>
              <a:spcAft>
                <a:spcPct val="0"/>
              </a:spcAft>
            </a:pPr>
            <a:r>
              <a:rPr lang="en-GB" sz="1400" b="1" dirty="0"/>
              <a:t>Mission</a:t>
            </a:r>
          </a:p>
        </p:txBody>
      </p:sp>
      <p:sp>
        <p:nvSpPr>
          <p:cNvPr id="27" name="Rectangle 26"/>
          <p:cNvSpPr>
            <a:spLocks noChangeArrowheads="1"/>
          </p:cNvSpPr>
          <p:nvPr/>
        </p:nvSpPr>
        <p:spPr bwMode="gray">
          <a:xfrm>
            <a:off x="2178050" y="1866568"/>
            <a:ext cx="7705725" cy="997520"/>
          </a:xfrm>
          <a:prstGeom prst="rect">
            <a:avLst/>
          </a:prstGeom>
          <a:noFill/>
          <a:ln w="12700">
            <a:solidFill>
              <a:schemeClr val="tx1"/>
            </a:solidFill>
            <a:miter lim="800000"/>
            <a:headEnd/>
            <a:tailEnd/>
          </a:ln>
          <a:effectLst/>
        </p:spPr>
        <p:txBody>
          <a:bodyPr wrap="none" lIns="72000" tIns="72000" rIns="72000" bIns="72000" anchor="ctr"/>
          <a:lstStyle/>
          <a:p>
            <a:pPr algn="ctr" fontAlgn="base">
              <a:spcBef>
                <a:spcPct val="0"/>
              </a:spcBef>
              <a:spcAft>
                <a:spcPct val="0"/>
              </a:spcAft>
            </a:pPr>
            <a:endParaRPr lang="en-GB" sz="1200" b="1" dirty="0"/>
          </a:p>
        </p:txBody>
      </p:sp>
      <p:sp>
        <p:nvSpPr>
          <p:cNvPr id="28" name="Rectangle 27"/>
          <p:cNvSpPr>
            <a:spLocks noChangeArrowheads="1"/>
          </p:cNvSpPr>
          <p:nvPr/>
        </p:nvSpPr>
        <p:spPr bwMode="gray">
          <a:xfrm>
            <a:off x="2186105" y="2999135"/>
            <a:ext cx="7697671" cy="997520"/>
          </a:xfrm>
          <a:prstGeom prst="rect">
            <a:avLst/>
          </a:prstGeom>
          <a:noFill/>
          <a:ln w="12700">
            <a:solidFill>
              <a:schemeClr val="tx1"/>
            </a:solidFill>
            <a:miter lim="800000"/>
            <a:headEnd/>
            <a:tailEnd/>
          </a:ln>
          <a:effectLst/>
        </p:spPr>
        <p:txBody>
          <a:bodyPr wrap="none" lIns="72000" tIns="72000" rIns="72000" bIns="72000" anchor="ctr"/>
          <a:lstStyle/>
          <a:p>
            <a:pPr algn="ctr" fontAlgn="base">
              <a:spcBef>
                <a:spcPct val="0"/>
              </a:spcBef>
              <a:spcAft>
                <a:spcPct val="0"/>
              </a:spcAft>
            </a:pPr>
            <a:endParaRPr lang="en-GB" sz="1200" b="1" dirty="0"/>
          </a:p>
        </p:txBody>
      </p:sp>
      <p:grpSp>
        <p:nvGrpSpPr>
          <p:cNvPr id="30" name="Group 12"/>
          <p:cNvGrpSpPr/>
          <p:nvPr/>
        </p:nvGrpSpPr>
        <p:grpSpPr bwMode="gray">
          <a:xfrm>
            <a:off x="809626" y="4663171"/>
            <a:ext cx="9074149" cy="1275963"/>
            <a:chOff x="671513" y="1557338"/>
            <a:chExt cx="7758112" cy="1157287"/>
          </a:xfrm>
        </p:grpSpPr>
        <p:sp>
          <p:nvSpPr>
            <p:cNvPr id="31" name="Rectangle 30"/>
            <p:cNvSpPr/>
            <p:nvPr/>
          </p:nvSpPr>
          <p:spPr bwMode="gray">
            <a:xfrm>
              <a:off x="671513" y="1557338"/>
              <a:ext cx="1371600" cy="1157287"/>
            </a:xfrm>
            <a:prstGeom prst="rect">
              <a:avLst/>
            </a:prstGeom>
            <a:solidFill>
              <a:schemeClr val="bg1">
                <a:lumMod val="95000"/>
              </a:schemeClr>
            </a:solidFill>
            <a:ln w="25400" cap="flat" cmpd="sng" algn="ctr">
              <a:solidFill>
                <a:schemeClr val="bg1">
                  <a:lumMod val="95000"/>
                </a:schemeClr>
              </a:solidFill>
              <a:prstDash val="solid"/>
            </a:ln>
            <a:effectLst/>
          </p:spPr>
          <p:txBody>
            <a:bodyPr lIns="72000" tIns="72000" rIns="72000" bIns="72000" rtlCol="0" anchor="ctr"/>
            <a:lstStyle/>
            <a:p>
              <a:pPr algn="ctr" fontAlgn="base">
                <a:spcBef>
                  <a:spcPct val="0"/>
                </a:spcBef>
                <a:spcAft>
                  <a:spcPct val="0"/>
                </a:spcAft>
                <a:defRPr/>
              </a:pPr>
              <a:r>
                <a:rPr lang="en-GB" b="1" kern="0" dirty="0">
                  <a:solidFill>
                    <a:srgbClr val="000000"/>
                  </a:solidFill>
                  <a:latin typeface="Arial"/>
                </a:rPr>
                <a:t>S</a:t>
              </a:r>
            </a:p>
            <a:p>
              <a:pPr algn="ctr" fontAlgn="base">
                <a:spcBef>
                  <a:spcPct val="0"/>
                </a:spcBef>
                <a:spcAft>
                  <a:spcPct val="0"/>
                </a:spcAft>
                <a:defRPr/>
              </a:pPr>
              <a:endParaRPr lang="en-GB" sz="1400" kern="0" dirty="0">
                <a:solidFill>
                  <a:srgbClr val="000000"/>
                </a:solidFill>
                <a:latin typeface="Arial"/>
              </a:endParaRPr>
            </a:p>
            <a:p>
              <a:pPr algn="ctr" fontAlgn="base">
                <a:spcBef>
                  <a:spcPct val="0"/>
                </a:spcBef>
                <a:spcAft>
                  <a:spcPct val="0"/>
                </a:spcAft>
                <a:defRPr/>
              </a:pPr>
              <a:r>
                <a:rPr lang="en-GB" sz="1400" kern="0" dirty="0">
                  <a:solidFill>
                    <a:srgbClr val="000000"/>
                  </a:solidFill>
                  <a:latin typeface="Arial"/>
                </a:rPr>
                <a:t>Specific</a:t>
              </a:r>
            </a:p>
          </p:txBody>
        </p:sp>
        <p:sp>
          <p:nvSpPr>
            <p:cNvPr id="32" name="Rectangle 31"/>
            <p:cNvSpPr/>
            <p:nvPr/>
          </p:nvSpPr>
          <p:spPr bwMode="gray">
            <a:xfrm>
              <a:off x="2268141" y="1557338"/>
              <a:ext cx="1371600" cy="1157287"/>
            </a:xfrm>
            <a:prstGeom prst="rect">
              <a:avLst/>
            </a:prstGeom>
            <a:solidFill>
              <a:schemeClr val="bg1">
                <a:lumMod val="95000"/>
              </a:schemeClr>
            </a:solidFill>
            <a:ln w="25400" cap="flat" cmpd="sng" algn="ctr">
              <a:solidFill>
                <a:schemeClr val="bg1">
                  <a:lumMod val="95000"/>
                </a:schemeClr>
              </a:solidFill>
              <a:prstDash val="solid"/>
            </a:ln>
            <a:effectLst/>
          </p:spPr>
          <p:txBody>
            <a:bodyPr lIns="72000" tIns="72000" rIns="72000" bIns="72000" rtlCol="0" anchor="ctr"/>
            <a:lstStyle/>
            <a:p>
              <a:pPr algn="ctr" fontAlgn="base">
                <a:spcBef>
                  <a:spcPct val="0"/>
                </a:spcBef>
                <a:spcAft>
                  <a:spcPct val="0"/>
                </a:spcAft>
                <a:defRPr/>
              </a:pPr>
              <a:r>
                <a:rPr lang="en-GB" b="1" kern="0" dirty="0">
                  <a:solidFill>
                    <a:srgbClr val="000000"/>
                  </a:solidFill>
                  <a:latin typeface="Arial"/>
                </a:rPr>
                <a:t>M</a:t>
              </a:r>
            </a:p>
            <a:p>
              <a:pPr algn="ctr" fontAlgn="base">
                <a:spcBef>
                  <a:spcPct val="0"/>
                </a:spcBef>
                <a:spcAft>
                  <a:spcPct val="0"/>
                </a:spcAft>
                <a:defRPr/>
              </a:pPr>
              <a:endParaRPr lang="en-GB" sz="1400" kern="0" dirty="0">
                <a:solidFill>
                  <a:srgbClr val="000000"/>
                </a:solidFill>
                <a:latin typeface="Arial"/>
              </a:endParaRPr>
            </a:p>
            <a:p>
              <a:pPr algn="ctr" fontAlgn="base">
                <a:spcBef>
                  <a:spcPct val="0"/>
                </a:spcBef>
                <a:spcAft>
                  <a:spcPct val="0"/>
                </a:spcAft>
                <a:defRPr/>
              </a:pPr>
              <a:r>
                <a:rPr lang="en-GB" sz="1400" kern="0" dirty="0">
                  <a:solidFill>
                    <a:srgbClr val="000000"/>
                  </a:solidFill>
                  <a:latin typeface="Arial"/>
                </a:rPr>
                <a:t>Measurable</a:t>
              </a:r>
            </a:p>
          </p:txBody>
        </p:sp>
        <p:sp>
          <p:nvSpPr>
            <p:cNvPr id="33" name="Rectangle 32"/>
            <p:cNvSpPr/>
            <p:nvPr/>
          </p:nvSpPr>
          <p:spPr bwMode="gray">
            <a:xfrm>
              <a:off x="3864769" y="1557338"/>
              <a:ext cx="1371600" cy="1157287"/>
            </a:xfrm>
            <a:prstGeom prst="rect">
              <a:avLst/>
            </a:prstGeom>
            <a:solidFill>
              <a:schemeClr val="bg1">
                <a:lumMod val="95000"/>
              </a:schemeClr>
            </a:solidFill>
            <a:ln w="25400" cap="flat" cmpd="sng" algn="ctr">
              <a:solidFill>
                <a:schemeClr val="bg1">
                  <a:lumMod val="95000"/>
                </a:schemeClr>
              </a:solidFill>
              <a:prstDash val="solid"/>
            </a:ln>
            <a:effectLst/>
          </p:spPr>
          <p:txBody>
            <a:bodyPr lIns="72000" tIns="72000" rIns="72000" bIns="72000" rtlCol="0" anchor="ctr"/>
            <a:lstStyle/>
            <a:p>
              <a:pPr algn="ctr" fontAlgn="base">
                <a:spcBef>
                  <a:spcPct val="0"/>
                </a:spcBef>
                <a:spcAft>
                  <a:spcPct val="0"/>
                </a:spcAft>
                <a:defRPr/>
              </a:pPr>
              <a:r>
                <a:rPr lang="en-GB" b="1" kern="0" dirty="0">
                  <a:solidFill>
                    <a:srgbClr val="000000"/>
                  </a:solidFill>
                  <a:latin typeface="Arial"/>
                </a:rPr>
                <a:t>A</a:t>
              </a:r>
            </a:p>
            <a:p>
              <a:pPr algn="ctr" fontAlgn="base">
                <a:spcBef>
                  <a:spcPct val="0"/>
                </a:spcBef>
                <a:spcAft>
                  <a:spcPct val="0"/>
                </a:spcAft>
                <a:defRPr/>
              </a:pPr>
              <a:endParaRPr lang="en-GB" sz="1400" kern="0" dirty="0">
                <a:solidFill>
                  <a:srgbClr val="000000"/>
                </a:solidFill>
                <a:latin typeface="Arial"/>
              </a:endParaRPr>
            </a:p>
            <a:p>
              <a:pPr algn="ctr" fontAlgn="base">
                <a:spcBef>
                  <a:spcPct val="0"/>
                </a:spcBef>
                <a:spcAft>
                  <a:spcPct val="0"/>
                </a:spcAft>
                <a:defRPr/>
              </a:pPr>
              <a:r>
                <a:rPr lang="en-GB" sz="1400" kern="0" dirty="0">
                  <a:solidFill>
                    <a:srgbClr val="000000"/>
                  </a:solidFill>
                  <a:latin typeface="Arial"/>
                </a:rPr>
                <a:t>Achievable</a:t>
              </a:r>
            </a:p>
          </p:txBody>
        </p:sp>
        <p:sp>
          <p:nvSpPr>
            <p:cNvPr id="34" name="Rectangle 33"/>
            <p:cNvSpPr/>
            <p:nvPr/>
          </p:nvSpPr>
          <p:spPr bwMode="gray">
            <a:xfrm>
              <a:off x="5461397" y="1557338"/>
              <a:ext cx="1371600" cy="1157287"/>
            </a:xfrm>
            <a:prstGeom prst="rect">
              <a:avLst/>
            </a:prstGeom>
            <a:solidFill>
              <a:schemeClr val="bg1">
                <a:lumMod val="95000"/>
              </a:schemeClr>
            </a:solidFill>
            <a:ln w="25400" cap="flat" cmpd="sng" algn="ctr">
              <a:solidFill>
                <a:schemeClr val="bg1">
                  <a:lumMod val="95000"/>
                </a:schemeClr>
              </a:solidFill>
              <a:prstDash val="solid"/>
            </a:ln>
            <a:effectLst/>
          </p:spPr>
          <p:txBody>
            <a:bodyPr lIns="72000" tIns="72000" rIns="72000" bIns="72000" rtlCol="0" anchor="ctr"/>
            <a:lstStyle/>
            <a:p>
              <a:pPr algn="ctr" fontAlgn="base">
                <a:spcBef>
                  <a:spcPct val="0"/>
                </a:spcBef>
                <a:spcAft>
                  <a:spcPct val="0"/>
                </a:spcAft>
                <a:defRPr/>
              </a:pPr>
              <a:r>
                <a:rPr lang="en-GB" b="1" kern="0" dirty="0">
                  <a:solidFill>
                    <a:srgbClr val="000000"/>
                  </a:solidFill>
                  <a:latin typeface="Arial"/>
                </a:rPr>
                <a:t>R</a:t>
              </a:r>
            </a:p>
            <a:p>
              <a:pPr algn="ctr" fontAlgn="base">
                <a:spcBef>
                  <a:spcPct val="0"/>
                </a:spcBef>
                <a:spcAft>
                  <a:spcPct val="0"/>
                </a:spcAft>
                <a:defRPr/>
              </a:pPr>
              <a:endParaRPr lang="en-GB" sz="1400" kern="0" dirty="0">
                <a:solidFill>
                  <a:srgbClr val="000000"/>
                </a:solidFill>
                <a:latin typeface="Arial"/>
              </a:endParaRPr>
            </a:p>
            <a:p>
              <a:pPr algn="ctr" fontAlgn="base">
                <a:spcBef>
                  <a:spcPct val="0"/>
                </a:spcBef>
                <a:spcAft>
                  <a:spcPct val="0"/>
                </a:spcAft>
                <a:defRPr/>
              </a:pPr>
              <a:r>
                <a:rPr lang="en-GB" sz="1400" kern="0" dirty="0">
                  <a:solidFill>
                    <a:srgbClr val="000000"/>
                  </a:solidFill>
                  <a:latin typeface="Arial"/>
                </a:rPr>
                <a:t>Realistic </a:t>
              </a:r>
            </a:p>
          </p:txBody>
        </p:sp>
        <p:sp>
          <p:nvSpPr>
            <p:cNvPr id="35" name="Rectangle 34"/>
            <p:cNvSpPr/>
            <p:nvPr/>
          </p:nvSpPr>
          <p:spPr bwMode="gray">
            <a:xfrm>
              <a:off x="7058025" y="1557338"/>
              <a:ext cx="1371600" cy="1157287"/>
            </a:xfrm>
            <a:prstGeom prst="rect">
              <a:avLst/>
            </a:prstGeom>
            <a:solidFill>
              <a:schemeClr val="bg1">
                <a:lumMod val="95000"/>
              </a:schemeClr>
            </a:solidFill>
            <a:ln w="25400" cap="flat" cmpd="sng" algn="ctr">
              <a:solidFill>
                <a:schemeClr val="bg1">
                  <a:lumMod val="95000"/>
                </a:schemeClr>
              </a:solidFill>
              <a:prstDash val="solid"/>
            </a:ln>
            <a:effectLst/>
          </p:spPr>
          <p:txBody>
            <a:bodyPr lIns="72000" tIns="72000" rIns="72000" bIns="72000" rtlCol="0" anchor="ctr"/>
            <a:lstStyle/>
            <a:p>
              <a:pPr algn="ctr" fontAlgn="base">
                <a:spcBef>
                  <a:spcPct val="0"/>
                </a:spcBef>
                <a:spcAft>
                  <a:spcPct val="0"/>
                </a:spcAft>
                <a:defRPr/>
              </a:pPr>
              <a:r>
                <a:rPr lang="en-GB" b="1" kern="0" dirty="0">
                  <a:solidFill>
                    <a:srgbClr val="000000"/>
                  </a:solidFill>
                  <a:latin typeface="Arial"/>
                </a:rPr>
                <a:t>T</a:t>
              </a:r>
            </a:p>
            <a:p>
              <a:pPr algn="ctr" fontAlgn="base">
                <a:spcBef>
                  <a:spcPct val="0"/>
                </a:spcBef>
                <a:spcAft>
                  <a:spcPct val="0"/>
                </a:spcAft>
                <a:defRPr/>
              </a:pPr>
              <a:endParaRPr lang="en-GB" sz="1400" kern="0" dirty="0">
                <a:solidFill>
                  <a:srgbClr val="000000"/>
                </a:solidFill>
                <a:latin typeface="Arial"/>
              </a:endParaRPr>
            </a:p>
            <a:p>
              <a:pPr algn="ctr" fontAlgn="base">
                <a:spcBef>
                  <a:spcPct val="0"/>
                </a:spcBef>
                <a:spcAft>
                  <a:spcPct val="0"/>
                </a:spcAft>
                <a:defRPr/>
              </a:pPr>
              <a:r>
                <a:rPr lang="en-GB" sz="1400" kern="0" dirty="0">
                  <a:solidFill>
                    <a:srgbClr val="000000"/>
                  </a:solidFill>
                  <a:latin typeface="Arial"/>
                </a:rPr>
                <a:t>Time-bound</a:t>
              </a:r>
            </a:p>
          </p:txBody>
        </p:sp>
      </p:grpSp>
      <p:sp>
        <p:nvSpPr>
          <p:cNvPr id="36" name="Rectangle 3"/>
          <p:cNvSpPr txBox="1">
            <a:spLocks noChangeArrowheads="1"/>
          </p:cNvSpPr>
          <p:nvPr/>
        </p:nvSpPr>
        <p:spPr bwMode="gray">
          <a:xfrm>
            <a:off x="802439" y="6024657"/>
            <a:ext cx="1591933" cy="98966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407444" lvl="2" indent="-403823" eaLnBrk="0" fontAlgn="base" hangingPunct="0">
              <a:spcBef>
                <a:spcPct val="20000"/>
              </a:spcBef>
              <a:spcAft>
                <a:spcPct val="0"/>
              </a:spcAft>
              <a:buSzPct val="75000"/>
              <a:buFont typeface="Arial" pitchFamily="34" charset="0"/>
              <a:buChar char="►"/>
              <a:defRPr/>
            </a:pPr>
            <a:r>
              <a:rPr lang="en-GB" sz="1200" kern="0" dirty="0">
                <a:solidFill>
                  <a:srgbClr val="000000"/>
                </a:solidFill>
                <a:latin typeface="Arial"/>
              </a:rPr>
              <a:t>Well defined</a:t>
            </a:r>
          </a:p>
          <a:p>
            <a:pPr marL="407444" lvl="2" indent="-403823" eaLnBrk="0" fontAlgn="base" hangingPunct="0">
              <a:spcBef>
                <a:spcPct val="20000"/>
              </a:spcBef>
              <a:spcAft>
                <a:spcPct val="0"/>
              </a:spcAft>
              <a:buSzPct val="75000"/>
              <a:buFont typeface="Arial" pitchFamily="34" charset="0"/>
              <a:buChar char="►"/>
              <a:defRPr/>
            </a:pPr>
            <a:r>
              <a:rPr lang="en-GB" sz="1200" kern="0" dirty="0">
                <a:solidFill>
                  <a:srgbClr val="000000"/>
                </a:solidFill>
                <a:latin typeface="Arial"/>
              </a:rPr>
              <a:t>Clear to anyone with basic knowledge of the programme</a:t>
            </a:r>
          </a:p>
          <a:p>
            <a:pPr marL="407444" lvl="2" indent="-403823" eaLnBrk="0" fontAlgn="base" hangingPunct="0">
              <a:spcBef>
                <a:spcPct val="20000"/>
              </a:spcBef>
              <a:spcAft>
                <a:spcPct val="0"/>
              </a:spcAft>
              <a:buClr>
                <a:srgbClr val="FFD200"/>
              </a:buClr>
              <a:buSzPct val="75000"/>
              <a:buFont typeface="Arial" pitchFamily="34" charset="0"/>
              <a:buChar char="►"/>
              <a:defRPr/>
            </a:pPr>
            <a:endParaRPr lang="en-GB" sz="1200" kern="0" dirty="0">
              <a:solidFill>
                <a:srgbClr val="000000"/>
              </a:solidFill>
              <a:latin typeface="Arial"/>
            </a:endParaRPr>
          </a:p>
        </p:txBody>
      </p:sp>
      <p:sp>
        <p:nvSpPr>
          <p:cNvPr id="37" name="Rectangle 3"/>
          <p:cNvSpPr txBox="1">
            <a:spLocks noChangeArrowheads="1"/>
          </p:cNvSpPr>
          <p:nvPr/>
        </p:nvSpPr>
        <p:spPr bwMode="gray">
          <a:xfrm>
            <a:off x="2806585" y="6024657"/>
            <a:ext cx="1604011" cy="846123"/>
          </a:xfrm>
          <a:prstGeom prst="rect">
            <a:avLst/>
          </a:prstGeom>
        </p:spPr>
        <p:txBody>
          <a:bodyPr vert="horz" lIns="0" tIns="0" rIns="0" bIns="0" rtlCol="0">
            <a:noAutofit/>
          </a:bodyPr>
          <a:lstStyle/>
          <a:p>
            <a:pPr marL="407444" lvl="2" indent="-403823" eaLnBrk="0" fontAlgn="base" hangingPunct="0">
              <a:spcBef>
                <a:spcPct val="20000"/>
              </a:spcBef>
              <a:spcAft>
                <a:spcPct val="0"/>
              </a:spcAft>
              <a:buClr>
                <a:schemeClr val="tx1"/>
              </a:buClr>
              <a:buSzPct val="75000"/>
              <a:buFont typeface="Arial" pitchFamily="34" charset="0"/>
              <a:buChar char="►"/>
              <a:defRPr/>
            </a:pPr>
            <a:r>
              <a:rPr lang="en-GB" sz="1200" kern="0" dirty="0">
                <a:solidFill>
                  <a:srgbClr val="000000"/>
                </a:solidFill>
              </a:rPr>
              <a:t>Easily measurable</a:t>
            </a:r>
          </a:p>
          <a:p>
            <a:pPr marL="407444" lvl="2" indent="-403823" eaLnBrk="0" fontAlgn="base" hangingPunct="0">
              <a:spcBef>
                <a:spcPct val="20000"/>
              </a:spcBef>
              <a:spcAft>
                <a:spcPct val="0"/>
              </a:spcAft>
              <a:buClr>
                <a:srgbClr val="FFD200"/>
              </a:buClr>
              <a:buSzPct val="75000"/>
              <a:buFont typeface="Arial" pitchFamily="34" charset="0"/>
              <a:buChar char="►"/>
              <a:defRPr/>
            </a:pPr>
            <a:endParaRPr lang="en-GB" sz="1200" kern="0" dirty="0">
              <a:solidFill>
                <a:srgbClr val="000000"/>
              </a:solidFill>
            </a:endParaRPr>
          </a:p>
        </p:txBody>
      </p:sp>
      <p:sp>
        <p:nvSpPr>
          <p:cNvPr id="38" name="Rectangle 3"/>
          <p:cNvSpPr txBox="1">
            <a:spLocks noChangeArrowheads="1"/>
          </p:cNvSpPr>
          <p:nvPr/>
        </p:nvSpPr>
        <p:spPr bwMode="gray">
          <a:xfrm>
            <a:off x="4554612" y="6006213"/>
            <a:ext cx="1604010" cy="1158794"/>
          </a:xfrm>
          <a:prstGeom prst="rect">
            <a:avLst/>
          </a:prstGeom>
        </p:spPr>
        <p:txBody>
          <a:bodyPr vert="horz" lIns="0" tIns="0" rIns="0" bIns="0" rtlCol="0">
            <a:noAutofit/>
          </a:bodyPr>
          <a:lstStyle/>
          <a:p>
            <a:pPr marL="407444" lvl="2" indent="-403823" eaLnBrk="0" fontAlgn="base" hangingPunct="0">
              <a:spcBef>
                <a:spcPct val="20000"/>
              </a:spcBef>
              <a:spcAft>
                <a:spcPct val="0"/>
              </a:spcAft>
              <a:buSzPct val="75000"/>
              <a:buFont typeface="Arial" pitchFamily="34" charset="0"/>
              <a:buChar char="►"/>
              <a:defRPr/>
            </a:pPr>
            <a:r>
              <a:rPr lang="en-GB" sz="1200" kern="0" dirty="0">
                <a:solidFill>
                  <a:srgbClr val="000000"/>
                </a:solidFill>
              </a:rPr>
              <a:t>Agreed with stakeholders</a:t>
            </a:r>
          </a:p>
          <a:p>
            <a:pPr marL="407444" lvl="2" indent="-403823" eaLnBrk="0" fontAlgn="base" hangingPunct="0">
              <a:spcBef>
                <a:spcPct val="20000"/>
              </a:spcBef>
              <a:spcAft>
                <a:spcPct val="0"/>
              </a:spcAft>
              <a:buSzPct val="75000"/>
              <a:buFont typeface="Arial" pitchFamily="34" charset="0"/>
              <a:buChar char="►"/>
              <a:defRPr/>
            </a:pPr>
            <a:r>
              <a:rPr lang="en-GB" sz="1200" kern="0" dirty="0">
                <a:solidFill>
                  <a:srgbClr val="000000"/>
                </a:solidFill>
              </a:rPr>
              <a:t>Has to be stretching but attainable</a:t>
            </a:r>
          </a:p>
        </p:txBody>
      </p:sp>
      <p:sp>
        <p:nvSpPr>
          <p:cNvPr id="39" name="Rectangle 3"/>
          <p:cNvSpPr txBox="1">
            <a:spLocks noChangeArrowheads="1"/>
          </p:cNvSpPr>
          <p:nvPr/>
        </p:nvSpPr>
        <p:spPr bwMode="gray">
          <a:xfrm>
            <a:off x="6426820" y="6024657"/>
            <a:ext cx="1604010" cy="989668"/>
          </a:xfrm>
          <a:prstGeom prst="rect">
            <a:avLst/>
          </a:prstGeom>
        </p:spPr>
        <p:txBody>
          <a:bodyPr vert="horz" lIns="0" tIns="0" rIns="0" bIns="0" rtlCol="0">
            <a:noAutofit/>
          </a:bodyPr>
          <a:lstStyle/>
          <a:p>
            <a:pPr marL="407444" lvl="2" indent="-403823" eaLnBrk="0" fontAlgn="base" hangingPunct="0">
              <a:spcBef>
                <a:spcPct val="20000"/>
              </a:spcBef>
              <a:spcAft>
                <a:spcPct val="0"/>
              </a:spcAft>
              <a:buSzPct val="75000"/>
              <a:buFont typeface="Arial" pitchFamily="34" charset="0"/>
              <a:buChar char="►"/>
              <a:defRPr/>
            </a:pPr>
            <a:r>
              <a:rPr lang="en-GB" sz="1200" kern="0" dirty="0">
                <a:solidFill>
                  <a:srgbClr val="000000"/>
                </a:solidFill>
              </a:rPr>
              <a:t>Achievable in the available resources, knowledge and time</a:t>
            </a:r>
          </a:p>
          <a:p>
            <a:pPr marL="407444" lvl="2" indent="-403823" eaLnBrk="0" fontAlgn="base" hangingPunct="0">
              <a:spcBef>
                <a:spcPct val="20000"/>
              </a:spcBef>
              <a:spcAft>
                <a:spcPct val="0"/>
              </a:spcAft>
              <a:buClr>
                <a:srgbClr val="FFD200"/>
              </a:buClr>
              <a:buSzPct val="75000"/>
              <a:buFont typeface="Arial" pitchFamily="34" charset="0"/>
              <a:buChar char="►"/>
              <a:defRPr/>
            </a:pPr>
            <a:endParaRPr lang="en-GB" sz="1200" kern="0" dirty="0">
              <a:solidFill>
                <a:srgbClr val="000000"/>
              </a:solidFill>
            </a:endParaRPr>
          </a:p>
          <a:p>
            <a:pPr marL="407444" lvl="2" indent="-403823" eaLnBrk="0" fontAlgn="base" hangingPunct="0">
              <a:spcBef>
                <a:spcPct val="20000"/>
              </a:spcBef>
              <a:spcAft>
                <a:spcPct val="0"/>
              </a:spcAft>
              <a:buClr>
                <a:srgbClr val="FFD200"/>
              </a:buClr>
              <a:buSzPct val="75000"/>
              <a:buFont typeface="Arial" pitchFamily="34" charset="0"/>
              <a:buChar char="►"/>
              <a:defRPr/>
            </a:pPr>
            <a:endParaRPr lang="en-GB" sz="1200" kern="0" dirty="0">
              <a:solidFill>
                <a:srgbClr val="000000"/>
              </a:solidFill>
            </a:endParaRPr>
          </a:p>
        </p:txBody>
      </p:sp>
      <p:sp>
        <p:nvSpPr>
          <p:cNvPr id="40" name="Rectangle 3"/>
          <p:cNvSpPr txBox="1">
            <a:spLocks noChangeArrowheads="1"/>
          </p:cNvSpPr>
          <p:nvPr/>
        </p:nvSpPr>
        <p:spPr bwMode="gray">
          <a:xfrm>
            <a:off x="8299028" y="6024657"/>
            <a:ext cx="1604010" cy="989668"/>
          </a:xfrm>
          <a:prstGeom prst="rect">
            <a:avLst/>
          </a:prstGeom>
        </p:spPr>
        <p:txBody>
          <a:bodyPr vert="horz" lIns="0" tIns="0" rIns="0" bIns="0" rtlCol="0">
            <a:noAutofit/>
          </a:bodyPr>
          <a:lstStyle/>
          <a:p>
            <a:pPr marL="407444" lvl="2" indent="-403823" eaLnBrk="0" fontAlgn="base" hangingPunct="0">
              <a:spcBef>
                <a:spcPct val="20000"/>
              </a:spcBef>
              <a:spcAft>
                <a:spcPct val="0"/>
              </a:spcAft>
              <a:buSzPct val="75000"/>
              <a:buFont typeface="Arial" pitchFamily="34" charset="0"/>
              <a:buChar char="►"/>
              <a:defRPr/>
            </a:pPr>
            <a:r>
              <a:rPr lang="en-GB" sz="1200" kern="0" dirty="0">
                <a:solidFill>
                  <a:srgbClr val="000000"/>
                </a:solidFill>
              </a:rPr>
              <a:t>Clearly defined timeframe in which the vision is to be achieved</a:t>
            </a:r>
          </a:p>
        </p:txBody>
      </p:sp>
      <p:sp>
        <p:nvSpPr>
          <p:cNvPr id="42" name="Title 1"/>
          <p:cNvSpPr txBox="1">
            <a:spLocks/>
          </p:cNvSpPr>
          <p:nvPr/>
        </p:nvSpPr>
        <p:spPr bwMode="gray">
          <a:xfrm>
            <a:off x="788911" y="4176724"/>
            <a:ext cx="10102405" cy="306000"/>
          </a:xfrm>
          <a:prstGeom prst="rect">
            <a:avLst/>
          </a:prstGeom>
        </p:spPr>
        <p:txBody>
          <a:bodyPr vert="horz" lIns="0" tIns="0" rIns="0" bIns="0" rtlCol="0" anchor="b" anchorCtr="0">
            <a:noAutofit/>
          </a:bodyPr>
          <a:lstStyle>
            <a:lvl1pPr algn="l" defTabSz="1043056" rtl="0" eaLnBrk="1" latinLnBrk="0" hangingPunct="1">
              <a:lnSpc>
                <a:spcPct val="90000"/>
              </a:lnSpc>
              <a:spcBef>
                <a:spcPct val="0"/>
              </a:spcBef>
              <a:buNone/>
              <a:defRPr sz="2400" kern="1200">
                <a:solidFill>
                  <a:schemeClr val="accent1"/>
                </a:solidFill>
                <a:latin typeface="+mj-lt"/>
                <a:ea typeface="+mj-ea"/>
                <a:cs typeface="+mj-cs"/>
              </a:defRPr>
            </a:lvl1pPr>
          </a:lstStyle>
          <a:p>
            <a:r>
              <a:rPr lang="en-GB" sz="1600" b="1" dirty="0" smtClean="0">
                <a:solidFill>
                  <a:schemeClr val="tx1"/>
                </a:solidFill>
              </a:rPr>
              <a:t>Test your vision and mission statements against SMART</a:t>
            </a:r>
            <a:endParaRPr lang="en-GB" sz="1600" b="1" dirty="0">
              <a:solidFill>
                <a:schemeClr val="tx1"/>
              </a:solidFill>
            </a:endParaRPr>
          </a:p>
        </p:txBody>
      </p:sp>
      <p:sp>
        <p:nvSpPr>
          <p:cNvPr id="2" name="Rectangle 1"/>
          <p:cNvSpPr/>
          <p:nvPr/>
        </p:nvSpPr>
        <p:spPr>
          <a:xfrm>
            <a:off x="2275545" y="1950814"/>
            <a:ext cx="7516871" cy="461665"/>
          </a:xfrm>
          <a:prstGeom prst="rect">
            <a:avLst/>
          </a:prstGeom>
        </p:spPr>
        <p:txBody>
          <a:bodyPr wrap="square">
            <a:spAutoFit/>
          </a:bodyPr>
          <a:lstStyle/>
          <a:p>
            <a:pPr fontAlgn="base">
              <a:spcBef>
                <a:spcPct val="50000"/>
              </a:spcBef>
              <a:spcAft>
                <a:spcPct val="0"/>
              </a:spcAft>
            </a:pPr>
            <a:r>
              <a:rPr lang="en-GB" sz="1200" dirty="0"/>
              <a:t>A picture of </a:t>
            </a:r>
            <a:r>
              <a:rPr lang="en-GB" sz="1200" dirty="0" smtClean="0"/>
              <a:t>the </a:t>
            </a:r>
            <a:r>
              <a:rPr lang="en-GB" sz="1200" dirty="0"/>
              <a:t>desired future state that is appealing and compelling enough to drive </a:t>
            </a:r>
            <a:r>
              <a:rPr lang="en-GB" sz="1200" dirty="0" smtClean="0"/>
              <a:t>the business </a:t>
            </a:r>
            <a:r>
              <a:rPr lang="en-GB" sz="1200" dirty="0"/>
              <a:t>forward. </a:t>
            </a:r>
            <a:r>
              <a:rPr lang="en-GB" sz="1200" b="1" i="1" dirty="0"/>
              <a:t>Where do we want to be?</a:t>
            </a:r>
          </a:p>
        </p:txBody>
      </p:sp>
      <p:sp>
        <p:nvSpPr>
          <p:cNvPr id="3" name="Rectangle 2"/>
          <p:cNvSpPr/>
          <p:nvPr/>
        </p:nvSpPr>
        <p:spPr>
          <a:xfrm>
            <a:off x="2280918" y="3071584"/>
            <a:ext cx="7374701" cy="276999"/>
          </a:xfrm>
          <a:prstGeom prst="rect">
            <a:avLst/>
          </a:prstGeom>
        </p:spPr>
        <p:txBody>
          <a:bodyPr wrap="square">
            <a:spAutoFit/>
          </a:bodyPr>
          <a:lstStyle/>
          <a:p>
            <a:pPr fontAlgn="base">
              <a:spcBef>
                <a:spcPct val="50000"/>
              </a:spcBef>
              <a:spcAft>
                <a:spcPct val="0"/>
              </a:spcAft>
            </a:pPr>
            <a:r>
              <a:rPr lang="en-GB" sz="1200" dirty="0"/>
              <a:t>The purpose of the </a:t>
            </a:r>
            <a:r>
              <a:rPr lang="en-GB" sz="1200" dirty="0" smtClean="0"/>
              <a:t>organisation - </a:t>
            </a:r>
            <a:r>
              <a:rPr lang="en-GB" sz="1200" b="1" i="1" dirty="0" smtClean="0"/>
              <a:t>What </a:t>
            </a:r>
            <a:r>
              <a:rPr lang="en-GB" sz="1200" b="1" i="1" dirty="0"/>
              <a:t>do we want to achieve?</a:t>
            </a:r>
          </a:p>
        </p:txBody>
      </p:sp>
      <p:sp>
        <p:nvSpPr>
          <p:cNvPr id="5" name="Rectangle 4"/>
          <p:cNvSpPr/>
          <p:nvPr/>
        </p:nvSpPr>
        <p:spPr>
          <a:xfrm>
            <a:off x="809054" y="180033"/>
            <a:ext cx="9074150" cy="720278"/>
          </a:xfrm>
          <a:prstGeom prst="rect">
            <a:avLst/>
          </a:prstGeom>
          <a:solidFill>
            <a:srgbClr val="FFD200"/>
          </a:solidFill>
          <a:ln w="12700" cmpd="sng">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200" b="1" dirty="0" smtClean="0">
                <a:solidFill>
                  <a:schemeClr val="tx1"/>
                </a:solidFill>
              </a:rPr>
              <a:t>Activity (90 minutes): Using the outputs from the SWOT analysis develop your company vision and mission statements. Then work through the OGSM </a:t>
            </a:r>
            <a:r>
              <a:rPr lang="en-GB" sz="1200" b="1" dirty="0">
                <a:solidFill>
                  <a:schemeClr val="tx1"/>
                </a:solidFill>
              </a:rPr>
              <a:t>(Objectives, Goals, Strategies, Measures) model </a:t>
            </a:r>
            <a:r>
              <a:rPr lang="en-GB" sz="1200" b="1" dirty="0" smtClean="0">
                <a:solidFill>
                  <a:schemeClr val="tx1"/>
                </a:solidFill>
              </a:rPr>
              <a:t> on the following slide to translate the </a:t>
            </a:r>
            <a:r>
              <a:rPr lang="en-GB" sz="1200" b="1" dirty="0">
                <a:solidFill>
                  <a:schemeClr val="tx1"/>
                </a:solidFill>
              </a:rPr>
              <a:t>vision </a:t>
            </a:r>
            <a:r>
              <a:rPr lang="en-GB" sz="1200" b="1" dirty="0" smtClean="0">
                <a:solidFill>
                  <a:schemeClr val="tx1"/>
                </a:solidFill>
              </a:rPr>
              <a:t>into, clear objectives, quantifiable goals, clear </a:t>
            </a:r>
            <a:r>
              <a:rPr lang="en-GB" sz="1200" b="1" dirty="0">
                <a:solidFill>
                  <a:schemeClr val="tx1"/>
                </a:solidFill>
              </a:rPr>
              <a:t>strategies for achieving </a:t>
            </a:r>
            <a:r>
              <a:rPr lang="en-GB" sz="1200" b="1" dirty="0" smtClean="0">
                <a:solidFill>
                  <a:schemeClr val="tx1"/>
                </a:solidFill>
              </a:rPr>
              <a:t>these goals with agreed </a:t>
            </a:r>
            <a:r>
              <a:rPr lang="en-GB" sz="1200" b="1" dirty="0">
                <a:solidFill>
                  <a:schemeClr val="tx1"/>
                </a:solidFill>
              </a:rPr>
              <a:t>success </a:t>
            </a:r>
            <a:r>
              <a:rPr lang="en-GB" sz="1200" b="1" dirty="0" smtClean="0">
                <a:solidFill>
                  <a:schemeClr val="tx1"/>
                </a:solidFill>
              </a:rPr>
              <a:t>measures. </a:t>
            </a:r>
          </a:p>
        </p:txBody>
      </p:sp>
      <p:sp>
        <p:nvSpPr>
          <p:cNvPr id="44"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9</a:t>
            </a:fld>
            <a:endParaRPr lang="en-GB" sz="800" dirty="0">
              <a:solidFill>
                <a:srgbClr val="808080"/>
              </a:solidFill>
            </a:endParaRPr>
          </a:p>
        </p:txBody>
      </p:sp>
    </p:spTree>
    <p:extLst>
      <p:ext uri="{BB962C8B-B14F-4D97-AF65-F5344CB8AC3E}">
        <p14:creationId xmlns:p14="http://schemas.microsoft.com/office/powerpoint/2010/main" val="4859242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9A56513-F998-4254-9CEB-F507EE6F3742}" type="slidenum">
              <a:rPr lang="en-GB" smtClean="0"/>
              <a:pPr/>
              <a:t>10</a:t>
            </a:fld>
            <a:endParaRPr lang="en-GB" dirty="0"/>
          </a:p>
        </p:txBody>
      </p:sp>
      <p:sp>
        <p:nvSpPr>
          <p:cNvPr id="7" name="Content Placeholder 2"/>
          <p:cNvSpPr>
            <a:spLocks noGrp="1"/>
          </p:cNvSpPr>
          <p:nvPr>
            <p:ph idx="4294967295"/>
          </p:nvPr>
        </p:nvSpPr>
        <p:spPr>
          <a:xfrm>
            <a:off x="882204" y="1003385"/>
            <a:ext cx="8920049" cy="1384995"/>
          </a:xfrm>
          <a:prstGeom prst="rect">
            <a:avLst/>
          </a:prstGeom>
        </p:spPr>
        <p:txBody>
          <a:bodyPr wrap="square">
            <a:spAutoFit/>
          </a:bodyPr>
          <a:lstStyle/>
          <a:p>
            <a:pPr>
              <a:spcAft>
                <a:spcPts val="600"/>
              </a:spcAft>
            </a:pPr>
            <a:r>
              <a:rPr lang="en-GB" sz="1400" dirty="0" smtClean="0"/>
              <a:t>Then translate the vision and mission into:</a:t>
            </a:r>
          </a:p>
          <a:p>
            <a:pPr lvl="3">
              <a:spcAft>
                <a:spcPts val="600"/>
              </a:spcAft>
            </a:pPr>
            <a:r>
              <a:rPr lang="en-GB" sz="1400" dirty="0" smtClean="0"/>
              <a:t>Clear objectives</a:t>
            </a:r>
          </a:p>
          <a:p>
            <a:pPr lvl="3">
              <a:spcAft>
                <a:spcPts val="600"/>
              </a:spcAft>
            </a:pPr>
            <a:r>
              <a:rPr lang="en-GB" sz="1400" dirty="0" smtClean="0"/>
              <a:t>Quantifiable goals</a:t>
            </a:r>
          </a:p>
          <a:p>
            <a:pPr lvl="3">
              <a:spcAft>
                <a:spcPts val="600"/>
              </a:spcAft>
            </a:pPr>
            <a:r>
              <a:rPr lang="en-GB" sz="1400" dirty="0" smtClean="0"/>
              <a:t>Clear strategies for achieving them, and </a:t>
            </a:r>
          </a:p>
          <a:p>
            <a:pPr lvl="3">
              <a:spcAft>
                <a:spcPts val="600"/>
              </a:spcAft>
            </a:pPr>
            <a:r>
              <a:rPr lang="en-GB" sz="1400" dirty="0" smtClean="0"/>
              <a:t>Agreed success measures</a:t>
            </a:r>
            <a:endParaRPr lang="en-GB" sz="1400" dirty="0"/>
          </a:p>
        </p:txBody>
      </p:sp>
      <p:graphicFrame>
        <p:nvGraphicFramePr>
          <p:cNvPr id="8" name="Content Placeholder 20"/>
          <p:cNvGraphicFramePr>
            <a:graphicFrameLocks/>
          </p:cNvGraphicFramePr>
          <p:nvPr>
            <p:extLst>
              <p:ext uri="{D42A27DB-BD31-4B8C-83A1-F6EECF244321}">
                <p14:modId xmlns:p14="http://schemas.microsoft.com/office/powerpoint/2010/main" val="4201812719"/>
              </p:ext>
            </p:extLst>
          </p:nvPr>
        </p:nvGraphicFramePr>
        <p:xfrm>
          <a:off x="809624" y="2628503"/>
          <a:ext cx="9074151" cy="4044960"/>
        </p:xfrm>
        <a:graphic>
          <a:graphicData uri="http://schemas.openxmlformats.org/drawingml/2006/table">
            <a:tbl>
              <a:tblPr firstRow="1" bandRow="1">
                <a:tableStyleId>{5C22544A-7EE6-4342-B048-85BDC9FD1C3A}</a:tableStyleId>
              </a:tblPr>
              <a:tblGrid>
                <a:gridCol w="2268538"/>
                <a:gridCol w="1926810"/>
                <a:gridCol w="2610265"/>
                <a:gridCol w="2268538"/>
              </a:tblGrid>
              <a:tr h="0">
                <a:tc>
                  <a:txBody>
                    <a:bodyPr/>
                    <a:lstStyle/>
                    <a:p>
                      <a:pPr algn="l"/>
                      <a:r>
                        <a:rPr lang="en-GB" sz="1200" noProof="0" dirty="0">
                          <a:solidFill>
                            <a:schemeClr val="tx2"/>
                          </a:solidFill>
                          <a:latin typeface="+mj-lt"/>
                        </a:rPr>
                        <a:t>Objective</a:t>
                      </a:r>
                    </a:p>
                  </a:txBody>
                  <a:tcPr marL="0" marR="36000" marT="36000" marB="36000" anchor="b">
                    <a:lnL w="12700" cmpd="sng">
                      <a:noFill/>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p>
                      <a:pPr algn="l"/>
                      <a:r>
                        <a:rPr lang="en-GB" sz="1200" noProof="0" dirty="0">
                          <a:solidFill>
                            <a:schemeClr val="tx2"/>
                          </a:solidFill>
                          <a:latin typeface="+mj-lt"/>
                        </a:rPr>
                        <a:t>Goals</a:t>
                      </a:r>
                    </a:p>
                  </a:txBody>
                  <a:tcPr marL="0" marR="36000" marT="36000" marB="36000" anchor="b">
                    <a:lnL w="12700" cmpd="sng">
                      <a:noFill/>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p>
                      <a:pPr algn="l"/>
                      <a:r>
                        <a:rPr lang="en-GB" sz="1200" noProof="0" dirty="0">
                          <a:solidFill>
                            <a:schemeClr val="tx2"/>
                          </a:solidFill>
                          <a:latin typeface="+mj-lt"/>
                        </a:rPr>
                        <a:t>Strategies</a:t>
                      </a:r>
                    </a:p>
                  </a:txBody>
                  <a:tcPr marL="0" marR="36000" marT="36000" marB="36000" anchor="b">
                    <a:lnL w="12700" cmpd="sng">
                      <a:noFill/>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p>
                      <a:pPr algn="l"/>
                      <a:r>
                        <a:rPr lang="en-GB" sz="1200" noProof="0" dirty="0">
                          <a:solidFill>
                            <a:schemeClr val="tx2"/>
                          </a:solidFill>
                          <a:latin typeface="+mj-lt"/>
                        </a:rPr>
                        <a:t>Measures</a:t>
                      </a:r>
                    </a:p>
                  </a:txBody>
                  <a:tcPr marL="0" marR="36000" marT="36000" marB="36000" anchor="b">
                    <a:lnL w="12700" cmpd="sng">
                      <a:noFill/>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r>
              <a:tr h="0">
                <a:tc>
                  <a:txBody>
                    <a:bodyPr/>
                    <a:lstStyle/>
                    <a:p>
                      <a:pPr algn="l"/>
                      <a:r>
                        <a:rPr lang="en-GB" sz="1200" i="1" noProof="0" dirty="0">
                          <a:solidFill>
                            <a:schemeClr val="tx1"/>
                          </a:solidFill>
                          <a:latin typeface="+mn-lt"/>
                        </a:rPr>
                        <a:t>Define the </a:t>
                      </a:r>
                      <a:r>
                        <a:rPr lang="en-GB" sz="1200" i="1" noProof="0" dirty="0" smtClean="0">
                          <a:solidFill>
                            <a:schemeClr val="tx1"/>
                          </a:solidFill>
                          <a:latin typeface="+mn-lt"/>
                        </a:rPr>
                        <a:t>objective</a:t>
                      </a:r>
                    </a:p>
                    <a:p>
                      <a:pPr marL="0" marR="0" indent="0" algn="l" defTabSz="1043056" rtl="0" eaLnBrk="1" fontAlgn="auto" latinLnBrk="0" hangingPunct="1">
                        <a:lnSpc>
                          <a:spcPct val="100000"/>
                        </a:lnSpc>
                        <a:spcBef>
                          <a:spcPts val="0"/>
                        </a:spcBef>
                        <a:spcAft>
                          <a:spcPts val="0"/>
                        </a:spcAft>
                        <a:buClrTx/>
                        <a:buSzTx/>
                        <a:buFontTx/>
                        <a:buNone/>
                        <a:tabLst/>
                        <a:defRPr/>
                      </a:pPr>
                      <a:r>
                        <a:rPr lang="en-GB" sz="1200" b="1" i="1" dirty="0" smtClean="0"/>
                        <a:t>What do we need to achieve our mission?</a:t>
                      </a:r>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GB" sz="1200" i="1" noProof="0" dirty="0">
                          <a:solidFill>
                            <a:schemeClr val="tx1"/>
                          </a:solidFill>
                          <a:latin typeface="+mn-lt"/>
                        </a:rPr>
                        <a:t>Set the goal</a:t>
                      </a:r>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GB" sz="1200" i="1" noProof="0" dirty="0">
                          <a:solidFill>
                            <a:schemeClr val="tx1"/>
                          </a:solidFill>
                          <a:latin typeface="+mn-lt"/>
                        </a:rPr>
                        <a:t>Identify the </a:t>
                      </a:r>
                      <a:r>
                        <a:rPr lang="en-GB" sz="1200" i="1" noProof="0" dirty="0" smtClean="0">
                          <a:solidFill>
                            <a:schemeClr val="tx1"/>
                          </a:solidFill>
                          <a:latin typeface="+mn-lt"/>
                        </a:rPr>
                        <a:t>choices</a:t>
                      </a:r>
                      <a:r>
                        <a:rPr lang="en-GB" sz="1200" i="1" baseline="0" noProof="0" dirty="0" smtClean="0">
                          <a:solidFill>
                            <a:schemeClr val="tx1"/>
                          </a:solidFill>
                          <a:latin typeface="+mn-lt"/>
                        </a:rPr>
                        <a:t> we need to make to achieve our objectives and goals.</a:t>
                      </a:r>
                    </a:p>
                    <a:p>
                      <a:pPr algn="l"/>
                      <a:r>
                        <a:rPr lang="en-GB" sz="1200" i="1" baseline="0" noProof="0" dirty="0" smtClean="0">
                          <a:solidFill>
                            <a:schemeClr val="tx1"/>
                          </a:solidFill>
                          <a:latin typeface="+mn-lt"/>
                        </a:rPr>
                        <a:t>The programs and/or initiatives required to deliver the strategies.</a:t>
                      </a:r>
                      <a:endParaRPr lang="en-GB" sz="1200" i="1" noProof="0" dirty="0">
                        <a:solidFill>
                          <a:schemeClr val="tx1"/>
                        </a:solidFill>
                        <a:latin typeface="+mn-lt"/>
                      </a:endParaRPr>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GB" sz="1200" i="1" noProof="0" dirty="0">
                          <a:solidFill>
                            <a:schemeClr val="tx1"/>
                          </a:solidFill>
                          <a:latin typeface="+mn-lt"/>
                        </a:rPr>
                        <a:t>Agree what the measure of success </a:t>
                      </a:r>
                      <a:r>
                        <a:rPr lang="en-GB" sz="1200" i="1" noProof="0" dirty="0" smtClean="0">
                          <a:solidFill>
                            <a:schemeClr val="tx1"/>
                          </a:solidFill>
                          <a:latin typeface="+mn-lt"/>
                        </a:rPr>
                        <a:t>is. How will we benchmark</a:t>
                      </a:r>
                      <a:r>
                        <a:rPr lang="en-GB" sz="1200" i="1" baseline="0" noProof="0" dirty="0" smtClean="0">
                          <a:solidFill>
                            <a:schemeClr val="tx1"/>
                          </a:solidFill>
                          <a:latin typeface="+mn-lt"/>
                        </a:rPr>
                        <a:t> progress toward implementing each strategy?</a:t>
                      </a:r>
                      <a:endParaRPr lang="en-GB" sz="1200" i="1" noProof="0" dirty="0">
                        <a:solidFill>
                          <a:schemeClr val="tx1"/>
                        </a:solidFill>
                        <a:latin typeface="+mn-lt"/>
                      </a:endParaRPr>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0">
                <a:tc>
                  <a:txBody>
                    <a:bodyPr/>
                    <a:lstStyle/>
                    <a:p>
                      <a:pPr algn="l"/>
                      <a:r>
                        <a:rPr lang="en-GB" sz="1200" noProof="0" dirty="0">
                          <a:solidFill>
                            <a:schemeClr val="tx1"/>
                          </a:solidFill>
                          <a:latin typeface="+mn-lt"/>
                        </a:rPr>
                        <a:t>Attract, retain and </a:t>
                      </a:r>
                      <a:br>
                        <a:rPr lang="en-GB" sz="1200" noProof="0" dirty="0">
                          <a:solidFill>
                            <a:schemeClr val="tx1"/>
                          </a:solidFill>
                          <a:latin typeface="+mn-lt"/>
                        </a:rPr>
                      </a:br>
                      <a:r>
                        <a:rPr lang="en-GB" sz="1200" noProof="0" dirty="0">
                          <a:solidFill>
                            <a:schemeClr val="tx1"/>
                          </a:solidFill>
                          <a:latin typeface="+mn-lt"/>
                        </a:rPr>
                        <a:t>develop the right</a:t>
                      </a:r>
                      <a:r>
                        <a:rPr lang="en-GB" sz="1200" baseline="0" noProof="0" dirty="0">
                          <a:solidFill>
                            <a:schemeClr val="tx1"/>
                          </a:solidFill>
                          <a:latin typeface="+mn-lt"/>
                        </a:rPr>
                        <a:t> people</a:t>
                      </a:r>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1200" noProof="0" dirty="0">
                          <a:solidFill>
                            <a:schemeClr val="tx1"/>
                          </a:solidFill>
                          <a:latin typeface="+mn-lt"/>
                        </a:rPr>
                        <a:t>90%</a:t>
                      </a:r>
                      <a:r>
                        <a:rPr lang="en-GB" sz="1200" baseline="0" noProof="0" dirty="0">
                          <a:solidFill>
                            <a:schemeClr val="tx1"/>
                          </a:solidFill>
                          <a:latin typeface="+mn-lt"/>
                        </a:rPr>
                        <a:t> employee retention</a:t>
                      </a:r>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1200" noProof="0" dirty="0">
                          <a:solidFill>
                            <a:schemeClr val="tx1"/>
                          </a:solidFill>
                          <a:latin typeface="+mn-lt"/>
                        </a:rPr>
                        <a:t>Increase learning and development opportunities</a:t>
                      </a: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1200" noProof="0" dirty="0">
                          <a:solidFill>
                            <a:schemeClr val="tx1"/>
                          </a:solidFill>
                          <a:latin typeface="+mn-lt"/>
                        </a:rPr>
                        <a:t>3</a:t>
                      </a:r>
                      <a:r>
                        <a:rPr lang="en-GB" sz="1200" baseline="0" noProof="0" dirty="0">
                          <a:solidFill>
                            <a:schemeClr val="tx1"/>
                          </a:solidFill>
                          <a:latin typeface="+mn-lt"/>
                        </a:rPr>
                        <a:t> hours/month spent on training</a:t>
                      </a:r>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9" name="TextBox 8"/>
          <p:cNvSpPr txBox="1"/>
          <p:nvPr/>
        </p:nvSpPr>
        <p:spPr>
          <a:xfrm>
            <a:off x="468313" y="5677101"/>
            <a:ext cx="4436196" cy="215444"/>
          </a:xfrm>
          <a:prstGeom prst="rect">
            <a:avLst/>
          </a:prstGeom>
          <a:noFill/>
        </p:spPr>
        <p:txBody>
          <a:bodyPr wrap="square" lIns="0" tIns="0" rIns="0" bIns="0" rtlCol="0">
            <a:spAutoFit/>
          </a:bodyPr>
          <a:lstStyle/>
          <a:p>
            <a:r>
              <a:rPr lang="en-GB" sz="1400" dirty="0" smtClean="0">
                <a:solidFill>
                  <a:schemeClr val="bg1"/>
                </a:solidFill>
              </a:rPr>
              <a:t>The OGSM model can be used to develop the vision </a:t>
            </a:r>
            <a:endParaRPr lang="en-GB" sz="1400" dirty="0">
              <a:solidFill>
                <a:schemeClr val="bg1"/>
              </a:solidFill>
            </a:endParaRPr>
          </a:p>
        </p:txBody>
      </p:sp>
      <p:sp>
        <p:nvSpPr>
          <p:cNvPr id="21" name="Title 1"/>
          <p:cNvSpPr>
            <a:spLocks noGrp="1"/>
          </p:cNvSpPr>
          <p:nvPr>
            <p:ph type="title"/>
          </p:nvPr>
        </p:nvSpPr>
        <p:spPr>
          <a:xfrm>
            <a:off x="809625" y="108223"/>
            <a:ext cx="9074150" cy="612000"/>
          </a:xfrm>
        </p:spPr>
        <p:txBody>
          <a:bodyPr/>
          <a:lstStyle/>
          <a:p>
            <a:r>
              <a:rPr lang="en-GB" dirty="0" smtClean="0"/>
              <a:t>Step 2: Develop your aims and objectives: OGSM framework</a:t>
            </a:r>
            <a:endParaRPr lang="en-GB" dirty="0"/>
          </a:p>
        </p:txBody>
      </p:sp>
      <p:sp>
        <p:nvSpPr>
          <p:cNvPr id="10" name="Rectangle 9"/>
          <p:cNvSpPr>
            <a:spLocks noChangeArrowheads="1"/>
          </p:cNvSpPr>
          <p:nvPr/>
        </p:nvSpPr>
        <p:spPr bwMode="gray">
          <a:xfrm>
            <a:off x="809625" y="972319"/>
            <a:ext cx="9074150" cy="1470435"/>
          </a:xfrm>
          <a:prstGeom prst="rect">
            <a:avLst/>
          </a:prstGeom>
          <a:noFill/>
          <a:ln w="12700">
            <a:solidFill>
              <a:schemeClr val="tx1"/>
            </a:solidFill>
            <a:miter lim="800000"/>
            <a:headEnd/>
            <a:tailEnd/>
          </a:ln>
          <a:effectLst/>
        </p:spPr>
        <p:txBody>
          <a:bodyPr wrap="none" lIns="72000" tIns="72000" rIns="72000" bIns="72000" anchor="ctr"/>
          <a:lstStyle/>
          <a:p>
            <a:pPr algn="ctr" fontAlgn="base">
              <a:spcBef>
                <a:spcPct val="0"/>
              </a:spcBef>
              <a:spcAft>
                <a:spcPct val="0"/>
              </a:spcAft>
            </a:pPr>
            <a:endParaRPr lang="en-GB" sz="1200" b="1" dirty="0"/>
          </a:p>
        </p:txBody>
      </p:sp>
    </p:spTree>
    <p:extLst>
      <p:ext uri="{BB962C8B-B14F-4D97-AF65-F5344CB8AC3E}">
        <p14:creationId xmlns:p14="http://schemas.microsoft.com/office/powerpoint/2010/main" val="22160358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smtClean="0"/>
              <a:t>Groups 2 ad 3</a:t>
            </a:r>
            <a:endParaRPr lang="en-GB" dirty="0"/>
          </a:p>
        </p:txBody>
      </p:sp>
      <p:sp>
        <p:nvSpPr>
          <p:cNvPr id="3" name="Text Placeholder 2"/>
          <p:cNvSpPr>
            <a:spLocks noGrp="1"/>
          </p:cNvSpPr>
          <p:nvPr>
            <p:ph type="body" sz="quarter" idx="11"/>
          </p:nvPr>
        </p:nvSpPr>
        <p:spPr>
          <a:xfrm>
            <a:off x="882204" y="1581149"/>
            <a:ext cx="3924000" cy="1767434"/>
          </a:xfrm>
        </p:spPr>
        <p:txBody>
          <a:bodyPr/>
          <a:lstStyle/>
          <a:p>
            <a:r>
              <a:rPr lang="en-GB" dirty="0" smtClean="0"/>
              <a:t>Target operating model design</a:t>
            </a:r>
            <a:endParaRPr lang="en-GB" dirty="0"/>
          </a:p>
        </p:txBody>
      </p:sp>
      <p:sp>
        <p:nvSpPr>
          <p:cNvPr id="5" name="Text Placeholder 1"/>
          <p:cNvSpPr txBox="1">
            <a:spLocks/>
          </p:cNvSpPr>
          <p:nvPr/>
        </p:nvSpPr>
        <p:spPr bwMode="gray">
          <a:xfrm>
            <a:off x="809625" y="2412479"/>
            <a:ext cx="4177035" cy="864096"/>
          </a:xfrm>
          <a:prstGeom prst="rect">
            <a:avLst/>
          </a:prstGeom>
        </p:spPr>
        <p:txBody>
          <a:bodyPr vert="horz" wrap="none" lIns="0" tIns="0" rIns="0" bIns="0" rtlCol="0" anchor="ctr" anchorCtr="0">
            <a:noAutofit/>
          </a:bodyPr>
          <a:lstStyle>
            <a:lvl1pPr marL="0" indent="0" algn="l" defTabSz="1042688" rtl="0" eaLnBrk="1" latinLnBrk="0" hangingPunct="1">
              <a:spcBef>
                <a:spcPts val="0"/>
              </a:spcBef>
              <a:spcAft>
                <a:spcPts val="500"/>
              </a:spcAft>
              <a:buFont typeface="Arial" pitchFamily="34" charset="0"/>
              <a:buNone/>
              <a:defRPr lang="en-US" sz="1400" b="1" kern="1200" dirty="0" smtClean="0">
                <a:solidFill>
                  <a:schemeClr val="accent1"/>
                </a:solidFill>
                <a:latin typeface="+mj-lt"/>
                <a:ea typeface="+mn-ea"/>
                <a:cs typeface="Arial" charset="0"/>
              </a:defRPr>
            </a:lvl1pPr>
            <a:lvl2pPr marL="0" indent="0" algn="l" defTabSz="1042688" rtl="0" eaLnBrk="1" latinLnBrk="0" hangingPunct="1">
              <a:spcBef>
                <a:spcPts val="200"/>
              </a:spcBef>
              <a:spcAft>
                <a:spcPts val="500"/>
              </a:spcAft>
              <a:buFontTx/>
              <a:buNone/>
              <a:defRPr sz="1400" b="1" kern="1200">
                <a:solidFill>
                  <a:schemeClr val="tx1"/>
                </a:solidFill>
                <a:latin typeface="+mn-lt"/>
                <a:ea typeface="+mn-ea"/>
                <a:cs typeface="+mn-cs"/>
              </a:defRPr>
            </a:lvl2pPr>
            <a:lvl3pPr marL="0" indent="0" algn="l" defTabSz="1042688" rtl="0" eaLnBrk="1" latinLnBrk="0" hangingPunct="1">
              <a:spcBef>
                <a:spcPts val="200"/>
              </a:spcBef>
              <a:spcAft>
                <a:spcPts val="500"/>
              </a:spcAft>
              <a:buFontTx/>
              <a:buNone/>
              <a:defRPr sz="1300" b="1" kern="1200">
                <a:solidFill>
                  <a:schemeClr val="accent1"/>
                </a:solidFill>
                <a:latin typeface="+mn-lt"/>
                <a:ea typeface="+mn-ea"/>
                <a:cs typeface="+mn-cs"/>
              </a:defRPr>
            </a:lvl3pPr>
            <a:lvl4pPr marL="177738" indent="-177738"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4pPr>
            <a:lvl5pPr marL="342779" indent="-165042"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5pPr>
            <a:lvl6pPr marL="2867392"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735"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0080"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1424"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en-GB" dirty="0" smtClean="0"/>
              <a:t>Session Aim: Show </a:t>
            </a:r>
            <a:r>
              <a:rPr lang="en-GB" dirty="0"/>
              <a:t>how a target operating model </a:t>
            </a:r>
            <a:endParaRPr lang="en-GB" dirty="0" smtClean="0"/>
          </a:p>
          <a:p>
            <a:r>
              <a:rPr lang="en-GB" dirty="0" smtClean="0"/>
              <a:t>will support </a:t>
            </a:r>
            <a:r>
              <a:rPr lang="en-GB" dirty="0"/>
              <a:t>the growth agenda and begin </a:t>
            </a:r>
            <a:endParaRPr lang="en-GB" dirty="0" smtClean="0"/>
          </a:p>
          <a:p>
            <a:r>
              <a:rPr lang="en-GB" dirty="0" smtClean="0"/>
              <a:t>developing </a:t>
            </a:r>
            <a:r>
              <a:rPr lang="en-GB" dirty="0"/>
              <a:t>the target operating model</a:t>
            </a:r>
          </a:p>
        </p:txBody>
      </p:sp>
    </p:spTree>
    <p:extLst>
      <p:ext uri="{BB962C8B-B14F-4D97-AF65-F5344CB8AC3E}">
        <p14:creationId xmlns:p14="http://schemas.microsoft.com/office/powerpoint/2010/main" val="35528369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19906238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8919"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809624" y="108223"/>
            <a:ext cx="9074151" cy="612000"/>
          </a:xfrm>
        </p:spPr>
        <p:txBody>
          <a:bodyPr/>
          <a:lstStyle/>
          <a:p>
            <a:r>
              <a:rPr lang="en-GB" dirty="0" smtClean="0"/>
              <a:t>What are the elements of target </a:t>
            </a:r>
            <a:r>
              <a:rPr lang="en-GB" dirty="0"/>
              <a:t>o</a:t>
            </a:r>
            <a:r>
              <a:rPr lang="en-GB" dirty="0" smtClean="0"/>
              <a:t>perating </a:t>
            </a:r>
            <a:r>
              <a:rPr lang="en-GB" dirty="0"/>
              <a:t>m</a:t>
            </a:r>
            <a:r>
              <a:rPr lang="en-GB" dirty="0" smtClean="0"/>
              <a:t>odel design?</a:t>
            </a:r>
            <a:endParaRPr lang="en-GB" dirty="0"/>
          </a:p>
        </p:txBody>
      </p:sp>
      <p:grpSp>
        <p:nvGrpSpPr>
          <p:cNvPr id="5" name="Group 4"/>
          <p:cNvGrpSpPr/>
          <p:nvPr/>
        </p:nvGrpSpPr>
        <p:grpSpPr>
          <a:xfrm>
            <a:off x="594172" y="1892647"/>
            <a:ext cx="4560168" cy="3976216"/>
            <a:chOff x="786532" y="1892647"/>
            <a:chExt cx="5352256" cy="4048224"/>
          </a:xfrm>
        </p:grpSpPr>
        <p:graphicFrame>
          <p:nvGraphicFramePr>
            <p:cNvPr id="20" name="Diagram 19"/>
            <p:cNvGraphicFramePr/>
            <p:nvPr>
              <p:extLst>
                <p:ext uri="{D42A27DB-BD31-4B8C-83A1-F6EECF244321}">
                  <p14:modId xmlns:p14="http://schemas.microsoft.com/office/powerpoint/2010/main" val="3866307364"/>
                </p:ext>
              </p:extLst>
            </p:nvPr>
          </p:nvGraphicFramePr>
          <p:xfrm>
            <a:off x="786532" y="1892647"/>
            <a:ext cx="5352256" cy="404822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1" name="Rectangle 20"/>
            <p:cNvSpPr/>
            <p:nvPr/>
          </p:nvSpPr>
          <p:spPr>
            <a:xfrm>
              <a:off x="3475104" y="4324736"/>
              <a:ext cx="2028225" cy="8082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216000" tIns="36000" rIns="0" bIns="36000" rtlCol="0" anchor="ctr" anchorCtr="0"/>
            <a:lstStyle/>
            <a:p>
              <a:pPr>
                <a:lnSpc>
                  <a:spcPct val="90000"/>
                </a:lnSpc>
              </a:pPr>
              <a:r>
                <a:rPr lang="en-CA" sz="1200" b="1" dirty="0" smtClean="0">
                  <a:solidFill>
                    <a:schemeClr val="tx1"/>
                  </a:solidFill>
                  <a:latin typeface="+mj-lt"/>
                </a:rPr>
                <a:t>Processes, </a:t>
              </a:r>
              <a:br>
                <a:rPr lang="en-CA" sz="1200" b="1" dirty="0" smtClean="0">
                  <a:solidFill>
                    <a:schemeClr val="tx1"/>
                  </a:solidFill>
                  <a:latin typeface="+mj-lt"/>
                </a:rPr>
              </a:br>
              <a:r>
                <a:rPr lang="en-CA" sz="1200" b="1" dirty="0" smtClean="0">
                  <a:solidFill>
                    <a:schemeClr val="tx1"/>
                  </a:solidFill>
                  <a:latin typeface="+mj-lt"/>
                </a:rPr>
                <a:t>service levels </a:t>
              </a:r>
              <a:br>
                <a:rPr lang="en-CA" sz="1200" b="1" dirty="0" smtClean="0">
                  <a:solidFill>
                    <a:schemeClr val="tx1"/>
                  </a:solidFill>
                  <a:latin typeface="+mj-lt"/>
                </a:rPr>
              </a:br>
              <a:r>
                <a:rPr lang="en-CA" sz="1200" b="1" dirty="0" smtClean="0">
                  <a:solidFill>
                    <a:schemeClr val="tx1"/>
                  </a:solidFill>
                  <a:latin typeface="+mj-lt"/>
                </a:rPr>
                <a:t>and KPIs</a:t>
              </a:r>
              <a:endParaRPr lang="en-US" sz="1200" b="1" dirty="0">
                <a:solidFill>
                  <a:schemeClr val="tx1"/>
                </a:solidFill>
                <a:latin typeface="+mj-lt"/>
              </a:endParaRPr>
            </a:p>
          </p:txBody>
        </p:sp>
        <p:cxnSp>
          <p:nvCxnSpPr>
            <p:cNvPr id="22" name="Straight Connector 21"/>
            <p:cNvCxnSpPr/>
            <p:nvPr/>
          </p:nvCxnSpPr>
          <p:spPr>
            <a:xfrm flipH="1" flipV="1">
              <a:off x="3473407" y="4320626"/>
              <a:ext cx="1" cy="8100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1674904" y="4324735"/>
              <a:ext cx="1794199" cy="80827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000" rIns="216000" bIns="36000" rtlCol="0" anchor="ctr" anchorCtr="0"/>
            <a:lstStyle/>
            <a:p>
              <a:pPr algn="r">
                <a:lnSpc>
                  <a:spcPct val="90000"/>
                </a:lnSpc>
              </a:pPr>
              <a:r>
                <a:rPr lang="en-CA" sz="1200" b="1" dirty="0" smtClean="0">
                  <a:solidFill>
                    <a:schemeClr val="tx1"/>
                  </a:solidFill>
                  <a:latin typeface="+mj-lt"/>
                </a:rPr>
                <a:t>People, </a:t>
              </a:r>
              <a:br>
                <a:rPr lang="en-CA" sz="1200" b="1" dirty="0" smtClean="0">
                  <a:solidFill>
                    <a:schemeClr val="tx1"/>
                  </a:solidFill>
                  <a:latin typeface="+mj-lt"/>
                </a:rPr>
              </a:br>
              <a:r>
                <a:rPr lang="en-CA" sz="1200" b="1" dirty="0" smtClean="0">
                  <a:solidFill>
                    <a:schemeClr val="tx1"/>
                  </a:solidFill>
                  <a:latin typeface="+mj-lt"/>
                </a:rPr>
                <a:t>organisation and resourcing</a:t>
              </a:r>
              <a:endParaRPr lang="en-US" sz="1200" b="1" dirty="0">
                <a:solidFill>
                  <a:schemeClr val="tx1"/>
                </a:solidFill>
                <a:latin typeface="+mj-lt"/>
              </a:endParaRPr>
            </a:p>
          </p:txBody>
        </p:sp>
        <p:sp>
          <p:nvSpPr>
            <p:cNvPr id="24" name="Rectangle 23"/>
            <p:cNvSpPr/>
            <p:nvPr/>
          </p:nvSpPr>
          <p:spPr>
            <a:xfrm>
              <a:off x="2395056" y="2761679"/>
              <a:ext cx="2160240" cy="80827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nchorCtr="0"/>
            <a:lstStyle/>
            <a:p>
              <a:pPr algn="ctr">
                <a:lnSpc>
                  <a:spcPct val="90000"/>
                </a:lnSpc>
              </a:pPr>
              <a:r>
                <a:rPr lang="en-CA" sz="1200" b="1" dirty="0" smtClean="0">
                  <a:solidFill>
                    <a:schemeClr val="tx1"/>
                  </a:solidFill>
                  <a:latin typeface="+mj-lt"/>
                </a:rPr>
                <a:t>Business scope </a:t>
              </a:r>
              <a:br>
                <a:rPr lang="en-CA" sz="1200" b="1" dirty="0" smtClean="0">
                  <a:solidFill>
                    <a:schemeClr val="tx1"/>
                  </a:solidFill>
                  <a:latin typeface="+mj-lt"/>
                </a:rPr>
              </a:br>
              <a:r>
                <a:rPr lang="en-CA" sz="1200" b="1" dirty="0" smtClean="0">
                  <a:solidFill>
                    <a:schemeClr val="tx1"/>
                  </a:solidFill>
                  <a:latin typeface="+mj-lt"/>
                </a:rPr>
                <a:t>and process framework</a:t>
              </a:r>
              <a:endParaRPr lang="en-US" sz="1200" b="1" dirty="0">
                <a:solidFill>
                  <a:schemeClr val="tx1"/>
                </a:solidFill>
                <a:latin typeface="+mj-lt"/>
              </a:endParaRPr>
            </a:p>
          </p:txBody>
        </p:sp>
        <p:sp>
          <p:nvSpPr>
            <p:cNvPr id="25" name="Down Arrow 24"/>
            <p:cNvSpPr/>
            <p:nvPr/>
          </p:nvSpPr>
          <p:spPr bwMode="auto">
            <a:xfrm>
              <a:off x="3401457" y="2664520"/>
              <a:ext cx="161841" cy="161841"/>
            </a:xfrm>
            <a:prstGeom prst="downArrow">
              <a:avLst/>
            </a:prstGeom>
            <a:solidFill>
              <a:schemeClr val="bg1">
                <a:lumMod val="7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A" sz="2600" b="1" i="0" u="none" strike="noStrike" cap="none" normalizeH="0" baseline="0" smtClean="0">
                <a:ln>
                  <a:noFill/>
                </a:ln>
                <a:solidFill>
                  <a:schemeClr val="tx1"/>
                </a:solidFill>
                <a:effectLst/>
                <a:latin typeface="+mj-lt"/>
              </a:endParaRPr>
            </a:p>
          </p:txBody>
        </p:sp>
        <p:sp>
          <p:nvSpPr>
            <p:cNvPr id="26" name="Down Arrow 25"/>
            <p:cNvSpPr/>
            <p:nvPr/>
          </p:nvSpPr>
          <p:spPr bwMode="auto">
            <a:xfrm>
              <a:off x="3400109" y="3464280"/>
              <a:ext cx="161841" cy="161841"/>
            </a:xfrm>
            <a:prstGeom prst="downArrow">
              <a:avLst/>
            </a:prstGeom>
            <a:solidFill>
              <a:schemeClr val="bg1">
                <a:lumMod val="7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A" sz="2600" b="1" i="0" u="none" strike="noStrike" cap="none" normalizeH="0" baseline="0" smtClean="0">
                <a:ln>
                  <a:noFill/>
                </a:ln>
                <a:solidFill>
                  <a:schemeClr val="tx1"/>
                </a:solidFill>
                <a:effectLst/>
                <a:latin typeface="+mj-lt"/>
              </a:endParaRPr>
            </a:p>
          </p:txBody>
        </p:sp>
        <p:sp>
          <p:nvSpPr>
            <p:cNvPr id="27" name="Down Arrow 26"/>
            <p:cNvSpPr/>
            <p:nvPr/>
          </p:nvSpPr>
          <p:spPr bwMode="auto">
            <a:xfrm>
              <a:off x="2607093" y="4273480"/>
              <a:ext cx="161841" cy="161841"/>
            </a:xfrm>
            <a:prstGeom prst="downArrow">
              <a:avLst/>
            </a:prstGeom>
            <a:solidFill>
              <a:schemeClr val="bg1">
                <a:lumMod val="7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A" sz="2600" b="1" i="0" u="none" strike="noStrike" cap="none" normalizeH="0" baseline="0" smtClean="0">
                <a:ln>
                  <a:noFill/>
                </a:ln>
                <a:solidFill>
                  <a:schemeClr val="tx1"/>
                </a:solidFill>
                <a:effectLst/>
                <a:latin typeface="+mj-lt"/>
              </a:endParaRPr>
            </a:p>
          </p:txBody>
        </p:sp>
        <p:sp>
          <p:nvSpPr>
            <p:cNvPr id="28" name="Down Arrow 27"/>
            <p:cNvSpPr/>
            <p:nvPr/>
          </p:nvSpPr>
          <p:spPr bwMode="auto">
            <a:xfrm>
              <a:off x="4185033" y="4273480"/>
              <a:ext cx="161841" cy="161841"/>
            </a:xfrm>
            <a:prstGeom prst="downArrow">
              <a:avLst/>
            </a:prstGeom>
            <a:solidFill>
              <a:schemeClr val="bg1">
                <a:lumMod val="7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A" sz="2600" b="1" i="0" u="none" strike="noStrike" cap="none" normalizeH="0" baseline="0" smtClean="0">
                <a:ln>
                  <a:noFill/>
                </a:ln>
                <a:solidFill>
                  <a:schemeClr val="tx1"/>
                </a:solidFill>
                <a:effectLst/>
                <a:latin typeface="+mj-lt"/>
              </a:endParaRPr>
            </a:p>
          </p:txBody>
        </p:sp>
        <p:sp>
          <p:nvSpPr>
            <p:cNvPr id="29" name="Down Arrow 28"/>
            <p:cNvSpPr/>
            <p:nvPr/>
          </p:nvSpPr>
          <p:spPr bwMode="auto">
            <a:xfrm>
              <a:off x="2605745" y="5081332"/>
              <a:ext cx="161841" cy="161841"/>
            </a:xfrm>
            <a:prstGeom prst="downArrow">
              <a:avLst/>
            </a:prstGeom>
            <a:solidFill>
              <a:schemeClr val="bg1">
                <a:lumMod val="7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A" sz="2600" b="1" i="0" u="none" strike="noStrike" cap="none" normalizeH="0" baseline="0" smtClean="0">
                <a:ln>
                  <a:noFill/>
                </a:ln>
                <a:solidFill>
                  <a:schemeClr val="tx1"/>
                </a:solidFill>
                <a:effectLst/>
                <a:latin typeface="+mj-lt"/>
              </a:endParaRPr>
            </a:p>
          </p:txBody>
        </p:sp>
        <p:sp>
          <p:nvSpPr>
            <p:cNvPr id="30" name="Down Arrow 29"/>
            <p:cNvSpPr/>
            <p:nvPr/>
          </p:nvSpPr>
          <p:spPr bwMode="auto">
            <a:xfrm>
              <a:off x="4183685" y="5081332"/>
              <a:ext cx="161841" cy="161841"/>
            </a:xfrm>
            <a:prstGeom prst="downArrow">
              <a:avLst/>
            </a:prstGeom>
            <a:solidFill>
              <a:schemeClr val="bg1">
                <a:lumMod val="7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A" sz="2600" b="1" i="0" u="none" strike="noStrike" cap="none" normalizeH="0" baseline="0" smtClean="0">
                <a:ln>
                  <a:noFill/>
                </a:ln>
                <a:solidFill>
                  <a:schemeClr val="tx1"/>
                </a:solidFill>
                <a:effectLst/>
                <a:latin typeface="+mj-lt"/>
              </a:endParaRPr>
            </a:p>
          </p:txBody>
        </p:sp>
        <p:sp>
          <p:nvSpPr>
            <p:cNvPr id="31" name="Left-Right Arrow 30"/>
            <p:cNvSpPr/>
            <p:nvPr/>
          </p:nvSpPr>
          <p:spPr bwMode="auto">
            <a:xfrm>
              <a:off x="3332679" y="4651106"/>
              <a:ext cx="288000" cy="151200"/>
            </a:xfrm>
            <a:prstGeom prst="leftRightArrow">
              <a:avLst/>
            </a:prstGeom>
            <a:solidFill>
              <a:schemeClr val="bg1">
                <a:lumMod val="7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A" sz="2600" b="1" i="0" u="none" strike="noStrike" cap="none" normalizeH="0" baseline="0" smtClean="0">
                <a:ln>
                  <a:noFill/>
                </a:ln>
                <a:solidFill>
                  <a:schemeClr val="tx1"/>
                </a:solidFill>
                <a:effectLst/>
                <a:latin typeface="+mj-lt"/>
              </a:endParaRPr>
            </a:p>
          </p:txBody>
        </p:sp>
      </p:grpSp>
      <p:sp>
        <p:nvSpPr>
          <p:cNvPr id="32" name="Title 1"/>
          <p:cNvSpPr txBox="1">
            <a:spLocks/>
          </p:cNvSpPr>
          <p:nvPr/>
        </p:nvSpPr>
        <p:spPr bwMode="gray">
          <a:xfrm>
            <a:off x="809624" y="829622"/>
            <a:ext cx="9074151" cy="431800"/>
          </a:xfrm>
          <a:prstGeom prst="rect">
            <a:avLst/>
          </a:prstGeom>
        </p:spPr>
        <p:txBody>
          <a:bodyPr vert="horz" lIns="0" tIns="0" rIns="0" bIns="0" rtlCol="0" anchor="b" anchorCtr="0">
            <a:noAutofit/>
          </a:bodyPr>
          <a:lstStyle>
            <a:lvl1pPr algn="l" defTabSz="1043056" rtl="0" eaLnBrk="1" latinLnBrk="0" hangingPunct="1">
              <a:lnSpc>
                <a:spcPct val="90000"/>
              </a:lnSpc>
              <a:spcBef>
                <a:spcPct val="0"/>
              </a:spcBef>
              <a:buNone/>
              <a:defRPr sz="2400" kern="1200">
                <a:solidFill>
                  <a:schemeClr val="accent1"/>
                </a:solidFill>
                <a:latin typeface="+mj-lt"/>
                <a:ea typeface="+mj-ea"/>
                <a:cs typeface="+mj-cs"/>
              </a:defRPr>
            </a:lvl1pPr>
          </a:lstStyle>
          <a:p>
            <a:r>
              <a:rPr lang="en-US" sz="1600" dirty="0" smtClean="0"/>
              <a:t>A comprehensive operating model is made up of six key components: strategy, scope, governance, organisational structure, processes and technology</a:t>
            </a:r>
            <a:endParaRPr lang="en-CA" sz="1600" dirty="0"/>
          </a:p>
        </p:txBody>
      </p:sp>
      <p:sp>
        <p:nvSpPr>
          <p:cNvPr id="33" name="Slide Number Placeholder 3"/>
          <p:cNvSpPr>
            <a:spLocks noGrp="1"/>
          </p:cNvSpPr>
          <p:nvPr>
            <p:ph type="sldNum" sz="quarter" idx="12"/>
          </p:nvPr>
        </p:nvSpPr>
        <p:spPr>
          <a:xfrm>
            <a:off x="9613899" y="7051675"/>
            <a:ext cx="485775" cy="144000"/>
          </a:xfrm>
        </p:spPr>
        <p:txBody>
          <a:bodyPr/>
          <a:lstStyle/>
          <a:p>
            <a:fld id="{F9A56513-F998-4254-9CEB-F507EE6F3742}" type="slidenum">
              <a:rPr lang="en-GB" smtClean="0"/>
              <a:pPr/>
              <a:t>12</a:t>
            </a:fld>
            <a:endParaRPr lang="en-GB" dirty="0"/>
          </a:p>
        </p:txBody>
      </p:sp>
      <p:sp>
        <p:nvSpPr>
          <p:cNvPr id="49" name="Rectangle 48"/>
          <p:cNvSpPr/>
          <p:nvPr/>
        </p:nvSpPr>
        <p:spPr>
          <a:xfrm>
            <a:off x="809624" y="6444927"/>
            <a:ext cx="9074151" cy="648072"/>
          </a:xfrm>
          <a:prstGeom prst="rect">
            <a:avLst/>
          </a:prstGeom>
          <a:solidFill>
            <a:schemeClr val="accent4"/>
          </a:solidFill>
          <a:ln w="9525" cmpd="sng">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CA" sz="1400" dirty="0" smtClean="0">
                <a:solidFill>
                  <a:schemeClr val="tx1"/>
                </a:solidFill>
              </a:rPr>
              <a:t>An </a:t>
            </a:r>
            <a:r>
              <a:rPr lang="en-CA" sz="1400" dirty="0">
                <a:solidFill>
                  <a:schemeClr val="tx1"/>
                </a:solidFill>
              </a:rPr>
              <a:t>operating model fills the gaps between strategic planning and how you operate on a daily basis. It is everything needed to reach a common understanding of what your strategy means and how it will be put it into practice. </a:t>
            </a:r>
            <a:endParaRPr lang="en-GB" sz="1400" dirty="0">
              <a:solidFill>
                <a:schemeClr val="tx1"/>
              </a:solidFill>
            </a:endParaRPr>
          </a:p>
        </p:txBody>
      </p:sp>
      <p:sp>
        <p:nvSpPr>
          <p:cNvPr id="3" name="Rectangle 2"/>
          <p:cNvSpPr/>
          <p:nvPr/>
        </p:nvSpPr>
        <p:spPr>
          <a:xfrm>
            <a:off x="5303623" y="1616432"/>
            <a:ext cx="4580152" cy="4616648"/>
          </a:xfrm>
          <a:prstGeom prst="rect">
            <a:avLst/>
          </a:prstGeom>
        </p:spPr>
        <p:txBody>
          <a:bodyPr wrap="square">
            <a:spAutoFit/>
          </a:bodyPr>
          <a:lstStyle/>
          <a:p>
            <a:pPr lvl="0"/>
            <a:endParaRPr lang="en-CA" sz="1400" b="1" dirty="0" smtClean="0"/>
          </a:p>
          <a:p>
            <a:pPr marL="285750" lvl="0" indent="-285750" algn="just">
              <a:buFont typeface="Arial" panose="020B0604020202020204" pitchFamily="34" charset="0"/>
              <a:buChar char="►"/>
            </a:pPr>
            <a:r>
              <a:rPr lang="en-CA" sz="1400" b="1" dirty="0" smtClean="0"/>
              <a:t>Strategy</a:t>
            </a:r>
            <a:r>
              <a:rPr lang="en-CA" sz="1400" dirty="0" smtClean="0"/>
              <a:t> </a:t>
            </a:r>
            <a:r>
              <a:rPr lang="en-CA" sz="1400" dirty="0"/>
              <a:t>- Defines the strategy, vision, principles, and the design drivers that will guide the entire target operating </a:t>
            </a:r>
            <a:r>
              <a:rPr lang="en-CA" sz="1400" dirty="0" smtClean="0"/>
              <a:t>model</a:t>
            </a:r>
            <a:endParaRPr lang="en-GB" sz="1400" dirty="0"/>
          </a:p>
          <a:p>
            <a:pPr marL="285750" lvl="0" indent="-285750" algn="just">
              <a:buFont typeface="Arial" panose="020B0604020202020204" pitchFamily="34" charset="0"/>
              <a:buChar char="►"/>
            </a:pPr>
            <a:r>
              <a:rPr lang="en-CA" sz="1400" b="1" dirty="0"/>
              <a:t>Business scope</a:t>
            </a:r>
            <a:r>
              <a:rPr lang="en-CA" sz="1400" dirty="0"/>
              <a:t> - Defines the scope, process framework, or “universe” of services and processes for the TOM, including areas not currently </a:t>
            </a:r>
            <a:r>
              <a:rPr lang="en-CA" sz="1400" dirty="0" smtClean="0"/>
              <a:t>performed</a:t>
            </a:r>
            <a:endParaRPr lang="en-GB" sz="1400" dirty="0"/>
          </a:p>
          <a:p>
            <a:pPr marL="285750" lvl="0" indent="-285750" algn="just">
              <a:buFont typeface="Arial" panose="020B0604020202020204" pitchFamily="34" charset="0"/>
              <a:buChar char="►"/>
            </a:pPr>
            <a:r>
              <a:rPr lang="en-CA" sz="1400" b="1" dirty="0"/>
              <a:t>Conceptual model - </a:t>
            </a:r>
            <a:r>
              <a:rPr lang="en-CA" sz="1400" dirty="0"/>
              <a:t>Defines the high level governance, ownership, roles and the responsibilities for target </a:t>
            </a:r>
            <a:r>
              <a:rPr lang="en-CA" sz="1400" dirty="0" smtClean="0"/>
              <a:t>processes</a:t>
            </a:r>
            <a:endParaRPr lang="en-GB" sz="1400" dirty="0"/>
          </a:p>
          <a:p>
            <a:pPr marL="285750" lvl="0" indent="-285750" algn="just">
              <a:buFont typeface="Arial" panose="020B0604020202020204" pitchFamily="34" charset="0"/>
              <a:buChar char="►"/>
            </a:pPr>
            <a:r>
              <a:rPr lang="en-CA" sz="1400" b="1" dirty="0"/>
              <a:t>Processes and service levels</a:t>
            </a:r>
            <a:r>
              <a:rPr lang="en-CA" sz="1400" dirty="0"/>
              <a:t> - Details how the processes work, defines the desired service levels, and identifies key performance </a:t>
            </a:r>
            <a:r>
              <a:rPr lang="en-CA" sz="1400" dirty="0" smtClean="0"/>
              <a:t>indicators</a:t>
            </a:r>
            <a:endParaRPr lang="en-GB" sz="1400" dirty="0"/>
          </a:p>
          <a:p>
            <a:pPr marL="285750" lvl="0" indent="-285750" algn="just">
              <a:buFont typeface="Arial" panose="020B0604020202020204" pitchFamily="34" charset="0"/>
              <a:buChar char="►"/>
            </a:pPr>
            <a:r>
              <a:rPr lang="en-CA" sz="1400" b="1" dirty="0"/>
              <a:t>People and </a:t>
            </a:r>
            <a:r>
              <a:rPr lang="en-CA" sz="1400" b="1" dirty="0" smtClean="0"/>
              <a:t>organisation</a:t>
            </a:r>
            <a:r>
              <a:rPr lang="en-CA" sz="1400" dirty="0" smtClean="0"/>
              <a:t> </a:t>
            </a:r>
            <a:r>
              <a:rPr lang="en-CA" sz="1400" dirty="0"/>
              <a:t>- Defines the </a:t>
            </a:r>
            <a:r>
              <a:rPr lang="en-CA" sz="1400" dirty="0" smtClean="0"/>
              <a:t>organisational </a:t>
            </a:r>
            <a:r>
              <a:rPr lang="en-CA" sz="1400" dirty="0"/>
              <a:t>structure, teams and resourcing levels required to achieve the desired performance and cost of </a:t>
            </a:r>
            <a:r>
              <a:rPr lang="en-CA" sz="1400" dirty="0" smtClean="0"/>
              <a:t>service</a:t>
            </a:r>
            <a:endParaRPr lang="en-GB" sz="1400" dirty="0"/>
          </a:p>
          <a:p>
            <a:pPr marL="285750" lvl="0" indent="-285750" algn="just">
              <a:buFont typeface="Arial" panose="020B0604020202020204" pitchFamily="34" charset="0"/>
              <a:buChar char="►"/>
            </a:pPr>
            <a:r>
              <a:rPr lang="en-CA" sz="1400" b="1" dirty="0"/>
              <a:t>Technology and information </a:t>
            </a:r>
            <a:r>
              <a:rPr lang="en-CA" sz="1400" dirty="0"/>
              <a:t>- Defines the IT strategy and technology architecture and capability required to support business processes and augment </a:t>
            </a:r>
            <a:r>
              <a:rPr lang="en-CA" sz="1400" dirty="0" smtClean="0"/>
              <a:t>resourcing</a:t>
            </a:r>
            <a:endParaRPr lang="en-GB" sz="1400" dirty="0"/>
          </a:p>
        </p:txBody>
      </p:sp>
    </p:spTree>
    <p:extLst>
      <p:ext uri="{BB962C8B-B14F-4D97-AF65-F5344CB8AC3E}">
        <p14:creationId xmlns:p14="http://schemas.microsoft.com/office/powerpoint/2010/main" val="26922402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2178444" y="3124028"/>
            <a:ext cx="2206302" cy="336882"/>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CA" sz="1400" b="0" dirty="0" smtClean="0">
                <a:solidFill>
                  <a:schemeClr val="tx1">
                    <a:lumMod val="75000"/>
                  </a:schemeClr>
                </a:solidFill>
                <a:latin typeface="+mj-lt"/>
              </a:rPr>
              <a:t>Organisation / structure</a:t>
            </a:r>
          </a:p>
        </p:txBody>
      </p:sp>
      <p:sp>
        <p:nvSpPr>
          <p:cNvPr id="8" name="Rectangle 7"/>
          <p:cNvSpPr/>
          <p:nvPr/>
        </p:nvSpPr>
        <p:spPr bwMode="auto">
          <a:xfrm>
            <a:off x="1793947" y="3506940"/>
            <a:ext cx="1652631" cy="344651"/>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A" sz="1400" b="0" i="0" u="none" strike="noStrike" cap="none" normalizeH="0" baseline="0" dirty="0" smtClean="0">
                <a:ln>
                  <a:noFill/>
                </a:ln>
                <a:solidFill>
                  <a:schemeClr val="tx1">
                    <a:lumMod val="75000"/>
                  </a:schemeClr>
                </a:solidFill>
                <a:effectLst/>
                <a:latin typeface="+mj-lt"/>
              </a:rPr>
              <a:t>Technology</a:t>
            </a:r>
          </a:p>
        </p:txBody>
      </p:sp>
      <p:sp>
        <p:nvSpPr>
          <p:cNvPr id="9" name="Rectangle 8"/>
          <p:cNvSpPr/>
          <p:nvPr/>
        </p:nvSpPr>
        <p:spPr bwMode="auto">
          <a:xfrm>
            <a:off x="2857949" y="4259681"/>
            <a:ext cx="2056703" cy="344651"/>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A" sz="1400" b="0" i="0" u="none" strike="noStrike" cap="none" normalizeH="0" baseline="0" dirty="0" smtClean="0">
                <a:ln>
                  <a:noFill/>
                </a:ln>
                <a:solidFill>
                  <a:schemeClr val="tx1">
                    <a:lumMod val="75000"/>
                  </a:schemeClr>
                </a:solidFill>
                <a:effectLst/>
                <a:latin typeface="+mj-lt"/>
              </a:rPr>
              <a:t>Processes</a:t>
            </a:r>
          </a:p>
        </p:txBody>
      </p:sp>
      <p:sp>
        <p:nvSpPr>
          <p:cNvPr id="10" name="Rectangle 9"/>
          <p:cNvSpPr/>
          <p:nvPr/>
        </p:nvSpPr>
        <p:spPr bwMode="auto">
          <a:xfrm>
            <a:off x="2740342" y="4857331"/>
            <a:ext cx="1848368" cy="373774"/>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A" sz="1400" b="0" i="0" u="none" strike="noStrike" cap="none" normalizeH="0" baseline="0" dirty="0" smtClean="0">
                <a:ln>
                  <a:noFill/>
                </a:ln>
                <a:solidFill>
                  <a:schemeClr val="tx1">
                    <a:lumMod val="75000"/>
                  </a:schemeClr>
                </a:solidFill>
                <a:effectLst/>
                <a:latin typeface="+mj-lt"/>
              </a:rPr>
              <a:t>Service levels</a:t>
            </a:r>
          </a:p>
        </p:txBody>
      </p:sp>
      <p:sp>
        <p:nvSpPr>
          <p:cNvPr id="11" name="Rectangle 10"/>
          <p:cNvSpPr/>
          <p:nvPr/>
        </p:nvSpPr>
        <p:spPr bwMode="auto">
          <a:xfrm>
            <a:off x="2569928" y="3887877"/>
            <a:ext cx="2150378" cy="324266"/>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A" sz="1400" b="0" i="0" u="none" strike="noStrike" cap="none" normalizeH="0" baseline="0" dirty="0" smtClean="0">
                <a:ln>
                  <a:noFill/>
                </a:ln>
                <a:solidFill>
                  <a:schemeClr val="tx1">
                    <a:lumMod val="75000"/>
                  </a:schemeClr>
                </a:solidFill>
                <a:effectLst/>
                <a:latin typeface="+mj-lt"/>
              </a:rPr>
              <a:t>People</a:t>
            </a:r>
          </a:p>
        </p:txBody>
      </p:sp>
      <p:cxnSp>
        <p:nvCxnSpPr>
          <p:cNvPr id="12" name="Straight Connector 11"/>
          <p:cNvCxnSpPr/>
          <p:nvPr/>
        </p:nvCxnSpPr>
        <p:spPr bwMode="auto">
          <a:xfrm flipH="1">
            <a:off x="3244641" y="3216217"/>
            <a:ext cx="20176" cy="2016000"/>
          </a:xfrm>
          <a:prstGeom prst="line">
            <a:avLst/>
          </a:prstGeom>
          <a:ln>
            <a:solidFill>
              <a:srgbClr val="C0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sp>
        <p:nvSpPr>
          <p:cNvPr id="13" name="TextBox 12"/>
          <p:cNvSpPr txBox="1"/>
          <p:nvPr/>
        </p:nvSpPr>
        <p:spPr>
          <a:xfrm>
            <a:off x="809624" y="1708287"/>
            <a:ext cx="4465639" cy="830997"/>
          </a:xfrm>
          <a:prstGeom prst="rect">
            <a:avLst/>
          </a:prstGeom>
          <a:noFill/>
        </p:spPr>
        <p:txBody>
          <a:bodyPr wrap="square" rtlCol="0">
            <a:spAutoFit/>
          </a:bodyPr>
          <a:lstStyle/>
          <a:p>
            <a:pPr algn="ctr"/>
            <a:r>
              <a:rPr lang="en-CA" sz="1200" b="0" dirty="0" smtClean="0">
                <a:latin typeface="+mj-lt"/>
              </a:rPr>
              <a:t>Organisations evolve organically over time or with a focus on responding to issues and improving each element individually. The result is misalignment, often driven by technology or personality based structures. </a:t>
            </a:r>
            <a:endParaRPr lang="en-CA" sz="1200" b="0" dirty="0">
              <a:latin typeface="+mj-lt"/>
            </a:endParaRPr>
          </a:p>
        </p:txBody>
      </p:sp>
      <p:sp>
        <p:nvSpPr>
          <p:cNvPr id="14" name="TextBox 13"/>
          <p:cNvSpPr txBox="1"/>
          <p:nvPr/>
        </p:nvSpPr>
        <p:spPr>
          <a:xfrm>
            <a:off x="5491163" y="1800619"/>
            <a:ext cx="4392611" cy="461665"/>
          </a:xfrm>
          <a:prstGeom prst="rect">
            <a:avLst/>
          </a:prstGeom>
          <a:noFill/>
        </p:spPr>
        <p:txBody>
          <a:bodyPr wrap="square" rtlCol="0">
            <a:spAutoFit/>
          </a:bodyPr>
          <a:lstStyle/>
          <a:p>
            <a:pPr algn="ctr"/>
            <a:r>
              <a:rPr lang="en-CA" sz="1200" b="0" dirty="0" smtClean="0">
                <a:latin typeface="+mj-lt"/>
              </a:rPr>
              <a:t>Deliberately designed elements of a business aligns and reinforce each other to deliver the organisation’s strategy </a:t>
            </a:r>
            <a:endParaRPr lang="en-CA" sz="1200" b="0" dirty="0">
              <a:latin typeface="+mj-lt"/>
            </a:endParaRPr>
          </a:p>
        </p:txBody>
      </p:sp>
      <p:sp>
        <p:nvSpPr>
          <p:cNvPr id="15" name="TextBox 14"/>
          <p:cNvSpPr txBox="1"/>
          <p:nvPr/>
        </p:nvSpPr>
        <p:spPr>
          <a:xfrm>
            <a:off x="809624" y="1412021"/>
            <a:ext cx="4465639" cy="292388"/>
          </a:xfrm>
          <a:prstGeom prst="rect">
            <a:avLst/>
          </a:prstGeom>
          <a:noFill/>
        </p:spPr>
        <p:txBody>
          <a:bodyPr wrap="square" rtlCol="0">
            <a:spAutoFit/>
          </a:bodyPr>
          <a:lstStyle/>
          <a:p>
            <a:pPr algn="ctr"/>
            <a:r>
              <a:rPr lang="en-CA" sz="1300" i="1" u="sng" dirty="0" smtClean="0">
                <a:latin typeface="+mj-lt"/>
              </a:rPr>
              <a:t>Without</a:t>
            </a:r>
            <a:r>
              <a:rPr lang="en-CA" sz="1300" dirty="0" smtClean="0">
                <a:latin typeface="+mj-lt"/>
              </a:rPr>
              <a:t> a target operating model</a:t>
            </a:r>
            <a:endParaRPr lang="en-CA" sz="1300" dirty="0">
              <a:latin typeface="+mj-lt"/>
            </a:endParaRPr>
          </a:p>
        </p:txBody>
      </p:sp>
      <p:sp>
        <p:nvSpPr>
          <p:cNvPr id="16" name="TextBox 15"/>
          <p:cNvSpPr txBox="1"/>
          <p:nvPr/>
        </p:nvSpPr>
        <p:spPr>
          <a:xfrm>
            <a:off x="5491163" y="1404367"/>
            <a:ext cx="4392612" cy="292388"/>
          </a:xfrm>
          <a:prstGeom prst="rect">
            <a:avLst/>
          </a:prstGeom>
          <a:noFill/>
        </p:spPr>
        <p:txBody>
          <a:bodyPr wrap="square" rtlCol="0">
            <a:spAutoFit/>
          </a:bodyPr>
          <a:lstStyle/>
          <a:p>
            <a:pPr algn="ctr"/>
            <a:r>
              <a:rPr lang="en-CA" sz="1300" i="1" u="sng" dirty="0" smtClean="0">
                <a:latin typeface="+mj-lt"/>
              </a:rPr>
              <a:t>With</a:t>
            </a:r>
            <a:r>
              <a:rPr lang="en-CA" sz="1300" dirty="0" smtClean="0">
                <a:latin typeface="+mj-lt"/>
              </a:rPr>
              <a:t> a target operating model</a:t>
            </a:r>
            <a:endParaRPr lang="en-CA" sz="1300" dirty="0">
              <a:latin typeface="+mj-lt"/>
            </a:endParaRPr>
          </a:p>
        </p:txBody>
      </p:sp>
      <p:sp>
        <p:nvSpPr>
          <p:cNvPr id="17" name="Rectangle 16"/>
          <p:cNvSpPr/>
          <p:nvPr/>
        </p:nvSpPr>
        <p:spPr bwMode="auto">
          <a:xfrm>
            <a:off x="6587575" y="3495341"/>
            <a:ext cx="2206800" cy="336882"/>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CA" sz="1400" b="0" dirty="0" smtClean="0">
                <a:solidFill>
                  <a:schemeClr val="tx1">
                    <a:lumMod val="75000"/>
                  </a:schemeClr>
                </a:solidFill>
                <a:latin typeface="+mj-lt"/>
              </a:rPr>
              <a:t>Organisation / structure</a:t>
            </a:r>
          </a:p>
        </p:txBody>
      </p:sp>
      <p:sp>
        <p:nvSpPr>
          <p:cNvPr id="18" name="Rectangle 17"/>
          <p:cNvSpPr/>
          <p:nvPr/>
        </p:nvSpPr>
        <p:spPr bwMode="auto">
          <a:xfrm>
            <a:off x="6587575" y="4252740"/>
            <a:ext cx="2206800" cy="344651"/>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A" sz="1400" b="0" i="0" u="none" strike="noStrike" cap="none" normalizeH="0" baseline="0" dirty="0" smtClean="0">
                <a:ln>
                  <a:noFill/>
                </a:ln>
                <a:solidFill>
                  <a:schemeClr val="tx1">
                    <a:lumMod val="75000"/>
                  </a:schemeClr>
                </a:solidFill>
                <a:effectLst/>
                <a:latin typeface="+mj-lt"/>
              </a:rPr>
              <a:t>Technology</a:t>
            </a:r>
          </a:p>
        </p:txBody>
      </p:sp>
      <p:sp>
        <p:nvSpPr>
          <p:cNvPr id="19" name="Rectangle 18"/>
          <p:cNvSpPr/>
          <p:nvPr/>
        </p:nvSpPr>
        <p:spPr bwMode="auto">
          <a:xfrm>
            <a:off x="6587575" y="3106919"/>
            <a:ext cx="2206800" cy="344651"/>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CA" sz="1400" b="0" dirty="0" smtClean="0">
                <a:solidFill>
                  <a:schemeClr val="tx1">
                    <a:lumMod val="75000"/>
                  </a:schemeClr>
                </a:solidFill>
                <a:latin typeface="+mj-lt"/>
              </a:rPr>
              <a:t>Processes</a:t>
            </a:r>
            <a:endParaRPr kumimoji="0" lang="en-CA" sz="1400" b="0" i="0" u="none" strike="noStrike" cap="none" normalizeH="0" baseline="0" dirty="0" smtClean="0">
              <a:ln>
                <a:noFill/>
              </a:ln>
              <a:solidFill>
                <a:schemeClr val="tx1">
                  <a:lumMod val="75000"/>
                </a:schemeClr>
              </a:solidFill>
              <a:effectLst/>
              <a:latin typeface="+mj-lt"/>
            </a:endParaRPr>
          </a:p>
        </p:txBody>
      </p:sp>
      <p:sp>
        <p:nvSpPr>
          <p:cNvPr id="20" name="Rectangle 19"/>
          <p:cNvSpPr/>
          <p:nvPr/>
        </p:nvSpPr>
        <p:spPr bwMode="auto">
          <a:xfrm>
            <a:off x="6596284" y="4638133"/>
            <a:ext cx="2206800" cy="373774"/>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A" sz="1400" b="0" i="0" u="none" strike="noStrike" cap="none" normalizeH="0" baseline="0" dirty="0" smtClean="0">
                <a:ln>
                  <a:noFill/>
                </a:ln>
                <a:solidFill>
                  <a:schemeClr val="tx1">
                    <a:lumMod val="75000"/>
                  </a:schemeClr>
                </a:solidFill>
                <a:effectLst/>
                <a:latin typeface="+mj-lt"/>
              </a:rPr>
              <a:t>Service levels</a:t>
            </a:r>
          </a:p>
        </p:txBody>
      </p:sp>
      <p:sp>
        <p:nvSpPr>
          <p:cNvPr id="21" name="Rectangle 20"/>
          <p:cNvSpPr/>
          <p:nvPr/>
        </p:nvSpPr>
        <p:spPr bwMode="auto">
          <a:xfrm>
            <a:off x="6587575" y="3884703"/>
            <a:ext cx="2206800" cy="324266"/>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A" sz="1400" b="0" i="0" u="none" strike="noStrike" cap="none" normalizeH="0" baseline="0" dirty="0" smtClean="0">
                <a:ln>
                  <a:noFill/>
                </a:ln>
                <a:solidFill>
                  <a:schemeClr val="tx1">
                    <a:lumMod val="75000"/>
                  </a:schemeClr>
                </a:solidFill>
                <a:effectLst/>
                <a:latin typeface="+mj-lt"/>
              </a:rPr>
              <a:t>People</a:t>
            </a:r>
          </a:p>
        </p:txBody>
      </p:sp>
      <p:cxnSp>
        <p:nvCxnSpPr>
          <p:cNvPr id="22" name="Straight Connector 21"/>
          <p:cNvCxnSpPr>
            <a:endCxn id="20" idx="2"/>
          </p:cNvCxnSpPr>
          <p:nvPr/>
        </p:nvCxnSpPr>
        <p:spPr bwMode="auto">
          <a:xfrm>
            <a:off x="7688809" y="2963493"/>
            <a:ext cx="10875" cy="2048414"/>
          </a:xfrm>
          <a:prstGeom prst="line">
            <a:avLst/>
          </a:prstGeom>
          <a:ln>
            <a:solidFill>
              <a:srgbClr val="C0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sp>
        <p:nvSpPr>
          <p:cNvPr id="23" name="Snip Diagonal Corner Rectangle 22"/>
          <p:cNvSpPr/>
          <p:nvPr/>
        </p:nvSpPr>
        <p:spPr bwMode="auto">
          <a:xfrm>
            <a:off x="1965966" y="2644391"/>
            <a:ext cx="2206370" cy="360000"/>
          </a:xfrm>
          <a:prstGeom prst="snip2DiagRect">
            <a:avLst>
              <a:gd name="adj1" fmla="val 0"/>
              <a:gd name="adj2" fmla="val 22286"/>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A" sz="1600" b="1" i="0" u="none" strike="noStrike" cap="none" normalizeH="0" baseline="0" dirty="0" smtClean="0">
                <a:ln>
                  <a:noFill/>
                </a:ln>
                <a:solidFill>
                  <a:schemeClr val="tx1">
                    <a:lumMod val="75000"/>
                  </a:schemeClr>
                </a:solidFill>
                <a:effectLst/>
                <a:latin typeface="+mj-lt"/>
              </a:rPr>
              <a:t>Strategy</a:t>
            </a:r>
          </a:p>
        </p:txBody>
      </p:sp>
      <p:sp>
        <p:nvSpPr>
          <p:cNvPr id="24" name="Snip Diagonal Corner Rectangle 23"/>
          <p:cNvSpPr/>
          <p:nvPr/>
        </p:nvSpPr>
        <p:spPr bwMode="auto">
          <a:xfrm>
            <a:off x="6592666" y="2628503"/>
            <a:ext cx="2206370" cy="360000"/>
          </a:xfrm>
          <a:prstGeom prst="snip2DiagRect">
            <a:avLst>
              <a:gd name="adj1" fmla="val 0"/>
              <a:gd name="adj2" fmla="val 22286"/>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A" sz="1600" b="1" i="0" u="none" strike="noStrike" cap="none" normalizeH="0" baseline="0" dirty="0" smtClean="0">
                <a:ln>
                  <a:noFill/>
                </a:ln>
                <a:solidFill>
                  <a:schemeClr val="tx1">
                    <a:lumMod val="75000"/>
                  </a:schemeClr>
                </a:solidFill>
                <a:effectLst/>
                <a:latin typeface="+mj-lt"/>
              </a:rPr>
              <a:t>Strategy</a:t>
            </a:r>
          </a:p>
        </p:txBody>
      </p:sp>
      <p:sp>
        <p:nvSpPr>
          <p:cNvPr id="25" name="Title 1"/>
          <p:cNvSpPr>
            <a:spLocks noGrp="1"/>
          </p:cNvSpPr>
          <p:nvPr>
            <p:ph type="title"/>
          </p:nvPr>
        </p:nvSpPr>
        <p:spPr>
          <a:xfrm>
            <a:off x="809624" y="108223"/>
            <a:ext cx="9074151" cy="612000"/>
          </a:xfrm>
        </p:spPr>
        <p:txBody>
          <a:bodyPr/>
          <a:lstStyle/>
          <a:p>
            <a:r>
              <a:rPr lang="en-GB" dirty="0" smtClean="0"/>
              <a:t>Why design a target operating model? </a:t>
            </a:r>
            <a:endParaRPr lang="en-GB" dirty="0"/>
          </a:p>
        </p:txBody>
      </p:sp>
      <p:sp>
        <p:nvSpPr>
          <p:cNvPr id="26" name="Title 1"/>
          <p:cNvSpPr txBox="1">
            <a:spLocks/>
          </p:cNvSpPr>
          <p:nvPr/>
        </p:nvSpPr>
        <p:spPr bwMode="gray">
          <a:xfrm>
            <a:off x="809624" y="756543"/>
            <a:ext cx="9074151" cy="431800"/>
          </a:xfrm>
          <a:prstGeom prst="rect">
            <a:avLst/>
          </a:prstGeom>
        </p:spPr>
        <p:txBody>
          <a:bodyPr vert="horz" lIns="0" tIns="0" rIns="0" bIns="0" rtlCol="0" anchor="b" anchorCtr="0">
            <a:noAutofit/>
          </a:bodyPr>
          <a:lstStyle>
            <a:lvl1pPr algn="l" defTabSz="1043056" rtl="0" eaLnBrk="1" latinLnBrk="0" hangingPunct="1">
              <a:lnSpc>
                <a:spcPct val="90000"/>
              </a:lnSpc>
              <a:spcBef>
                <a:spcPct val="0"/>
              </a:spcBef>
              <a:buNone/>
              <a:defRPr sz="2400" kern="1200">
                <a:solidFill>
                  <a:schemeClr val="accent1"/>
                </a:solidFill>
                <a:latin typeface="+mj-lt"/>
                <a:ea typeface="+mj-ea"/>
                <a:cs typeface="+mj-cs"/>
              </a:defRPr>
            </a:lvl1pPr>
          </a:lstStyle>
          <a:p>
            <a:r>
              <a:rPr lang="en-US" sz="1600" dirty="0" smtClean="0"/>
              <a:t>To create a structure that achieves the benefits of scale, flexibility and efficiency as you grow</a:t>
            </a:r>
            <a:endParaRPr lang="en-CA" sz="1600" dirty="0"/>
          </a:p>
        </p:txBody>
      </p:sp>
      <p:sp>
        <p:nvSpPr>
          <p:cNvPr id="27" name="Slide Number Placeholder 3"/>
          <p:cNvSpPr>
            <a:spLocks noGrp="1"/>
          </p:cNvSpPr>
          <p:nvPr>
            <p:ph type="sldNum" sz="quarter" idx="12"/>
          </p:nvPr>
        </p:nvSpPr>
        <p:spPr>
          <a:xfrm>
            <a:off x="9613899" y="7051675"/>
            <a:ext cx="485775" cy="144000"/>
          </a:xfrm>
        </p:spPr>
        <p:txBody>
          <a:bodyPr/>
          <a:lstStyle/>
          <a:p>
            <a:fld id="{F9A56513-F998-4254-9CEB-F507EE6F3742}" type="slidenum">
              <a:rPr lang="en-GB" smtClean="0"/>
              <a:pPr/>
              <a:t>13</a:t>
            </a:fld>
            <a:endParaRPr lang="en-GB" dirty="0"/>
          </a:p>
        </p:txBody>
      </p:sp>
      <p:sp>
        <p:nvSpPr>
          <p:cNvPr id="29" name="Content Placeholder 2"/>
          <p:cNvSpPr txBox="1">
            <a:spLocks/>
          </p:cNvSpPr>
          <p:nvPr/>
        </p:nvSpPr>
        <p:spPr>
          <a:xfrm>
            <a:off x="793147" y="5304225"/>
            <a:ext cx="9090627" cy="1932790"/>
          </a:xfrm>
          <a:prstGeom prst="rect">
            <a:avLst/>
          </a:prstGeom>
          <a:noFill/>
          <a:ln>
            <a:solidFill>
              <a:schemeClr val="accent4"/>
            </a:solidFill>
          </a:ln>
        </p:spPr>
        <p:txBody>
          <a:bodyPr/>
          <a:lstStyle/>
          <a:p>
            <a:pPr eaLnBrk="0" hangingPunct="0">
              <a:spcAft>
                <a:spcPts val="600"/>
              </a:spcAft>
              <a:buClr>
                <a:srgbClr val="FFD200"/>
              </a:buClr>
              <a:buSzPct val="75000"/>
              <a:defRPr/>
            </a:pPr>
            <a:r>
              <a:rPr lang="en-US" sz="1200" b="0" dirty="0" smtClean="0">
                <a:latin typeface="+mj-lt"/>
              </a:rPr>
              <a:t>An effective TOM is a strategic blueprint for </a:t>
            </a:r>
            <a:r>
              <a:rPr lang="en-US" sz="1200" dirty="0" smtClean="0">
                <a:latin typeface="+mj-lt"/>
              </a:rPr>
              <a:t>driving growth</a:t>
            </a:r>
            <a:r>
              <a:rPr lang="en-US" sz="1200" b="0" dirty="0" smtClean="0">
                <a:latin typeface="+mj-lt"/>
              </a:rPr>
              <a:t>, making sure all components align and fit together</a:t>
            </a:r>
            <a:r>
              <a:rPr lang="en-US" sz="1200" dirty="0" smtClean="0">
                <a:latin typeface="+mj-lt"/>
              </a:rPr>
              <a:t>. It</a:t>
            </a:r>
            <a:r>
              <a:rPr lang="en-CA" sz="1200" b="0" kern="0" dirty="0" smtClean="0">
                <a:latin typeface="+mj-lt"/>
              </a:rPr>
              <a:t> enables a strategic approach that:</a:t>
            </a:r>
            <a:endParaRPr kumimoji="0" lang="en-CA" sz="1200" b="0" i="0" u="none" strike="noStrike" kern="0" cap="none" spc="0" normalizeH="0" baseline="0" noProof="0" dirty="0" smtClean="0">
              <a:ln>
                <a:noFill/>
              </a:ln>
              <a:effectLst/>
              <a:uLnTx/>
              <a:uFillTx/>
              <a:latin typeface="+mj-lt"/>
            </a:endParaRPr>
          </a:p>
          <a:p>
            <a:pPr marL="461962" lvl="1" indent="-285750" eaLnBrk="0" hangingPunct="0">
              <a:spcAft>
                <a:spcPts val="600"/>
              </a:spcAft>
              <a:buSzPct val="100000"/>
              <a:buFont typeface="Arial" panose="020B0604020202020204" pitchFamily="34" charset="0"/>
              <a:buChar char="►"/>
              <a:defRPr/>
            </a:pPr>
            <a:r>
              <a:rPr kumimoji="0" lang="en-CA" sz="1200" b="0" i="0" u="none" strike="noStrike" kern="0" cap="none" spc="0" normalizeH="0" baseline="0" noProof="0" dirty="0" smtClean="0">
                <a:ln>
                  <a:noFill/>
                </a:ln>
                <a:effectLst/>
                <a:uLnTx/>
                <a:uFillTx/>
                <a:latin typeface="+mj-lt"/>
              </a:rPr>
              <a:t>Provides clarity on where you</a:t>
            </a:r>
            <a:r>
              <a:rPr kumimoji="0" lang="en-CA" sz="1200" b="0" i="0" u="none" strike="noStrike" kern="0" cap="none" spc="0" normalizeH="0" noProof="0" dirty="0" smtClean="0">
                <a:ln>
                  <a:noFill/>
                </a:ln>
                <a:effectLst/>
                <a:uLnTx/>
                <a:uFillTx/>
                <a:latin typeface="+mj-lt"/>
              </a:rPr>
              <a:t> are h</a:t>
            </a:r>
            <a:r>
              <a:rPr kumimoji="0" lang="en-CA" sz="1200" b="0" i="0" u="none" strike="noStrike" kern="0" cap="none" spc="0" normalizeH="0" baseline="0" noProof="0" dirty="0" smtClean="0">
                <a:ln>
                  <a:noFill/>
                </a:ln>
                <a:effectLst/>
                <a:uLnTx/>
                <a:uFillTx/>
                <a:latin typeface="+mj-lt"/>
              </a:rPr>
              <a:t>eading and what </a:t>
            </a:r>
            <a:r>
              <a:rPr lang="en-CA" sz="1200" kern="0" dirty="0">
                <a:latin typeface="+mj-lt"/>
              </a:rPr>
              <a:t> </a:t>
            </a:r>
            <a:r>
              <a:rPr lang="en-CA" sz="1200" kern="0" dirty="0" smtClean="0">
                <a:latin typeface="+mj-lt"/>
              </a:rPr>
              <a:t>the business </a:t>
            </a:r>
            <a:r>
              <a:rPr kumimoji="0" lang="en-CA" sz="1200" b="0" i="0" u="none" strike="noStrike" kern="0" cap="none" spc="0" normalizeH="0" noProof="0" dirty="0" smtClean="0">
                <a:ln>
                  <a:noFill/>
                </a:ln>
                <a:effectLst/>
                <a:uLnTx/>
                <a:uFillTx/>
                <a:latin typeface="+mj-lt"/>
              </a:rPr>
              <a:t>should </a:t>
            </a:r>
            <a:r>
              <a:rPr kumimoji="0" lang="en-CA" sz="1200" b="0" i="0" u="none" strike="noStrike" kern="0" cap="none" spc="0" normalizeH="0" baseline="0" noProof="0" dirty="0" smtClean="0">
                <a:ln>
                  <a:noFill/>
                </a:ln>
                <a:effectLst/>
                <a:uLnTx/>
                <a:uFillTx/>
                <a:latin typeface="+mj-lt"/>
              </a:rPr>
              <a:t>look </a:t>
            </a:r>
            <a:r>
              <a:rPr lang="en-CA" sz="1200" kern="0" noProof="0" dirty="0" smtClean="0">
                <a:latin typeface="+mj-lt"/>
              </a:rPr>
              <a:t>like</a:t>
            </a:r>
            <a:r>
              <a:rPr kumimoji="0" lang="en-CA" sz="1200" b="0" i="0" u="none" strike="noStrike" kern="0" cap="none" spc="0" normalizeH="0" baseline="0" noProof="0" dirty="0" smtClean="0">
                <a:ln>
                  <a:noFill/>
                </a:ln>
                <a:effectLst/>
                <a:uLnTx/>
                <a:uFillTx/>
                <a:latin typeface="+mj-lt"/>
              </a:rPr>
              <a:t> in the future</a:t>
            </a:r>
          </a:p>
          <a:p>
            <a:pPr marL="461962" lvl="1" indent="-285750" eaLnBrk="0" hangingPunct="0">
              <a:spcAft>
                <a:spcPts val="600"/>
              </a:spcAft>
              <a:buSzPct val="100000"/>
              <a:buFont typeface="Arial" panose="020B0604020202020204" pitchFamily="34" charset="0"/>
              <a:buChar char="►"/>
              <a:defRPr/>
            </a:pPr>
            <a:r>
              <a:rPr lang="en-CA" sz="1200" kern="0" dirty="0" smtClean="0"/>
              <a:t>Gives </a:t>
            </a:r>
            <a:r>
              <a:rPr lang="en-CA" sz="1200" kern="0" dirty="0"/>
              <a:t>direction on where to focus </a:t>
            </a:r>
            <a:r>
              <a:rPr lang="en-CA" sz="1200" kern="0" dirty="0" smtClean="0"/>
              <a:t>your </a:t>
            </a:r>
            <a:r>
              <a:rPr lang="en-CA" sz="1200" kern="0" dirty="0"/>
              <a:t>efforts </a:t>
            </a:r>
            <a:r>
              <a:rPr lang="en-CA" sz="1200" kern="0" dirty="0" smtClean="0"/>
              <a:t>by </a:t>
            </a:r>
            <a:r>
              <a:rPr lang="en-CA" sz="1200" kern="0" dirty="0"/>
              <a:t>showing areas most out of </a:t>
            </a:r>
            <a:r>
              <a:rPr lang="en-CA" sz="1200" kern="0" dirty="0" smtClean="0"/>
              <a:t>alignment and the best order to </a:t>
            </a:r>
            <a:r>
              <a:rPr lang="en-CA" sz="1200" kern="0" dirty="0"/>
              <a:t>develop </a:t>
            </a:r>
            <a:r>
              <a:rPr lang="en-CA" sz="1200" kern="0" dirty="0" smtClean="0"/>
              <a:t>each</a:t>
            </a:r>
            <a:endParaRPr kumimoji="0" lang="en-CA" sz="1200" b="0" i="0" u="none" strike="noStrike" kern="0" cap="none" spc="0" normalizeH="0" baseline="0" noProof="0" dirty="0" smtClean="0">
              <a:ln>
                <a:noFill/>
              </a:ln>
              <a:effectLst/>
              <a:uLnTx/>
              <a:uFillTx/>
              <a:latin typeface="+mj-lt"/>
            </a:endParaRPr>
          </a:p>
          <a:p>
            <a:pPr marL="461962" lvl="1" indent="-285750" eaLnBrk="0" hangingPunct="0">
              <a:spcAft>
                <a:spcPts val="600"/>
              </a:spcAft>
              <a:buSzPct val="100000"/>
              <a:buFont typeface="Arial" panose="020B0604020202020204" pitchFamily="34" charset="0"/>
              <a:buChar char="►"/>
              <a:defRPr/>
            </a:pPr>
            <a:r>
              <a:rPr lang="en-CA" sz="1200" kern="0" dirty="0" smtClean="0">
                <a:latin typeface="+mj-lt"/>
              </a:rPr>
              <a:t>Helps you to identify </a:t>
            </a:r>
            <a:r>
              <a:rPr kumimoji="0" lang="en-CA" sz="1200" b="0" i="0" u="none" strike="noStrike" kern="0" cap="none" spc="0" normalizeH="0" baseline="0" noProof="0" dirty="0" smtClean="0">
                <a:ln>
                  <a:noFill/>
                </a:ln>
                <a:effectLst/>
                <a:uLnTx/>
                <a:uFillTx/>
                <a:latin typeface="+mj-lt"/>
              </a:rPr>
              <a:t>how changes in one business element can affect another</a:t>
            </a:r>
          </a:p>
          <a:p>
            <a:pPr marL="461962" lvl="1" indent="-285750" eaLnBrk="0" hangingPunct="0">
              <a:spcAft>
                <a:spcPts val="600"/>
              </a:spcAft>
              <a:buSzPct val="100000"/>
              <a:buFont typeface="Arial" panose="020B0604020202020204" pitchFamily="34" charset="0"/>
              <a:buChar char="►"/>
              <a:defRPr/>
            </a:pPr>
            <a:r>
              <a:rPr lang="en-CA" sz="1200" kern="0" dirty="0" smtClean="0">
                <a:latin typeface="+mj-lt"/>
              </a:rPr>
              <a:t>Clarifies </a:t>
            </a:r>
            <a:r>
              <a:rPr kumimoji="0" lang="en-CA" sz="1200" b="0" i="0" u="none" strike="noStrike" kern="0" cap="none" spc="0" normalizeH="0" baseline="0" noProof="0" dirty="0" smtClean="0">
                <a:ln>
                  <a:noFill/>
                </a:ln>
                <a:effectLst/>
                <a:uLnTx/>
                <a:uFillTx/>
                <a:latin typeface="+mj-lt"/>
              </a:rPr>
              <a:t>the scope of service each of your functions</a:t>
            </a:r>
          </a:p>
          <a:p>
            <a:pPr marL="461962" lvl="1" indent="-285750" eaLnBrk="0" hangingPunct="0">
              <a:spcAft>
                <a:spcPts val="600"/>
              </a:spcAft>
              <a:buSzPct val="100000"/>
              <a:buFont typeface="Arial" panose="020B0604020202020204" pitchFamily="34" charset="0"/>
              <a:buChar char="►"/>
              <a:defRPr/>
            </a:pPr>
            <a:r>
              <a:rPr kumimoji="0" lang="en-CA" sz="1200" b="0" i="0" u="none" strike="noStrike" kern="0" cap="none" spc="0" normalizeH="0" baseline="0" noProof="0" dirty="0" smtClean="0">
                <a:ln>
                  <a:noFill/>
                </a:ln>
                <a:effectLst/>
                <a:uLnTx/>
                <a:uFillTx/>
                <a:latin typeface="+mj-lt"/>
              </a:rPr>
              <a:t>Helps you</a:t>
            </a:r>
            <a:r>
              <a:rPr kumimoji="0" lang="en-CA" sz="1200" b="0" i="0" u="none" strike="noStrike" kern="0" cap="none" spc="0" normalizeH="0" noProof="0" dirty="0" smtClean="0">
                <a:ln>
                  <a:noFill/>
                </a:ln>
                <a:effectLst/>
                <a:uLnTx/>
                <a:uFillTx/>
                <a:latin typeface="+mj-lt"/>
              </a:rPr>
              <a:t> to</a:t>
            </a:r>
            <a:r>
              <a:rPr kumimoji="0" lang="en-CA" sz="1200" b="0" i="0" u="none" strike="noStrike" kern="0" cap="none" spc="0" normalizeH="0" baseline="0" noProof="0" dirty="0" smtClean="0">
                <a:ln>
                  <a:noFill/>
                </a:ln>
                <a:effectLst/>
                <a:uLnTx/>
                <a:uFillTx/>
                <a:latin typeface="+mj-lt"/>
              </a:rPr>
              <a:t> efficiently allocate your resources – you can more easily see the impact of allocating people,</a:t>
            </a:r>
            <a:r>
              <a:rPr kumimoji="0" lang="en-CA" sz="1200" b="0" i="0" u="none" strike="noStrike" kern="0" cap="none" spc="0" normalizeH="0" noProof="0" dirty="0" smtClean="0">
                <a:ln>
                  <a:noFill/>
                </a:ln>
                <a:effectLst/>
                <a:uLnTx/>
                <a:uFillTx/>
                <a:latin typeface="+mj-lt"/>
              </a:rPr>
              <a:t> </a:t>
            </a:r>
            <a:r>
              <a:rPr kumimoji="0" lang="en-CA" sz="1200" b="0" i="0" u="none" strike="noStrike" kern="0" cap="none" spc="0" normalizeH="0" baseline="0" noProof="0" dirty="0" smtClean="0">
                <a:ln>
                  <a:noFill/>
                </a:ln>
                <a:effectLst/>
                <a:uLnTx/>
                <a:uFillTx/>
                <a:latin typeface="+mj-lt"/>
              </a:rPr>
              <a:t>resource or technology investments and the interdependencies and trade-offs</a:t>
            </a:r>
          </a:p>
          <a:p>
            <a:pPr marL="817563" lvl="1" indent="-360363" eaLnBrk="0" hangingPunct="0">
              <a:spcAft>
                <a:spcPts val="600"/>
              </a:spcAft>
              <a:buClr>
                <a:srgbClr val="FFD200"/>
              </a:buClr>
              <a:buSzPct val="75000"/>
              <a:buFont typeface="Arial" charset="0"/>
              <a:buChar char="►"/>
            </a:pPr>
            <a:endParaRPr kumimoji="0" lang="en-CA" sz="1400" b="0" i="0" u="none" strike="noStrike" kern="0" cap="none" spc="0" normalizeH="0" baseline="0" noProof="0" dirty="0">
              <a:ln>
                <a:noFill/>
              </a:ln>
              <a:solidFill>
                <a:srgbClr val="323232"/>
              </a:solidFill>
              <a:effectLst/>
              <a:uLnTx/>
              <a:uFillTx/>
              <a:latin typeface="EYInterstate Light" pitchFamily="2" charset="0"/>
            </a:endParaRPr>
          </a:p>
        </p:txBody>
      </p:sp>
    </p:spTree>
    <p:extLst>
      <p:ext uri="{BB962C8B-B14F-4D97-AF65-F5344CB8AC3E}">
        <p14:creationId xmlns:p14="http://schemas.microsoft.com/office/powerpoint/2010/main" val="1640083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890" y="252239"/>
            <a:ext cx="9072886" cy="612000"/>
          </a:xfrm>
        </p:spPr>
        <p:txBody>
          <a:bodyPr/>
          <a:lstStyle/>
          <a:p>
            <a:r>
              <a:rPr lang="en-CA" dirty="0" smtClean="0"/>
              <a:t>EY Insights – Target operating model design </a:t>
            </a:r>
            <a:r>
              <a:rPr lang="en-CA" dirty="0"/>
              <a:t>p</a:t>
            </a:r>
            <a:r>
              <a:rPr lang="en-CA" dirty="0" smtClean="0"/>
              <a:t>rinciples</a:t>
            </a:r>
            <a:endParaRPr lang="en-GB" dirty="0"/>
          </a:p>
        </p:txBody>
      </p:sp>
      <p:sp>
        <p:nvSpPr>
          <p:cNvPr id="4" name="Slide Number Placeholder 3"/>
          <p:cNvSpPr>
            <a:spLocks noGrp="1"/>
          </p:cNvSpPr>
          <p:nvPr>
            <p:ph type="sldNum" sz="quarter" idx="12"/>
          </p:nvPr>
        </p:nvSpPr>
        <p:spPr/>
        <p:txBody>
          <a:bodyPr/>
          <a:lstStyle/>
          <a:p>
            <a:fld id="{F9A56513-F998-4254-9CEB-F507EE6F3742}" type="slidenum">
              <a:rPr lang="en-GB" smtClean="0"/>
              <a:pPr/>
              <a:t>14</a:t>
            </a:fld>
            <a:endParaRPr lang="en-GB" dirty="0"/>
          </a:p>
        </p:txBody>
      </p:sp>
      <p:sp>
        <p:nvSpPr>
          <p:cNvPr id="10" name="Rectangle 3"/>
          <p:cNvSpPr txBox="1">
            <a:spLocks noChangeArrowheads="1"/>
          </p:cNvSpPr>
          <p:nvPr/>
        </p:nvSpPr>
        <p:spPr>
          <a:xfrm>
            <a:off x="804456" y="3996655"/>
            <a:ext cx="9074150" cy="3240360"/>
          </a:xfrm>
          <a:prstGeom prst="rect">
            <a:avLst/>
          </a:prstGeom>
          <a:noFill/>
        </p:spPr>
        <p:txBody>
          <a:bodyPr/>
          <a:lstStyle>
            <a:lvl1pPr marL="0" indent="0" algn="l" defTabSz="1043056" rtl="0" eaLnBrk="1" latinLnBrk="0" hangingPunct="1">
              <a:spcBef>
                <a:spcPts val="0"/>
              </a:spcBef>
              <a:spcAft>
                <a:spcPts val="500"/>
              </a:spcAft>
              <a:buFont typeface="Arial" pitchFamily="34" charset="0"/>
              <a:buNone/>
              <a:defRPr sz="1000" kern="1200">
                <a:solidFill>
                  <a:schemeClr val="tx1"/>
                </a:solidFill>
                <a:latin typeface="+mn-lt"/>
                <a:ea typeface="+mn-ea"/>
                <a:cs typeface="+mn-cs"/>
              </a:defRPr>
            </a:lvl1pPr>
            <a:lvl2pPr marL="0" indent="0" algn="l" defTabSz="1043056" rtl="0" eaLnBrk="1" latinLnBrk="0" hangingPunct="1">
              <a:spcBef>
                <a:spcPts val="200"/>
              </a:spcBef>
              <a:spcAft>
                <a:spcPts val="500"/>
              </a:spcAft>
              <a:buFontTx/>
              <a:buNone/>
              <a:defRPr sz="1400" b="1" kern="1200">
                <a:solidFill>
                  <a:schemeClr val="tx1"/>
                </a:solidFill>
                <a:latin typeface="+mn-lt"/>
                <a:ea typeface="+mn-ea"/>
                <a:cs typeface="+mn-cs"/>
              </a:defRPr>
            </a:lvl2pPr>
            <a:lvl3pPr marL="0" indent="0" algn="l" defTabSz="1043056" rtl="0" eaLnBrk="1" latinLnBrk="0" hangingPunct="1">
              <a:spcBef>
                <a:spcPts val="200"/>
              </a:spcBef>
              <a:spcAft>
                <a:spcPts val="500"/>
              </a:spcAft>
              <a:buFontTx/>
              <a:buNone/>
              <a:defRPr sz="1200" b="1" kern="1200">
                <a:solidFill>
                  <a:schemeClr val="accent1"/>
                </a:solidFill>
                <a:latin typeface="+mn-lt"/>
                <a:ea typeface="+mn-ea"/>
                <a:cs typeface="+mn-cs"/>
              </a:defRPr>
            </a:lvl3pPr>
            <a:lvl4pPr marL="177800" indent="-177800" algn="l" defTabSz="1043056"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4pPr>
            <a:lvl5pPr marL="342900" indent="-165100" algn="l" defTabSz="1043056"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defTabSz="914400">
              <a:spcAft>
                <a:spcPct val="10000"/>
              </a:spcAft>
              <a:buFont typeface="Arial" charset="0"/>
              <a:buNone/>
            </a:pPr>
            <a:r>
              <a:rPr lang="en-US" altLang="en-US" sz="1400" dirty="0"/>
              <a:t>S</a:t>
            </a:r>
            <a:r>
              <a:rPr lang="en-US" altLang="en-US" sz="1400" dirty="0" smtClean="0"/>
              <a:t>ome example design principles are shown below. These cover both the dimensional perspective and the key criteria of good design principles:</a:t>
            </a:r>
          </a:p>
          <a:p>
            <a:pPr marL="355600" indent="-355600" defTabSz="914400">
              <a:spcAft>
                <a:spcPct val="10000"/>
              </a:spcAft>
              <a:buFont typeface="Arial" charset="0"/>
              <a:buNone/>
            </a:pPr>
            <a:endParaRPr lang="en-US" altLang="en-US" sz="1400" b="1" dirty="0" smtClean="0"/>
          </a:p>
          <a:p>
            <a:pPr indent="-355600" defTabSz="914400">
              <a:spcAft>
                <a:spcPts val="0"/>
              </a:spcAft>
              <a:buFont typeface="Arial" charset="0"/>
              <a:buChar char="►"/>
            </a:pPr>
            <a:r>
              <a:rPr lang="en-US" altLang="en-US" sz="1400" dirty="0"/>
              <a:t>Recommendations must move towards the strategic </a:t>
            </a:r>
            <a:r>
              <a:rPr lang="en-US" altLang="en-US" sz="1400" dirty="0" smtClean="0"/>
              <a:t>goal</a:t>
            </a:r>
          </a:p>
          <a:p>
            <a:pPr indent="-355600" defTabSz="914400">
              <a:spcAft>
                <a:spcPts val="0"/>
              </a:spcAft>
              <a:buFont typeface="Arial" charset="0"/>
              <a:buChar char="►"/>
            </a:pPr>
            <a:r>
              <a:rPr lang="en-US" altLang="en-US" sz="1400" dirty="0" smtClean="0"/>
              <a:t>Recommendations </a:t>
            </a:r>
            <a:r>
              <a:rPr lang="en-US" altLang="en-US" sz="1400" dirty="0"/>
              <a:t>should be scalable to future volume </a:t>
            </a:r>
            <a:r>
              <a:rPr lang="en-US" altLang="en-US" sz="1400" dirty="0" smtClean="0"/>
              <a:t>changes</a:t>
            </a:r>
          </a:p>
          <a:p>
            <a:pPr indent="-355600" defTabSz="914400">
              <a:spcAft>
                <a:spcPts val="0"/>
              </a:spcAft>
              <a:buFont typeface="Arial" charset="0"/>
              <a:buChar char="►"/>
            </a:pPr>
            <a:r>
              <a:rPr lang="en-US" altLang="en-US" sz="1400" dirty="0" smtClean="0"/>
              <a:t>The </a:t>
            </a:r>
            <a:r>
              <a:rPr lang="en-US" altLang="en-US" sz="1400" dirty="0"/>
              <a:t>customer experience should drive </a:t>
            </a:r>
            <a:r>
              <a:rPr lang="en-US" altLang="en-US" sz="1400" dirty="0" smtClean="0"/>
              <a:t>decisions</a:t>
            </a:r>
          </a:p>
          <a:p>
            <a:pPr indent="-355600" defTabSz="914400">
              <a:spcAft>
                <a:spcPts val="0"/>
              </a:spcAft>
              <a:buFont typeface="Arial" charset="0"/>
              <a:buChar char="►"/>
            </a:pPr>
            <a:r>
              <a:rPr lang="en-US" altLang="en-US" sz="1400" dirty="0" smtClean="0"/>
              <a:t>Any change </a:t>
            </a:r>
            <a:r>
              <a:rPr lang="en-US" altLang="en-US" sz="1400" dirty="0"/>
              <a:t>should support the strategic agenda of the </a:t>
            </a:r>
            <a:r>
              <a:rPr lang="en-US" altLang="en-US" sz="1400" dirty="0" smtClean="0"/>
              <a:t>business</a:t>
            </a:r>
            <a:endParaRPr lang="en-US" altLang="en-US" sz="1400" dirty="0"/>
          </a:p>
          <a:p>
            <a:pPr indent="-355600" defTabSz="914400">
              <a:spcAft>
                <a:spcPts val="0"/>
              </a:spcAft>
              <a:buFont typeface="Arial" charset="0"/>
              <a:buChar char="►"/>
            </a:pPr>
            <a:r>
              <a:rPr lang="en-US" altLang="en-US" sz="1400" dirty="0"/>
              <a:t>There should be single points of ownership or accountability</a:t>
            </a:r>
          </a:p>
          <a:p>
            <a:pPr indent="-355600" defTabSz="914400">
              <a:spcAft>
                <a:spcPts val="0"/>
              </a:spcAft>
              <a:buFont typeface="Arial" charset="0"/>
              <a:buChar char="►"/>
            </a:pPr>
            <a:r>
              <a:rPr lang="en-US" altLang="en-US" sz="1400" dirty="0" smtClean="0"/>
              <a:t>All </a:t>
            </a:r>
            <a:r>
              <a:rPr lang="en-US" altLang="en-US" sz="1400" dirty="0"/>
              <a:t>processes should have performance targets and be actively </a:t>
            </a:r>
            <a:r>
              <a:rPr lang="en-US" altLang="en-US" sz="1400" dirty="0" smtClean="0"/>
              <a:t>measured</a:t>
            </a:r>
          </a:p>
          <a:p>
            <a:pPr indent="-355600" defTabSz="914400">
              <a:spcAft>
                <a:spcPts val="0"/>
              </a:spcAft>
              <a:buFont typeface="Arial" charset="0"/>
              <a:buChar char="►"/>
            </a:pPr>
            <a:r>
              <a:rPr lang="en-US" altLang="en-US" sz="1400" dirty="0" smtClean="0"/>
              <a:t>Minimise </a:t>
            </a:r>
            <a:r>
              <a:rPr lang="en-US" altLang="en-US" sz="1400" dirty="0"/>
              <a:t>disruption on </a:t>
            </a:r>
            <a:r>
              <a:rPr lang="en-US" altLang="en-US" sz="1400" dirty="0" smtClean="0"/>
              <a:t>service and teams</a:t>
            </a:r>
          </a:p>
          <a:p>
            <a:pPr indent="-355600" defTabSz="914400">
              <a:spcAft>
                <a:spcPts val="0"/>
              </a:spcAft>
              <a:buFont typeface="Arial" charset="0"/>
              <a:buChar char="►"/>
            </a:pPr>
            <a:r>
              <a:rPr lang="en-US" altLang="en-US" sz="1400" dirty="0"/>
              <a:t>Areas of high cost advantage should be </a:t>
            </a:r>
            <a:r>
              <a:rPr lang="en-US" altLang="en-US" sz="1400" dirty="0" smtClean="0"/>
              <a:t>used</a:t>
            </a:r>
          </a:p>
          <a:p>
            <a:pPr indent="-355600" defTabSz="914400">
              <a:spcAft>
                <a:spcPts val="0"/>
              </a:spcAft>
              <a:buFont typeface="Arial" charset="0"/>
              <a:buChar char="►"/>
            </a:pPr>
            <a:r>
              <a:rPr lang="en-US" altLang="en-US" sz="1400" dirty="0"/>
              <a:t>Recommendations should contribute towards a more variable cost </a:t>
            </a:r>
            <a:r>
              <a:rPr lang="en-US" altLang="en-US" sz="1400" dirty="0" smtClean="0"/>
              <a:t>base</a:t>
            </a:r>
          </a:p>
          <a:p>
            <a:pPr indent="-355600" defTabSz="914400">
              <a:spcAft>
                <a:spcPts val="0"/>
              </a:spcAft>
              <a:buFont typeface="Arial" charset="0"/>
              <a:buChar char="►"/>
            </a:pPr>
            <a:r>
              <a:rPr lang="en-US" altLang="en-US" sz="1400" dirty="0" smtClean="0"/>
              <a:t>Utilise </a:t>
            </a:r>
            <a:r>
              <a:rPr lang="en-US" altLang="en-US" sz="1400" dirty="0"/>
              <a:t>current capability in X area/region, </a:t>
            </a:r>
            <a:r>
              <a:rPr lang="en-US" altLang="en-US" sz="1400" dirty="0" smtClean="0"/>
              <a:t>etc.</a:t>
            </a:r>
            <a:endParaRPr lang="en-US" altLang="en-US" sz="1400" dirty="0"/>
          </a:p>
          <a:p>
            <a:pPr indent="-355600" defTabSz="914400">
              <a:spcAft>
                <a:spcPts val="0"/>
              </a:spcAft>
              <a:buFont typeface="Arial" charset="0"/>
              <a:buChar char="►"/>
            </a:pPr>
            <a:r>
              <a:rPr lang="en-US" altLang="en-US" sz="1400" dirty="0" smtClean="0"/>
              <a:t>Utilise </a:t>
            </a:r>
            <a:r>
              <a:rPr lang="en-US" altLang="en-US" sz="1400" dirty="0"/>
              <a:t>investment in X system </a:t>
            </a:r>
            <a:r>
              <a:rPr lang="en-US" altLang="en-US" sz="1400" dirty="0" smtClean="0"/>
              <a:t>etc.</a:t>
            </a:r>
            <a:endParaRPr lang="en-US" altLang="en-US" sz="1400" dirty="0"/>
          </a:p>
          <a:p>
            <a:pPr indent="-355600" defTabSz="914400">
              <a:spcAft>
                <a:spcPts val="600"/>
              </a:spcAft>
              <a:buFont typeface="Arial" charset="0"/>
              <a:buChar char="►"/>
            </a:pPr>
            <a:endParaRPr lang="en-US" altLang="en-US" sz="1200" dirty="0" smtClean="0"/>
          </a:p>
          <a:p>
            <a:pPr defTabSz="914400">
              <a:spcAft>
                <a:spcPts val="600"/>
              </a:spcAft>
            </a:pPr>
            <a:endParaRPr lang="en-US" altLang="en-US" sz="1200" dirty="0" smtClean="0"/>
          </a:p>
        </p:txBody>
      </p:sp>
      <p:sp>
        <p:nvSpPr>
          <p:cNvPr id="11" name="Content Placeholder 4"/>
          <p:cNvSpPr>
            <a:spLocks noGrp="1"/>
          </p:cNvSpPr>
          <p:nvPr>
            <p:ph idx="4294967295"/>
          </p:nvPr>
        </p:nvSpPr>
        <p:spPr>
          <a:xfrm>
            <a:off x="787557" y="1188343"/>
            <a:ext cx="9074150" cy="2664494"/>
          </a:xfrm>
          <a:prstGeom prst="rect">
            <a:avLst/>
          </a:prstGeom>
          <a:solidFill>
            <a:schemeClr val="bg1">
              <a:lumMod val="95000"/>
            </a:schemeClr>
          </a:solidFill>
          <a:ln>
            <a:prstDash val="sysDot"/>
          </a:ln>
        </p:spPr>
        <p:txBody>
          <a:bodyPr/>
          <a:lstStyle/>
          <a:p>
            <a:pPr lvl="0"/>
            <a:r>
              <a:rPr lang="en-CA" sz="1400" dirty="0" smtClean="0"/>
              <a:t>The </a:t>
            </a:r>
            <a:r>
              <a:rPr lang="en-CA" sz="1400" dirty="0"/>
              <a:t>value of solid design </a:t>
            </a:r>
            <a:r>
              <a:rPr lang="en-CA" sz="1400" dirty="0" smtClean="0"/>
              <a:t>principles cannot </a:t>
            </a:r>
            <a:r>
              <a:rPr lang="en-CA" sz="1400" dirty="0"/>
              <a:t>be underestimated. They drive the alignment of your entire operating model to your corporate strategy, and need to be agreed as early as possible with representation from across the </a:t>
            </a:r>
            <a:r>
              <a:rPr lang="en-CA" sz="1400" dirty="0" smtClean="0"/>
              <a:t>organisation </a:t>
            </a:r>
            <a:r>
              <a:rPr lang="en-CA" sz="1400" dirty="0"/>
              <a:t>to provide a strong backbone for </a:t>
            </a:r>
            <a:r>
              <a:rPr lang="en-CA" sz="1400" dirty="0" smtClean="0"/>
              <a:t>the target operating model. A good set of design principles will: </a:t>
            </a:r>
          </a:p>
          <a:p>
            <a:pPr lvl="0"/>
            <a:endParaRPr lang="en-US" sz="1400" dirty="0" smtClean="0"/>
          </a:p>
          <a:p>
            <a:pPr marL="285750" indent="-285750">
              <a:spcAft>
                <a:spcPts val="600"/>
              </a:spcAft>
              <a:buFont typeface="Arial" panose="020B0604020202020204" pitchFamily="34" charset="0"/>
              <a:buChar char="►"/>
            </a:pPr>
            <a:r>
              <a:rPr lang="en-US" sz="1400" dirty="0"/>
              <a:t>A</a:t>
            </a:r>
            <a:r>
              <a:rPr lang="en-US" sz="1400" dirty="0" smtClean="0"/>
              <a:t>rticulate a set of characteristics describing how the organisation should operate, look, and feel in the future</a:t>
            </a:r>
          </a:p>
          <a:p>
            <a:pPr marL="285750" indent="-285750">
              <a:spcAft>
                <a:spcPts val="600"/>
              </a:spcAft>
              <a:buFont typeface="Arial" panose="020B0604020202020204" pitchFamily="34" charset="0"/>
              <a:buChar char="►"/>
            </a:pPr>
            <a:r>
              <a:rPr lang="en-US" sz="1400" dirty="0"/>
              <a:t>E</a:t>
            </a:r>
            <a:r>
              <a:rPr lang="en-US" sz="1400" dirty="0" smtClean="0"/>
              <a:t>ncapsulate the key things important if the vision for the future is to be delivered</a:t>
            </a:r>
          </a:p>
          <a:p>
            <a:pPr marL="285750" indent="-285750">
              <a:spcAft>
                <a:spcPts val="600"/>
              </a:spcAft>
              <a:buFont typeface="Arial" panose="020B0604020202020204" pitchFamily="34" charset="0"/>
              <a:buChar char="►"/>
            </a:pPr>
            <a:r>
              <a:rPr lang="en-US" sz="1400" dirty="0"/>
              <a:t>F</a:t>
            </a:r>
            <a:r>
              <a:rPr lang="en-US" sz="1400" dirty="0" smtClean="0"/>
              <a:t>ocus </a:t>
            </a:r>
            <a:r>
              <a:rPr lang="en-US" sz="1400" dirty="0"/>
              <a:t>on the key things that need to be changed or that will really make a </a:t>
            </a:r>
            <a:r>
              <a:rPr lang="en-US" sz="1400" dirty="0" smtClean="0"/>
              <a:t>difference</a:t>
            </a:r>
          </a:p>
          <a:p>
            <a:pPr marL="285750" indent="-285750">
              <a:spcAft>
                <a:spcPts val="600"/>
              </a:spcAft>
              <a:buFont typeface="Arial" panose="020B0604020202020204" pitchFamily="34" charset="0"/>
              <a:buChar char="►"/>
            </a:pPr>
            <a:r>
              <a:rPr lang="en-US" sz="1400" dirty="0"/>
              <a:t>A</a:t>
            </a:r>
            <a:r>
              <a:rPr lang="en-US" sz="1400" dirty="0" smtClean="0"/>
              <a:t>ccount for the strategy, the customer value propositions, the culture required and the critical competencies needed to deliver the new model</a:t>
            </a:r>
          </a:p>
          <a:p>
            <a:pPr>
              <a:spcAft>
                <a:spcPts val="0"/>
              </a:spcAft>
            </a:pPr>
            <a:endParaRPr lang="en-US" sz="1600" dirty="0" smtClean="0"/>
          </a:p>
          <a:p>
            <a:pPr>
              <a:spcAft>
                <a:spcPts val="0"/>
              </a:spcAft>
            </a:pPr>
            <a:endParaRPr lang="en-US" sz="1600" dirty="0" smtClean="0"/>
          </a:p>
        </p:txBody>
      </p:sp>
    </p:spTree>
    <p:extLst>
      <p:ext uri="{BB962C8B-B14F-4D97-AF65-F5344CB8AC3E}">
        <p14:creationId xmlns:p14="http://schemas.microsoft.com/office/powerpoint/2010/main" val="10874828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a:spLocks noGrp="1"/>
          </p:cNvSpPr>
          <p:nvPr>
            <p:ph type="title"/>
          </p:nvPr>
        </p:nvSpPr>
        <p:spPr>
          <a:xfrm>
            <a:off x="666180" y="195433"/>
            <a:ext cx="9074151" cy="612000"/>
          </a:xfrm>
        </p:spPr>
        <p:txBody>
          <a:bodyPr/>
          <a:lstStyle/>
          <a:p>
            <a:r>
              <a:rPr lang="en-GB" dirty="0" smtClean="0"/>
              <a:t>Starting to build your target operating model</a:t>
            </a:r>
            <a:endParaRPr lang="en-GB" dirty="0"/>
          </a:p>
        </p:txBody>
      </p:sp>
      <p:sp>
        <p:nvSpPr>
          <p:cNvPr id="5" name="Rectangle 4"/>
          <p:cNvSpPr/>
          <p:nvPr/>
        </p:nvSpPr>
        <p:spPr>
          <a:xfrm>
            <a:off x="676664" y="974060"/>
            <a:ext cx="9207112" cy="790347"/>
          </a:xfrm>
          <a:prstGeom prst="rect">
            <a:avLst/>
          </a:prstGeom>
          <a:solidFill>
            <a:srgbClr val="FFD200"/>
          </a:solidFill>
          <a:ln w="12700" cmpd="sng">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200" b="1" dirty="0" smtClean="0">
                <a:solidFill>
                  <a:schemeClr val="tx1"/>
                </a:solidFill>
              </a:rPr>
              <a:t>Activity (75 minutes): Using the outputs from the SWOT analysis begin to develop your company target operating model. The first stage is understanding the current organisation structure ‘as’-is’, the desired future state </a:t>
            </a:r>
            <a:r>
              <a:rPr lang="en-GB" sz="1200" b="1" dirty="0">
                <a:solidFill>
                  <a:schemeClr val="tx1"/>
                </a:solidFill>
              </a:rPr>
              <a:t> </a:t>
            </a:r>
            <a:r>
              <a:rPr lang="en-GB" sz="1200" b="1" dirty="0" smtClean="0">
                <a:solidFill>
                  <a:schemeClr val="tx1"/>
                </a:solidFill>
              </a:rPr>
              <a:t>then developing a conceptual model that reflects what you’re currently  doing and what you could be doing supported by design principles.</a:t>
            </a:r>
            <a:endParaRPr lang="en-GB" sz="1200" b="1" dirty="0">
              <a:solidFill>
                <a:schemeClr val="tx1"/>
              </a:solidFill>
            </a:endParaRPr>
          </a:p>
        </p:txBody>
      </p:sp>
      <p:sp>
        <p:nvSpPr>
          <p:cNvPr id="44"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15</a:t>
            </a:fld>
            <a:endParaRPr lang="en-GB" sz="800" dirty="0">
              <a:solidFill>
                <a:srgbClr val="808080"/>
              </a:solidFill>
            </a:endParaRPr>
          </a:p>
        </p:txBody>
      </p:sp>
      <p:sp>
        <p:nvSpPr>
          <p:cNvPr id="2" name="Rectangle 1"/>
          <p:cNvSpPr/>
          <p:nvPr/>
        </p:nvSpPr>
        <p:spPr>
          <a:xfrm>
            <a:off x="738189" y="3106507"/>
            <a:ext cx="3456384" cy="1295426"/>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defRPr/>
            </a:pPr>
            <a:r>
              <a:rPr lang="en-GB" sz="1200" b="1" dirty="0">
                <a:solidFill>
                  <a:srgbClr val="000000"/>
                </a:solidFill>
              </a:rPr>
              <a:t>Define the </a:t>
            </a:r>
            <a:r>
              <a:rPr lang="en-GB" sz="1200" b="1" dirty="0" smtClean="0">
                <a:solidFill>
                  <a:srgbClr val="000000"/>
                </a:solidFill>
              </a:rPr>
              <a:t>as-is</a:t>
            </a:r>
            <a:r>
              <a:rPr lang="en-GB" sz="1200" b="1" dirty="0">
                <a:solidFill>
                  <a:srgbClr val="000000"/>
                </a:solidFill>
              </a:rPr>
              <a:t>’ state of your </a:t>
            </a:r>
            <a:r>
              <a:rPr lang="en-GB" sz="1200" b="1" dirty="0" smtClean="0">
                <a:solidFill>
                  <a:srgbClr val="000000"/>
                </a:solidFill>
              </a:rPr>
              <a:t>business</a:t>
            </a:r>
            <a:endParaRPr lang="en-GB" sz="1100" b="1" dirty="0">
              <a:solidFill>
                <a:schemeClr val="tx1"/>
              </a:solidFill>
            </a:endParaRPr>
          </a:p>
          <a:p>
            <a:pPr marL="228600" lvl="2" indent="-228600">
              <a:buFont typeface="+mj-lt"/>
              <a:buAutoNum type="arabicPeriod"/>
              <a:defRPr/>
            </a:pPr>
            <a:r>
              <a:rPr lang="en-GB" sz="1100" dirty="0" smtClean="0">
                <a:solidFill>
                  <a:schemeClr val="tx1"/>
                </a:solidFill>
              </a:rPr>
              <a:t>What </a:t>
            </a:r>
            <a:r>
              <a:rPr lang="en-GB" sz="1100" dirty="0">
                <a:solidFill>
                  <a:schemeClr val="tx1"/>
                </a:solidFill>
              </a:rPr>
              <a:t>is the current state </a:t>
            </a:r>
            <a:r>
              <a:rPr lang="en-GB" sz="1100" dirty="0" smtClean="0">
                <a:solidFill>
                  <a:schemeClr val="tx1"/>
                </a:solidFill>
              </a:rPr>
              <a:t>operating </a:t>
            </a:r>
            <a:r>
              <a:rPr lang="en-GB" sz="1100" dirty="0">
                <a:solidFill>
                  <a:schemeClr val="tx1"/>
                </a:solidFill>
              </a:rPr>
              <a:t>model</a:t>
            </a:r>
            <a:r>
              <a:rPr lang="en-GB" sz="1100" dirty="0" smtClean="0">
                <a:solidFill>
                  <a:schemeClr val="tx1"/>
                </a:solidFill>
              </a:rPr>
              <a:t>? </a:t>
            </a:r>
            <a:r>
              <a:rPr lang="en-CA" sz="1100" dirty="0">
                <a:solidFill>
                  <a:schemeClr val="tx1"/>
                </a:solidFill>
              </a:rPr>
              <a:t>I</a:t>
            </a:r>
            <a:r>
              <a:rPr lang="en-CA" sz="1100" dirty="0" smtClean="0">
                <a:solidFill>
                  <a:schemeClr val="tx1"/>
                </a:solidFill>
              </a:rPr>
              <a:t>ncluding </a:t>
            </a:r>
            <a:r>
              <a:rPr lang="en-CA" sz="1100" dirty="0">
                <a:solidFill>
                  <a:schemeClr val="tx1"/>
                </a:solidFill>
              </a:rPr>
              <a:t>your </a:t>
            </a:r>
            <a:r>
              <a:rPr lang="en-CA" sz="1100" dirty="0" smtClean="0">
                <a:solidFill>
                  <a:schemeClr val="tx1"/>
                </a:solidFill>
              </a:rPr>
              <a:t>products/services</a:t>
            </a:r>
            <a:r>
              <a:rPr lang="en-CA" sz="1100" dirty="0">
                <a:solidFill>
                  <a:schemeClr val="tx1"/>
                </a:solidFill>
              </a:rPr>
              <a:t>, channels, processes, </a:t>
            </a:r>
            <a:r>
              <a:rPr lang="en-CA" sz="1100" dirty="0" smtClean="0">
                <a:solidFill>
                  <a:schemeClr val="tx1"/>
                </a:solidFill>
              </a:rPr>
              <a:t>people, resources and technology.</a:t>
            </a:r>
            <a:endParaRPr lang="en-GB" sz="1100" dirty="0">
              <a:solidFill>
                <a:schemeClr val="tx1"/>
              </a:solidFill>
            </a:endParaRPr>
          </a:p>
          <a:p>
            <a:pPr marL="228600" lvl="2" indent="-228600">
              <a:spcBef>
                <a:spcPts val="0"/>
              </a:spcBef>
              <a:buFont typeface="+mj-lt"/>
              <a:buAutoNum type="arabicPeriod"/>
              <a:defRPr/>
            </a:pPr>
            <a:r>
              <a:rPr lang="en-GB" sz="1100" dirty="0">
                <a:solidFill>
                  <a:schemeClr val="tx1"/>
                </a:solidFill>
              </a:rPr>
              <a:t>Where are the gaps and potential problem areas</a:t>
            </a:r>
            <a:r>
              <a:rPr lang="en-GB" sz="1100" dirty="0" smtClean="0">
                <a:solidFill>
                  <a:schemeClr val="tx1"/>
                </a:solidFill>
              </a:rPr>
              <a:t>?</a:t>
            </a:r>
          </a:p>
          <a:p>
            <a:pPr marL="228600" lvl="2" indent="-228600">
              <a:spcBef>
                <a:spcPts val="0"/>
              </a:spcBef>
              <a:buFont typeface="+mj-lt"/>
              <a:buAutoNum type="arabicPeriod"/>
              <a:defRPr/>
            </a:pPr>
            <a:r>
              <a:rPr lang="en-GB" sz="1100" dirty="0" smtClean="0">
                <a:solidFill>
                  <a:schemeClr val="tx1"/>
                </a:solidFill>
              </a:rPr>
              <a:t>Business requirements to be included in the TOM?</a:t>
            </a:r>
            <a:endParaRPr lang="en-GB" sz="1100" dirty="0">
              <a:solidFill>
                <a:schemeClr val="tx1"/>
              </a:solidFill>
            </a:endParaRPr>
          </a:p>
        </p:txBody>
      </p:sp>
      <p:sp>
        <p:nvSpPr>
          <p:cNvPr id="10" name="Rectangle 9"/>
          <p:cNvSpPr/>
          <p:nvPr/>
        </p:nvSpPr>
        <p:spPr>
          <a:xfrm>
            <a:off x="6187884" y="3086508"/>
            <a:ext cx="3430195" cy="1300984"/>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defRPr/>
            </a:pPr>
            <a:r>
              <a:rPr lang="en-GB" sz="1200" b="1" dirty="0">
                <a:solidFill>
                  <a:srgbClr val="000000"/>
                </a:solidFill>
              </a:rPr>
              <a:t>Define </a:t>
            </a:r>
            <a:r>
              <a:rPr lang="en-GB" sz="1200" b="1" dirty="0" smtClean="0">
                <a:solidFill>
                  <a:srgbClr val="000000"/>
                </a:solidFill>
              </a:rPr>
              <a:t>the desired future ‘to-be’ state</a:t>
            </a:r>
          </a:p>
          <a:p>
            <a:pPr>
              <a:defRPr/>
            </a:pPr>
            <a:endParaRPr lang="en-GB" sz="1200" b="1" dirty="0">
              <a:solidFill>
                <a:srgbClr val="000000"/>
              </a:solidFill>
            </a:endParaRPr>
          </a:p>
          <a:p>
            <a:pPr marL="228600" lvl="2" indent="-228600">
              <a:spcBef>
                <a:spcPts val="0"/>
              </a:spcBef>
              <a:buFont typeface="+mj-lt"/>
              <a:buAutoNum type="arabicPeriod"/>
              <a:defRPr/>
            </a:pPr>
            <a:r>
              <a:rPr lang="en-GB" sz="1100" dirty="0">
                <a:solidFill>
                  <a:schemeClr val="tx1"/>
                </a:solidFill>
              </a:rPr>
              <a:t>What is the strategic intent of your business? </a:t>
            </a:r>
            <a:r>
              <a:rPr lang="en-GB" sz="1100" dirty="0" smtClean="0">
                <a:solidFill>
                  <a:schemeClr val="tx1"/>
                </a:solidFill>
              </a:rPr>
              <a:t>(Build on SWOT</a:t>
            </a:r>
            <a:r>
              <a:rPr lang="en-GB" sz="1100" dirty="0">
                <a:solidFill>
                  <a:schemeClr val="tx1"/>
                </a:solidFill>
              </a:rPr>
              <a:t>)</a:t>
            </a:r>
          </a:p>
          <a:p>
            <a:pPr marL="228600" lvl="2" indent="-228600">
              <a:spcBef>
                <a:spcPts val="0"/>
              </a:spcBef>
              <a:buFont typeface="+mj-lt"/>
              <a:buAutoNum type="arabicPeriod"/>
              <a:defRPr/>
            </a:pPr>
            <a:r>
              <a:rPr lang="en-GB" sz="1100" dirty="0">
                <a:solidFill>
                  <a:schemeClr val="tx1"/>
                </a:solidFill>
              </a:rPr>
              <a:t>What is the </a:t>
            </a:r>
            <a:r>
              <a:rPr lang="en-GB" sz="1100" dirty="0" smtClean="0">
                <a:solidFill>
                  <a:schemeClr val="tx1"/>
                </a:solidFill>
              </a:rPr>
              <a:t>desired future state operating </a:t>
            </a:r>
            <a:r>
              <a:rPr lang="en-GB" sz="1100" dirty="0">
                <a:solidFill>
                  <a:schemeClr val="tx1"/>
                </a:solidFill>
              </a:rPr>
              <a:t>model</a:t>
            </a:r>
            <a:r>
              <a:rPr lang="en-GB" sz="1100" dirty="0" smtClean="0">
                <a:solidFill>
                  <a:schemeClr val="tx1"/>
                </a:solidFill>
              </a:rPr>
              <a:t>?</a:t>
            </a:r>
          </a:p>
          <a:p>
            <a:pPr marL="228600" lvl="2" indent="-228600">
              <a:spcBef>
                <a:spcPts val="0"/>
              </a:spcBef>
              <a:buFont typeface="+mj-lt"/>
              <a:buAutoNum type="arabicPeriod"/>
              <a:defRPr/>
            </a:pPr>
            <a:r>
              <a:rPr lang="en-GB" sz="1100" dirty="0" smtClean="0">
                <a:solidFill>
                  <a:schemeClr val="tx1"/>
                </a:solidFill>
              </a:rPr>
              <a:t>What are the constraints in people, systems and finances?</a:t>
            </a:r>
          </a:p>
        </p:txBody>
      </p:sp>
      <p:sp>
        <p:nvSpPr>
          <p:cNvPr id="8" name="Rectangle 7"/>
          <p:cNvSpPr/>
          <p:nvPr/>
        </p:nvSpPr>
        <p:spPr>
          <a:xfrm>
            <a:off x="4482604" y="3118250"/>
            <a:ext cx="1512168" cy="1283682"/>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200" b="1" dirty="0" smtClean="0">
                <a:solidFill>
                  <a:schemeClr val="tx1"/>
                </a:solidFill>
              </a:rPr>
              <a:t>Develop and agree design principles</a:t>
            </a:r>
          </a:p>
          <a:p>
            <a:pPr algn="ctr"/>
            <a:endParaRPr lang="en-GB" sz="1200" b="1" dirty="0" smtClean="0">
              <a:solidFill>
                <a:schemeClr val="tx1"/>
              </a:solidFill>
            </a:endParaRPr>
          </a:p>
        </p:txBody>
      </p:sp>
      <p:sp>
        <p:nvSpPr>
          <p:cNvPr id="20" name="Rectangle 19"/>
          <p:cNvSpPr/>
          <p:nvPr/>
        </p:nvSpPr>
        <p:spPr>
          <a:xfrm>
            <a:off x="4482604" y="4519057"/>
            <a:ext cx="1512168" cy="459658"/>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200" b="1" dirty="0" smtClean="0">
              <a:solidFill>
                <a:schemeClr val="tx1"/>
              </a:solidFill>
            </a:endParaRPr>
          </a:p>
        </p:txBody>
      </p:sp>
      <p:sp>
        <p:nvSpPr>
          <p:cNvPr id="22" name="Rectangle 21"/>
          <p:cNvSpPr/>
          <p:nvPr/>
        </p:nvSpPr>
        <p:spPr>
          <a:xfrm>
            <a:off x="4482604" y="4951105"/>
            <a:ext cx="1512168" cy="459658"/>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200" b="1" dirty="0" smtClean="0">
              <a:solidFill>
                <a:schemeClr val="tx1"/>
              </a:solidFill>
            </a:endParaRPr>
          </a:p>
        </p:txBody>
      </p:sp>
      <p:sp>
        <p:nvSpPr>
          <p:cNvPr id="23" name="Rectangle 22"/>
          <p:cNvSpPr/>
          <p:nvPr/>
        </p:nvSpPr>
        <p:spPr>
          <a:xfrm>
            <a:off x="4482604" y="5383153"/>
            <a:ext cx="1512168" cy="459658"/>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200" b="1" dirty="0" smtClean="0">
              <a:solidFill>
                <a:schemeClr val="tx1"/>
              </a:solidFill>
            </a:endParaRPr>
          </a:p>
        </p:txBody>
      </p:sp>
      <p:sp>
        <p:nvSpPr>
          <p:cNvPr id="24" name="Rectangle 23"/>
          <p:cNvSpPr/>
          <p:nvPr/>
        </p:nvSpPr>
        <p:spPr>
          <a:xfrm>
            <a:off x="4482604" y="5815201"/>
            <a:ext cx="1512168" cy="459658"/>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200" b="1" dirty="0" smtClean="0">
              <a:solidFill>
                <a:schemeClr val="tx1"/>
              </a:solidFill>
            </a:endParaRPr>
          </a:p>
        </p:txBody>
      </p:sp>
      <p:sp>
        <p:nvSpPr>
          <p:cNvPr id="25" name="Rectangle 24"/>
          <p:cNvSpPr/>
          <p:nvPr/>
        </p:nvSpPr>
        <p:spPr>
          <a:xfrm>
            <a:off x="4482604" y="6247249"/>
            <a:ext cx="1512168" cy="459658"/>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200" b="1" dirty="0" smtClean="0">
              <a:solidFill>
                <a:schemeClr val="tx1"/>
              </a:solidFill>
            </a:endParaRPr>
          </a:p>
        </p:txBody>
      </p:sp>
      <p:sp>
        <p:nvSpPr>
          <p:cNvPr id="28" name="Rectangle 27"/>
          <p:cNvSpPr/>
          <p:nvPr/>
        </p:nvSpPr>
        <p:spPr>
          <a:xfrm>
            <a:off x="9739188" y="1870422"/>
            <a:ext cx="827733" cy="5294585"/>
          </a:xfrm>
          <a:prstGeom prst="rect">
            <a:avLst/>
          </a:prstGeom>
          <a:solidFill>
            <a:schemeClr val="bg1">
              <a:lumMod val="95000"/>
            </a:schemeClr>
          </a:solidFill>
          <a:ln w="9525" cmpd="sng">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200" b="1" dirty="0" smtClean="0">
                <a:solidFill>
                  <a:schemeClr val="tx1"/>
                </a:solidFill>
              </a:rPr>
              <a:t>Step 4</a:t>
            </a:r>
            <a:r>
              <a:rPr lang="en-GB" sz="1200" dirty="0" smtClean="0">
                <a:solidFill>
                  <a:schemeClr val="tx1"/>
                </a:solidFill>
              </a:rPr>
              <a:t>: Build each part to form the whole operating model and assess options for the blueprint for your business</a:t>
            </a:r>
          </a:p>
        </p:txBody>
      </p:sp>
      <p:sp>
        <p:nvSpPr>
          <p:cNvPr id="26" name="Rounded Rectangle 25"/>
          <p:cNvSpPr/>
          <p:nvPr/>
        </p:nvSpPr>
        <p:spPr>
          <a:xfrm>
            <a:off x="676664" y="1881045"/>
            <a:ext cx="3495053" cy="1121781"/>
          </a:xfrm>
          <a:prstGeom prst="round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CA" sz="1200" b="1" dirty="0" smtClean="0">
                <a:solidFill>
                  <a:schemeClr val="tx1"/>
                </a:solidFill>
              </a:rPr>
              <a:t>Step 1</a:t>
            </a:r>
            <a:r>
              <a:rPr lang="en-CA" sz="1200" dirty="0" smtClean="0">
                <a:solidFill>
                  <a:schemeClr val="tx1"/>
                </a:solidFill>
              </a:rPr>
              <a:t>: Understanding the current state of the business</a:t>
            </a:r>
            <a:endParaRPr lang="en-CA" sz="1200" dirty="0">
              <a:solidFill>
                <a:schemeClr val="tx1"/>
              </a:solidFill>
            </a:endParaRPr>
          </a:p>
        </p:txBody>
      </p:sp>
      <p:sp>
        <p:nvSpPr>
          <p:cNvPr id="30" name="Rounded Rectangle 29"/>
          <p:cNvSpPr/>
          <p:nvPr/>
        </p:nvSpPr>
        <p:spPr>
          <a:xfrm>
            <a:off x="4416282" y="1908175"/>
            <a:ext cx="1578490" cy="1152376"/>
          </a:xfrm>
          <a:prstGeom prst="round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CA" sz="1200" b="1" dirty="0" smtClean="0">
                <a:solidFill>
                  <a:schemeClr val="tx1"/>
                </a:solidFill>
              </a:rPr>
              <a:t>Step 2</a:t>
            </a:r>
            <a:r>
              <a:rPr lang="en-CA" sz="1200" dirty="0" smtClean="0">
                <a:solidFill>
                  <a:schemeClr val="tx1"/>
                </a:solidFill>
              </a:rPr>
              <a:t>: Translate strategy into </a:t>
            </a:r>
            <a:r>
              <a:rPr lang="en-CA" sz="1200" dirty="0">
                <a:solidFill>
                  <a:schemeClr val="tx1"/>
                </a:solidFill>
              </a:rPr>
              <a:t>design </a:t>
            </a:r>
            <a:r>
              <a:rPr lang="en-CA" sz="1200" dirty="0" smtClean="0">
                <a:solidFill>
                  <a:schemeClr val="tx1"/>
                </a:solidFill>
              </a:rPr>
              <a:t>principles that act as guides for future decisions about the trade-offs needed</a:t>
            </a:r>
            <a:endParaRPr lang="en-CA" sz="1200" dirty="0">
              <a:solidFill>
                <a:schemeClr val="tx1"/>
              </a:solidFill>
            </a:endParaRPr>
          </a:p>
        </p:txBody>
      </p:sp>
      <p:sp>
        <p:nvSpPr>
          <p:cNvPr id="31" name="Rounded Rectangle 30"/>
          <p:cNvSpPr/>
          <p:nvPr/>
        </p:nvSpPr>
        <p:spPr>
          <a:xfrm>
            <a:off x="6138787" y="1870422"/>
            <a:ext cx="3528391" cy="1121781"/>
          </a:xfrm>
          <a:prstGeom prst="round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CA" sz="1200" b="1" dirty="0" smtClean="0">
                <a:solidFill>
                  <a:schemeClr val="tx1"/>
                </a:solidFill>
              </a:rPr>
              <a:t>Step 3</a:t>
            </a:r>
            <a:r>
              <a:rPr lang="en-CA" sz="1200" dirty="0" smtClean="0">
                <a:solidFill>
                  <a:schemeClr val="tx1"/>
                </a:solidFill>
              </a:rPr>
              <a:t>: Understanding </a:t>
            </a:r>
            <a:r>
              <a:rPr lang="en-CA" sz="1200" dirty="0">
                <a:solidFill>
                  <a:schemeClr val="tx1"/>
                </a:solidFill>
              </a:rPr>
              <a:t>the </a:t>
            </a:r>
            <a:r>
              <a:rPr lang="en-CA" sz="1200" dirty="0" smtClean="0">
                <a:solidFill>
                  <a:schemeClr val="tx1"/>
                </a:solidFill>
              </a:rPr>
              <a:t>desired </a:t>
            </a:r>
            <a:r>
              <a:rPr lang="en-CA" sz="1200" dirty="0">
                <a:solidFill>
                  <a:schemeClr val="tx1"/>
                </a:solidFill>
              </a:rPr>
              <a:t>state for the business</a:t>
            </a:r>
          </a:p>
        </p:txBody>
      </p:sp>
      <p:sp>
        <p:nvSpPr>
          <p:cNvPr id="34" name="Freeform 33"/>
          <p:cNvSpPr/>
          <p:nvPr/>
        </p:nvSpPr>
        <p:spPr bwMode="auto">
          <a:xfrm rot="5400000">
            <a:off x="3960572" y="2407777"/>
            <a:ext cx="576000" cy="108000"/>
          </a:xfrm>
          <a:custGeom>
            <a:avLst/>
            <a:gdLst>
              <a:gd name="connsiteX0" fmla="*/ 0 w 682500"/>
              <a:gd name="connsiteY0" fmla="*/ 303633 h 303633"/>
              <a:gd name="connsiteX1" fmla="*/ 341250 w 682500"/>
              <a:gd name="connsiteY1" fmla="*/ 0 h 303633"/>
              <a:gd name="connsiteX2" fmla="*/ 682500 w 682500"/>
              <a:gd name="connsiteY2" fmla="*/ 303633 h 303633"/>
              <a:gd name="connsiteX3" fmla="*/ 442186 w 682500"/>
              <a:gd name="connsiteY3" fmla="*/ 303633 h 303633"/>
              <a:gd name="connsiteX4" fmla="*/ 341252 w 682500"/>
              <a:gd name="connsiteY4" fmla="*/ 194966 h 303633"/>
              <a:gd name="connsiteX5" fmla="*/ 240318 w 682500"/>
              <a:gd name="connsiteY5" fmla="*/ 303633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500" h="303633">
                <a:moveTo>
                  <a:pt x="0" y="303633"/>
                </a:moveTo>
                <a:lnTo>
                  <a:pt x="341250" y="0"/>
                </a:lnTo>
                <a:lnTo>
                  <a:pt x="682500" y="303633"/>
                </a:lnTo>
                <a:lnTo>
                  <a:pt x="442186" y="303633"/>
                </a:lnTo>
                <a:lnTo>
                  <a:pt x="341252" y="194966"/>
                </a:lnTo>
                <a:lnTo>
                  <a:pt x="240318" y="303633"/>
                </a:lnTo>
                <a:close/>
              </a:path>
            </a:pathLst>
          </a:custGeom>
          <a:solidFill>
            <a:schemeClr val="tx1"/>
          </a:solidFill>
          <a:ln w="0">
            <a:solidFill>
              <a:schemeClr val="tx1"/>
            </a:solidFill>
            <a:prstDash val="solid"/>
            <a:round/>
            <a:headEnd/>
            <a:tailEnd/>
          </a:ln>
        </p:spPr>
        <p:txBody>
          <a:bodyPr vert="horz" wrap="square" lIns="91440" tIns="45720" rIns="91440" bIns="45720" numCol="1" rtlCol="0" anchor="t" anchorCtr="0" compatLnSpc="1">
            <a:prstTxWarp prst="textNoShape">
              <a:avLst/>
            </a:prstTxWarp>
          </a:bodyPr>
          <a:lstStyle/>
          <a:p>
            <a:pPr algn="ctr"/>
            <a:endParaRPr lang="en-GB" dirty="0">
              <a:latin typeface="EYInterstate Regular" panose="02000503020000020004" pitchFamily="2" charset="0"/>
            </a:endParaRPr>
          </a:p>
        </p:txBody>
      </p:sp>
      <p:sp>
        <p:nvSpPr>
          <p:cNvPr id="35" name="Freeform 34"/>
          <p:cNvSpPr/>
          <p:nvPr/>
        </p:nvSpPr>
        <p:spPr bwMode="auto">
          <a:xfrm rot="5400000">
            <a:off x="5760772" y="2387936"/>
            <a:ext cx="576000" cy="108000"/>
          </a:xfrm>
          <a:custGeom>
            <a:avLst/>
            <a:gdLst>
              <a:gd name="connsiteX0" fmla="*/ 0 w 682500"/>
              <a:gd name="connsiteY0" fmla="*/ 303633 h 303633"/>
              <a:gd name="connsiteX1" fmla="*/ 341250 w 682500"/>
              <a:gd name="connsiteY1" fmla="*/ 0 h 303633"/>
              <a:gd name="connsiteX2" fmla="*/ 682500 w 682500"/>
              <a:gd name="connsiteY2" fmla="*/ 303633 h 303633"/>
              <a:gd name="connsiteX3" fmla="*/ 442186 w 682500"/>
              <a:gd name="connsiteY3" fmla="*/ 303633 h 303633"/>
              <a:gd name="connsiteX4" fmla="*/ 341252 w 682500"/>
              <a:gd name="connsiteY4" fmla="*/ 194966 h 303633"/>
              <a:gd name="connsiteX5" fmla="*/ 240318 w 682500"/>
              <a:gd name="connsiteY5" fmla="*/ 303633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500" h="303633">
                <a:moveTo>
                  <a:pt x="0" y="303633"/>
                </a:moveTo>
                <a:lnTo>
                  <a:pt x="341250" y="0"/>
                </a:lnTo>
                <a:lnTo>
                  <a:pt x="682500" y="303633"/>
                </a:lnTo>
                <a:lnTo>
                  <a:pt x="442186" y="303633"/>
                </a:lnTo>
                <a:lnTo>
                  <a:pt x="341252" y="194966"/>
                </a:lnTo>
                <a:lnTo>
                  <a:pt x="240318" y="303633"/>
                </a:lnTo>
                <a:close/>
              </a:path>
            </a:pathLst>
          </a:custGeom>
          <a:solidFill>
            <a:schemeClr val="tx1"/>
          </a:solidFill>
          <a:ln w="0">
            <a:solidFill>
              <a:schemeClr val="tx1"/>
            </a:solidFill>
            <a:prstDash val="solid"/>
            <a:round/>
            <a:headEnd/>
            <a:tailEnd/>
          </a:ln>
        </p:spPr>
        <p:txBody>
          <a:bodyPr vert="horz" wrap="square" lIns="91440" tIns="45720" rIns="91440" bIns="45720" numCol="1" rtlCol="0" anchor="t" anchorCtr="0" compatLnSpc="1">
            <a:prstTxWarp prst="textNoShape">
              <a:avLst/>
            </a:prstTxWarp>
          </a:bodyPr>
          <a:lstStyle/>
          <a:p>
            <a:pPr algn="ctr"/>
            <a:endParaRPr lang="en-GB" dirty="0">
              <a:latin typeface="EYInterstate Regular" panose="02000503020000020004" pitchFamily="2" charset="0"/>
            </a:endParaRPr>
          </a:p>
        </p:txBody>
      </p:sp>
      <p:sp>
        <p:nvSpPr>
          <p:cNvPr id="36" name="Freeform 35"/>
          <p:cNvSpPr/>
          <p:nvPr/>
        </p:nvSpPr>
        <p:spPr bwMode="auto">
          <a:xfrm rot="5400000">
            <a:off x="9433180" y="2358447"/>
            <a:ext cx="576000" cy="108000"/>
          </a:xfrm>
          <a:custGeom>
            <a:avLst/>
            <a:gdLst>
              <a:gd name="connsiteX0" fmla="*/ 0 w 682500"/>
              <a:gd name="connsiteY0" fmla="*/ 303633 h 303633"/>
              <a:gd name="connsiteX1" fmla="*/ 341250 w 682500"/>
              <a:gd name="connsiteY1" fmla="*/ 0 h 303633"/>
              <a:gd name="connsiteX2" fmla="*/ 682500 w 682500"/>
              <a:gd name="connsiteY2" fmla="*/ 303633 h 303633"/>
              <a:gd name="connsiteX3" fmla="*/ 442186 w 682500"/>
              <a:gd name="connsiteY3" fmla="*/ 303633 h 303633"/>
              <a:gd name="connsiteX4" fmla="*/ 341252 w 682500"/>
              <a:gd name="connsiteY4" fmla="*/ 194966 h 303633"/>
              <a:gd name="connsiteX5" fmla="*/ 240318 w 682500"/>
              <a:gd name="connsiteY5" fmla="*/ 303633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500" h="303633">
                <a:moveTo>
                  <a:pt x="0" y="303633"/>
                </a:moveTo>
                <a:lnTo>
                  <a:pt x="341250" y="0"/>
                </a:lnTo>
                <a:lnTo>
                  <a:pt x="682500" y="303633"/>
                </a:lnTo>
                <a:lnTo>
                  <a:pt x="442186" y="303633"/>
                </a:lnTo>
                <a:lnTo>
                  <a:pt x="341252" y="194966"/>
                </a:lnTo>
                <a:lnTo>
                  <a:pt x="240318" y="303633"/>
                </a:lnTo>
                <a:close/>
              </a:path>
            </a:pathLst>
          </a:custGeom>
          <a:solidFill>
            <a:schemeClr val="tx1"/>
          </a:solidFill>
          <a:ln w="0">
            <a:solidFill>
              <a:schemeClr val="tx1"/>
            </a:solidFill>
            <a:prstDash val="solid"/>
            <a:round/>
            <a:headEnd/>
            <a:tailEnd/>
          </a:ln>
        </p:spPr>
        <p:txBody>
          <a:bodyPr vert="horz" wrap="square" lIns="91440" tIns="45720" rIns="91440" bIns="45720" numCol="1" rtlCol="0" anchor="t" anchorCtr="0" compatLnSpc="1">
            <a:prstTxWarp prst="textNoShape">
              <a:avLst/>
            </a:prstTxWarp>
          </a:bodyPr>
          <a:lstStyle/>
          <a:p>
            <a:pPr algn="ctr"/>
            <a:endParaRPr lang="en-GB" dirty="0">
              <a:latin typeface="EYInterstate Regular" panose="02000503020000020004" pitchFamily="2" charset="0"/>
            </a:endParaRPr>
          </a:p>
        </p:txBody>
      </p:sp>
      <p:sp>
        <p:nvSpPr>
          <p:cNvPr id="37" name="Rectangle 36"/>
          <p:cNvSpPr/>
          <p:nvPr/>
        </p:nvSpPr>
        <p:spPr>
          <a:xfrm>
            <a:off x="4482604" y="6679297"/>
            <a:ext cx="1512168" cy="459658"/>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200" b="1" dirty="0" smtClean="0">
              <a:solidFill>
                <a:schemeClr val="tx1"/>
              </a:solidFill>
            </a:endParaRPr>
          </a:p>
        </p:txBody>
      </p:sp>
      <p:sp>
        <p:nvSpPr>
          <p:cNvPr id="38" name="Rectangle 37"/>
          <p:cNvSpPr/>
          <p:nvPr/>
        </p:nvSpPr>
        <p:spPr>
          <a:xfrm>
            <a:off x="732501" y="4494562"/>
            <a:ext cx="3462071" cy="2644393"/>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lvl="2">
              <a:spcBef>
                <a:spcPts val="0"/>
              </a:spcBef>
              <a:defRPr/>
            </a:pPr>
            <a:r>
              <a:rPr lang="en-GB" sz="1100" b="1" dirty="0" smtClean="0">
                <a:solidFill>
                  <a:schemeClr val="tx1"/>
                </a:solidFill>
              </a:rPr>
              <a:t>Some key considerations</a:t>
            </a:r>
            <a:endParaRPr lang="en-GB" sz="1100" dirty="0">
              <a:solidFill>
                <a:schemeClr val="tx1"/>
              </a:solidFill>
            </a:endParaRPr>
          </a:p>
          <a:p>
            <a:pPr marL="0" lvl="2" defTabSz="914400">
              <a:buSzPct val="70000"/>
              <a:defRPr/>
            </a:pPr>
            <a:r>
              <a:rPr lang="en-GB" sz="1100" b="1" dirty="0" smtClean="0">
                <a:solidFill>
                  <a:schemeClr val="tx1"/>
                </a:solidFill>
              </a:rPr>
              <a:t>STRATEGY</a:t>
            </a:r>
            <a:r>
              <a:rPr lang="en-GB" sz="1100" dirty="0" smtClean="0">
                <a:solidFill>
                  <a:schemeClr val="tx1"/>
                </a:solidFill>
              </a:rPr>
              <a:t>: A well defined business strategy</a:t>
            </a:r>
          </a:p>
          <a:p>
            <a:pPr marL="0" lvl="2" defTabSz="914400">
              <a:buSzPct val="70000"/>
              <a:defRPr/>
            </a:pPr>
            <a:r>
              <a:rPr lang="en-GB" sz="1100" b="1" dirty="0" smtClean="0">
                <a:solidFill>
                  <a:schemeClr val="tx1"/>
                </a:solidFill>
              </a:rPr>
              <a:t>BUSINESS SCOPE</a:t>
            </a:r>
            <a:r>
              <a:rPr lang="en-GB" sz="1100" dirty="0" smtClean="0">
                <a:solidFill>
                  <a:schemeClr val="tx1"/>
                </a:solidFill>
              </a:rPr>
              <a:t>: </a:t>
            </a:r>
            <a:r>
              <a:rPr lang="en-GB" sz="1100" b="1" dirty="0" smtClean="0">
                <a:solidFill>
                  <a:schemeClr val="tx1"/>
                </a:solidFill>
              </a:rPr>
              <a:t>T</a:t>
            </a:r>
            <a:r>
              <a:rPr lang="en-GB" sz="1100" dirty="0" smtClean="0">
                <a:solidFill>
                  <a:schemeClr val="tx1"/>
                </a:solidFill>
              </a:rPr>
              <a:t>he degree business </a:t>
            </a:r>
            <a:r>
              <a:rPr lang="en-GB" sz="1100" dirty="0">
                <a:solidFill>
                  <a:schemeClr val="tx1"/>
                </a:solidFill>
              </a:rPr>
              <a:t>skills and capabilities align to organisational </a:t>
            </a:r>
            <a:r>
              <a:rPr lang="en-GB" sz="1100" dirty="0" smtClean="0">
                <a:solidFill>
                  <a:schemeClr val="tx1"/>
                </a:solidFill>
              </a:rPr>
              <a:t>requirements</a:t>
            </a:r>
          </a:p>
          <a:p>
            <a:pPr marL="0" lvl="2" defTabSz="914400">
              <a:buSzPct val="70000"/>
              <a:defRPr/>
            </a:pPr>
            <a:r>
              <a:rPr lang="en-GB" sz="1100" b="1" dirty="0" smtClean="0">
                <a:solidFill>
                  <a:schemeClr val="tx1"/>
                </a:solidFill>
              </a:rPr>
              <a:t>ROLES &amp; RESPONSIBILITIES</a:t>
            </a:r>
            <a:r>
              <a:rPr lang="en-GB" sz="1100" dirty="0" smtClean="0">
                <a:solidFill>
                  <a:schemeClr val="tx1"/>
                </a:solidFill>
              </a:rPr>
              <a:t>: The degree roles </a:t>
            </a:r>
            <a:r>
              <a:rPr lang="en-GB" sz="1100" dirty="0">
                <a:solidFill>
                  <a:schemeClr val="tx1"/>
                </a:solidFill>
              </a:rPr>
              <a:t>and responsibilities </a:t>
            </a:r>
            <a:r>
              <a:rPr lang="en-GB" sz="1100" dirty="0" smtClean="0">
                <a:solidFill>
                  <a:schemeClr val="tx1"/>
                </a:solidFill>
              </a:rPr>
              <a:t>are known and defined</a:t>
            </a:r>
          </a:p>
          <a:p>
            <a:pPr marL="0" lvl="2" defTabSz="914400">
              <a:buSzPct val="70000"/>
              <a:defRPr/>
            </a:pPr>
            <a:r>
              <a:rPr lang="en-GB" sz="1100" b="1" dirty="0" smtClean="0">
                <a:solidFill>
                  <a:schemeClr val="tx1"/>
                </a:solidFill>
              </a:rPr>
              <a:t>PROCESS &amp; SERVICE LEVELS</a:t>
            </a:r>
            <a:r>
              <a:rPr lang="en-GB" sz="1100" dirty="0" smtClean="0">
                <a:solidFill>
                  <a:schemeClr val="tx1"/>
                </a:solidFill>
              </a:rPr>
              <a:t>: Way performance is measured </a:t>
            </a:r>
            <a:r>
              <a:rPr lang="en-GB" sz="1100" dirty="0">
                <a:solidFill>
                  <a:schemeClr val="tx1"/>
                </a:solidFill>
              </a:rPr>
              <a:t>and </a:t>
            </a:r>
            <a:r>
              <a:rPr lang="en-GB" sz="1100" dirty="0" smtClean="0">
                <a:solidFill>
                  <a:schemeClr val="tx1"/>
                </a:solidFill>
              </a:rPr>
              <a:t>rewarded</a:t>
            </a:r>
          </a:p>
          <a:p>
            <a:pPr marL="0" lvl="2" defTabSz="914400">
              <a:buSzPct val="70000"/>
              <a:defRPr/>
            </a:pPr>
            <a:r>
              <a:rPr lang="en-GB" sz="1100" b="1" dirty="0" smtClean="0">
                <a:solidFill>
                  <a:schemeClr val="tx1"/>
                </a:solidFill>
              </a:rPr>
              <a:t>PEOPLE &amp; RESOURCING</a:t>
            </a:r>
            <a:r>
              <a:rPr lang="en-GB" sz="1100" dirty="0" smtClean="0">
                <a:solidFill>
                  <a:schemeClr val="tx1"/>
                </a:solidFill>
              </a:rPr>
              <a:t>: </a:t>
            </a:r>
            <a:r>
              <a:rPr lang="en-GB" sz="1100" dirty="0">
                <a:solidFill>
                  <a:schemeClr val="tx1"/>
                </a:solidFill>
              </a:rPr>
              <a:t>How flexible/responsive is the company, its employees and stakeholders to growth</a:t>
            </a:r>
            <a:r>
              <a:rPr lang="en-GB" sz="1100" dirty="0" smtClean="0">
                <a:solidFill>
                  <a:schemeClr val="tx1"/>
                </a:solidFill>
              </a:rPr>
              <a:t>?</a:t>
            </a:r>
          </a:p>
          <a:p>
            <a:pPr marL="0" lvl="2" defTabSz="914400">
              <a:buSzPct val="70000"/>
              <a:defRPr/>
            </a:pPr>
            <a:r>
              <a:rPr lang="en-GB" sz="1100" b="1" dirty="0" smtClean="0">
                <a:solidFill>
                  <a:schemeClr val="tx1"/>
                </a:solidFill>
              </a:rPr>
              <a:t>TECHNOLOGY</a:t>
            </a:r>
            <a:r>
              <a:rPr lang="en-GB" sz="1100" dirty="0" smtClean="0">
                <a:solidFill>
                  <a:schemeClr val="tx1"/>
                </a:solidFill>
              </a:rPr>
              <a:t>: </a:t>
            </a:r>
            <a:r>
              <a:rPr lang="en-GB" sz="1100" dirty="0">
                <a:solidFill>
                  <a:schemeClr val="tx1"/>
                </a:solidFill>
              </a:rPr>
              <a:t>What is the current IT system landscape and business processes and how does that affect the current state</a:t>
            </a:r>
            <a:r>
              <a:rPr lang="en-GB" sz="1100" dirty="0" smtClean="0">
                <a:solidFill>
                  <a:schemeClr val="tx1"/>
                </a:solidFill>
              </a:rPr>
              <a:t>?</a:t>
            </a:r>
          </a:p>
        </p:txBody>
      </p:sp>
      <p:sp>
        <p:nvSpPr>
          <p:cNvPr id="40" name="Rectangle 39"/>
          <p:cNvSpPr/>
          <p:nvPr/>
        </p:nvSpPr>
        <p:spPr>
          <a:xfrm>
            <a:off x="6184795" y="4520614"/>
            <a:ext cx="3462071" cy="2644393"/>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lvl="2">
              <a:spcBef>
                <a:spcPts val="0"/>
              </a:spcBef>
              <a:defRPr/>
            </a:pPr>
            <a:r>
              <a:rPr lang="en-GB" sz="1100" b="1" dirty="0" smtClean="0">
                <a:solidFill>
                  <a:schemeClr val="tx1"/>
                </a:solidFill>
              </a:rPr>
              <a:t>Some key considerations</a:t>
            </a:r>
            <a:endParaRPr lang="en-GB" sz="1100" dirty="0">
              <a:solidFill>
                <a:schemeClr val="tx1"/>
              </a:solidFill>
            </a:endParaRPr>
          </a:p>
          <a:p>
            <a:pPr marL="0" lvl="2" defTabSz="914400">
              <a:buSzPct val="70000"/>
              <a:defRPr/>
            </a:pPr>
            <a:r>
              <a:rPr lang="en-GB" sz="1100" b="1" dirty="0" smtClean="0">
                <a:solidFill>
                  <a:schemeClr val="tx1"/>
                </a:solidFill>
              </a:rPr>
              <a:t>STRATEGY</a:t>
            </a:r>
            <a:r>
              <a:rPr lang="en-GB" sz="1100" dirty="0" smtClean="0">
                <a:solidFill>
                  <a:schemeClr val="tx1"/>
                </a:solidFill>
              </a:rPr>
              <a:t>: Ability to scale </a:t>
            </a:r>
            <a:r>
              <a:rPr lang="en-GB" sz="1100" dirty="0">
                <a:solidFill>
                  <a:schemeClr val="tx1"/>
                </a:solidFill>
              </a:rPr>
              <a:t>with market, industry and regulatory </a:t>
            </a:r>
            <a:r>
              <a:rPr lang="en-GB" sz="1100" dirty="0" smtClean="0">
                <a:solidFill>
                  <a:schemeClr val="tx1"/>
                </a:solidFill>
              </a:rPr>
              <a:t>changes</a:t>
            </a:r>
          </a:p>
          <a:p>
            <a:pPr marL="0" lvl="2" defTabSz="914400">
              <a:buSzPct val="70000"/>
              <a:defRPr/>
            </a:pPr>
            <a:r>
              <a:rPr lang="en-GB" sz="1100" b="1" dirty="0" smtClean="0">
                <a:solidFill>
                  <a:schemeClr val="tx1"/>
                </a:solidFill>
              </a:rPr>
              <a:t>BUSINESS SCOPE</a:t>
            </a:r>
            <a:r>
              <a:rPr lang="en-GB" sz="1100" dirty="0" smtClean="0">
                <a:solidFill>
                  <a:schemeClr val="tx1"/>
                </a:solidFill>
              </a:rPr>
              <a:t>: </a:t>
            </a:r>
            <a:r>
              <a:rPr lang="en-GB" sz="1100" dirty="0">
                <a:solidFill>
                  <a:schemeClr val="tx1"/>
                </a:solidFill>
              </a:rPr>
              <a:t>What business skills and capabilities do we need to align organisational </a:t>
            </a:r>
            <a:r>
              <a:rPr lang="en-GB" sz="1100" dirty="0" smtClean="0">
                <a:solidFill>
                  <a:schemeClr val="tx1"/>
                </a:solidFill>
              </a:rPr>
              <a:t>requirements</a:t>
            </a:r>
          </a:p>
          <a:p>
            <a:pPr marL="0" lvl="2" defTabSz="914400">
              <a:buSzPct val="70000"/>
              <a:defRPr/>
            </a:pPr>
            <a:r>
              <a:rPr lang="en-GB" sz="1100" b="1" dirty="0" smtClean="0">
                <a:solidFill>
                  <a:schemeClr val="tx1"/>
                </a:solidFill>
              </a:rPr>
              <a:t>ROLES &amp; RESPONSIBILITIES</a:t>
            </a:r>
            <a:r>
              <a:rPr lang="en-GB" sz="1100" dirty="0" smtClean="0">
                <a:solidFill>
                  <a:schemeClr val="tx1"/>
                </a:solidFill>
              </a:rPr>
              <a:t>: </a:t>
            </a:r>
            <a:r>
              <a:rPr lang="en-GB" sz="1100" dirty="0">
                <a:solidFill>
                  <a:schemeClr val="tx1"/>
                </a:solidFill>
              </a:rPr>
              <a:t>How </a:t>
            </a:r>
            <a:r>
              <a:rPr lang="en-GB" sz="1100" dirty="0" smtClean="0">
                <a:solidFill>
                  <a:schemeClr val="tx1"/>
                </a:solidFill>
              </a:rPr>
              <a:t>roles </a:t>
            </a:r>
            <a:r>
              <a:rPr lang="en-GB" sz="1100" dirty="0">
                <a:solidFill>
                  <a:schemeClr val="tx1"/>
                </a:solidFill>
              </a:rPr>
              <a:t>and </a:t>
            </a:r>
            <a:r>
              <a:rPr lang="en-GB" sz="1100" dirty="0" smtClean="0">
                <a:solidFill>
                  <a:schemeClr val="tx1"/>
                </a:solidFill>
              </a:rPr>
              <a:t>responsibilities should be defined and communicated</a:t>
            </a:r>
          </a:p>
          <a:p>
            <a:pPr marL="0" lvl="2" defTabSz="914400">
              <a:buSzPct val="70000"/>
              <a:defRPr/>
            </a:pPr>
            <a:r>
              <a:rPr lang="en-GB" sz="1100" b="1" dirty="0" smtClean="0">
                <a:solidFill>
                  <a:schemeClr val="tx1"/>
                </a:solidFill>
              </a:rPr>
              <a:t>PROCESS &amp; SERVICE LEVELS: </a:t>
            </a:r>
            <a:r>
              <a:rPr lang="en-GB" sz="1100" dirty="0" smtClean="0">
                <a:solidFill>
                  <a:schemeClr val="tx1"/>
                </a:solidFill>
              </a:rPr>
              <a:t>How performance should be measured and rewarded</a:t>
            </a:r>
          </a:p>
          <a:p>
            <a:pPr marL="0" lvl="2" defTabSz="914400">
              <a:buSzPct val="70000"/>
              <a:defRPr/>
            </a:pPr>
            <a:r>
              <a:rPr lang="en-GB" sz="1100" b="1" dirty="0" smtClean="0">
                <a:solidFill>
                  <a:schemeClr val="tx1"/>
                </a:solidFill>
              </a:rPr>
              <a:t>PEOPLE &amp; RESOURCING</a:t>
            </a:r>
            <a:r>
              <a:rPr lang="en-GB" sz="1100" dirty="0" smtClean="0">
                <a:solidFill>
                  <a:schemeClr val="tx1"/>
                </a:solidFill>
              </a:rPr>
              <a:t>: </a:t>
            </a:r>
            <a:r>
              <a:rPr lang="en-GB" sz="1100" dirty="0">
                <a:solidFill>
                  <a:schemeClr val="tx1"/>
                </a:solidFill>
              </a:rPr>
              <a:t>How flexible do you need the company, its employees and stakeholders to be to achieve </a:t>
            </a:r>
            <a:r>
              <a:rPr lang="en-GB" sz="1100" dirty="0" smtClean="0">
                <a:solidFill>
                  <a:schemeClr val="tx1"/>
                </a:solidFill>
              </a:rPr>
              <a:t>growth</a:t>
            </a:r>
          </a:p>
          <a:p>
            <a:pPr marL="0" lvl="2" defTabSz="914400">
              <a:buSzPct val="70000"/>
              <a:defRPr/>
            </a:pPr>
            <a:r>
              <a:rPr lang="en-GB" sz="1100" b="1" dirty="0" smtClean="0">
                <a:solidFill>
                  <a:schemeClr val="tx1"/>
                </a:solidFill>
              </a:rPr>
              <a:t>TECHNOLOGY</a:t>
            </a:r>
            <a:r>
              <a:rPr lang="en-GB" sz="1100" dirty="0" smtClean="0">
                <a:solidFill>
                  <a:schemeClr val="tx1"/>
                </a:solidFill>
              </a:rPr>
              <a:t>: The </a:t>
            </a:r>
            <a:r>
              <a:rPr lang="en-GB" sz="1100" dirty="0">
                <a:solidFill>
                  <a:schemeClr val="tx1"/>
                </a:solidFill>
              </a:rPr>
              <a:t>desired future state IT system landscape and business </a:t>
            </a:r>
            <a:r>
              <a:rPr lang="en-GB" sz="1100" dirty="0" smtClean="0">
                <a:solidFill>
                  <a:schemeClr val="tx1"/>
                </a:solidFill>
              </a:rPr>
              <a:t>processes</a:t>
            </a:r>
            <a:endParaRPr lang="en-GB" sz="1100" dirty="0">
              <a:solidFill>
                <a:schemeClr val="tx1"/>
              </a:solidFill>
            </a:endParaRPr>
          </a:p>
        </p:txBody>
      </p:sp>
    </p:spTree>
    <p:extLst>
      <p:ext uri="{BB962C8B-B14F-4D97-AF65-F5344CB8AC3E}">
        <p14:creationId xmlns:p14="http://schemas.microsoft.com/office/powerpoint/2010/main" val="13357946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smtClean="0"/>
              <a:t>Group </a:t>
            </a:r>
            <a:r>
              <a:rPr lang="en-GB" dirty="0"/>
              <a:t>4</a:t>
            </a:r>
          </a:p>
        </p:txBody>
      </p:sp>
      <p:sp>
        <p:nvSpPr>
          <p:cNvPr id="3" name="Text Placeholder 2"/>
          <p:cNvSpPr>
            <a:spLocks noGrp="1"/>
          </p:cNvSpPr>
          <p:nvPr>
            <p:ph type="body" sz="quarter" idx="11"/>
          </p:nvPr>
        </p:nvSpPr>
        <p:spPr>
          <a:xfrm>
            <a:off x="882206" y="1581150"/>
            <a:ext cx="4248470" cy="781050"/>
          </a:xfrm>
        </p:spPr>
        <p:txBody>
          <a:bodyPr/>
          <a:lstStyle/>
          <a:p>
            <a:r>
              <a:rPr lang="en-GB" dirty="0" smtClean="0"/>
              <a:t>Problem solving</a:t>
            </a:r>
            <a:endParaRPr lang="en-GB" dirty="0"/>
          </a:p>
        </p:txBody>
      </p:sp>
      <p:sp>
        <p:nvSpPr>
          <p:cNvPr id="4" name="Text Placeholder 1"/>
          <p:cNvSpPr txBox="1">
            <a:spLocks/>
          </p:cNvSpPr>
          <p:nvPr/>
        </p:nvSpPr>
        <p:spPr bwMode="gray">
          <a:xfrm>
            <a:off x="882206" y="1980431"/>
            <a:ext cx="4104454" cy="792088"/>
          </a:xfrm>
          <a:prstGeom prst="rect">
            <a:avLst/>
          </a:prstGeom>
        </p:spPr>
        <p:txBody>
          <a:bodyPr vert="horz" wrap="none" lIns="0" tIns="0" rIns="0" bIns="0" rtlCol="0" anchor="ctr" anchorCtr="0">
            <a:noAutofit/>
          </a:bodyPr>
          <a:lstStyle>
            <a:lvl1pPr marL="0" indent="0" algn="l" defTabSz="1042688" rtl="0" eaLnBrk="1" latinLnBrk="0" hangingPunct="1">
              <a:spcBef>
                <a:spcPts val="0"/>
              </a:spcBef>
              <a:spcAft>
                <a:spcPts val="500"/>
              </a:spcAft>
              <a:buFont typeface="Arial" pitchFamily="34" charset="0"/>
              <a:buNone/>
              <a:defRPr lang="en-US" sz="1400" b="1" kern="1200" dirty="0" smtClean="0">
                <a:solidFill>
                  <a:schemeClr val="accent1"/>
                </a:solidFill>
                <a:latin typeface="+mj-lt"/>
                <a:ea typeface="+mn-ea"/>
                <a:cs typeface="Arial" charset="0"/>
              </a:defRPr>
            </a:lvl1pPr>
            <a:lvl2pPr marL="0" indent="0" algn="l" defTabSz="1042688" rtl="0" eaLnBrk="1" latinLnBrk="0" hangingPunct="1">
              <a:spcBef>
                <a:spcPts val="200"/>
              </a:spcBef>
              <a:spcAft>
                <a:spcPts val="500"/>
              </a:spcAft>
              <a:buFontTx/>
              <a:buNone/>
              <a:defRPr sz="1400" b="1" kern="1200">
                <a:solidFill>
                  <a:schemeClr val="tx1"/>
                </a:solidFill>
                <a:latin typeface="+mn-lt"/>
                <a:ea typeface="+mn-ea"/>
                <a:cs typeface="+mn-cs"/>
              </a:defRPr>
            </a:lvl2pPr>
            <a:lvl3pPr marL="0" indent="0" algn="l" defTabSz="1042688" rtl="0" eaLnBrk="1" latinLnBrk="0" hangingPunct="1">
              <a:spcBef>
                <a:spcPts val="200"/>
              </a:spcBef>
              <a:spcAft>
                <a:spcPts val="500"/>
              </a:spcAft>
              <a:buFontTx/>
              <a:buNone/>
              <a:defRPr sz="1300" b="1" kern="1200">
                <a:solidFill>
                  <a:schemeClr val="accent1"/>
                </a:solidFill>
                <a:latin typeface="+mn-lt"/>
                <a:ea typeface="+mn-ea"/>
                <a:cs typeface="+mn-cs"/>
              </a:defRPr>
            </a:lvl3pPr>
            <a:lvl4pPr marL="177738" indent="-177738"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4pPr>
            <a:lvl5pPr marL="342779" indent="-165042"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5pPr>
            <a:lvl6pPr marL="2867392"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735"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0080"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1424"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en-GB" dirty="0" smtClean="0"/>
              <a:t>Session Aim: Investigate </a:t>
            </a:r>
            <a:r>
              <a:rPr lang="en-GB" dirty="0"/>
              <a:t>a major problem to </a:t>
            </a:r>
            <a:endParaRPr lang="en-GB" dirty="0" smtClean="0"/>
          </a:p>
          <a:p>
            <a:r>
              <a:rPr lang="en-GB" dirty="0" smtClean="0"/>
              <a:t>understand </a:t>
            </a:r>
            <a:r>
              <a:rPr lang="en-GB" dirty="0"/>
              <a:t>the </a:t>
            </a:r>
            <a:r>
              <a:rPr lang="en-GB" dirty="0" smtClean="0"/>
              <a:t>root </a:t>
            </a:r>
            <a:r>
              <a:rPr lang="en-GB" dirty="0"/>
              <a:t>cause, identify potential </a:t>
            </a:r>
            <a:endParaRPr lang="en-GB" dirty="0" smtClean="0"/>
          </a:p>
          <a:p>
            <a:r>
              <a:rPr lang="en-GB" dirty="0" smtClean="0"/>
              <a:t>solutions </a:t>
            </a:r>
            <a:r>
              <a:rPr lang="en-GB" dirty="0"/>
              <a:t>and </a:t>
            </a:r>
            <a:r>
              <a:rPr lang="en-GB" dirty="0" smtClean="0"/>
              <a:t>create an </a:t>
            </a:r>
            <a:r>
              <a:rPr lang="en-GB" dirty="0"/>
              <a:t>action plan</a:t>
            </a:r>
          </a:p>
        </p:txBody>
      </p:sp>
    </p:spTree>
    <p:extLst>
      <p:ext uri="{BB962C8B-B14F-4D97-AF65-F5344CB8AC3E}">
        <p14:creationId xmlns:p14="http://schemas.microsoft.com/office/powerpoint/2010/main" val="12421048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421561284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9942"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809625" y="108223"/>
            <a:ext cx="9074150" cy="612000"/>
          </a:xfrm>
        </p:spPr>
        <p:txBody>
          <a:bodyPr/>
          <a:lstStyle/>
          <a:p>
            <a:r>
              <a:rPr lang="en-GB" dirty="0" smtClean="0"/>
              <a:t>Problem Solving Methodology</a:t>
            </a:r>
            <a:endParaRPr lang="en-GB" dirty="0"/>
          </a:p>
        </p:txBody>
      </p:sp>
      <p:sp>
        <p:nvSpPr>
          <p:cNvPr id="15" name="Slide Number Placeholder 4"/>
          <p:cNvSpPr>
            <a:spLocks noGrp="1"/>
          </p:cNvSpPr>
          <p:nvPr>
            <p:ph type="sldNum" sz="quarter" idx="12"/>
          </p:nvPr>
        </p:nvSpPr>
        <p:spPr>
          <a:xfrm>
            <a:off x="9883775" y="7237015"/>
            <a:ext cx="485776" cy="144000"/>
          </a:xfrm>
        </p:spPr>
        <p:txBody>
          <a:bodyPr/>
          <a:lstStyle/>
          <a:p>
            <a:fld id="{F9A56513-F998-4254-9CEB-F507EE6F3742}" type="slidenum">
              <a:rPr lang="en-GB" sz="800" smtClean="0">
                <a:solidFill>
                  <a:srgbClr val="808080"/>
                </a:solidFill>
              </a:rPr>
              <a:pPr/>
              <a:t>17</a:t>
            </a:fld>
            <a:endParaRPr lang="en-GB" sz="800" dirty="0">
              <a:solidFill>
                <a:srgbClr val="808080"/>
              </a:solidFill>
            </a:endParaRPr>
          </a:p>
        </p:txBody>
      </p:sp>
      <p:sp>
        <p:nvSpPr>
          <p:cNvPr id="11" name="Rectangle 10"/>
          <p:cNvSpPr/>
          <p:nvPr/>
        </p:nvSpPr>
        <p:spPr>
          <a:xfrm>
            <a:off x="809625" y="900113"/>
            <a:ext cx="9074150" cy="584775"/>
          </a:xfrm>
          <a:prstGeom prst="rect">
            <a:avLst/>
          </a:prstGeom>
        </p:spPr>
        <p:txBody>
          <a:bodyPr wrap="square">
            <a:spAutoFit/>
          </a:bodyPr>
          <a:lstStyle/>
          <a:p>
            <a:pPr lvl="0"/>
            <a:r>
              <a:rPr lang="en-GB" sz="1600" b="1" dirty="0" smtClean="0">
                <a:solidFill>
                  <a:schemeClr val="bg1">
                    <a:lumMod val="50000"/>
                  </a:schemeClr>
                </a:solidFill>
              </a:rPr>
              <a:t>Session Aim</a:t>
            </a:r>
            <a:r>
              <a:rPr lang="en-GB" sz="1600" dirty="0" smtClean="0">
                <a:solidFill>
                  <a:schemeClr val="bg1">
                    <a:lumMod val="50000"/>
                  </a:schemeClr>
                </a:solidFill>
              </a:rPr>
              <a:t>: Investigate </a:t>
            </a:r>
            <a:r>
              <a:rPr lang="en-GB" sz="1600" dirty="0">
                <a:solidFill>
                  <a:schemeClr val="bg1">
                    <a:lumMod val="50000"/>
                  </a:schemeClr>
                </a:solidFill>
              </a:rPr>
              <a:t>a major problem to understand the root cause, identify potential solutions and </a:t>
            </a:r>
            <a:r>
              <a:rPr lang="en-GB" sz="1600" dirty="0" smtClean="0">
                <a:solidFill>
                  <a:schemeClr val="bg1">
                    <a:lumMod val="50000"/>
                  </a:schemeClr>
                </a:solidFill>
              </a:rPr>
              <a:t>create </a:t>
            </a:r>
            <a:r>
              <a:rPr lang="en-GB" sz="1600" dirty="0">
                <a:solidFill>
                  <a:schemeClr val="bg1">
                    <a:lumMod val="50000"/>
                  </a:schemeClr>
                </a:solidFill>
              </a:rPr>
              <a:t>an action plan</a:t>
            </a:r>
          </a:p>
        </p:txBody>
      </p:sp>
      <p:sp>
        <p:nvSpPr>
          <p:cNvPr id="3" name="Rectangle 2"/>
          <p:cNvSpPr/>
          <p:nvPr/>
        </p:nvSpPr>
        <p:spPr>
          <a:xfrm>
            <a:off x="809625" y="1476375"/>
            <a:ext cx="9074150" cy="307777"/>
          </a:xfrm>
          <a:prstGeom prst="rect">
            <a:avLst/>
          </a:prstGeom>
        </p:spPr>
        <p:txBody>
          <a:bodyPr wrap="square">
            <a:spAutoFit/>
          </a:bodyPr>
          <a:lstStyle/>
          <a:p>
            <a:r>
              <a:rPr lang="en-GB" sz="1400" b="1" dirty="0" smtClean="0"/>
              <a:t>The EY approach to structured problem solving is simple, flexible, and output focused</a:t>
            </a:r>
            <a:r>
              <a:rPr lang="en-GB" sz="1400" dirty="0" smtClean="0"/>
              <a:t>. </a:t>
            </a:r>
            <a:endParaRPr lang="en-GB" sz="1400" dirty="0"/>
          </a:p>
        </p:txBody>
      </p:sp>
      <p:grpSp>
        <p:nvGrpSpPr>
          <p:cNvPr id="62" name="Group 61"/>
          <p:cNvGrpSpPr/>
          <p:nvPr/>
        </p:nvGrpSpPr>
        <p:grpSpPr>
          <a:xfrm>
            <a:off x="738188" y="1908175"/>
            <a:ext cx="9231195" cy="5184824"/>
            <a:chOff x="738188" y="1908423"/>
            <a:chExt cx="9145587" cy="5404577"/>
          </a:xfrm>
        </p:grpSpPr>
        <p:sp>
          <p:nvSpPr>
            <p:cNvPr id="4" name="Pentagon 3"/>
            <p:cNvSpPr/>
            <p:nvPr/>
          </p:nvSpPr>
          <p:spPr>
            <a:xfrm>
              <a:off x="809625" y="1908423"/>
              <a:ext cx="9074150" cy="432048"/>
            </a:xfrm>
            <a:prstGeom prst="homePlate">
              <a:avLst/>
            </a:prstGeom>
            <a:solidFill>
              <a:srgbClr val="FFD200"/>
            </a:solidFill>
            <a:ln w="9525" cmpd="sng">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600" b="1" dirty="0" smtClean="0">
                  <a:solidFill>
                    <a:schemeClr val="tx1"/>
                  </a:solidFill>
                </a:rPr>
                <a:t>Increasingly clarity on problem</a:t>
              </a:r>
            </a:p>
          </p:txBody>
        </p:sp>
        <p:sp>
          <p:nvSpPr>
            <p:cNvPr id="5" name="Rectangle 4"/>
            <p:cNvSpPr/>
            <p:nvPr/>
          </p:nvSpPr>
          <p:spPr>
            <a:xfrm>
              <a:off x="809625" y="2412479"/>
              <a:ext cx="1584747" cy="504056"/>
            </a:xfrm>
            <a:prstGeom prst="rect">
              <a:avLst/>
            </a:prstGeom>
            <a:solidFill>
              <a:schemeClr val="tx1">
                <a:lumMod val="65000"/>
                <a:lumOff val="35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600" b="1" dirty="0" smtClean="0">
                  <a:solidFill>
                    <a:schemeClr val="bg1"/>
                  </a:solidFill>
                </a:rPr>
                <a:t>State</a:t>
              </a:r>
            </a:p>
          </p:txBody>
        </p:sp>
        <p:sp>
          <p:nvSpPr>
            <p:cNvPr id="13" name="Rectangle 12"/>
            <p:cNvSpPr/>
            <p:nvPr/>
          </p:nvSpPr>
          <p:spPr>
            <a:xfrm>
              <a:off x="2609825" y="2412479"/>
              <a:ext cx="1584747" cy="504056"/>
            </a:xfrm>
            <a:prstGeom prst="rect">
              <a:avLst/>
            </a:prstGeom>
            <a:solidFill>
              <a:schemeClr val="tx1">
                <a:lumMod val="65000"/>
                <a:lumOff val="35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600" b="1" dirty="0" smtClean="0">
                  <a:solidFill>
                    <a:schemeClr val="bg1"/>
                  </a:solidFill>
                </a:rPr>
                <a:t>Organise</a:t>
              </a:r>
            </a:p>
          </p:txBody>
        </p:sp>
        <p:sp>
          <p:nvSpPr>
            <p:cNvPr id="14" name="Rectangle 13"/>
            <p:cNvSpPr/>
            <p:nvPr/>
          </p:nvSpPr>
          <p:spPr>
            <a:xfrm>
              <a:off x="4482033" y="2412479"/>
              <a:ext cx="1584747" cy="504056"/>
            </a:xfrm>
            <a:prstGeom prst="rect">
              <a:avLst/>
            </a:prstGeom>
            <a:solidFill>
              <a:schemeClr val="tx1">
                <a:lumMod val="65000"/>
                <a:lumOff val="35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600" b="1" dirty="0" smtClean="0">
                  <a:solidFill>
                    <a:schemeClr val="bg1"/>
                  </a:solidFill>
                </a:rPr>
                <a:t>Analyse</a:t>
              </a:r>
            </a:p>
          </p:txBody>
        </p:sp>
        <p:sp>
          <p:nvSpPr>
            <p:cNvPr id="16" name="Rectangle 15"/>
            <p:cNvSpPr/>
            <p:nvPr/>
          </p:nvSpPr>
          <p:spPr>
            <a:xfrm>
              <a:off x="6282804" y="2412479"/>
              <a:ext cx="1584747" cy="504056"/>
            </a:xfrm>
            <a:prstGeom prst="rect">
              <a:avLst/>
            </a:prstGeom>
            <a:solidFill>
              <a:schemeClr val="tx1">
                <a:lumMod val="65000"/>
                <a:lumOff val="35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600" b="1" dirty="0" smtClean="0">
                  <a:solidFill>
                    <a:schemeClr val="bg1"/>
                  </a:solidFill>
                </a:rPr>
                <a:t>Verify</a:t>
              </a:r>
            </a:p>
          </p:txBody>
        </p:sp>
        <p:sp>
          <p:nvSpPr>
            <p:cNvPr id="17" name="Rectangle 16"/>
            <p:cNvSpPr/>
            <p:nvPr/>
          </p:nvSpPr>
          <p:spPr>
            <a:xfrm>
              <a:off x="8083004" y="2426915"/>
              <a:ext cx="1584747" cy="504056"/>
            </a:xfrm>
            <a:prstGeom prst="rect">
              <a:avLst/>
            </a:prstGeom>
            <a:solidFill>
              <a:schemeClr val="tx1">
                <a:lumMod val="65000"/>
                <a:lumOff val="35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600" b="1" dirty="0" smtClean="0">
                  <a:solidFill>
                    <a:schemeClr val="bg1"/>
                  </a:solidFill>
                </a:rPr>
                <a:t>Express</a:t>
              </a:r>
            </a:p>
          </p:txBody>
        </p:sp>
        <p:sp>
          <p:nvSpPr>
            <p:cNvPr id="18" name="Rectangle 17"/>
            <p:cNvSpPr/>
            <p:nvPr/>
          </p:nvSpPr>
          <p:spPr>
            <a:xfrm>
              <a:off x="809625" y="3068934"/>
              <a:ext cx="1584747" cy="639217"/>
            </a:xfrm>
            <a:prstGeom prst="rect">
              <a:avLst/>
            </a:prstGeom>
            <a:solidFill>
              <a:schemeClr val="bg1">
                <a:lumMod val="75000"/>
              </a:schemeClr>
            </a:solidFill>
            <a:ln w="9525" cmpd="sng">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tx1"/>
                  </a:solidFill>
                </a:rPr>
                <a:t>Define the problem and scope</a:t>
              </a:r>
            </a:p>
          </p:txBody>
        </p:sp>
        <p:sp>
          <p:nvSpPr>
            <p:cNvPr id="19" name="Rectangle 18"/>
            <p:cNvSpPr/>
            <p:nvPr/>
          </p:nvSpPr>
          <p:spPr>
            <a:xfrm>
              <a:off x="2610396" y="3060551"/>
              <a:ext cx="1584747" cy="639217"/>
            </a:xfrm>
            <a:prstGeom prst="rect">
              <a:avLst/>
            </a:prstGeom>
            <a:solidFill>
              <a:schemeClr val="bg1">
                <a:lumMod val="95000"/>
              </a:schemeClr>
            </a:solidFill>
            <a:ln w="9525" cmpd="sng">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tx1"/>
                  </a:solidFill>
                </a:rPr>
                <a:t>Generate logic tree</a:t>
              </a:r>
            </a:p>
          </p:txBody>
        </p:sp>
        <p:sp>
          <p:nvSpPr>
            <p:cNvPr id="20" name="Rectangle 19"/>
            <p:cNvSpPr/>
            <p:nvPr/>
          </p:nvSpPr>
          <p:spPr>
            <a:xfrm>
              <a:off x="2610396" y="3924647"/>
              <a:ext cx="1584747" cy="639217"/>
            </a:xfrm>
            <a:prstGeom prst="rect">
              <a:avLst/>
            </a:prstGeom>
            <a:solidFill>
              <a:schemeClr val="bg1">
                <a:lumMod val="95000"/>
              </a:schemeClr>
            </a:solidFill>
            <a:ln w="9525" cmpd="sng">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tx1"/>
                  </a:solidFill>
                </a:rPr>
                <a:t>Prioritise problem components</a:t>
              </a:r>
            </a:p>
          </p:txBody>
        </p:sp>
        <p:sp>
          <p:nvSpPr>
            <p:cNvPr id="21" name="Rectangle 20"/>
            <p:cNvSpPr/>
            <p:nvPr/>
          </p:nvSpPr>
          <p:spPr>
            <a:xfrm>
              <a:off x="2630522" y="4869606"/>
              <a:ext cx="1584747" cy="639217"/>
            </a:xfrm>
            <a:prstGeom prst="rect">
              <a:avLst/>
            </a:prstGeom>
            <a:solidFill>
              <a:schemeClr val="bg1">
                <a:lumMod val="95000"/>
              </a:schemeClr>
            </a:solidFill>
            <a:ln w="9525" cmpd="sng">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tx1"/>
                  </a:solidFill>
                </a:rPr>
                <a:t>Begin to define initial storyline</a:t>
              </a:r>
            </a:p>
          </p:txBody>
        </p:sp>
        <p:sp>
          <p:nvSpPr>
            <p:cNvPr id="22" name="Rectangle 21"/>
            <p:cNvSpPr/>
            <p:nvPr/>
          </p:nvSpPr>
          <p:spPr>
            <a:xfrm>
              <a:off x="4482604" y="3068935"/>
              <a:ext cx="1584747" cy="639217"/>
            </a:xfrm>
            <a:prstGeom prst="rect">
              <a:avLst/>
            </a:prstGeom>
            <a:solidFill>
              <a:schemeClr val="bg1">
                <a:lumMod val="50000"/>
              </a:schemeClr>
            </a:solidFill>
            <a:ln w="9525" cmpd="sng">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bg2"/>
                  </a:solidFill>
                </a:rPr>
                <a:t>Formulate hypotheses</a:t>
              </a:r>
            </a:p>
          </p:txBody>
        </p:sp>
        <p:sp>
          <p:nvSpPr>
            <p:cNvPr id="23" name="Rectangle 22"/>
            <p:cNvSpPr/>
            <p:nvPr/>
          </p:nvSpPr>
          <p:spPr>
            <a:xfrm>
              <a:off x="4482604" y="3852639"/>
              <a:ext cx="1584747" cy="639217"/>
            </a:xfrm>
            <a:prstGeom prst="rect">
              <a:avLst/>
            </a:prstGeom>
            <a:solidFill>
              <a:schemeClr val="bg1">
                <a:lumMod val="50000"/>
              </a:schemeClr>
            </a:solidFill>
            <a:ln w="9525" cmpd="sng">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bg2"/>
                  </a:solidFill>
                </a:rPr>
                <a:t>Refine storyline</a:t>
              </a:r>
            </a:p>
          </p:txBody>
        </p:sp>
        <p:sp>
          <p:nvSpPr>
            <p:cNvPr id="24" name="Rectangle 23"/>
            <p:cNvSpPr/>
            <p:nvPr/>
          </p:nvSpPr>
          <p:spPr>
            <a:xfrm>
              <a:off x="4482032" y="4644727"/>
              <a:ext cx="1584747" cy="639217"/>
            </a:xfrm>
            <a:prstGeom prst="rect">
              <a:avLst/>
            </a:prstGeom>
            <a:solidFill>
              <a:schemeClr val="bg1">
                <a:lumMod val="50000"/>
              </a:schemeClr>
            </a:solidFill>
            <a:ln w="9525" cmpd="sng">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bg2"/>
                  </a:solidFill>
                </a:rPr>
                <a:t>Plan analysis</a:t>
              </a:r>
            </a:p>
          </p:txBody>
        </p:sp>
        <p:sp>
          <p:nvSpPr>
            <p:cNvPr id="25" name="Rectangle 24"/>
            <p:cNvSpPr/>
            <p:nvPr/>
          </p:nvSpPr>
          <p:spPr>
            <a:xfrm>
              <a:off x="4482889" y="5436815"/>
              <a:ext cx="1584747" cy="639217"/>
            </a:xfrm>
            <a:prstGeom prst="rect">
              <a:avLst/>
            </a:prstGeom>
            <a:solidFill>
              <a:schemeClr val="bg1">
                <a:lumMod val="50000"/>
              </a:schemeClr>
            </a:solidFill>
            <a:ln w="9525" cmpd="sng">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bg2"/>
                  </a:solidFill>
                </a:rPr>
                <a:t>Gather data</a:t>
              </a:r>
            </a:p>
          </p:txBody>
        </p:sp>
        <p:sp>
          <p:nvSpPr>
            <p:cNvPr id="26" name="Rectangle 25"/>
            <p:cNvSpPr/>
            <p:nvPr/>
          </p:nvSpPr>
          <p:spPr>
            <a:xfrm>
              <a:off x="4482889" y="6228432"/>
              <a:ext cx="1584747" cy="639217"/>
            </a:xfrm>
            <a:prstGeom prst="rect">
              <a:avLst/>
            </a:prstGeom>
            <a:solidFill>
              <a:schemeClr val="bg1">
                <a:lumMod val="50000"/>
              </a:schemeClr>
            </a:solidFill>
            <a:ln w="9525" cmpd="sng">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bg2"/>
                  </a:solidFill>
                </a:rPr>
                <a:t>Conduct analysis</a:t>
              </a:r>
            </a:p>
          </p:txBody>
        </p:sp>
        <p:sp>
          <p:nvSpPr>
            <p:cNvPr id="27" name="Rectangle 26"/>
            <p:cNvSpPr/>
            <p:nvPr/>
          </p:nvSpPr>
          <p:spPr>
            <a:xfrm>
              <a:off x="6282804" y="3068935"/>
              <a:ext cx="1584747" cy="639217"/>
            </a:xfrm>
            <a:prstGeom prst="rect">
              <a:avLst/>
            </a:prstGeom>
            <a:solidFill>
              <a:schemeClr val="bg1">
                <a:lumMod val="75000"/>
              </a:schemeClr>
            </a:solidFill>
            <a:ln w="9525" cmpd="sng">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tx1"/>
                  </a:solidFill>
                </a:rPr>
                <a:t>Iterate conclusions</a:t>
              </a:r>
            </a:p>
          </p:txBody>
        </p:sp>
        <p:sp>
          <p:nvSpPr>
            <p:cNvPr id="28" name="Rectangle 27"/>
            <p:cNvSpPr/>
            <p:nvPr/>
          </p:nvSpPr>
          <p:spPr>
            <a:xfrm>
              <a:off x="6282804" y="4284687"/>
              <a:ext cx="1584747" cy="639217"/>
            </a:xfrm>
            <a:prstGeom prst="rect">
              <a:avLst/>
            </a:prstGeom>
            <a:solidFill>
              <a:schemeClr val="bg1">
                <a:lumMod val="75000"/>
              </a:schemeClr>
            </a:solidFill>
            <a:ln w="9525" cmpd="sng">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tx1"/>
                  </a:solidFill>
                </a:rPr>
                <a:t>Capture findings in storyboard</a:t>
              </a:r>
            </a:p>
          </p:txBody>
        </p:sp>
        <p:sp>
          <p:nvSpPr>
            <p:cNvPr id="29" name="Rectangle 28"/>
            <p:cNvSpPr/>
            <p:nvPr/>
          </p:nvSpPr>
          <p:spPr>
            <a:xfrm>
              <a:off x="6282804" y="5283944"/>
              <a:ext cx="1584747" cy="639217"/>
            </a:xfrm>
            <a:prstGeom prst="rect">
              <a:avLst/>
            </a:prstGeom>
            <a:solidFill>
              <a:schemeClr val="bg1">
                <a:lumMod val="75000"/>
              </a:schemeClr>
            </a:solidFill>
            <a:ln w="9525" cmpd="sng">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tx1"/>
                  </a:solidFill>
                </a:rPr>
                <a:t>Pre-wire stakeholders</a:t>
              </a:r>
            </a:p>
          </p:txBody>
        </p:sp>
        <p:sp>
          <p:nvSpPr>
            <p:cNvPr id="30" name="Rectangle 29"/>
            <p:cNvSpPr/>
            <p:nvPr/>
          </p:nvSpPr>
          <p:spPr>
            <a:xfrm>
              <a:off x="8108237" y="4005510"/>
              <a:ext cx="1584747" cy="639217"/>
            </a:xfrm>
            <a:prstGeom prst="rect">
              <a:avLst/>
            </a:prstGeom>
            <a:solidFill>
              <a:schemeClr val="bg1">
                <a:lumMod val="75000"/>
              </a:schemeClr>
            </a:solidFill>
            <a:ln w="9525" cmpd="sng">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dirty="0" smtClean="0">
                  <a:solidFill>
                    <a:schemeClr val="tx1"/>
                  </a:solidFill>
                </a:rPr>
                <a:t>Final version of findings</a:t>
              </a:r>
            </a:p>
          </p:txBody>
        </p:sp>
        <p:cxnSp>
          <p:nvCxnSpPr>
            <p:cNvPr id="8" name="Straight Arrow Connector 7"/>
            <p:cNvCxnSpPr>
              <a:stCxn id="19" idx="2"/>
              <a:endCxn id="20" idx="0"/>
            </p:cNvCxnSpPr>
            <p:nvPr/>
          </p:nvCxnSpPr>
          <p:spPr>
            <a:xfrm>
              <a:off x="3402770" y="3699768"/>
              <a:ext cx="0" cy="22487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20" idx="2"/>
              <a:endCxn id="21" idx="0"/>
            </p:cNvCxnSpPr>
            <p:nvPr/>
          </p:nvCxnSpPr>
          <p:spPr>
            <a:xfrm>
              <a:off x="3402770" y="4563864"/>
              <a:ext cx="20126" cy="3057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2" idx="2"/>
              <a:endCxn id="23" idx="0"/>
            </p:cNvCxnSpPr>
            <p:nvPr/>
          </p:nvCxnSpPr>
          <p:spPr>
            <a:xfrm>
              <a:off x="5274978" y="3708152"/>
              <a:ext cx="0" cy="1444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3" idx="2"/>
              <a:endCxn id="24" idx="0"/>
            </p:cNvCxnSpPr>
            <p:nvPr/>
          </p:nvCxnSpPr>
          <p:spPr>
            <a:xfrm flipH="1">
              <a:off x="5274406" y="4491856"/>
              <a:ext cx="572" cy="1528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4" idx="2"/>
              <a:endCxn id="25" idx="0"/>
            </p:cNvCxnSpPr>
            <p:nvPr/>
          </p:nvCxnSpPr>
          <p:spPr>
            <a:xfrm>
              <a:off x="5274406" y="5283944"/>
              <a:ext cx="857" cy="1528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5" idx="2"/>
              <a:endCxn id="26" idx="0"/>
            </p:cNvCxnSpPr>
            <p:nvPr/>
          </p:nvCxnSpPr>
          <p:spPr>
            <a:xfrm>
              <a:off x="5275263" y="6076032"/>
              <a:ext cx="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Elbow Connector 45"/>
            <p:cNvCxnSpPr>
              <a:stCxn id="26" idx="3"/>
              <a:endCxn id="27" idx="1"/>
            </p:cNvCxnSpPr>
            <p:nvPr/>
          </p:nvCxnSpPr>
          <p:spPr>
            <a:xfrm flipV="1">
              <a:off x="6067636" y="3388544"/>
              <a:ext cx="215168" cy="3159497"/>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27" idx="2"/>
              <a:endCxn id="28" idx="0"/>
            </p:cNvCxnSpPr>
            <p:nvPr/>
          </p:nvCxnSpPr>
          <p:spPr>
            <a:xfrm>
              <a:off x="7075178" y="3708152"/>
              <a:ext cx="0" cy="5765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28" idx="2"/>
              <a:endCxn id="29" idx="0"/>
            </p:cNvCxnSpPr>
            <p:nvPr/>
          </p:nvCxnSpPr>
          <p:spPr>
            <a:xfrm>
              <a:off x="7075178" y="4923904"/>
              <a:ext cx="0" cy="36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Elbow Connector 51"/>
            <p:cNvCxnSpPr>
              <a:stCxn id="29" idx="3"/>
              <a:endCxn id="30" idx="1"/>
            </p:cNvCxnSpPr>
            <p:nvPr/>
          </p:nvCxnSpPr>
          <p:spPr>
            <a:xfrm flipV="1">
              <a:off x="7867551" y="4325119"/>
              <a:ext cx="240686" cy="1278434"/>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54" name="Right Triangle 53"/>
            <p:cNvSpPr/>
            <p:nvPr/>
          </p:nvSpPr>
          <p:spPr>
            <a:xfrm>
              <a:off x="738188" y="6939656"/>
              <a:ext cx="9060773" cy="373344"/>
            </a:xfrm>
            <a:prstGeom prst="rtTriangle">
              <a:avLst/>
            </a:prstGeom>
            <a:solidFill>
              <a:schemeClr val="bg1">
                <a:lumMod val="50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endParaRPr lang="en-GB" sz="1600" b="1" dirty="0" smtClean="0"/>
            </a:p>
          </p:txBody>
        </p:sp>
        <p:sp>
          <p:nvSpPr>
            <p:cNvPr id="56" name="Right Triangle 55"/>
            <p:cNvSpPr/>
            <p:nvPr/>
          </p:nvSpPr>
          <p:spPr>
            <a:xfrm rot="10800000">
              <a:off x="809624" y="6939655"/>
              <a:ext cx="9002013" cy="369366"/>
            </a:xfrm>
            <a:prstGeom prst="rtTriangle">
              <a:avLst/>
            </a:prstGeom>
            <a:solidFill>
              <a:schemeClr val="bg1">
                <a:lumMod val="75000"/>
              </a:schemeClr>
            </a:solidFill>
            <a:ln w="9525" cmpd="sng">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endParaRPr lang="en-GB" sz="1600" b="1" dirty="0" smtClean="0"/>
            </a:p>
          </p:txBody>
        </p:sp>
        <p:sp>
          <p:nvSpPr>
            <p:cNvPr id="59" name="TextBox 58"/>
            <p:cNvSpPr txBox="1"/>
            <p:nvPr/>
          </p:nvSpPr>
          <p:spPr>
            <a:xfrm>
              <a:off x="6802106" y="6899386"/>
              <a:ext cx="3009532" cy="338554"/>
            </a:xfrm>
            <a:prstGeom prst="rect">
              <a:avLst/>
            </a:prstGeom>
            <a:noFill/>
          </p:spPr>
          <p:txBody>
            <a:bodyPr wrap="square" rtlCol="0">
              <a:spAutoFit/>
            </a:bodyPr>
            <a:lstStyle/>
            <a:p>
              <a:pPr algn="ctr"/>
              <a:r>
                <a:rPr lang="en-GB" sz="1600" b="1" dirty="0" smtClean="0">
                  <a:solidFill>
                    <a:schemeClr val="bg1"/>
                  </a:solidFill>
                </a:rPr>
                <a:t>Structured Communications</a:t>
              </a:r>
              <a:endParaRPr lang="en-GB" sz="1600" b="1" dirty="0">
                <a:solidFill>
                  <a:schemeClr val="bg1"/>
                </a:solidFill>
              </a:endParaRPr>
            </a:p>
          </p:txBody>
        </p:sp>
        <p:sp>
          <p:nvSpPr>
            <p:cNvPr id="60" name="TextBox 59"/>
            <p:cNvSpPr txBox="1"/>
            <p:nvPr/>
          </p:nvSpPr>
          <p:spPr>
            <a:xfrm>
              <a:off x="752507" y="6974446"/>
              <a:ext cx="3009532" cy="338554"/>
            </a:xfrm>
            <a:prstGeom prst="rect">
              <a:avLst/>
            </a:prstGeom>
            <a:noFill/>
          </p:spPr>
          <p:txBody>
            <a:bodyPr wrap="square" rtlCol="0">
              <a:spAutoFit/>
            </a:bodyPr>
            <a:lstStyle/>
            <a:p>
              <a:pPr algn="ctr"/>
              <a:r>
                <a:rPr lang="en-GB" sz="1600" b="1" dirty="0" smtClean="0">
                  <a:solidFill>
                    <a:schemeClr val="bg1"/>
                  </a:solidFill>
                </a:rPr>
                <a:t>Problem solving</a:t>
              </a:r>
              <a:endParaRPr lang="en-GB" sz="1600" b="1" dirty="0">
                <a:solidFill>
                  <a:schemeClr val="bg1"/>
                </a:solidFill>
              </a:endParaRPr>
            </a:p>
          </p:txBody>
        </p:sp>
      </p:grpSp>
    </p:spTree>
    <p:extLst>
      <p:ext uri="{BB962C8B-B14F-4D97-AF65-F5344CB8AC3E}">
        <p14:creationId xmlns:p14="http://schemas.microsoft.com/office/powerpoint/2010/main" val="36392246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889" y="252239"/>
            <a:ext cx="9288337" cy="612000"/>
          </a:xfrm>
        </p:spPr>
        <p:txBody>
          <a:bodyPr/>
          <a:lstStyle/>
          <a:p>
            <a:r>
              <a:rPr lang="en-CA" dirty="0" smtClean="0"/>
              <a:t>Each phase of the approach involves using specific tools to produce specific outputs</a:t>
            </a:r>
            <a:endParaRPr lang="en-GB" dirty="0"/>
          </a:p>
        </p:txBody>
      </p:sp>
      <p:sp>
        <p:nvSpPr>
          <p:cNvPr id="4" name="Slide Number Placeholder 3"/>
          <p:cNvSpPr>
            <a:spLocks noGrp="1"/>
          </p:cNvSpPr>
          <p:nvPr>
            <p:ph type="sldNum" sz="quarter" idx="12"/>
          </p:nvPr>
        </p:nvSpPr>
        <p:spPr/>
        <p:txBody>
          <a:bodyPr/>
          <a:lstStyle/>
          <a:p>
            <a:fld id="{F9A56513-F998-4254-9CEB-F507EE6F3742}" type="slidenum">
              <a:rPr lang="en-GB" smtClean="0"/>
              <a:pPr/>
              <a:t>18</a:t>
            </a:fld>
            <a:endParaRPr lang="en-GB" dirty="0"/>
          </a:p>
        </p:txBody>
      </p:sp>
      <p:sp>
        <p:nvSpPr>
          <p:cNvPr id="6" name="Pentagon 5"/>
          <p:cNvSpPr/>
          <p:nvPr/>
        </p:nvSpPr>
        <p:spPr>
          <a:xfrm>
            <a:off x="738188" y="1116335"/>
            <a:ext cx="9361039" cy="705644"/>
          </a:xfrm>
          <a:prstGeom prst="homePlate">
            <a:avLst/>
          </a:prstGeom>
          <a:solidFill>
            <a:srgbClr val="FFD200"/>
          </a:solidFill>
          <a:ln w="9525" cmpd="sng">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600" b="1" dirty="0" smtClean="0">
              <a:solidFill>
                <a:schemeClr val="tx1"/>
              </a:solidFill>
            </a:endParaRPr>
          </a:p>
        </p:txBody>
      </p:sp>
      <p:sp>
        <p:nvSpPr>
          <p:cNvPr id="7" name="Rectangle 6"/>
          <p:cNvSpPr/>
          <p:nvPr/>
        </p:nvSpPr>
        <p:spPr>
          <a:xfrm>
            <a:off x="810196" y="1245915"/>
            <a:ext cx="1584747" cy="504056"/>
          </a:xfrm>
          <a:prstGeom prst="rect">
            <a:avLst/>
          </a:prstGeom>
          <a:solidFill>
            <a:schemeClr val="tx1">
              <a:lumMod val="65000"/>
              <a:lumOff val="35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600" b="1" dirty="0" smtClean="0">
                <a:solidFill>
                  <a:schemeClr val="bg1"/>
                </a:solidFill>
              </a:rPr>
              <a:t>State</a:t>
            </a:r>
          </a:p>
        </p:txBody>
      </p:sp>
      <p:sp>
        <p:nvSpPr>
          <p:cNvPr id="8" name="Rectangle 7"/>
          <p:cNvSpPr/>
          <p:nvPr/>
        </p:nvSpPr>
        <p:spPr>
          <a:xfrm>
            <a:off x="2610396" y="1245915"/>
            <a:ext cx="1584747" cy="504056"/>
          </a:xfrm>
          <a:prstGeom prst="rect">
            <a:avLst/>
          </a:prstGeom>
          <a:solidFill>
            <a:schemeClr val="tx1">
              <a:lumMod val="65000"/>
              <a:lumOff val="35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600" b="1" dirty="0" smtClean="0">
                <a:solidFill>
                  <a:schemeClr val="bg1"/>
                </a:solidFill>
              </a:rPr>
              <a:t>Organise</a:t>
            </a:r>
          </a:p>
        </p:txBody>
      </p:sp>
      <p:sp>
        <p:nvSpPr>
          <p:cNvPr id="9" name="Rectangle 8"/>
          <p:cNvSpPr/>
          <p:nvPr/>
        </p:nvSpPr>
        <p:spPr>
          <a:xfrm>
            <a:off x="4482604" y="1245915"/>
            <a:ext cx="1584747" cy="504056"/>
          </a:xfrm>
          <a:prstGeom prst="rect">
            <a:avLst/>
          </a:prstGeom>
          <a:solidFill>
            <a:schemeClr val="tx1">
              <a:lumMod val="65000"/>
              <a:lumOff val="35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600" b="1" dirty="0" smtClean="0">
                <a:solidFill>
                  <a:schemeClr val="bg1"/>
                </a:solidFill>
              </a:rPr>
              <a:t>Analyse</a:t>
            </a:r>
          </a:p>
        </p:txBody>
      </p:sp>
      <p:sp>
        <p:nvSpPr>
          <p:cNvPr id="12" name="Rectangle 11"/>
          <p:cNvSpPr/>
          <p:nvPr/>
        </p:nvSpPr>
        <p:spPr>
          <a:xfrm>
            <a:off x="6283375" y="1245915"/>
            <a:ext cx="1584747" cy="504056"/>
          </a:xfrm>
          <a:prstGeom prst="rect">
            <a:avLst/>
          </a:prstGeom>
          <a:solidFill>
            <a:schemeClr val="tx1">
              <a:lumMod val="65000"/>
              <a:lumOff val="35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600" b="1" dirty="0" smtClean="0">
                <a:solidFill>
                  <a:schemeClr val="bg1"/>
                </a:solidFill>
              </a:rPr>
              <a:t>Verify</a:t>
            </a:r>
          </a:p>
        </p:txBody>
      </p:sp>
      <p:sp>
        <p:nvSpPr>
          <p:cNvPr id="13" name="Rectangle 12"/>
          <p:cNvSpPr/>
          <p:nvPr/>
        </p:nvSpPr>
        <p:spPr>
          <a:xfrm>
            <a:off x="8083575" y="1260351"/>
            <a:ext cx="1584747" cy="504056"/>
          </a:xfrm>
          <a:prstGeom prst="rect">
            <a:avLst/>
          </a:prstGeom>
          <a:solidFill>
            <a:schemeClr val="tx1">
              <a:lumMod val="65000"/>
              <a:lumOff val="35000"/>
            </a:schemeClr>
          </a:solid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600" b="1" dirty="0" smtClean="0">
                <a:solidFill>
                  <a:schemeClr val="bg1"/>
                </a:solidFill>
              </a:rPr>
              <a:t>Express</a:t>
            </a:r>
          </a:p>
        </p:txBody>
      </p:sp>
      <p:sp>
        <p:nvSpPr>
          <p:cNvPr id="3" name="Rectangle 2"/>
          <p:cNvSpPr/>
          <p:nvPr/>
        </p:nvSpPr>
        <p:spPr>
          <a:xfrm>
            <a:off x="809625" y="2052439"/>
            <a:ext cx="1585318" cy="4625526"/>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14" name="Rectangle 13"/>
          <p:cNvSpPr/>
          <p:nvPr/>
        </p:nvSpPr>
        <p:spPr>
          <a:xfrm>
            <a:off x="2632903" y="2052439"/>
            <a:ext cx="1585318" cy="4625526"/>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15" name="Rectangle 14"/>
          <p:cNvSpPr/>
          <p:nvPr/>
        </p:nvSpPr>
        <p:spPr>
          <a:xfrm>
            <a:off x="4482033" y="2052439"/>
            <a:ext cx="1585318" cy="4625526"/>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16" name="Rectangle 15"/>
          <p:cNvSpPr/>
          <p:nvPr/>
        </p:nvSpPr>
        <p:spPr>
          <a:xfrm>
            <a:off x="6282804" y="2045102"/>
            <a:ext cx="1585318" cy="4625526"/>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17" name="Rectangle 16"/>
          <p:cNvSpPr/>
          <p:nvPr/>
        </p:nvSpPr>
        <p:spPr>
          <a:xfrm>
            <a:off x="8083004" y="2035425"/>
            <a:ext cx="1585318" cy="4625526"/>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pic>
        <p:nvPicPr>
          <p:cNvPr id="18" name="Picture 2"/>
          <p:cNvPicPr>
            <a:picLocks noChangeArrowheads="1"/>
          </p:cNvPicPr>
          <p:nvPr/>
        </p:nvPicPr>
        <p:blipFill>
          <a:blip r:embed="rId2" cstate="print"/>
          <a:srcRect/>
          <a:stretch>
            <a:fillRect/>
          </a:stretch>
        </p:blipFill>
        <p:spPr bwMode="auto">
          <a:xfrm>
            <a:off x="882204" y="3187228"/>
            <a:ext cx="1386373" cy="1241475"/>
          </a:xfrm>
          <a:prstGeom prst="rect">
            <a:avLst/>
          </a:prstGeom>
          <a:noFill/>
          <a:ln w="9525">
            <a:noFill/>
            <a:miter lim="800000"/>
            <a:headEnd/>
            <a:tailEnd/>
          </a:ln>
          <a:effectLst/>
        </p:spPr>
      </p:pic>
      <p:sp>
        <p:nvSpPr>
          <p:cNvPr id="19" name="TextBox 18"/>
          <p:cNvSpPr txBox="1"/>
          <p:nvPr/>
        </p:nvSpPr>
        <p:spPr>
          <a:xfrm>
            <a:off x="882204" y="2147139"/>
            <a:ext cx="1432187" cy="830997"/>
          </a:xfrm>
          <a:prstGeom prst="rect">
            <a:avLst/>
          </a:prstGeom>
          <a:noFill/>
        </p:spPr>
        <p:txBody>
          <a:bodyPr wrap="square" rtlCol="0">
            <a:spAutoFit/>
          </a:bodyPr>
          <a:lstStyle/>
          <a:p>
            <a:pPr algn="ctr"/>
            <a:r>
              <a:rPr lang="en-GB" sz="1600" b="1" dirty="0" smtClean="0"/>
              <a:t>Problem definition statement</a:t>
            </a:r>
            <a:endParaRPr lang="en-GB" sz="1600" b="1" dirty="0"/>
          </a:p>
        </p:txBody>
      </p:sp>
      <p:sp>
        <p:nvSpPr>
          <p:cNvPr id="20" name="TextBox 19"/>
          <p:cNvSpPr txBox="1"/>
          <p:nvPr/>
        </p:nvSpPr>
        <p:spPr>
          <a:xfrm>
            <a:off x="2682404" y="2145933"/>
            <a:ext cx="1432187" cy="338554"/>
          </a:xfrm>
          <a:prstGeom prst="rect">
            <a:avLst/>
          </a:prstGeom>
          <a:noFill/>
        </p:spPr>
        <p:txBody>
          <a:bodyPr wrap="square" rtlCol="0">
            <a:spAutoFit/>
          </a:bodyPr>
          <a:lstStyle/>
          <a:p>
            <a:pPr algn="ctr"/>
            <a:r>
              <a:rPr lang="en-GB" sz="1600" b="1" dirty="0" smtClean="0"/>
              <a:t>Logic tree</a:t>
            </a:r>
            <a:endParaRPr lang="en-GB" sz="1600" b="1" dirty="0"/>
          </a:p>
        </p:txBody>
      </p:sp>
      <p:sp>
        <p:nvSpPr>
          <p:cNvPr id="21" name="TextBox 20"/>
          <p:cNvSpPr txBox="1"/>
          <p:nvPr/>
        </p:nvSpPr>
        <p:spPr>
          <a:xfrm>
            <a:off x="4482604" y="2145933"/>
            <a:ext cx="1580189" cy="584775"/>
          </a:xfrm>
          <a:prstGeom prst="rect">
            <a:avLst/>
          </a:prstGeom>
          <a:noFill/>
        </p:spPr>
        <p:txBody>
          <a:bodyPr wrap="square" rtlCol="0">
            <a:spAutoFit/>
          </a:bodyPr>
          <a:lstStyle/>
          <a:p>
            <a:pPr algn="ctr"/>
            <a:r>
              <a:rPr lang="en-GB" sz="1600" b="1" dirty="0" smtClean="0"/>
              <a:t>Analysis work plan</a:t>
            </a:r>
            <a:endParaRPr lang="en-GB" sz="1600" b="1" dirty="0"/>
          </a:p>
        </p:txBody>
      </p:sp>
      <p:sp>
        <p:nvSpPr>
          <p:cNvPr id="22" name="TextBox 21"/>
          <p:cNvSpPr txBox="1"/>
          <p:nvPr/>
        </p:nvSpPr>
        <p:spPr>
          <a:xfrm>
            <a:off x="6313679" y="2145933"/>
            <a:ext cx="1554443" cy="338554"/>
          </a:xfrm>
          <a:prstGeom prst="rect">
            <a:avLst/>
          </a:prstGeom>
          <a:noFill/>
        </p:spPr>
        <p:txBody>
          <a:bodyPr wrap="square" rtlCol="0">
            <a:spAutoFit/>
          </a:bodyPr>
          <a:lstStyle/>
          <a:p>
            <a:pPr algn="ctr"/>
            <a:r>
              <a:rPr lang="en-GB" sz="1600" b="1" dirty="0" smtClean="0"/>
              <a:t>Full storyline</a:t>
            </a:r>
            <a:endParaRPr lang="en-GB" sz="1600" b="1" dirty="0"/>
          </a:p>
        </p:txBody>
      </p:sp>
      <p:sp>
        <p:nvSpPr>
          <p:cNvPr id="23" name="TextBox 22"/>
          <p:cNvSpPr txBox="1"/>
          <p:nvPr/>
        </p:nvSpPr>
        <p:spPr>
          <a:xfrm>
            <a:off x="8113879" y="2115736"/>
            <a:ext cx="1554443" cy="584775"/>
          </a:xfrm>
          <a:prstGeom prst="rect">
            <a:avLst/>
          </a:prstGeom>
          <a:noFill/>
        </p:spPr>
        <p:txBody>
          <a:bodyPr wrap="square" rtlCol="0">
            <a:spAutoFit/>
          </a:bodyPr>
          <a:lstStyle/>
          <a:p>
            <a:pPr algn="ctr"/>
            <a:r>
              <a:rPr lang="en-GB" sz="1600" b="1" dirty="0" smtClean="0"/>
              <a:t>Final work product</a:t>
            </a:r>
            <a:endParaRPr lang="en-GB" sz="1600" b="1" dirty="0"/>
          </a:p>
        </p:txBody>
      </p:sp>
      <p:sp>
        <p:nvSpPr>
          <p:cNvPr id="24" name="TextBox 23"/>
          <p:cNvSpPr txBox="1"/>
          <p:nvPr/>
        </p:nvSpPr>
        <p:spPr>
          <a:xfrm>
            <a:off x="8010996" y="4572719"/>
            <a:ext cx="1728191" cy="338554"/>
          </a:xfrm>
          <a:prstGeom prst="rect">
            <a:avLst/>
          </a:prstGeom>
          <a:noFill/>
        </p:spPr>
        <p:txBody>
          <a:bodyPr wrap="square" rtlCol="0">
            <a:spAutoFit/>
          </a:bodyPr>
          <a:lstStyle/>
          <a:p>
            <a:pPr algn="ctr"/>
            <a:r>
              <a:rPr lang="en-GB" sz="1600" b="1" dirty="0" smtClean="0"/>
              <a:t>Communication</a:t>
            </a:r>
            <a:endParaRPr lang="en-GB" sz="1600" b="1" dirty="0"/>
          </a:p>
        </p:txBody>
      </p:sp>
      <p:sp>
        <p:nvSpPr>
          <p:cNvPr id="25" name="TextBox 24"/>
          <p:cNvSpPr txBox="1"/>
          <p:nvPr/>
        </p:nvSpPr>
        <p:spPr>
          <a:xfrm>
            <a:off x="6264413" y="4585378"/>
            <a:ext cx="1728191" cy="584775"/>
          </a:xfrm>
          <a:prstGeom prst="rect">
            <a:avLst/>
          </a:prstGeom>
          <a:noFill/>
        </p:spPr>
        <p:txBody>
          <a:bodyPr wrap="square" rtlCol="0">
            <a:spAutoFit/>
          </a:bodyPr>
          <a:lstStyle/>
          <a:p>
            <a:pPr algn="ctr"/>
            <a:r>
              <a:rPr lang="en-GB" sz="1600" b="1" dirty="0" smtClean="0"/>
              <a:t>Supporting data</a:t>
            </a:r>
            <a:endParaRPr lang="en-GB" sz="1600" b="1" dirty="0"/>
          </a:p>
        </p:txBody>
      </p:sp>
      <p:sp>
        <p:nvSpPr>
          <p:cNvPr id="27" name="TextBox 26"/>
          <p:cNvSpPr txBox="1"/>
          <p:nvPr/>
        </p:nvSpPr>
        <p:spPr>
          <a:xfrm>
            <a:off x="2610396" y="4572719"/>
            <a:ext cx="1728191" cy="338554"/>
          </a:xfrm>
          <a:prstGeom prst="rect">
            <a:avLst/>
          </a:prstGeom>
          <a:noFill/>
        </p:spPr>
        <p:txBody>
          <a:bodyPr wrap="square" rtlCol="0">
            <a:spAutoFit/>
          </a:bodyPr>
          <a:lstStyle/>
          <a:p>
            <a:pPr algn="ctr"/>
            <a:r>
              <a:rPr lang="en-GB" sz="1600" b="1" dirty="0" smtClean="0"/>
              <a:t>Initial storyline</a:t>
            </a:r>
            <a:endParaRPr lang="en-GB" sz="1600" b="1" dirty="0"/>
          </a:p>
        </p:txBody>
      </p:sp>
      <p:pic>
        <p:nvPicPr>
          <p:cNvPr id="28" name="Picture 5"/>
          <p:cNvPicPr>
            <a:picLocks noChangeArrowheads="1"/>
          </p:cNvPicPr>
          <p:nvPr/>
        </p:nvPicPr>
        <p:blipFill>
          <a:blip r:embed="rId3" cstate="print"/>
          <a:srcRect/>
          <a:stretch>
            <a:fillRect/>
          </a:stretch>
        </p:blipFill>
        <p:spPr bwMode="auto">
          <a:xfrm>
            <a:off x="6498828" y="5220791"/>
            <a:ext cx="1215029" cy="1296144"/>
          </a:xfrm>
          <a:prstGeom prst="rect">
            <a:avLst/>
          </a:prstGeom>
          <a:noFill/>
          <a:ln w="9525">
            <a:noFill/>
            <a:miter lim="800000"/>
            <a:headEnd/>
            <a:tailEnd/>
          </a:ln>
          <a:effectLst/>
        </p:spPr>
      </p:pic>
      <p:pic>
        <p:nvPicPr>
          <p:cNvPr id="29" name="Picture 6"/>
          <p:cNvPicPr>
            <a:picLocks noChangeAspect="1" noChangeArrowheads="1"/>
          </p:cNvPicPr>
          <p:nvPr/>
        </p:nvPicPr>
        <p:blipFill>
          <a:blip r:embed="rId4" cstate="print"/>
          <a:srcRect/>
          <a:stretch>
            <a:fillRect/>
          </a:stretch>
        </p:blipFill>
        <p:spPr bwMode="auto">
          <a:xfrm>
            <a:off x="8231932" y="2767635"/>
            <a:ext cx="1363240" cy="1372565"/>
          </a:xfrm>
          <a:prstGeom prst="rect">
            <a:avLst/>
          </a:prstGeom>
          <a:noFill/>
          <a:ln w="9525">
            <a:noFill/>
            <a:miter lim="800000"/>
            <a:headEnd/>
            <a:tailEnd/>
          </a:ln>
          <a:effectLst/>
        </p:spPr>
      </p:pic>
      <p:pic>
        <p:nvPicPr>
          <p:cNvPr id="30" name="Picture 3"/>
          <p:cNvPicPr>
            <a:picLocks noChangeArrowheads="1"/>
          </p:cNvPicPr>
          <p:nvPr/>
        </p:nvPicPr>
        <p:blipFill>
          <a:blip r:embed="rId5" cstate="print"/>
          <a:srcRect/>
          <a:stretch>
            <a:fillRect/>
          </a:stretch>
        </p:blipFill>
        <p:spPr bwMode="auto">
          <a:xfrm>
            <a:off x="6385687" y="2700511"/>
            <a:ext cx="1409285" cy="1506026"/>
          </a:xfrm>
          <a:prstGeom prst="rect">
            <a:avLst/>
          </a:prstGeom>
          <a:noFill/>
          <a:ln w="9525">
            <a:noFill/>
            <a:miter lim="800000"/>
            <a:headEnd/>
            <a:tailEnd/>
          </a:ln>
          <a:effectLst/>
        </p:spPr>
      </p:pic>
      <p:pic>
        <p:nvPicPr>
          <p:cNvPr id="31" name="Picture 1"/>
          <p:cNvPicPr>
            <a:picLocks noChangeArrowheads="1"/>
          </p:cNvPicPr>
          <p:nvPr/>
        </p:nvPicPr>
        <p:blipFill>
          <a:blip r:embed="rId6" cstate="print"/>
          <a:srcRect/>
          <a:stretch>
            <a:fillRect/>
          </a:stretch>
        </p:blipFill>
        <p:spPr bwMode="auto">
          <a:xfrm>
            <a:off x="4580365" y="2891363"/>
            <a:ext cx="1384665" cy="1296144"/>
          </a:xfrm>
          <a:prstGeom prst="rect">
            <a:avLst/>
          </a:prstGeom>
          <a:noFill/>
          <a:ln w="9525">
            <a:noFill/>
            <a:miter lim="800000"/>
            <a:headEnd/>
            <a:tailEnd/>
          </a:ln>
          <a:effectLst/>
        </p:spPr>
      </p:pic>
      <p:pic>
        <p:nvPicPr>
          <p:cNvPr id="32" name="Picture 3"/>
          <p:cNvPicPr>
            <a:picLocks noChangeArrowheads="1"/>
          </p:cNvPicPr>
          <p:nvPr/>
        </p:nvPicPr>
        <p:blipFill>
          <a:blip r:embed="rId7" cstate="print"/>
          <a:srcRect/>
          <a:stretch>
            <a:fillRect/>
          </a:stretch>
        </p:blipFill>
        <p:spPr bwMode="auto">
          <a:xfrm>
            <a:off x="2682404" y="2772519"/>
            <a:ext cx="1432187" cy="1344900"/>
          </a:xfrm>
          <a:prstGeom prst="rect">
            <a:avLst/>
          </a:prstGeom>
          <a:noFill/>
          <a:ln w="9525">
            <a:noFill/>
            <a:miter lim="800000"/>
            <a:headEnd/>
            <a:tailEnd/>
          </a:ln>
          <a:effectLst/>
        </p:spPr>
      </p:pic>
      <p:pic>
        <p:nvPicPr>
          <p:cNvPr id="36" name="Picture 7"/>
          <p:cNvPicPr>
            <a:picLocks noChangeAspect="1" noChangeArrowheads="1"/>
          </p:cNvPicPr>
          <p:nvPr/>
        </p:nvPicPr>
        <p:blipFill>
          <a:blip r:embed="rId8" cstate="print"/>
          <a:srcRect r="13155"/>
          <a:stretch>
            <a:fillRect/>
          </a:stretch>
        </p:blipFill>
        <p:spPr bwMode="auto">
          <a:xfrm>
            <a:off x="8231931" y="5148783"/>
            <a:ext cx="1363241" cy="1296144"/>
          </a:xfrm>
          <a:prstGeom prst="rect">
            <a:avLst/>
          </a:prstGeom>
          <a:noFill/>
          <a:ln w="9525">
            <a:noFill/>
            <a:miter lim="800000"/>
            <a:headEnd/>
            <a:tailEnd/>
          </a:ln>
          <a:effectLst/>
        </p:spPr>
      </p:pic>
      <p:sp>
        <p:nvSpPr>
          <p:cNvPr id="37" name="Rectangle 36"/>
          <p:cNvSpPr/>
          <p:nvPr/>
        </p:nvSpPr>
        <p:spPr>
          <a:xfrm>
            <a:off x="791470" y="6840971"/>
            <a:ext cx="8876852" cy="396044"/>
          </a:xfrm>
          <a:prstGeom prst="rect">
            <a:avLst/>
          </a:prstGeom>
          <a:solidFill>
            <a:schemeClr val="accent4"/>
          </a:solidFill>
          <a:ln w="9525" cmpd="sng">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b="1" dirty="0" smtClean="0">
                <a:solidFill>
                  <a:schemeClr val="tx1"/>
                </a:solidFill>
              </a:rPr>
              <a:t>In this session we will focus on the ‘State’ and Organise’ phases of problem solving relevant to a specific problem in your business</a:t>
            </a:r>
          </a:p>
        </p:txBody>
      </p:sp>
      <p:sp>
        <p:nvSpPr>
          <p:cNvPr id="5" name="Rectangle 4"/>
          <p:cNvSpPr/>
          <p:nvPr/>
        </p:nvSpPr>
        <p:spPr>
          <a:xfrm>
            <a:off x="666181" y="1044327"/>
            <a:ext cx="3672406" cy="5724636"/>
          </a:xfrm>
          <a:prstGeom prst="rect">
            <a:avLst/>
          </a:prstGeom>
          <a:noFill/>
          <a:ln w="28575" cmpd="sng">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pic>
        <p:nvPicPr>
          <p:cNvPr id="44036" name="Picture 4" descr="https://encrypted-tbn1.gstatic.com/images?q=tbn:ANd9GcQnrQ1qC2JWR9S7xnrLvf1JMingFmwjaC-hLxyU2fQ-qBFR2kW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7239" y="5170153"/>
            <a:ext cx="1333812" cy="887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35429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a:spLocks noGrp="1"/>
          </p:cNvSpPr>
          <p:nvPr>
            <p:ph type="title"/>
          </p:nvPr>
        </p:nvSpPr>
        <p:spPr>
          <a:xfrm>
            <a:off x="809054" y="1044327"/>
            <a:ext cx="9074150" cy="612000"/>
          </a:xfrm>
        </p:spPr>
        <p:txBody>
          <a:bodyPr/>
          <a:lstStyle/>
          <a:p>
            <a:r>
              <a:rPr lang="en-GB" dirty="0" smtClean="0"/>
              <a:t>Step 1: Clarify the problem, scope and context</a:t>
            </a:r>
            <a:endParaRPr lang="en-GB" dirty="0"/>
          </a:p>
        </p:txBody>
      </p:sp>
      <p:sp>
        <p:nvSpPr>
          <p:cNvPr id="5" name="Rectangle 4"/>
          <p:cNvSpPr/>
          <p:nvPr/>
        </p:nvSpPr>
        <p:spPr>
          <a:xfrm>
            <a:off x="799258" y="179835"/>
            <a:ext cx="9074150" cy="720278"/>
          </a:xfrm>
          <a:prstGeom prst="rect">
            <a:avLst/>
          </a:prstGeom>
          <a:solidFill>
            <a:srgbClr val="FFD200"/>
          </a:solidFill>
          <a:ln w="12700" cmpd="sng">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200" b="1" dirty="0" smtClean="0">
                <a:solidFill>
                  <a:schemeClr val="tx1"/>
                </a:solidFill>
              </a:rPr>
              <a:t>Activity (90 minutes): </a:t>
            </a:r>
            <a:r>
              <a:rPr lang="en-GB" sz="1200" b="1" dirty="0">
                <a:solidFill>
                  <a:schemeClr val="tx1"/>
                </a:solidFill>
              </a:rPr>
              <a:t>Using the outputs from the SWOT analysis </a:t>
            </a:r>
            <a:r>
              <a:rPr lang="en-GB" sz="1200" b="1" dirty="0" smtClean="0">
                <a:solidFill>
                  <a:schemeClr val="tx1"/>
                </a:solidFill>
              </a:rPr>
              <a:t>apply structured problem solving approach to one of the major problems currently faced. Stage one is to  clarify the problem, it’s context and scope.  Once you have identified the problem, organise it by creating a logic tree to arrange the questions and/or issues into a coherent framework and analyse the root cause of each identified issue. Then establish the initial implementation plan with actions to tackle the issue. </a:t>
            </a:r>
          </a:p>
        </p:txBody>
      </p:sp>
      <p:sp>
        <p:nvSpPr>
          <p:cNvPr id="44"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19</a:t>
            </a:fld>
            <a:endParaRPr lang="en-GB" sz="800" dirty="0">
              <a:solidFill>
                <a:srgbClr val="808080"/>
              </a:solidFill>
            </a:endParaRPr>
          </a:p>
        </p:txBody>
      </p:sp>
      <p:sp>
        <p:nvSpPr>
          <p:cNvPr id="4" name="Rectangle 3"/>
          <p:cNvSpPr/>
          <p:nvPr/>
        </p:nvSpPr>
        <p:spPr>
          <a:xfrm>
            <a:off x="809626" y="2483495"/>
            <a:ext cx="9074150" cy="1152376"/>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26" name="Rectangle 25"/>
          <p:cNvSpPr/>
          <p:nvPr/>
        </p:nvSpPr>
        <p:spPr>
          <a:xfrm>
            <a:off x="809625" y="3635871"/>
            <a:ext cx="4537076" cy="1152376"/>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29" name="Rectangle 28"/>
          <p:cNvSpPr/>
          <p:nvPr/>
        </p:nvSpPr>
        <p:spPr>
          <a:xfrm>
            <a:off x="5346699" y="3635871"/>
            <a:ext cx="4537076" cy="1152376"/>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41" name="Rectangle 40"/>
          <p:cNvSpPr/>
          <p:nvPr/>
        </p:nvSpPr>
        <p:spPr>
          <a:xfrm>
            <a:off x="809627" y="4788247"/>
            <a:ext cx="4537076" cy="1152376"/>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43" name="Rectangle 42"/>
          <p:cNvSpPr/>
          <p:nvPr/>
        </p:nvSpPr>
        <p:spPr>
          <a:xfrm>
            <a:off x="5346703" y="4788247"/>
            <a:ext cx="4537073" cy="1152376"/>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45" name="Rectangle 44"/>
          <p:cNvSpPr/>
          <p:nvPr/>
        </p:nvSpPr>
        <p:spPr>
          <a:xfrm>
            <a:off x="799258" y="5940623"/>
            <a:ext cx="9074150" cy="1152376"/>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46" name="TextBox 45"/>
          <p:cNvSpPr txBox="1"/>
          <p:nvPr/>
        </p:nvSpPr>
        <p:spPr>
          <a:xfrm>
            <a:off x="810196" y="2484487"/>
            <a:ext cx="4968552" cy="307777"/>
          </a:xfrm>
          <a:prstGeom prst="rect">
            <a:avLst/>
          </a:prstGeom>
          <a:noFill/>
        </p:spPr>
        <p:txBody>
          <a:bodyPr wrap="square" rtlCol="0">
            <a:spAutoFit/>
          </a:bodyPr>
          <a:lstStyle/>
          <a:p>
            <a:r>
              <a:rPr lang="en-GB" sz="1400" b="1" dirty="0" smtClean="0"/>
              <a:t>Basic question to resolve/Problem description</a:t>
            </a:r>
            <a:endParaRPr lang="en-GB" sz="1400" b="1" dirty="0"/>
          </a:p>
        </p:txBody>
      </p:sp>
      <p:sp>
        <p:nvSpPr>
          <p:cNvPr id="47" name="TextBox 46"/>
          <p:cNvSpPr txBox="1"/>
          <p:nvPr/>
        </p:nvSpPr>
        <p:spPr>
          <a:xfrm>
            <a:off x="810196" y="3637156"/>
            <a:ext cx="2732219" cy="307777"/>
          </a:xfrm>
          <a:prstGeom prst="rect">
            <a:avLst/>
          </a:prstGeom>
          <a:noFill/>
        </p:spPr>
        <p:txBody>
          <a:bodyPr wrap="square" rtlCol="0">
            <a:spAutoFit/>
          </a:bodyPr>
          <a:lstStyle/>
          <a:p>
            <a:r>
              <a:rPr lang="en-GB" sz="1400" b="1" dirty="0" smtClean="0"/>
              <a:t>Context and trigger</a:t>
            </a:r>
            <a:endParaRPr lang="en-GB" sz="1400" b="1" dirty="0"/>
          </a:p>
        </p:txBody>
      </p:sp>
      <p:sp>
        <p:nvSpPr>
          <p:cNvPr id="48" name="TextBox 47"/>
          <p:cNvSpPr txBox="1"/>
          <p:nvPr/>
        </p:nvSpPr>
        <p:spPr>
          <a:xfrm>
            <a:off x="5421470" y="3637156"/>
            <a:ext cx="2732219" cy="307777"/>
          </a:xfrm>
          <a:prstGeom prst="rect">
            <a:avLst/>
          </a:prstGeom>
          <a:noFill/>
        </p:spPr>
        <p:txBody>
          <a:bodyPr wrap="square" rtlCol="0">
            <a:spAutoFit/>
          </a:bodyPr>
          <a:lstStyle/>
          <a:p>
            <a:r>
              <a:rPr lang="en-GB" sz="1400" b="1" dirty="0" smtClean="0"/>
              <a:t>Decision- makers</a:t>
            </a:r>
            <a:endParaRPr lang="en-GB" sz="1400" b="1" dirty="0"/>
          </a:p>
        </p:txBody>
      </p:sp>
      <p:sp>
        <p:nvSpPr>
          <p:cNvPr id="49" name="TextBox 48"/>
          <p:cNvSpPr txBox="1"/>
          <p:nvPr/>
        </p:nvSpPr>
        <p:spPr>
          <a:xfrm>
            <a:off x="810196" y="4738043"/>
            <a:ext cx="2732219" cy="307777"/>
          </a:xfrm>
          <a:prstGeom prst="rect">
            <a:avLst/>
          </a:prstGeom>
          <a:noFill/>
        </p:spPr>
        <p:txBody>
          <a:bodyPr wrap="square" rtlCol="0">
            <a:spAutoFit/>
          </a:bodyPr>
          <a:lstStyle/>
          <a:p>
            <a:r>
              <a:rPr lang="en-GB" sz="1400" b="1" dirty="0" smtClean="0"/>
              <a:t>Situation Threshold</a:t>
            </a:r>
            <a:endParaRPr lang="en-GB" sz="1400" b="1" dirty="0"/>
          </a:p>
        </p:txBody>
      </p:sp>
      <p:sp>
        <p:nvSpPr>
          <p:cNvPr id="50" name="TextBox 49"/>
          <p:cNvSpPr txBox="1"/>
          <p:nvPr/>
        </p:nvSpPr>
        <p:spPr>
          <a:xfrm>
            <a:off x="5419155" y="4721166"/>
            <a:ext cx="2732219" cy="307777"/>
          </a:xfrm>
          <a:prstGeom prst="rect">
            <a:avLst/>
          </a:prstGeom>
          <a:noFill/>
        </p:spPr>
        <p:txBody>
          <a:bodyPr wrap="square" rtlCol="0">
            <a:spAutoFit/>
          </a:bodyPr>
          <a:lstStyle/>
          <a:p>
            <a:r>
              <a:rPr lang="en-GB" sz="1400" b="1" dirty="0" smtClean="0"/>
              <a:t>Constraints</a:t>
            </a:r>
            <a:endParaRPr lang="en-GB" sz="1400" b="1" dirty="0"/>
          </a:p>
        </p:txBody>
      </p:sp>
      <p:sp>
        <p:nvSpPr>
          <p:cNvPr id="51" name="TextBox 50"/>
          <p:cNvSpPr txBox="1"/>
          <p:nvPr/>
        </p:nvSpPr>
        <p:spPr>
          <a:xfrm>
            <a:off x="821610" y="5921126"/>
            <a:ext cx="4376300" cy="307777"/>
          </a:xfrm>
          <a:prstGeom prst="rect">
            <a:avLst/>
          </a:prstGeom>
          <a:noFill/>
        </p:spPr>
        <p:txBody>
          <a:bodyPr wrap="square" rtlCol="0">
            <a:spAutoFit/>
          </a:bodyPr>
          <a:lstStyle/>
          <a:p>
            <a:r>
              <a:rPr lang="en-GB" sz="1400" b="1" dirty="0" smtClean="0"/>
              <a:t>Scope of work (areas out of scope)</a:t>
            </a:r>
            <a:endParaRPr lang="en-GB" sz="1400" b="1" dirty="0"/>
          </a:p>
        </p:txBody>
      </p:sp>
      <p:sp>
        <p:nvSpPr>
          <p:cNvPr id="52" name="Rectangle 51"/>
          <p:cNvSpPr/>
          <p:nvPr/>
        </p:nvSpPr>
        <p:spPr>
          <a:xfrm>
            <a:off x="810196" y="2700511"/>
            <a:ext cx="9063212" cy="461665"/>
          </a:xfrm>
          <a:prstGeom prst="rect">
            <a:avLst/>
          </a:prstGeom>
        </p:spPr>
        <p:txBody>
          <a:bodyPr wrap="square">
            <a:spAutoFit/>
          </a:bodyPr>
          <a:lstStyle/>
          <a:p>
            <a:pPr fontAlgn="base">
              <a:spcBef>
                <a:spcPct val="50000"/>
              </a:spcBef>
              <a:spcAft>
                <a:spcPct val="0"/>
              </a:spcAft>
            </a:pPr>
            <a:r>
              <a:rPr lang="en-GB" sz="1200" dirty="0" smtClean="0"/>
              <a:t>A leading question or hypothesis that is specific, purposeful, not a fact or non-disputable assertion, actionable and focused on what the decision maker needs to do to in order to move forward. Short, succinct and preferably quantifiable.</a:t>
            </a:r>
            <a:endParaRPr lang="en-GB" sz="1200" b="1" i="1" dirty="0"/>
          </a:p>
        </p:txBody>
      </p:sp>
      <p:sp>
        <p:nvSpPr>
          <p:cNvPr id="53" name="Rectangle 52"/>
          <p:cNvSpPr/>
          <p:nvPr/>
        </p:nvSpPr>
        <p:spPr>
          <a:xfrm>
            <a:off x="810196" y="3852639"/>
            <a:ext cx="4387714" cy="646331"/>
          </a:xfrm>
          <a:prstGeom prst="rect">
            <a:avLst/>
          </a:prstGeom>
        </p:spPr>
        <p:txBody>
          <a:bodyPr wrap="square">
            <a:spAutoFit/>
          </a:bodyPr>
          <a:lstStyle/>
          <a:p>
            <a:pPr fontAlgn="base">
              <a:spcBef>
                <a:spcPct val="50000"/>
              </a:spcBef>
              <a:spcAft>
                <a:spcPct val="0"/>
              </a:spcAft>
            </a:pPr>
            <a:r>
              <a:rPr lang="en-GB" sz="1200" dirty="0" smtClean="0"/>
              <a:t>The key facts to understand the rationale for initiating problem solving. What is the context and why now? Customer or supplier impacted.</a:t>
            </a:r>
            <a:endParaRPr lang="en-GB" sz="1200" b="1" i="1" dirty="0"/>
          </a:p>
        </p:txBody>
      </p:sp>
      <p:sp>
        <p:nvSpPr>
          <p:cNvPr id="54" name="Rectangle 53"/>
          <p:cNvSpPr/>
          <p:nvPr/>
        </p:nvSpPr>
        <p:spPr>
          <a:xfrm>
            <a:off x="5418708" y="3852639"/>
            <a:ext cx="4387714" cy="461665"/>
          </a:xfrm>
          <a:prstGeom prst="rect">
            <a:avLst/>
          </a:prstGeom>
        </p:spPr>
        <p:txBody>
          <a:bodyPr wrap="square">
            <a:spAutoFit/>
          </a:bodyPr>
          <a:lstStyle/>
          <a:p>
            <a:pPr fontAlgn="base">
              <a:spcBef>
                <a:spcPct val="50000"/>
              </a:spcBef>
              <a:spcAft>
                <a:spcPct val="0"/>
              </a:spcAft>
            </a:pPr>
            <a:r>
              <a:rPr lang="en-GB" sz="1200" dirty="0" smtClean="0"/>
              <a:t>The key influencers and who will decide whether to act upon any recommendations</a:t>
            </a:r>
            <a:endParaRPr lang="en-GB" sz="1200" b="1" i="1" dirty="0"/>
          </a:p>
        </p:txBody>
      </p:sp>
      <p:sp>
        <p:nvSpPr>
          <p:cNvPr id="55" name="Rectangle 54"/>
          <p:cNvSpPr/>
          <p:nvPr/>
        </p:nvSpPr>
        <p:spPr>
          <a:xfrm>
            <a:off x="814970" y="5004767"/>
            <a:ext cx="4387714" cy="461665"/>
          </a:xfrm>
          <a:prstGeom prst="rect">
            <a:avLst/>
          </a:prstGeom>
        </p:spPr>
        <p:txBody>
          <a:bodyPr wrap="square">
            <a:spAutoFit/>
          </a:bodyPr>
          <a:lstStyle/>
          <a:p>
            <a:pPr fontAlgn="base">
              <a:spcBef>
                <a:spcPct val="50000"/>
              </a:spcBef>
              <a:spcAft>
                <a:spcPct val="0"/>
              </a:spcAft>
            </a:pPr>
            <a:r>
              <a:rPr lang="en-GB" sz="1200" dirty="0" smtClean="0"/>
              <a:t> The value that a solution to the problem would have to add before it would be worth implementing.</a:t>
            </a:r>
            <a:endParaRPr lang="en-GB" sz="1200" b="1" i="1" dirty="0"/>
          </a:p>
        </p:txBody>
      </p:sp>
      <p:sp>
        <p:nvSpPr>
          <p:cNvPr id="56" name="Rectangle 55"/>
          <p:cNvSpPr/>
          <p:nvPr/>
        </p:nvSpPr>
        <p:spPr>
          <a:xfrm>
            <a:off x="5418708" y="4975150"/>
            <a:ext cx="4387714" cy="461665"/>
          </a:xfrm>
          <a:prstGeom prst="rect">
            <a:avLst/>
          </a:prstGeom>
        </p:spPr>
        <p:txBody>
          <a:bodyPr wrap="square">
            <a:spAutoFit/>
          </a:bodyPr>
          <a:lstStyle/>
          <a:p>
            <a:pPr fontAlgn="base">
              <a:spcBef>
                <a:spcPct val="50000"/>
              </a:spcBef>
              <a:spcAft>
                <a:spcPct val="0"/>
              </a:spcAft>
            </a:pPr>
            <a:r>
              <a:rPr lang="en-GB" sz="1200" dirty="0" smtClean="0"/>
              <a:t>The limits to the solutions that can be considered e.g. extent of additional investment, time required, staffing issues</a:t>
            </a:r>
            <a:endParaRPr lang="en-GB" sz="1200" b="1" i="1" dirty="0"/>
          </a:p>
        </p:txBody>
      </p:sp>
      <p:sp>
        <p:nvSpPr>
          <p:cNvPr id="57" name="Rectangle 56"/>
          <p:cNvSpPr/>
          <p:nvPr/>
        </p:nvSpPr>
        <p:spPr>
          <a:xfrm>
            <a:off x="799258" y="1830165"/>
            <a:ext cx="9085673" cy="646331"/>
          </a:xfrm>
          <a:prstGeom prst="rect">
            <a:avLst/>
          </a:prstGeom>
        </p:spPr>
        <p:txBody>
          <a:bodyPr wrap="square">
            <a:spAutoFit/>
          </a:bodyPr>
          <a:lstStyle/>
          <a:p>
            <a:pPr fontAlgn="base">
              <a:spcBef>
                <a:spcPct val="50000"/>
              </a:spcBef>
              <a:spcAft>
                <a:spcPct val="0"/>
              </a:spcAft>
            </a:pPr>
            <a:r>
              <a:rPr lang="en-GB" sz="1200" dirty="0" smtClean="0"/>
              <a:t>The objective of this enabler is to provide a template that can be used to assist in summarising the outputs of the ‘State’ stage of an issue. The problem solving worksheet is developed via the combination of 6 Sigma tools such as 5 Why Analysis and project management plans. </a:t>
            </a:r>
            <a:endParaRPr lang="en-GB" sz="1200" b="1" i="1" dirty="0"/>
          </a:p>
        </p:txBody>
      </p:sp>
      <p:sp>
        <p:nvSpPr>
          <p:cNvPr id="23" name="Rectangle 22"/>
          <p:cNvSpPr/>
          <p:nvPr/>
        </p:nvSpPr>
        <p:spPr>
          <a:xfrm>
            <a:off x="809054" y="1836415"/>
            <a:ext cx="9074150" cy="640081"/>
          </a:xfrm>
          <a:prstGeom prst="rect">
            <a:avLst/>
          </a:prstGeom>
          <a:noFill/>
          <a:ln w="9525"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Tree>
    <p:extLst>
      <p:ext uri="{BB962C8B-B14F-4D97-AF65-F5344CB8AC3E}">
        <p14:creationId xmlns:p14="http://schemas.microsoft.com/office/powerpoint/2010/main" val="16639132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a:spLocks noGrp="1"/>
          </p:cNvSpPr>
          <p:nvPr>
            <p:ph type="title"/>
          </p:nvPr>
        </p:nvSpPr>
        <p:spPr>
          <a:xfrm>
            <a:off x="809625" y="195433"/>
            <a:ext cx="9074150" cy="612000"/>
          </a:xfrm>
        </p:spPr>
        <p:txBody>
          <a:bodyPr/>
          <a:lstStyle/>
          <a:p>
            <a:r>
              <a:rPr lang="en-GB" dirty="0" smtClean="0"/>
              <a:t>Step 3: </a:t>
            </a:r>
            <a:r>
              <a:rPr lang="en-GB" dirty="0"/>
              <a:t>I</a:t>
            </a:r>
            <a:r>
              <a:rPr lang="en-GB" dirty="0" smtClean="0"/>
              <a:t>dentify and plan remediation actions</a:t>
            </a:r>
            <a:endParaRPr lang="en-GB" dirty="0"/>
          </a:p>
        </p:txBody>
      </p:sp>
      <p:sp>
        <p:nvSpPr>
          <p:cNvPr id="44"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20</a:t>
            </a:fld>
            <a:endParaRPr lang="en-GB" sz="800" dirty="0">
              <a:solidFill>
                <a:srgbClr val="808080"/>
              </a:solidFill>
            </a:endParaRPr>
          </a:p>
        </p:txBody>
      </p:sp>
      <p:graphicFrame>
        <p:nvGraphicFramePr>
          <p:cNvPr id="23" name="Content Placeholder 20"/>
          <p:cNvGraphicFramePr>
            <a:graphicFrameLocks/>
          </p:cNvGraphicFramePr>
          <p:nvPr>
            <p:extLst>
              <p:ext uri="{D42A27DB-BD31-4B8C-83A1-F6EECF244321}">
                <p14:modId xmlns:p14="http://schemas.microsoft.com/office/powerpoint/2010/main" val="3601660461"/>
              </p:ext>
            </p:extLst>
          </p:nvPr>
        </p:nvGraphicFramePr>
        <p:xfrm>
          <a:off x="810196" y="1174740"/>
          <a:ext cx="9553293" cy="5832924"/>
        </p:xfrm>
        <a:graphic>
          <a:graphicData uri="http://schemas.openxmlformats.org/drawingml/2006/table">
            <a:tbl>
              <a:tblPr firstRow="1" bandRow="1">
                <a:tableStyleId>{5C22544A-7EE6-4342-B048-85BDC9FD1C3A}</a:tableStyleId>
              </a:tblPr>
              <a:tblGrid>
                <a:gridCol w="2249280"/>
                <a:gridCol w="1101739"/>
                <a:gridCol w="945137"/>
                <a:gridCol w="1204867"/>
                <a:gridCol w="842009"/>
                <a:gridCol w="909723"/>
                <a:gridCol w="1004394"/>
                <a:gridCol w="1296144"/>
              </a:tblGrid>
              <a:tr h="408091">
                <a:tc>
                  <a:txBody>
                    <a:bodyPr/>
                    <a:lstStyle/>
                    <a:p>
                      <a:pPr algn="ctr"/>
                      <a:r>
                        <a:rPr lang="en-GB" sz="1200" b="1" noProof="0" dirty="0" smtClean="0">
                          <a:solidFill>
                            <a:schemeClr val="tx2"/>
                          </a:solidFill>
                          <a:latin typeface="+mj-lt"/>
                        </a:rPr>
                        <a:t>Implementation plan</a:t>
                      </a:r>
                      <a:endParaRPr lang="en-GB" sz="1200" b="1" noProof="0" dirty="0">
                        <a:solidFill>
                          <a:schemeClr val="tx2"/>
                        </a:solidFill>
                        <a:latin typeface="+mj-lt"/>
                      </a:endParaRPr>
                    </a:p>
                  </a:txBody>
                  <a:tcPr marL="0" marR="36000" marT="36000" marB="36000" anchor="b">
                    <a:lnL w="12700" cmpd="sng">
                      <a:noFill/>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gridSpan="7">
                  <a:txBody>
                    <a:bodyPr/>
                    <a:lstStyle/>
                    <a:p>
                      <a:pPr algn="ctr"/>
                      <a:endParaRPr lang="en-GB" sz="1200" b="1" noProof="0" dirty="0">
                        <a:solidFill>
                          <a:schemeClr val="tx2"/>
                        </a:solidFill>
                        <a:latin typeface="+mj-lt"/>
                      </a:endParaRPr>
                    </a:p>
                  </a:txBody>
                  <a:tcPr marL="0" marR="36000" marT="36000" marB="36000" anchor="b">
                    <a:lnL w="12700" cmpd="sng">
                      <a:noFill/>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hMerge="1">
                  <a:txBody>
                    <a:bodyPr/>
                    <a:lstStyle/>
                    <a:p>
                      <a:endParaRPr lang="en-GB"/>
                    </a:p>
                  </a:txBody>
                  <a:tcPr/>
                </a:tc>
                <a:tc hMerge="1">
                  <a:txBody>
                    <a:bodyPr/>
                    <a:lstStyle/>
                    <a:p>
                      <a:pPr algn="ctr"/>
                      <a:endParaRPr lang="en-GB" sz="1200" noProof="0" dirty="0">
                        <a:solidFill>
                          <a:schemeClr val="tx2"/>
                        </a:solidFill>
                        <a:latin typeface="+mj-lt"/>
                      </a:endParaRPr>
                    </a:p>
                  </a:txBody>
                  <a:tcPr marL="0" marR="36000" marT="36000" marB="36000" anchor="b">
                    <a:lnL w="12700" cmpd="sng">
                      <a:noFill/>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hMerge="1">
                  <a:txBody>
                    <a:bodyPr/>
                    <a:lstStyle/>
                    <a:p>
                      <a:endParaRPr lang="en-GB"/>
                    </a:p>
                  </a:txBody>
                  <a:tcPr/>
                </a:tc>
                <a:tc hMerge="1">
                  <a:txBody>
                    <a:bodyPr/>
                    <a:lstStyle/>
                    <a:p>
                      <a:pPr algn="ctr"/>
                      <a:endParaRPr lang="en-GB" sz="1200" noProof="0" dirty="0">
                        <a:solidFill>
                          <a:schemeClr val="tx2"/>
                        </a:solidFill>
                        <a:latin typeface="+mj-lt"/>
                      </a:endParaRPr>
                    </a:p>
                  </a:txBody>
                  <a:tcPr marL="0" marR="36000" marT="36000" marB="36000" anchor="b">
                    <a:lnL w="12700" cmpd="sng">
                      <a:noFill/>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hMerge="1">
                  <a:txBody>
                    <a:bodyPr/>
                    <a:lstStyle/>
                    <a:p>
                      <a:pPr algn="ctr"/>
                      <a:endParaRPr lang="en-GB" sz="1200" noProof="0" dirty="0">
                        <a:solidFill>
                          <a:schemeClr val="tx2"/>
                        </a:solidFill>
                        <a:latin typeface="+mj-lt"/>
                      </a:endParaRPr>
                    </a:p>
                  </a:txBody>
                  <a:tcPr marL="0" marR="36000" marT="36000" marB="36000" anchor="b">
                    <a:lnL w="12700" cmpd="sng">
                      <a:noFill/>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hMerge="1">
                  <a:txBody>
                    <a:bodyPr/>
                    <a:lstStyle/>
                    <a:p>
                      <a:pPr algn="ctr"/>
                      <a:endParaRPr lang="en-GB" sz="1200" noProof="0" dirty="0">
                        <a:solidFill>
                          <a:schemeClr val="tx2"/>
                        </a:solidFill>
                        <a:latin typeface="+mj-lt"/>
                      </a:endParaRPr>
                    </a:p>
                  </a:txBody>
                  <a:tcPr marL="0" marR="36000" marT="36000" marB="36000" anchor="b">
                    <a:lnL w="12700" cmpd="sng">
                      <a:noFill/>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r>
              <a:tr h="510077">
                <a:tc>
                  <a:txBody>
                    <a:bodyPr/>
                    <a:lstStyle/>
                    <a:p>
                      <a:pPr algn="ctr"/>
                      <a:r>
                        <a:rPr lang="en-GB" sz="1200" b="1" noProof="0" dirty="0" smtClean="0">
                          <a:solidFill>
                            <a:schemeClr val="tx2"/>
                          </a:solidFill>
                          <a:latin typeface="+mj-lt"/>
                        </a:rPr>
                        <a:t>Key action</a:t>
                      </a:r>
                      <a:endParaRPr lang="en-GB" sz="1200" b="1" noProof="0" dirty="0">
                        <a:solidFill>
                          <a:schemeClr val="tx2"/>
                        </a:solidFill>
                        <a:latin typeface="+mj-lt"/>
                      </a:endParaRPr>
                    </a:p>
                  </a:txBody>
                  <a:tcPr marL="0" marR="36000" marT="36000" marB="36000" anchor="b">
                    <a:lnL w="12700" cmpd="sng">
                      <a:noFill/>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p>
                      <a:pPr algn="ctr"/>
                      <a:r>
                        <a:rPr lang="en-GB" sz="1200" b="1" noProof="0" dirty="0" smtClean="0">
                          <a:solidFill>
                            <a:schemeClr val="tx2"/>
                          </a:solidFill>
                          <a:latin typeface="+mj-lt"/>
                        </a:rPr>
                        <a:t>Resource</a:t>
                      </a:r>
                      <a:r>
                        <a:rPr lang="en-GB" sz="1200" b="1" baseline="0" noProof="0" dirty="0" smtClean="0">
                          <a:solidFill>
                            <a:schemeClr val="tx2"/>
                          </a:solidFill>
                          <a:latin typeface="+mj-lt"/>
                        </a:rPr>
                        <a:t> required</a:t>
                      </a:r>
                      <a:endParaRPr lang="en-GB" sz="1200" b="1" noProof="0" dirty="0">
                        <a:solidFill>
                          <a:schemeClr val="tx2"/>
                        </a:solidFill>
                        <a:latin typeface="+mj-lt"/>
                      </a:endParaRPr>
                    </a:p>
                  </a:txBody>
                  <a:tcPr marL="0" marR="36000" marT="36000" marB="36000" anchor="b">
                    <a:lnL w="12700" cmpd="sng">
                      <a:noFill/>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p>
                      <a:pPr algn="ctr"/>
                      <a:r>
                        <a:rPr lang="en-GB" sz="1200" b="1" noProof="0" dirty="0" smtClean="0">
                          <a:solidFill>
                            <a:schemeClr val="tx2"/>
                          </a:solidFill>
                          <a:latin typeface="+mj-lt"/>
                        </a:rPr>
                        <a:t>Success</a:t>
                      </a:r>
                      <a:r>
                        <a:rPr lang="en-GB" sz="1200" b="1" baseline="0" noProof="0" dirty="0" smtClean="0">
                          <a:solidFill>
                            <a:schemeClr val="tx2"/>
                          </a:solidFill>
                          <a:latin typeface="+mj-lt"/>
                        </a:rPr>
                        <a:t> criteria</a:t>
                      </a:r>
                      <a:endParaRPr lang="en-GB" sz="1200" b="1" noProof="0" dirty="0">
                        <a:solidFill>
                          <a:schemeClr val="tx2"/>
                        </a:solidFill>
                        <a:latin typeface="+mj-lt"/>
                      </a:endParaRPr>
                    </a:p>
                  </a:txBody>
                  <a:tcPr marL="0" marR="36000" marT="36000" marB="36000" anchor="b">
                    <a:lnL w="12700" cmpd="sng">
                      <a:noFill/>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p>
                      <a:pPr algn="ctr"/>
                      <a:r>
                        <a:rPr lang="en-GB" sz="1200" b="1" noProof="0" dirty="0" smtClean="0">
                          <a:solidFill>
                            <a:schemeClr val="tx2"/>
                          </a:solidFill>
                          <a:latin typeface="+mj-lt"/>
                        </a:rPr>
                        <a:t>Monitoring</a:t>
                      </a:r>
                      <a:r>
                        <a:rPr lang="en-GB" sz="1200" b="1" baseline="0" noProof="0" dirty="0" smtClean="0">
                          <a:solidFill>
                            <a:schemeClr val="tx2"/>
                          </a:solidFill>
                          <a:latin typeface="+mj-lt"/>
                        </a:rPr>
                        <a:t> progress</a:t>
                      </a:r>
                      <a:endParaRPr lang="en-GB" sz="1200" b="1" noProof="0" dirty="0">
                        <a:solidFill>
                          <a:schemeClr val="tx2"/>
                        </a:solidFill>
                        <a:latin typeface="+mj-lt"/>
                      </a:endParaRPr>
                    </a:p>
                  </a:txBody>
                  <a:tcPr marL="0" marR="36000" marT="36000" marB="36000" anchor="b">
                    <a:lnL w="12700" cmpd="sng">
                      <a:noFill/>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p>
                      <a:pPr algn="ctr"/>
                      <a:r>
                        <a:rPr lang="en-GB" sz="1200" b="1" noProof="0" dirty="0" smtClean="0">
                          <a:solidFill>
                            <a:schemeClr val="tx2"/>
                          </a:solidFill>
                          <a:latin typeface="+mj-lt"/>
                        </a:rPr>
                        <a:t>Owner</a:t>
                      </a:r>
                      <a:endParaRPr lang="en-GB" sz="1200" b="1" noProof="0" dirty="0">
                        <a:solidFill>
                          <a:schemeClr val="tx2"/>
                        </a:solidFill>
                        <a:latin typeface="+mj-lt"/>
                      </a:endParaRPr>
                    </a:p>
                  </a:txBody>
                  <a:tcPr marL="0" marR="36000" marT="36000" marB="36000" anchor="b">
                    <a:lnL w="12700" cmpd="sng">
                      <a:noFill/>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p>
                      <a:pPr algn="ctr"/>
                      <a:r>
                        <a:rPr lang="en-GB" sz="1200" b="1" noProof="0" dirty="0" smtClean="0">
                          <a:solidFill>
                            <a:schemeClr val="tx2"/>
                          </a:solidFill>
                          <a:latin typeface="+mj-lt"/>
                        </a:rPr>
                        <a:t>Timescale</a:t>
                      </a:r>
                      <a:endParaRPr lang="en-GB" sz="1200" b="1" noProof="0" dirty="0">
                        <a:solidFill>
                          <a:schemeClr val="tx2"/>
                        </a:solidFill>
                        <a:latin typeface="+mj-lt"/>
                      </a:endParaRPr>
                    </a:p>
                  </a:txBody>
                  <a:tcPr marL="0" marR="36000" marT="36000" marB="36000" anchor="b">
                    <a:lnL w="12700" cmpd="sng">
                      <a:noFill/>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p>
                      <a:pPr algn="ctr"/>
                      <a:r>
                        <a:rPr lang="en-GB" sz="1200" b="1" noProof="0" dirty="0" smtClean="0">
                          <a:solidFill>
                            <a:schemeClr val="tx2"/>
                          </a:solidFill>
                          <a:latin typeface="+mj-lt"/>
                        </a:rPr>
                        <a:t>Review date</a:t>
                      </a:r>
                      <a:endParaRPr lang="en-GB" sz="1200" b="1" noProof="0" dirty="0">
                        <a:solidFill>
                          <a:schemeClr val="tx2"/>
                        </a:solidFill>
                        <a:latin typeface="+mj-lt"/>
                      </a:endParaRPr>
                    </a:p>
                  </a:txBody>
                  <a:tcPr marL="0" marR="36000" marT="36000" marB="36000" anchor="b">
                    <a:lnL w="12700" cmpd="sng">
                      <a:noFill/>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p>
                      <a:pPr algn="ctr"/>
                      <a:r>
                        <a:rPr lang="en-GB" sz="1200" b="1" noProof="0" dirty="0" smtClean="0">
                          <a:solidFill>
                            <a:schemeClr val="tx2"/>
                          </a:solidFill>
                          <a:latin typeface="+mj-lt"/>
                        </a:rPr>
                        <a:t>Status</a:t>
                      </a:r>
                      <a:endParaRPr lang="en-GB" sz="1200" b="1" noProof="0" dirty="0">
                        <a:solidFill>
                          <a:schemeClr val="tx2"/>
                        </a:solidFill>
                        <a:latin typeface="+mj-lt"/>
                      </a:endParaRPr>
                    </a:p>
                  </a:txBody>
                  <a:tcPr marL="0" marR="36000" marT="36000" marB="36000" anchor="b">
                    <a:lnL w="12700" cmpd="sng">
                      <a:noFill/>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r>
              <a:tr h="456804">
                <a:tc>
                  <a:txBody>
                    <a:bodyPr/>
                    <a:lstStyle/>
                    <a:p>
                      <a:pPr algn="l"/>
                      <a:r>
                        <a:rPr lang="en-GB" sz="1200" i="1" noProof="0" dirty="0" smtClean="0">
                          <a:solidFill>
                            <a:schemeClr val="tx1"/>
                          </a:solidFill>
                          <a:latin typeface="+mn-lt"/>
                        </a:rPr>
                        <a:t>Immediate</a:t>
                      </a:r>
                      <a:r>
                        <a:rPr lang="en-GB" sz="1200" i="1" baseline="0" noProof="0" dirty="0" smtClean="0">
                          <a:solidFill>
                            <a:schemeClr val="tx1"/>
                          </a:solidFill>
                          <a:latin typeface="+mn-lt"/>
                        </a:rPr>
                        <a:t> actions, immediate and/or long term/permanent solution</a:t>
                      </a:r>
                      <a:endParaRPr lang="en-GB" sz="1200" i="1" noProof="0" dirty="0">
                        <a:solidFill>
                          <a:schemeClr val="tx1"/>
                        </a:solidFill>
                        <a:latin typeface="+mn-lt"/>
                      </a:endParaRPr>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GB" sz="1200" i="1" noProof="0" dirty="0" smtClean="0">
                          <a:solidFill>
                            <a:schemeClr val="tx1"/>
                          </a:solidFill>
                          <a:latin typeface="+mn-lt"/>
                        </a:rPr>
                        <a:t>People,</a:t>
                      </a:r>
                      <a:r>
                        <a:rPr lang="en-GB" sz="1200" i="1" baseline="0" noProof="0" dirty="0" smtClean="0">
                          <a:solidFill>
                            <a:schemeClr val="tx1"/>
                          </a:solidFill>
                          <a:latin typeface="+mn-lt"/>
                        </a:rPr>
                        <a:t> cost</a:t>
                      </a:r>
                      <a:endParaRPr lang="en-GB" sz="1200" i="1" noProof="0" dirty="0">
                        <a:solidFill>
                          <a:schemeClr val="tx1"/>
                        </a:solidFill>
                        <a:latin typeface="+mn-lt"/>
                      </a:endParaRPr>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GB" sz="1200" i="1" dirty="0" smtClean="0"/>
                        <a:t>E.g. 20%</a:t>
                      </a:r>
                      <a:r>
                        <a:rPr lang="en-GB" sz="1200" i="1" baseline="0" dirty="0" smtClean="0"/>
                        <a:t> decrease in duplicate invoices</a:t>
                      </a:r>
                      <a:endParaRPr lang="en-GB" sz="1200" i="1" dirty="0"/>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GB" sz="1200" i="1" noProof="0" dirty="0" smtClean="0">
                          <a:solidFill>
                            <a:schemeClr val="tx1"/>
                          </a:solidFill>
                          <a:latin typeface="+mn-lt"/>
                        </a:rPr>
                        <a:t>How will effectiveness</a:t>
                      </a:r>
                      <a:r>
                        <a:rPr lang="en-GB" sz="1200" i="1" baseline="0" noProof="0" dirty="0" smtClean="0">
                          <a:solidFill>
                            <a:schemeClr val="tx1"/>
                          </a:solidFill>
                          <a:latin typeface="+mn-lt"/>
                        </a:rPr>
                        <a:t> be checked?</a:t>
                      </a:r>
                      <a:endParaRPr lang="en-GB" sz="1200" i="1" noProof="0" dirty="0">
                        <a:solidFill>
                          <a:schemeClr val="tx1"/>
                        </a:solidFill>
                        <a:latin typeface="+mn-lt"/>
                      </a:endParaRPr>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GB" sz="1200" i="1" dirty="0" smtClean="0"/>
                        <a:t>Who is responsible</a:t>
                      </a:r>
                      <a:r>
                        <a:rPr lang="en-GB" sz="1200" i="1" baseline="0" dirty="0" smtClean="0"/>
                        <a:t> for driving?</a:t>
                      </a:r>
                      <a:endParaRPr lang="en-GB" sz="1200" i="1" dirty="0"/>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GB" sz="1200" i="1" noProof="0" dirty="0" smtClean="0">
                          <a:solidFill>
                            <a:schemeClr val="tx1"/>
                          </a:solidFill>
                          <a:latin typeface="+mn-lt"/>
                        </a:rPr>
                        <a:t>By when?</a:t>
                      </a:r>
                      <a:endParaRPr lang="en-GB" sz="1200" i="1" noProof="0" dirty="0">
                        <a:solidFill>
                          <a:schemeClr val="tx1"/>
                        </a:solidFill>
                        <a:latin typeface="+mn-lt"/>
                      </a:endParaRPr>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GB" sz="1200" i="1" noProof="0" dirty="0" smtClean="0">
                          <a:solidFill>
                            <a:schemeClr val="tx1"/>
                          </a:solidFill>
                          <a:latin typeface="+mn-lt"/>
                        </a:rPr>
                        <a:t>Tracking</a:t>
                      </a:r>
                      <a:r>
                        <a:rPr lang="en-GB" sz="1200" i="1" baseline="0" noProof="0" dirty="0" smtClean="0">
                          <a:solidFill>
                            <a:schemeClr val="tx1"/>
                          </a:solidFill>
                          <a:latin typeface="+mn-lt"/>
                        </a:rPr>
                        <a:t> status</a:t>
                      </a:r>
                      <a:endParaRPr lang="en-GB" sz="1200" i="1" noProof="0" dirty="0">
                        <a:solidFill>
                          <a:schemeClr val="tx1"/>
                        </a:solidFill>
                        <a:latin typeface="+mn-lt"/>
                      </a:endParaRPr>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GB" sz="1200" i="1" noProof="0" dirty="0" smtClean="0">
                          <a:solidFill>
                            <a:schemeClr val="tx1"/>
                          </a:solidFill>
                          <a:latin typeface="+mn-lt"/>
                        </a:rPr>
                        <a:t>Red/Amber/Green</a:t>
                      </a:r>
                      <a:endParaRPr lang="en-GB" sz="1200" i="1" noProof="0" dirty="0">
                        <a:solidFill>
                          <a:schemeClr val="tx1"/>
                        </a:solidFill>
                        <a:latin typeface="+mn-lt"/>
                      </a:endParaRPr>
                    </a:p>
                  </a:txBody>
                  <a:tcPr marL="0" marR="36000" marT="36000" marB="36000">
                    <a:lnL w="12700" cmpd="sng">
                      <a:noFill/>
                    </a:lnL>
                    <a:lnR w="12700" cmpd="sng">
                      <a:noFill/>
                    </a:lnR>
                    <a:lnT w="19050" cap="flat" cmpd="sng" algn="ctr">
                      <a:solidFill>
                        <a:schemeClr val="tx2"/>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56804">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456804">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456804">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456804">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456804">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456804">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456804">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456804">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r h="456804">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GB" sz="1200" noProof="0" dirty="0">
                        <a:solidFill>
                          <a:schemeClr val="tx1"/>
                        </a:solidFill>
                        <a:latin typeface="+mn-lt"/>
                      </a:endParaRPr>
                    </a:p>
                  </a:txBody>
                  <a:tcPr marL="0" marR="36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5625704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smtClean="0"/>
              <a:t>Group 5</a:t>
            </a:r>
            <a:endParaRPr lang="en-GB" dirty="0"/>
          </a:p>
        </p:txBody>
      </p:sp>
      <p:sp>
        <p:nvSpPr>
          <p:cNvPr id="3" name="Text Placeholder 2"/>
          <p:cNvSpPr>
            <a:spLocks noGrp="1"/>
          </p:cNvSpPr>
          <p:nvPr>
            <p:ph type="body" sz="quarter" idx="11"/>
          </p:nvPr>
        </p:nvSpPr>
        <p:spPr/>
        <p:txBody>
          <a:bodyPr/>
          <a:lstStyle/>
          <a:p>
            <a:r>
              <a:rPr lang="en-GB" dirty="0" smtClean="0"/>
              <a:t>Talent Management</a:t>
            </a:r>
            <a:endParaRPr lang="en-GB" dirty="0"/>
          </a:p>
        </p:txBody>
      </p:sp>
      <p:sp>
        <p:nvSpPr>
          <p:cNvPr id="4" name="Text Placeholder 1"/>
          <p:cNvSpPr txBox="1">
            <a:spLocks/>
          </p:cNvSpPr>
          <p:nvPr/>
        </p:nvSpPr>
        <p:spPr bwMode="gray">
          <a:xfrm>
            <a:off x="882206" y="1980431"/>
            <a:ext cx="4176462" cy="864096"/>
          </a:xfrm>
          <a:prstGeom prst="rect">
            <a:avLst/>
          </a:prstGeom>
        </p:spPr>
        <p:txBody>
          <a:bodyPr vert="horz" wrap="none" lIns="0" tIns="0" rIns="0" bIns="0" rtlCol="0" anchor="ctr" anchorCtr="0">
            <a:noAutofit/>
          </a:bodyPr>
          <a:lstStyle>
            <a:lvl1pPr marL="0" indent="0" algn="l" defTabSz="1042688" rtl="0" eaLnBrk="1" latinLnBrk="0" hangingPunct="1">
              <a:spcBef>
                <a:spcPts val="0"/>
              </a:spcBef>
              <a:spcAft>
                <a:spcPts val="500"/>
              </a:spcAft>
              <a:buFont typeface="Arial" pitchFamily="34" charset="0"/>
              <a:buNone/>
              <a:defRPr lang="en-US" sz="1400" b="1" kern="1200" dirty="0" smtClean="0">
                <a:solidFill>
                  <a:schemeClr val="accent1"/>
                </a:solidFill>
                <a:latin typeface="+mj-lt"/>
                <a:ea typeface="+mn-ea"/>
                <a:cs typeface="Arial" charset="0"/>
              </a:defRPr>
            </a:lvl1pPr>
            <a:lvl2pPr marL="0" indent="0" algn="l" defTabSz="1042688" rtl="0" eaLnBrk="1" latinLnBrk="0" hangingPunct="1">
              <a:spcBef>
                <a:spcPts val="200"/>
              </a:spcBef>
              <a:spcAft>
                <a:spcPts val="500"/>
              </a:spcAft>
              <a:buFontTx/>
              <a:buNone/>
              <a:defRPr sz="1400" b="1" kern="1200">
                <a:solidFill>
                  <a:schemeClr val="tx1"/>
                </a:solidFill>
                <a:latin typeface="+mn-lt"/>
                <a:ea typeface="+mn-ea"/>
                <a:cs typeface="+mn-cs"/>
              </a:defRPr>
            </a:lvl2pPr>
            <a:lvl3pPr marL="0" indent="0" algn="l" defTabSz="1042688" rtl="0" eaLnBrk="1" latinLnBrk="0" hangingPunct="1">
              <a:spcBef>
                <a:spcPts val="200"/>
              </a:spcBef>
              <a:spcAft>
                <a:spcPts val="500"/>
              </a:spcAft>
              <a:buFontTx/>
              <a:buNone/>
              <a:defRPr sz="1300" b="1" kern="1200">
                <a:solidFill>
                  <a:schemeClr val="accent1"/>
                </a:solidFill>
                <a:latin typeface="+mn-lt"/>
                <a:ea typeface="+mn-ea"/>
                <a:cs typeface="+mn-cs"/>
              </a:defRPr>
            </a:lvl3pPr>
            <a:lvl4pPr marL="177738" indent="-177738"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4pPr>
            <a:lvl5pPr marL="342779" indent="-165042"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5pPr>
            <a:lvl6pPr marL="2867392"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735"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0080"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1424"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en-GB" dirty="0" smtClean="0"/>
              <a:t>Session Aim: </a:t>
            </a:r>
            <a:r>
              <a:rPr lang="en-GB" dirty="0"/>
              <a:t>Share insights on how to create </a:t>
            </a:r>
            <a:endParaRPr lang="en-GB" dirty="0" smtClean="0"/>
          </a:p>
          <a:p>
            <a:r>
              <a:rPr lang="en-GB" dirty="0" smtClean="0"/>
              <a:t>an </a:t>
            </a:r>
            <a:r>
              <a:rPr lang="en-GB" dirty="0"/>
              <a:t>approach to attract, develop, retain and churn </a:t>
            </a:r>
            <a:endParaRPr lang="en-GB" dirty="0" smtClean="0"/>
          </a:p>
          <a:p>
            <a:r>
              <a:rPr lang="en-GB" dirty="0" smtClean="0"/>
              <a:t>talent</a:t>
            </a:r>
            <a:endParaRPr lang="en-GB" dirty="0"/>
          </a:p>
        </p:txBody>
      </p:sp>
    </p:spTree>
    <p:extLst>
      <p:ext uri="{BB962C8B-B14F-4D97-AF65-F5344CB8AC3E}">
        <p14:creationId xmlns:p14="http://schemas.microsoft.com/office/powerpoint/2010/main" val="18672346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25795296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0966"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839041" y="180231"/>
            <a:ext cx="9504363" cy="612000"/>
          </a:xfrm>
        </p:spPr>
        <p:txBody>
          <a:bodyPr/>
          <a:lstStyle/>
          <a:p>
            <a:r>
              <a:rPr lang="en-GB" dirty="0" smtClean="0"/>
              <a:t>Talent Management</a:t>
            </a:r>
            <a:endParaRPr lang="en-GB" dirty="0"/>
          </a:p>
        </p:txBody>
      </p:sp>
      <p:sp>
        <p:nvSpPr>
          <p:cNvPr id="15"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22</a:t>
            </a:fld>
            <a:endParaRPr lang="en-GB" sz="800" dirty="0">
              <a:solidFill>
                <a:srgbClr val="808080"/>
              </a:solidFill>
            </a:endParaRPr>
          </a:p>
        </p:txBody>
      </p:sp>
      <p:sp>
        <p:nvSpPr>
          <p:cNvPr id="11" name="Rectangle 10"/>
          <p:cNvSpPr/>
          <p:nvPr/>
        </p:nvSpPr>
        <p:spPr>
          <a:xfrm>
            <a:off x="738188" y="921797"/>
            <a:ext cx="9361611" cy="584775"/>
          </a:xfrm>
          <a:prstGeom prst="rect">
            <a:avLst/>
          </a:prstGeom>
        </p:spPr>
        <p:txBody>
          <a:bodyPr wrap="square">
            <a:spAutoFit/>
          </a:bodyPr>
          <a:lstStyle/>
          <a:p>
            <a:pPr lvl="0"/>
            <a:r>
              <a:rPr lang="en-GB" sz="1600" b="1" dirty="0" smtClean="0">
                <a:solidFill>
                  <a:schemeClr val="bg1">
                    <a:lumMod val="50000"/>
                  </a:schemeClr>
                </a:solidFill>
              </a:rPr>
              <a:t>Session Aim</a:t>
            </a:r>
            <a:r>
              <a:rPr lang="en-GB" sz="1600" dirty="0" smtClean="0">
                <a:solidFill>
                  <a:schemeClr val="bg1">
                    <a:lumMod val="50000"/>
                  </a:schemeClr>
                </a:solidFill>
              </a:rPr>
              <a:t>: Share insights into how to create </a:t>
            </a:r>
            <a:r>
              <a:rPr lang="en-GB" sz="1600" dirty="0">
                <a:solidFill>
                  <a:schemeClr val="bg1">
                    <a:lumMod val="50000"/>
                  </a:schemeClr>
                </a:solidFill>
              </a:rPr>
              <a:t>an approach to attract, develop, retain and churn talent</a:t>
            </a:r>
          </a:p>
        </p:txBody>
      </p:sp>
      <p:sp>
        <p:nvSpPr>
          <p:cNvPr id="13" name="Rectangle 12"/>
          <p:cNvSpPr/>
          <p:nvPr/>
        </p:nvSpPr>
        <p:spPr bwMode="auto">
          <a:xfrm>
            <a:off x="810196" y="1620391"/>
            <a:ext cx="1295847" cy="1529969"/>
          </a:xfrm>
          <a:prstGeom prst="rect">
            <a:avLst/>
          </a:prstGeom>
          <a:solidFill>
            <a:schemeClr val="accent2"/>
          </a:solidFill>
          <a:ln w="0">
            <a:noFill/>
            <a:prstDash val="solid"/>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defTabSz="995627"/>
            <a:r>
              <a:rPr lang="en-US" sz="1300" b="1" dirty="0" smtClean="0">
                <a:latin typeface="EYInterstate" pitchFamily="2" charset="0"/>
              </a:rPr>
              <a:t>What is talent management?</a:t>
            </a:r>
            <a:endParaRPr lang="en-GB" sz="1300" b="1" dirty="0">
              <a:latin typeface="EYInterstate" pitchFamily="2" charset="0"/>
            </a:endParaRPr>
          </a:p>
        </p:txBody>
      </p:sp>
      <p:sp>
        <p:nvSpPr>
          <p:cNvPr id="14" name="Freeform 13"/>
          <p:cNvSpPr/>
          <p:nvPr/>
        </p:nvSpPr>
        <p:spPr bwMode="auto">
          <a:xfrm rot="5400000">
            <a:off x="2029553" y="2277375"/>
            <a:ext cx="576000" cy="216000"/>
          </a:xfrm>
          <a:custGeom>
            <a:avLst/>
            <a:gdLst>
              <a:gd name="connsiteX0" fmla="*/ 0 w 682500"/>
              <a:gd name="connsiteY0" fmla="*/ 303633 h 303633"/>
              <a:gd name="connsiteX1" fmla="*/ 341250 w 682500"/>
              <a:gd name="connsiteY1" fmla="*/ 0 h 303633"/>
              <a:gd name="connsiteX2" fmla="*/ 682500 w 682500"/>
              <a:gd name="connsiteY2" fmla="*/ 303633 h 303633"/>
              <a:gd name="connsiteX3" fmla="*/ 442186 w 682500"/>
              <a:gd name="connsiteY3" fmla="*/ 303633 h 303633"/>
              <a:gd name="connsiteX4" fmla="*/ 341252 w 682500"/>
              <a:gd name="connsiteY4" fmla="*/ 194966 h 303633"/>
              <a:gd name="connsiteX5" fmla="*/ 240318 w 682500"/>
              <a:gd name="connsiteY5" fmla="*/ 303633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500" h="303633">
                <a:moveTo>
                  <a:pt x="0" y="303633"/>
                </a:moveTo>
                <a:lnTo>
                  <a:pt x="341250" y="0"/>
                </a:lnTo>
                <a:lnTo>
                  <a:pt x="682500" y="303633"/>
                </a:lnTo>
                <a:lnTo>
                  <a:pt x="442186" y="303633"/>
                </a:lnTo>
                <a:lnTo>
                  <a:pt x="341252" y="194966"/>
                </a:lnTo>
                <a:lnTo>
                  <a:pt x="240318" y="303633"/>
                </a:lnTo>
                <a:close/>
              </a:path>
            </a:pathLst>
          </a:custGeom>
          <a:solidFill>
            <a:schemeClr val="accent4"/>
          </a:solidFill>
          <a:ln w="0">
            <a:noFill/>
            <a:prstDash val="solid"/>
            <a:round/>
            <a:headEnd/>
            <a:tailEnd/>
          </a:ln>
        </p:spPr>
        <p:txBody>
          <a:bodyPr vert="horz" wrap="square" lIns="91440" tIns="45720" rIns="91440" bIns="45720" numCol="1" rtlCol="0" anchor="t" anchorCtr="0" compatLnSpc="1">
            <a:prstTxWarp prst="textNoShape">
              <a:avLst/>
            </a:prstTxWarp>
          </a:bodyPr>
          <a:lstStyle/>
          <a:p>
            <a:pPr algn="ctr"/>
            <a:endParaRPr lang="en-GB">
              <a:latin typeface="EYInterstate Regular" panose="02000503020000020004" pitchFamily="2" charset="0"/>
            </a:endParaRPr>
          </a:p>
        </p:txBody>
      </p:sp>
      <p:sp>
        <p:nvSpPr>
          <p:cNvPr id="16" name="Rectangle 15"/>
          <p:cNvSpPr/>
          <p:nvPr/>
        </p:nvSpPr>
        <p:spPr bwMode="auto">
          <a:xfrm>
            <a:off x="2425554" y="1626057"/>
            <a:ext cx="7241180" cy="1529969"/>
          </a:xfrm>
          <a:prstGeom prst="rect">
            <a:avLst/>
          </a:prstGeom>
          <a:solidFill>
            <a:schemeClr val="bg1">
              <a:lumMod val="95000"/>
            </a:schemeClr>
          </a:solidFill>
          <a:ln w="0">
            <a:solidFill>
              <a:schemeClr val="bg1">
                <a:lumMod val="95000"/>
              </a:schemeClr>
            </a:solidFill>
            <a:prstDash val="solid"/>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just"/>
            <a:r>
              <a:rPr lang="en-GB" sz="1200" dirty="0"/>
              <a:t>The systematic attraction, identification, development, engagement, retention and deployment of those individuals who are of particular value to an organisation, either in view of their ‘high potential’ for the future or because they are fulfilling business/operation-critical roles.</a:t>
            </a:r>
          </a:p>
        </p:txBody>
      </p:sp>
      <p:sp>
        <p:nvSpPr>
          <p:cNvPr id="17" name="Rectangle 16"/>
          <p:cNvSpPr/>
          <p:nvPr/>
        </p:nvSpPr>
        <p:spPr bwMode="auto">
          <a:xfrm>
            <a:off x="810642" y="3276575"/>
            <a:ext cx="1295847" cy="1529969"/>
          </a:xfrm>
          <a:prstGeom prst="rect">
            <a:avLst/>
          </a:prstGeom>
          <a:solidFill>
            <a:schemeClr val="accent2"/>
          </a:solidFill>
          <a:ln w="0">
            <a:noFill/>
            <a:prstDash val="solid"/>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defTabSz="995627"/>
            <a:r>
              <a:rPr lang="en-US" sz="1300" b="1" dirty="0" smtClean="0">
                <a:latin typeface="EYInterstate" pitchFamily="2" charset="0"/>
              </a:rPr>
              <a:t>Why is talent management so important?</a:t>
            </a:r>
            <a:endParaRPr lang="en-GB" sz="1300" b="1" dirty="0">
              <a:latin typeface="EYInterstate" pitchFamily="2" charset="0"/>
            </a:endParaRPr>
          </a:p>
        </p:txBody>
      </p:sp>
      <p:sp>
        <p:nvSpPr>
          <p:cNvPr id="18" name="Freeform 17"/>
          <p:cNvSpPr/>
          <p:nvPr/>
        </p:nvSpPr>
        <p:spPr bwMode="auto">
          <a:xfrm rot="5400000">
            <a:off x="2029999" y="3933559"/>
            <a:ext cx="576000" cy="216000"/>
          </a:xfrm>
          <a:custGeom>
            <a:avLst/>
            <a:gdLst>
              <a:gd name="connsiteX0" fmla="*/ 0 w 682500"/>
              <a:gd name="connsiteY0" fmla="*/ 303633 h 303633"/>
              <a:gd name="connsiteX1" fmla="*/ 341250 w 682500"/>
              <a:gd name="connsiteY1" fmla="*/ 0 h 303633"/>
              <a:gd name="connsiteX2" fmla="*/ 682500 w 682500"/>
              <a:gd name="connsiteY2" fmla="*/ 303633 h 303633"/>
              <a:gd name="connsiteX3" fmla="*/ 442186 w 682500"/>
              <a:gd name="connsiteY3" fmla="*/ 303633 h 303633"/>
              <a:gd name="connsiteX4" fmla="*/ 341252 w 682500"/>
              <a:gd name="connsiteY4" fmla="*/ 194966 h 303633"/>
              <a:gd name="connsiteX5" fmla="*/ 240318 w 682500"/>
              <a:gd name="connsiteY5" fmla="*/ 303633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500" h="303633">
                <a:moveTo>
                  <a:pt x="0" y="303633"/>
                </a:moveTo>
                <a:lnTo>
                  <a:pt x="341250" y="0"/>
                </a:lnTo>
                <a:lnTo>
                  <a:pt x="682500" y="303633"/>
                </a:lnTo>
                <a:lnTo>
                  <a:pt x="442186" y="303633"/>
                </a:lnTo>
                <a:lnTo>
                  <a:pt x="341252" y="194966"/>
                </a:lnTo>
                <a:lnTo>
                  <a:pt x="240318" y="303633"/>
                </a:lnTo>
                <a:close/>
              </a:path>
            </a:pathLst>
          </a:custGeom>
          <a:solidFill>
            <a:schemeClr val="accent4"/>
          </a:solidFill>
          <a:ln w="0">
            <a:noFill/>
            <a:prstDash val="solid"/>
            <a:round/>
            <a:headEnd/>
            <a:tailEnd/>
          </a:ln>
        </p:spPr>
        <p:txBody>
          <a:bodyPr vert="horz" wrap="square" lIns="91440" tIns="45720" rIns="91440" bIns="45720" numCol="1" rtlCol="0" anchor="t" anchorCtr="0" compatLnSpc="1">
            <a:prstTxWarp prst="textNoShape">
              <a:avLst/>
            </a:prstTxWarp>
          </a:bodyPr>
          <a:lstStyle/>
          <a:p>
            <a:pPr algn="ctr"/>
            <a:endParaRPr lang="en-GB">
              <a:latin typeface="EYInterstate Regular" panose="02000503020000020004" pitchFamily="2" charset="0"/>
            </a:endParaRPr>
          </a:p>
        </p:txBody>
      </p:sp>
      <p:sp>
        <p:nvSpPr>
          <p:cNvPr id="19" name="Rectangle 18"/>
          <p:cNvSpPr/>
          <p:nvPr/>
        </p:nvSpPr>
        <p:spPr bwMode="auto">
          <a:xfrm>
            <a:off x="2426000" y="3282241"/>
            <a:ext cx="7241180" cy="1529969"/>
          </a:xfrm>
          <a:prstGeom prst="rect">
            <a:avLst/>
          </a:prstGeom>
          <a:solidFill>
            <a:schemeClr val="bg1">
              <a:lumMod val="95000"/>
            </a:schemeClr>
          </a:solidFill>
          <a:ln w="0">
            <a:solidFill>
              <a:schemeClr val="bg1">
                <a:lumMod val="95000"/>
              </a:schemeClr>
            </a:solidFill>
            <a:prstDash val="solid"/>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r>
              <a:rPr lang="en-GB" sz="1200" b="1" dirty="0" smtClean="0"/>
              <a:t>Talent </a:t>
            </a:r>
            <a:r>
              <a:rPr lang="en-GB" sz="1200" b="1" dirty="0"/>
              <a:t>management fundamental to the future success of your </a:t>
            </a:r>
            <a:r>
              <a:rPr lang="en-GB" sz="1200" b="1" dirty="0" smtClean="0"/>
              <a:t>enterprise because:</a:t>
            </a:r>
            <a:endParaRPr lang="en-GB" sz="1200" b="1" dirty="0"/>
          </a:p>
          <a:p>
            <a:endParaRPr lang="en-GB" sz="1200" b="1" dirty="0"/>
          </a:p>
          <a:p>
            <a:pPr marL="342900" indent="-342900" algn="just">
              <a:buFont typeface="+mj-lt"/>
              <a:buAutoNum type="arabicPeriod"/>
            </a:pPr>
            <a:r>
              <a:rPr lang="en-GB" sz="1200" dirty="0"/>
              <a:t>Achieving superior financial results on a sustainable basis depends on making the right investments in talent. It is critical for organizations to have the right </a:t>
            </a:r>
            <a:r>
              <a:rPr lang="en-GB" sz="1200" dirty="0" smtClean="0"/>
              <a:t>people </a:t>
            </a:r>
            <a:r>
              <a:rPr lang="en-GB" sz="1200" dirty="0"/>
              <a:t>in the right place at the right time. </a:t>
            </a:r>
          </a:p>
          <a:p>
            <a:pPr marL="342900" indent="-342900" algn="just">
              <a:buFont typeface="+mj-lt"/>
              <a:buAutoNum type="arabicPeriod"/>
            </a:pPr>
            <a:r>
              <a:rPr lang="en-GB" sz="1200" dirty="0"/>
              <a:t>Know-how, innovation and experience constitute some of the main advantages that organizations can have over their competitors. The most talented employees drive these </a:t>
            </a:r>
            <a:r>
              <a:rPr lang="en-GB" sz="1200" dirty="0" smtClean="0"/>
              <a:t>advantages, you can build competitive strength by harnessing your people.</a:t>
            </a:r>
            <a:endParaRPr lang="en-GB" sz="1200" dirty="0"/>
          </a:p>
        </p:txBody>
      </p:sp>
      <p:sp>
        <p:nvSpPr>
          <p:cNvPr id="20" name="Rectangle 19"/>
          <p:cNvSpPr/>
          <p:nvPr/>
        </p:nvSpPr>
        <p:spPr bwMode="auto">
          <a:xfrm>
            <a:off x="810195" y="4953278"/>
            <a:ext cx="1295847" cy="1529969"/>
          </a:xfrm>
          <a:prstGeom prst="rect">
            <a:avLst/>
          </a:prstGeom>
          <a:solidFill>
            <a:schemeClr val="accent2"/>
          </a:solidFill>
          <a:ln w="0">
            <a:noFill/>
            <a:prstDash val="solid"/>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defTabSz="995627"/>
            <a:r>
              <a:rPr lang="en-US" sz="1300" b="1" dirty="0" smtClean="0">
                <a:latin typeface="EYInterstate" pitchFamily="2" charset="0"/>
              </a:rPr>
              <a:t>Why is talent management so difficult to get right?</a:t>
            </a:r>
            <a:endParaRPr lang="en-GB" sz="1300" b="1" dirty="0">
              <a:latin typeface="EYInterstate" pitchFamily="2" charset="0"/>
            </a:endParaRPr>
          </a:p>
        </p:txBody>
      </p:sp>
      <p:sp>
        <p:nvSpPr>
          <p:cNvPr id="21" name="Freeform 20"/>
          <p:cNvSpPr/>
          <p:nvPr/>
        </p:nvSpPr>
        <p:spPr bwMode="auto">
          <a:xfrm rot="5400000">
            <a:off x="2029552" y="5610262"/>
            <a:ext cx="576000" cy="216000"/>
          </a:xfrm>
          <a:custGeom>
            <a:avLst/>
            <a:gdLst>
              <a:gd name="connsiteX0" fmla="*/ 0 w 682500"/>
              <a:gd name="connsiteY0" fmla="*/ 303633 h 303633"/>
              <a:gd name="connsiteX1" fmla="*/ 341250 w 682500"/>
              <a:gd name="connsiteY1" fmla="*/ 0 h 303633"/>
              <a:gd name="connsiteX2" fmla="*/ 682500 w 682500"/>
              <a:gd name="connsiteY2" fmla="*/ 303633 h 303633"/>
              <a:gd name="connsiteX3" fmla="*/ 442186 w 682500"/>
              <a:gd name="connsiteY3" fmla="*/ 303633 h 303633"/>
              <a:gd name="connsiteX4" fmla="*/ 341252 w 682500"/>
              <a:gd name="connsiteY4" fmla="*/ 194966 h 303633"/>
              <a:gd name="connsiteX5" fmla="*/ 240318 w 682500"/>
              <a:gd name="connsiteY5" fmla="*/ 303633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500" h="303633">
                <a:moveTo>
                  <a:pt x="0" y="303633"/>
                </a:moveTo>
                <a:lnTo>
                  <a:pt x="341250" y="0"/>
                </a:lnTo>
                <a:lnTo>
                  <a:pt x="682500" y="303633"/>
                </a:lnTo>
                <a:lnTo>
                  <a:pt x="442186" y="303633"/>
                </a:lnTo>
                <a:lnTo>
                  <a:pt x="341252" y="194966"/>
                </a:lnTo>
                <a:lnTo>
                  <a:pt x="240318" y="303633"/>
                </a:lnTo>
                <a:close/>
              </a:path>
            </a:pathLst>
          </a:custGeom>
          <a:solidFill>
            <a:schemeClr val="accent4"/>
          </a:solidFill>
          <a:ln w="0">
            <a:noFill/>
            <a:prstDash val="solid"/>
            <a:round/>
            <a:headEnd/>
            <a:tailEnd/>
          </a:ln>
        </p:spPr>
        <p:txBody>
          <a:bodyPr vert="horz" wrap="square" lIns="91440" tIns="45720" rIns="91440" bIns="45720" numCol="1" rtlCol="0" anchor="t" anchorCtr="0" compatLnSpc="1">
            <a:prstTxWarp prst="textNoShape">
              <a:avLst/>
            </a:prstTxWarp>
          </a:bodyPr>
          <a:lstStyle/>
          <a:p>
            <a:pPr algn="ctr"/>
            <a:endParaRPr lang="en-GB">
              <a:latin typeface="EYInterstate Regular" panose="02000503020000020004" pitchFamily="2" charset="0"/>
            </a:endParaRPr>
          </a:p>
        </p:txBody>
      </p:sp>
      <p:sp>
        <p:nvSpPr>
          <p:cNvPr id="22" name="Rectangle 21"/>
          <p:cNvSpPr/>
          <p:nvPr/>
        </p:nvSpPr>
        <p:spPr bwMode="auto">
          <a:xfrm>
            <a:off x="2425553" y="4958944"/>
            <a:ext cx="7241180" cy="1529969"/>
          </a:xfrm>
          <a:prstGeom prst="rect">
            <a:avLst/>
          </a:prstGeom>
          <a:solidFill>
            <a:schemeClr val="bg1">
              <a:lumMod val="95000"/>
            </a:schemeClr>
          </a:solidFill>
          <a:ln w="0">
            <a:solidFill>
              <a:schemeClr val="bg1">
                <a:lumMod val="95000"/>
              </a:schemeClr>
            </a:solidFill>
            <a:prstDash val="solid"/>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just"/>
            <a:r>
              <a:rPr lang="en-GB" sz="1200" dirty="0" smtClean="0"/>
              <a:t>In a recent EY study we found, companies </a:t>
            </a:r>
            <a:r>
              <a:rPr lang="en-GB" sz="1200" dirty="0"/>
              <a:t>remain reluctant to make </a:t>
            </a:r>
            <a:r>
              <a:rPr lang="en-GB" sz="1200" dirty="0" smtClean="0"/>
              <a:t>the </a:t>
            </a:r>
            <a:r>
              <a:rPr lang="en-GB" sz="1200" dirty="0"/>
              <a:t>commitment. Even among high performers, just 45% </a:t>
            </a:r>
            <a:r>
              <a:rPr lang="en-GB" sz="1200" dirty="0" smtClean="0"/>
              <a:t>say </a:t>
            </a:r>
            <a:r>
              <a:rPr lang="en-GB" sz="1200" dirty="0"/>
              <a:t>their company is effective at investing adequately in talent management to meet financial targets; among low performers, this proportion falls to 36%. This goes to the very heart of the expectations gap: organisation’s still find it difficult to make an explicit link between their strategic objectives and the talent required to meet those goals.</a:t>
            </a:r>
          </a:p>
        </p:txBody>
      </p:sp>
      <p:sp>
        <p:nvSpPr>
          <p:cNvPr id="23" name="Freeform 22"/>
          <p:cNvSpPr/>
          <p:nvPr/>
        </p:nvSpPr>
        <p:spPr bwMode="auto">
          <a:xfrm rot="10800000">
            <a:off x="5289524" y="6525507"/>
            <a:ext cx="576000" cy="216000"/>
          </a:xfrm>
          <a:custGeom>
            <a:avLst/>
            <a:gdLst>
              <a:gd name="connsiteX0" fmla="*/ 0 w 682500"/>
              <a:gd name="connsiteY0" fmla="*/ 303633 h 303633"/>
              <a:gd name="connsiteX1" fmla="*/ 341250 w 682500"/>
              <a:gd name="connsiteY1" fmla="*/ 0 h 303633"/>
              <a:gd name="connsiteX2" fmla="*/ 682500 w 682500"/>
              <a:gd name="connsiteY2" fmla="*/ 303633 h 303633"/>
              <a:gd name="connsiteX3" fmla="*/ 442186 w 682500"/>
              <a:gd name="connsiteY3" fmla="*/ 303633 h 303633"/>
              <a:gd name="connsiteX4" fmla="*/ 341252 w 682500"/>
              <a:gd name="connsiteY4" fmla="*/ 194966 h 303633"/>
              <a:gd name="connsiteX5" fmla="*/ 240318 w 682500"/>
              <a:gd name="connsiteY5" fmla="*/ 303633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500" h="303633">
                <a:moveTo>
                  <a:pt x="0" y="303633"/>
                </a:moveTo>
                <a:lnTo>
                  <a:pt x="341250" y="0"/>
                </a:lnTo>
                <a:lnTo>
                  <a:pt x="682500" y="303633"/>
                </a:lnTo>
                <a:lnTo>
                  <a:pt x="442186" y="303633"/>
                </a:lnTo>
                <a:lnTo>
                  <a:pt x="341252" y="194966"/>
                </a:lnTo>
                <a:lnTo>
                  <a:pt x="240318" y="303633"/>
                </a:lnTo>
                <a:close/>
              </a:path>
            </a:pathLst>
          </a:custGeom>
          <a:solidFill>
            <a:schemeClr val="accent4"/>
          </a:solidFill>
          <a:ln w="0">
            <a:noFill/>
            <a:prstDash val="solid"/>
            <a:round/>
            <a:headEnd/>
            <a:tailEnd/>
          </a:ln>
        </p:spPr>
        <p:txBody>
          <a:bodyPr vert="horz" wrap="square" lIns="91440" tIns="45720" rIns="91440" bIns="45720" numCol="1" rtlCol="0" anchor="t" anchorCtr="0" compatLnSpc="1">
            <a:prstTxWarp prst="textNoShape">
              <a:avLst/>
            </a:prstTxWarp>
          </a:bodyPr>
          <a:lstStyle/>
          <a:p>
            <a:pPr algn="ctr"/>
            <a:endParaRPr lang="en-GB">
              <a:latin typeface="EYInterstate Regular" panose="02000503020000020004" pitchFamily="2" charset="0"/>
            </a:endParaRPr>
          </a:p>
        </p:txBody>
      </p:sp>
      <p:sp>
        <p:nvSpPr>
          <p:cNvPr id="24" name="Rectangle 23"/>
          <p:cNvSpPr/>
          <p:nvPr/>
        </p:nvSpPr>
        <p:spPr bwMode="auto">
          <a:xfrm>
            <a:off x="810642" y="6741508"/>
            <a:ext cx="8856538" cy="612584"/>
          </a:xfrm>
          <a:prstGeom prst="rect">
            <a:avLst/>
          </a:prstGeom>
          <a:solidFill>
            <a:schemeClr val="bg1">
              <a:lumMod val="95000"/>
            </a:schemeClr>
          </a:solidFill>
          <a:ln w="0">
            <a:solidFill>
              <a:schemeClr val="bg1">
                <a:lumMod val="95000"/>
              </a:schemeClr>
            </a:solidFill>
            <a:prstDash val="solid"/>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just"/>
            <a:r>
              <a:rPr lang="en-GB" sz="1200" b="1" dirty="0"/>
              <a:t>Strategic </a:t>
            </a:r>
            <a:r>
              <a:rPr lang="en-GB" sz="1200" b="1" dirty="0" smtClean="0"/>
              <a:t>approach to talent </a:t>
            </a:r>
            <a:r>
              <a:rPr lang="en-GB" sz="1200" b="1" dirty="0"/>
              <a:t>management </a:t>
            </a:r>
            <a:r>
              <a:rPr lang="en-GB" sz="1200" dirty="0"/>
              <a:t>requires looking at the big picture. You can have a great recruiting strategy but later lose your top recruits due to a lack of employee development. You can have the right leaders for organizational success today but be thrown for a loop when one of them leaves at a crucial time, with no replacement in sight.</a:t>
            </a:r>
          </a:p>
        </p:txBody>
      </p:sp>
    </p:spTree>
    <p:extLst>
      <p:ext uri="{BB962C8B-B14F-4D97-AF65-F5344CB8AC3E}">
        <p14:creationId xmlns:p14="http://schemas.microsoft.com/office/powerpoint/2010/main" val="60864864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45331" y="283631"/>
            <a:ext cx="9491664" cy="612000"/>
          </a:xfrm>
        </p:spPr>
        <p:txBody>
          <a:bodyPr/>
          <a:lstStyle/>
          <a:p>
            <a:r>
              <a:rPr lang="en-GB" dirty="0" smtClean="0"/>
              <a:t>Strategic model of talent management</a:t>
            </a:r>
            <a:endParaRPr lang="en-GB" dirty="0"/>
          </a:p>
        </p:txBody>
      </p:sp>
      <p:sp>
        <p:nvSpPr>
          <p:cNvPr id="5" name="Slide Number Placeholder 4"/>
          <p:cNvSpPr>
            <a:spLocks noGrp="1"/>
          </p:cNvSpPr>
          <p:nvPr>
            <p:ph type="sldNum" sz="quarter" idx="12"/>
          </p:nvPr>
        </p:nvSpPr>
        <p:spPr/>
        <p:txBody>
          <a:bodyPr/>
          <a:lstStyle/>
          <a:p>
            <a:fld id="{F9A56513-F998-4254-9CEB-F507EE6F3742}" type="slidenum">
              <a:rPr lang="en-GB" smtClean="0"/>
              <a:pPr/>
              <a:t>23</a:t>
            </a:fld>
            <a:endParaRPr lang="en-GB" dirty="0"/>
          </a:p>
        </p:txBody>
      </p:sp>
      <p:sp>
        <p:nvSpPr>
          <p:cNvPr id="4" name="Moon 3"/>
          <p:cNvSpPr/>
          <p:nvPr/>
        </p:nvSpPr>
        <p:spPr>
          <a:xfrm rot="5400000">
            <a:off x="4734632" y="-2619370"/>
            <a:ext cx="1008111" cy="9289031"/>
          </a:xfrm>
          <a:prstGeom prst="moon">
            <a:avLst/>
          </a:prstGeom>
          <a:solidFill>
            <a:srgbClr val="FFD200"/>
          </a:solidFill>
          <a:ln w="9525" cmpd="sng">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solidFill>
                <a:schemeClr val="tx1"/>
              </a:solidFill>
            </a:endParaRPr>
          </a:p>
        </p:txBody>
      </p:sp>
      <p:sp>
        <p:nvSpPr>
          <p:cNvPr id="7" name="TextBox 6"/>
          <p:cNvSpPr txBox="1"/>
          <p:nvPr/>
        </p:nvSpPr>
        <p:spPr>
          <a:xfrm>
            <a:off x="4122564" y="1593096"/>
            <a:ext cx="2448272" cy="307777"/>
          </a:xfrm>
          <a:prstGeom prst="rect">
            <a:avLst/>
          </a:prstGeom>
          <a:noFill/>
        </p:spPr>
        <p:txBody>
          <a:bodyPr wrap="square" rtlCol="0">
            <a:spAutoFit/>
          </a:bodyPr>
          <a:lstStyle/>
          <a:p>
            <a:pPr algn="ctr"/>
            <a:r>
              <a:rPr lang="en-GB" sz="1400" b="1" dirty="0" smtClean="0"/>
              <a:t>Talent Management</a:t>
            </a:r>
            <a:endParaRPr lang="en-GB" sz="1400" b="1" dirty="0"/>
          </a:p>
        </p:txBody>
      </p:sp>
      <p:sp>
        <p:nvSpPr>
          <p:cNvPr id="8" name="Rectangle 7"/>
          <p:cNvSpPr/>
          <p:nvPr/>
        </p:nvSpPr>
        <p:spPr>
          <a:xfrm>
            <a:off x="7609636" y="2818323"/>
            <a:ext cx="2130123" cy="3023245"/>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11" name="TextBox 10"/>
          <p:cNvSpPr txBox="1"/>
          <p:nvPr/>
        </p:nvSpPr>
        <p:spPr>
          <a:xfrm>
            <a:off x="882204" y="2869495"/>
            <a:ext cx="2016224" cy="307777"/>
          </a:xfrm>
          <a:prstGeom prst="rect">
            <a:avLst/>
          </a:prstGeom>
          <a:noFill/>
        </p:spPr>
        <p:txBody>
          <a:bodyPr wrap="square" rtlCol="0">
            <a:spAutoFit/>
          </a:bodyPr>
          <a:lstStyle/>
          <a:p>
            <a:pPr algn="ctr"/>
            <a:r>
              <a:rPr lang="en-GB" sz="1400" b="1" dirty="0" smtClean="0"/>
              <a:t>Business Landscape</a:t>
            </a:r>
            <a:endParaRPr lang="en-GB" sz="1400" b="1" dirty="0"/>
          </a:p>
        </p:txBody>
      </p:sp>
      <p:sp>
        <p:nvSpPr>
          <p:cNvPr id="12" name="TextBox 11"/>
          <p:cNvSpPr txBox="1"/>
          <p:nvPr/>
        </p:nvSpPr>
        <p:spPr>
          <a:xfrm>
            <a:off x="738188" y="3609320"/>
            <a:ext cx="1152128" cy="523220"/>
          </a:xfrm>
          <a:prstGeom prst="rect">
            <a:avLst/>
          </a:prstGeom>
          <a:noFill/>
        </p:spPr>
        <p:txBody>
          <a:bodyPr wrap="square" rtlCol="0">
            <a:spAutoFit/>
          </a:bodyPr>
          <a:lstStyle/>
          <a:p>
            <a:pPr algn="ctr"/>
            <a:r>
              <a:rPr lang="en-GB" sz="1400" b="1" dirty="0" smtClean="0"/>
              <a:t>Strategic priorities</a:t>
            </a:r>
            <a:endParaRPr lang="en-GB" sz="1400" b="1" dirty="0"/>
          </a:p>
        </p:txBody>
      </p:sp>
      <p:sp>
        <p:nvSpPr>
          <p:cNvPr id="13" name="TextBox 12"/>
          <p:cNvSpPr txBox="1"/>
          <p:nvPr/>
        </p:nvSpPr>
        <p:spPr>
          <a:xfrm>
            <a:off x="738188" y="4598268"/>
            <a:ext cx="1152128" cy="523220"/>
          </a:xfrm>
          <a:prstGeom prst="rect">
            <a:avLst/>
          </a:prstGeom>
          <a:noFill/>
        </p:spPr>
        <p:txBody>
          <a:bodyPr wrap="square" rtlCol="0">
            <a:spAutoFit/>
          </a:bodyPr>
          <a:lstStyle/>
          <a:p>
            <a:pPr algn="ctr"/>
            <a:r>
              <a:rPr lang="en-GB" sz="1400" b="1" dirty="0" smtClean="0"/>
              <a:t>Cultural priorities</a:t>
            </a:r>
            <a:endParaRPr lang="en-GB" sz="1400" b="1" dirty="0"/>
          </a:p>
        </p:txBody>
      </p:sp>
      <p:sp>
        <p:nvSpPr>
          <p:cNvPr id="14" name="TextBox 13"/>
          <p:cNvSpPr txBox="1"/>
          <p:nvPr/>
        </p:nvSpPr>
        <p:spPr>
          <a:xfrm>
            <a:off x="1818308" y="4094212"/>
            <a:ext cx="1152128" cy="523220"/>
          </a:xfrm>
          <a:prstGeom prst="rect">
            <a:avLst/>
          </a:prstGeom>
          <a:noFill/>
        </p:spPr>
        <p:txBody>
          <a:bodyPr wrap="square" rtlCol="0">
            <a:spAutoFit/>
          </a:bodyPr>
          <a:lstStyle/>
          <a:p>
            <a:pPr algn="ctr"/>
            <a:r>
              <a:rPr lang="en-GB" sz="1400" b="1" dirty="0" smtClean="0"/>
              <a:t>Business drivers</a:t>
            </a:r>
            <a:endParaRPr lang="en-GB" sz="1400" b="1" dirty="0"/>
          </a:p>
        </p:txBody>
      </p:sp>
      <p:sp>
        <p:nvSpPr>
          <p:cNvPr id="9" name="Isosceles Triangle 8"/>
          <p:cNvSpPr/>
          <p:nvPr/>
        </p:nvSpPr>
        <p:spPr>
          <a:xfrm rot="5400000">
            <a:off x="1636325" y="4216844"/>
            <a:ext cx="510563" cy="290612"/>
          </a:xfrm>
          <a:prstGeom prst="triangle">
            <a:avLst/>
          </a:prstGeom>
          <a:solidFill>
            <a:schemeClr val="tx1"/>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grpSp>
        <p:nvGrpSpPr>
          <p:cNvPr id="20" name="Group 3"/>
          <p:cNvGrpSpPr>
            <a:grpSpLocks/>
          </p:cNvGrpSpPr>
          <p:nvPr/>
        </p:nvGrpSpPr>
        <p:grpSpPr bwMode="auto">
          <a:xfrm>
            <a:off x="3690243" y="3520147"/>
            <a:ext cx="3312641" cy="2465437"/>
            <a:chOff x="1152" y="1440"/>
            <a:chExt cx="3936" cy="1920"/>
          </a:xfrm>
        </p:grpSpPr>
        <p:sp>
          <p:nvSpPr>
            <p:cNvPr id="21" name="Rectangle 4"/>
            <p:cNvSpPr>
              <a:spLocks noChangeArrowheads="1"/>
            </p:cNvSpPr>
            <p:nvPr/>
          </p:nvSpPr>
          <p:spPr bwMode="auto">
            <a:xfrm>
              <a:off x="1152" y="2299"/>
              <a:ext cx="939" cy="202"/>
            </a:xfrm>
            <a:prstGeom prst="rect">
              <a:avLst/>
            </a:prstGeom>
            <a:solidFill>
              <a:schemeClr val="tx1"/>
            </a:solidFill>
            <a:ln w="6350">
              <a:solidFill>
                <a:schemeClr val="tx1"/>
              </a:solidFill>
              <a:miter lim="800000"/>
              <a:headEnd/>
              <a:tailEnd/>
            </a:ln>
            <a:effectLst>
              <a:outerShdw dist="35921" dir="2700000" algn="ctr" rotWithShape="0">
                <a:schemeClr val="bg2"/>
              </a:outerShdw>
            </a:effectLst>
          </p:spPr>
          <p:txBody>
            <a:bodyPr wrap="none" lIns="45720" rIns="45720" anchor="ctr" anchorCtr="1"/>
            <a:lstStyle/>
            <a:p>
              <a:pPr eaLnBrk="0" hangingPunct="0">
                <a:defRPr/>
              </a:pPr>
              <a:r>
                <a:rPr lang="en-US" sz="1200" b="1" dirty="0" smtClean="0">
                  <a:solidFill>
                    <a:schemeClr val="bg1"/>
                  </a:solidFill>
                  <a:latin typeface="Arial" charset="0"/>
                </a:rPr>
                <a:t>Churn</a:t>
              </a:r>
              <a:endParaRPr lang="en-US" sz="1200" b="1" dirty="0">
                <a:solidFill>
                  <a:schemeClr val="bg1"/>
                </a:solidFill>
                <a:latin typeface="Arial" charset="0"/>
              </a:endParaRPr>
            </a:p>
          </p:txBody>
        </p:sp>
        <p:sp>
          <p:nvSpPr>
            <p:cNvPr id="22" name="Rectangle 5"/>
            <p:cNvSpPr>
              <a:spLocks noChangeArrowheads="1"/>
            </p:cNvSpPr>
            <p:nvPr/>
          </p:nvSpPr>
          <p:spPr bwMode="auto">
            <a:xfrm>
              <a:off x="4152" y="2299"/>
              <a:ext cx="936" cy="202"/>
            </a:xfrm>
            <a:prstGeom prst="rect">
              <a:avLst/>
            </a:prstGeom>
            <a:solidFill>
              <a:schemeClr val="tx1"/>
            </a:solidFill>
            <a:ln w="6350">
              <a:solidFill>
                <a:schemeClr val="tx1"/>
              </a:solidFill>
              <a:miter lim="800000"/>
              <a:headEnd/>
              <a:tailEnd/>
            </a:ln>
            <a:effectLst>
              <a:outerShdw dist="35921" dir="2700000" algn="ctr" rotWithShape="0">
                <a:schemeClr val="bg2"/>
              </a:outerShdw>
            </a:effectLst>
          </p:spPr>
          <p:txBody>
            <a:bodyPr wrap="none" lIns="45720" rIns="45720" anchor="ctr" anchorCtr="1"/>
            <a:lstStyle/>
            <a:p>
              <a:pPr eaLnBrk="0" hangingPunct="0">
                <a:defRPr/>
              </a:pPr>
              <a:r>
                <a:rPr lang="en-US" sz="1200" b="1" dirty="0" smtClean="0">
                  <a:solidFill>
                    <a:schemeClr val="bg1"/>
                  </a:solidFill>
                  <a:latin typeface="Arial" charset="0"/>
                </a:rPr>
                <a:t>Develop</a:t>
              </a:r>
              <a:endParaRPr lang="en-US" sz="1200" b="1" dirty="0">
                <a:solidFill>
                  <a:schemeClr val="bg1"/>
                </a:solidFill>
                <a:latin typeface="Arial" charset="0"/>
              </a:endParaRPr>
            </a:p>
          </p:txBody>
        </p:sp>
        <p:cxnSp>
          <p:nvCxnSpPr>
            <p:cNvPr id="23" name="AutoShape 6"/>
            <p:cNvCxnSpPr>
              <a:cxnSpLocks noChangeShapeType="1"/>
              <a:stCxn id="21" idx="3"/>
              <a:endCxn id="24" idx="2"/>
            </p:cNvCxnSpPr>
            <p:nvPr/>
          </p:nvCxnSpPr>
          <p:spPr bwMode="auto">
            <a:xfrm>
              <a:off x="2091" y="2400"/>
              <a:ext cx="452" cy="0"/>
            </a:xfrm>
            <a:prstGeom prst="straightConnector1">
              <a:avLst/>
            </a:prstGeom>
            <a:noFill/>
            <a:ln w="6350">
              <a:solidFill>
                <a:schemeClr val="tx1"/>
              </a:solidFill>
              <a:round/>
              <a:headEnd/>
              <a:tailEnd/>
            </a:ln>
          </p:spPr>
        </p:cxnSp>
        <p:sp>
          <p:nvSpPr>
            <p:cNvPr id="24" name="Oval 7"/>
            <p:cNvSpPr>
              <a:spLocks noChangeArrowheads="1"/>
            </p:cNvSpPr>
            <p:nvPr/>
          </p:nvSpPr>
          <p:spPr bwMode="auto">
            <a:xfrm>
              <a:off x="2543" y="1976"/>
              <a:ext cx="1157" cy="848"/>
            </a:xfrm>
            <a:prstGeom prst="ellipse">
              <a:avLst/>
            </a:prstGeom>
            <a:solidFill>
              <a:srgbClr val="FFD200"/>
            </a:solidFill>
            <a:ln w="6350">
              <a:solidFill>
                <a:schemeClr val="tx1"/>
              </a:solidFill>
              <a:round/>
              <a:headEnd/>
              <a:tailEnd/>
            </a:ln>
            <a:effectLst>
              <a:outerShdw dist="35921" dir="2700000" algn="ctr" rotWithShape="0">
                <a:schemeClr val="bg2"/>
              </a:outerShdw>
            </a:effectLst>
          </p:spPr>
          <p:txBody>
            <a:bodyPr wrap="none" lIns="45720" rIns="45720" anchor="ctr" anchorCtr="1"/>
            <a:lstStyle/>
            <a:p>
              <a:pPr algn="ctr" eaLnBrk="0" hangingPunct="0">
                <a:defRPr/>
              </a:pPr>
              <a:r>
                <a:rPr lang="en-US" sz="1100" b="1" dirty="0" smtClean="0">
                  <a:latin typeface="Arial" charset="0"/>
                </a:rPr>
                <a:t>Manage the </a:t>
              </a:r>
            </a:p>
            <a:p>
              <a:pPr algn="ctr" eaLnBrk="0" hangingPunct="0">
                <a:defRPr/>
              </a:pPr>
              <a:r>
                <a:rPr lang="en-US" sz="1100" b="1" dirty="0" smtClean="0">
                  <a:latin typeface="Arial" charset="0"/>
                </a:rPr>
                <a:t>employee </a:t>
              </a:r>
            </a:p>
            <a:p>
              <a:pPr algn="ctr" eaLnBrk="0" hangingPunct="0">
                <a:defRPr/>
              </a:pPr>
              <a:r>
                <a:rPr lang="en-US" sz="1100" b="1" dirty="0" smtClean="0">
                  <a:latin typeface="Arial" charset="0"/>
                </a:rPr>
                <a:t>lifecycle</a:t>
              </a:r>
              <a:endParaRPr lang="en-US" sz="1100" b="1" dirty="0">
                <a:solidFill>
                  <a:schemeClr val="tx1"/>
                </a:solidFill>
                <a:latin typeface="Arial" charset="0"/>
              </a:endParaRPr>
            </a:p>
          </p:txBody>
        </p:sp>
        <p:sp>
          <p:nvSpPr>
            <p:cNvPr id="25" name="Rectangle 8"/>
            <p:cNvSpPr>
              <a:spLocks noChangeArrowheads="1"/>
            </p:cNvSpPr>
            <p:nvPr/>
          </p:nvSpPr>
          <p:spPr bwMode="auto">
            <a:xfrm>
              <a:off x="2652" y="3155"/>
              <a:ext cx="939" cy="205"/>
            </a:xfrm>
            <a:prstGeom prst="rect">
              <a:avLst/>
            </a:prstGeom>
            <a:solidFill>
              <a:schemeClr val="tx1"/>
            </a:solidFill>
            <a:ln w="6350">
              <a:solidFill>
                <a:schemeClr val="tx1"/>
              </a:solidFill>
              <a:miter lim="800000"/>
              <a:headEnd/>
              <a:tailEnd/>
            </a:ln>
            <a:effectLst>
              <a:outerShdw dist="35921" dir="2700000" algn="ctr" rotWithShape="0">
                <a:schemeClr val="bg2"/>
              </a:outerShdw>
            </a:effectLst>
          </p:spPr>
          <p:txBody>
            <a:bodyPr wrap="none" lIns="45720" rIns="45720" anchor="ctr" anchorCtr="1"/>
            <a:lstStyle/>
            <a:p>
              <a:pPr eaLnBrk="0" hangingPunct="0">
                <a:defRPr/>
              </a:pPr>
              <a:r>
                <a:rPr lang="en-US" sz="1200" b="1" dirty="0" smtClean="0">
                  <a:solidFill>
                    <a:schemeClr val="bg1"/>
                  </a:solidFill>
                  <a:latin typeface="Arial" charset="0"/>
                </a:rPr>
                <a:t>Retain</a:t>
              </a:r>
              <a:endParaRPr lang="en-US" sz="1200" b="1" dirty="0">
                <a:solidFill>
                  <a:schemeClr val="bg1"/>
                </a:solidFill>
                <a:latin typeface="Arial" charset="0"/>
              </a:endParaRPr>
            </a:p>
          </p:txBody>
        </p:sp>
        <p:sp>
          <p:nvSpPr>
            <p:cNvPr id="26" name="Rectangle 9"/>
            <p:cNvSpPr>
              <a:spLocks noChangeArrowheads="1"/>
            </p:cNvSpPr>
            <p:nvPr/>
          </p:nvSpPr>
          <p:spPr bwMode="auto">
            <a:xfrm>
              <a:off x="2652" y="1440"/>
              <a:ext cx="939" cy="205"/>
            </a:xfrm>
            <a:prstGeom prst="rect">
              <a:avLst/>
            </a:prstGeom>
            <a:solidFill>
              <a:schemeClr val="tx1"/>
            </a:solidFill>
            <a:ln w="6350">
              <a:solidFill>
                <a:schemeClr val="tx1"/>
              </a:solidFill>
              <a:miter lim="800000"/>
              <a:headEnd/>
              <a:tailEnd/>
            </a:ln>
            <a:effectLst>
              <a:outerShdw dist="35921" dir="2700000" algn="ctr" rotWithShape="0">
                <a:schemeClr val="bg2"/>
              </a:outerShdw>
            </a:effectLst>
          </p:spPr>
          <p:txBody>
            <a:bodyPr wrap="none" lIns="45720" rIns="45720" anchor="ctr" anchorCtr="1"/>
            <a:lstStyle/>
            <a:p>
              <a:pPr eaLnBrk="0" hangingPunct="0">
                <a:defRPr/>
              </a:pPr>
              <a:r>
                <a:rPr lang="en-US" sz="1200" b="1" dirty="0" smtClean="0">
                  <a:solidFill>
                    <a:schemeClr val="bg1"/>
                  </a:solidFill>
                  <a:latin typeface="Arial" charset="0"/>
                </a:rPr>
                <a:t>Attract</a:t>
              </a:r>
              <a:endParaRPr lang="en-US" sz="1200" b="1" dirty="0">
                <a:solidFill>
                  <a:schemeClr val="bg1"/>
                </a:solidFill>
                <a:latin typeface="Arial" charset="0"/>
              </a:endParaRPr>
            </a:p>
          </p:txBody>
        </p:sp>
        <p:cxnSp>
          <p:nvCxnSpPr>
            <p:cNvPr id="27" name="AutoShape 10"/>
            <p:cNvCxnSpPr>
              <a:cxnSpLocks noChangeShapeType="1"/>
              <a:stCxn id="24" idx="0"/>
              <a:endCxn id="26" idx="2"/>
            </p:cNvCxnSpPr>
            <p:nvPr/>
          </p:nvCxnSpPr>
          <p:spPr bwMode="auto">
            <a:xfrm flipV="1">
              <a:off x="3121" y="1645"/>
              <a:ext cx="1" cy="331"/>
            </a:xfrm>
            <a:prstGeom prst="straightConnector1">
              <a:avLst/>
            </a:prstGeom>
            <a:noFill/>
            <a:ln w="6350">
              <a:solidFill>
                <a:schemeClr val="tx1"/>
              </a:solidFill>
              <a:round/>
              <a:headEnd/>
              <a:tailEnd/>
            </a:ln>
          </p:spPr>
        </p:cxnSp>
        <p:cxnSp>
          <p:nvCxnSpPr>
            <p:cNvPr id="28" name="AutoShape 11"/>
            <p:cNvCxnSpPr>
              <a:cxnSpLocks noChangeShapeType="1"/>
              <a:stCxn id="25" idx="0"/>
              <a:endCxn id="24" idx="4"/>
            </p:cNvCxnSpPr>
            <p:nvPr/>
          </p:nvCxnSpPr>
          <p:spPr bwMode="auto">
            <a:xfrm flipH="1" flipV="1">
              <a:off x="3121" y="2824"/>
              <a:ext cx="1" cy="331"/>
            </a:xfrm>
            <a:prstGeom prst="straightConnector1">
              <a:avLst/>
            </a:prstGeom>
            <a:noFill/>
            <a:ln w="6350">
              <a:solidFill>
                <a:schemeClr val="tx1"/>
              </a:solidFill>
              <a:round/>
              <a:headEnd/>
              <a:tailEnd/>
            </a:ln>
          </p:spPr>
        </p:cxnSp>
        <p:cxnSp>
          <p:nvCxnSpPr>
            <p:cNvPr id="29" name="AutoShape 12"/>
            <p:cNvCxnSpPr>
              <a:cxnSpLocks noChangeShapeType="1"/>
              <a:stCxn id="25" idx="3"/>
              <a:endCxn id="22" idx="2"/>
            </p:cNvCxnSpPr>
            <p:nvPr/>
          </p:nvCxnSpPr>
          <p:spPr bwMode="auto">
            <a:xfrm flipV="1">
              <a:off x="3591" y="2501"/>
              <a:ext cx="1029" cy="757"/>
            </a:xfrm>
            <a:prstGeom prst="curvedConnector2">
              <a:avLst/>
            </a:prstGeom>
            <a:noFill/>
            <a:ln w="6350">
              <a:solidFill>
                <a:schemeClr val="tx1"/>
              </a:solidFill>
              <a:round/>
              <a:headEnd type="triangle" w="lg" len="med"/>
              <a:tailEnd/>
            </a:ln>
          </p:spPr>
        </p:cxnSp>
        <p:cxnSp>
          <p:nvCxnSpPr>
            <p:cNvPr id="30" name="AutoShape 13"/>
            <p:cNvCxnSpPr>
              <a:cxnSpLocks noChangeShapeType="1"/>
              <a:stCxn id="21" idx="2"/>
              <a:endCxn id="25" idx="1"/>
            </p:cNvCxnSpPr>
            <p:nvPr/>
          </p:nvCxnSpPr>
          <p:spPr bwMode="auto">
            <a:xfrm rot="16200000" flipH="1">
              <a:off x="1758" y="2365"/>
              <a:ext cx="757" cy="1030"/>
            </a:xfrm>
            <a:prstGeom prst="curvedConnector2">
              <a:avLst/>
            </a:prstGeom>
            <a:noFill/>
            <a:ln w="6350">
              <a:solidFill>
                <a:schemeClr val="tx1"/>
              </a:solidFill>
              <a:round/>
              <a:headEnd type="triangle" w="lg" len="med"/>
              <a:tailEnd/>
            </a:ln>
          </p:spPr>
        </p:cxnSp>
        <p:cxnSp>
          <p:nvCxnSpPr>
            <p:cNvPr id="31" name="AutoShape 14"/>
            <p:cNvCxnSpPr>
              <a:cxnSpLocks noChangeShapeType="1"/>
              <a:stCxn id="26" idx="1"/>
              <a:endCxn id="21" idx="0"/>
            </p:cNvCxnSpPr>
            <p:nvPr/>
          </p:nvCxnSpPr>
          <p:spPr bwMode="auto">
            <a:xfrm rot="10800000" flipV="1">
              <a:off x="1622" y="1543"/>
              <a:ext cx="1030" cy="756"/>
            </a:xfrm>
            <a:prstGeom prst="curvedConnector2">
              <a:avLst/>
            </a:prstGeom>
            <a:noFill/>
            <a:ln w="6350">
              <a:solidFill>
                <a:schemeClr val="tx1"/>
              </a:solidFill>
              <a:round/>
              <a:headEnd type="triangle" w="lg" len="med"/>
              <a:tailEnd/>
            </a:ln>
          </p:spPr>
        </p:cxnSp>
        <p:cxnSp>
          <p:nvCxnSpPr>
            <p:cNvPr id="32" name="AutoShape 15"/>
            <p:cNvCxnSpPr>
              <a:cxnSpLocks noChangeShapeType="1"/>
              <a:stCxn id="22" idx="0"/>
              <a:endCxn id="26" idx="3"/>
            </p:cNvCxnSpPr>
            <p:nvPr/>
          </p:nvCxnSpPr>
          <p:spPr bwMode="auto">
            <a:xfrm rot="5400000" flipH="1">
              <a:off x="3728" y="1406"/>
              <a:ext cx="756" cy="1029"/>
            </a:xfrm>
            <a:prstGeom prst="curvedConnector2">
              <a:avLst/>
            </a:prstGeom>
            <a:noFill/>
            <a:ln w="6350">
              <a:solidFill>
                <a:schemeClr val="tx1"/>
              </a:solidFill>
              <a:round/>
              <a:headEnd type="triangle" w="lg" len="med"/>
              <a:tailEnd/>
            </a:ln>
          </p:spPr>
        </p:cxnSp>
        <p:cxnSp>
          <p:nvCxnSpPr>
            <p:cNvPr id="33" name="AutoShape 16"/>
            <p:cNvCxnSpPr>
              <a:cxnSpLocks noChangeShapeType="1"/>
              <a:stCxn id="24" idx="6"/>
              <a:endCxn id="22" idx="1"/>
            </p:cNvCxnSpPr>
            <p:nvPr/>
          </p:nvCxnSpPr>
          <p:spPr bwMode="auto">
            <a:xfrm>
              <a:off x="3699" y="2400"/>
              <a:ext cx="453" cy="0"/>
            </a:xfrm>
            <a:prstGeom prst="straightConnector1">
              <a:avLst/>
            </a:prstGeom>
            <a:noFill/>
            <a:ln w="6350">
              <a:solidFill>
                <a:schemeClr val="tx1"/>
              </a:solidFill>
              <a:round/>
              <a:headEnd/>
              <a:tailEnd/>
            </a:ln>
          </p:spPr>
        </p:cxnSp>
      </p:grpSp>
      <p:sp>
        <p:nvSpPr>
          <p:cNvPr id="34" name="Rectangle 33"/>
          <p:cNvSpPr/>
          <p:nvPr/>
        </p:nvSpPr>
        <p:spPr>
          <a:xfrm>
            <a:off x="746001" y="2825616"/>
            <a:ext cx="2152427" cy="3023245"/>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35" name="TextBox 34"/>
          <p:cNvSpPr txBox="1"/>
          <p:nvPr/>
        </p:nvSpPr>
        <p:spPr>
          <a:xfrm>
            <a:off x="7543229" y="2961488"/>
            <a:ext cx="2016224" cy="307777"/>
          </a:xfrm>
          <a:prstGeom prst="rect">
            <a:avLst/>
          </a:prstGeom>
          <a:noFill/>
        </p:spPr>
        <p:txBody>
          <a:bodyPr wrap="square" rtlCol="0">
            <a:spAutoFit/>
          </a:bodyPr>
          <a:lstStyle/>
          <a:p>
            <a:pPr algn="ctr"/>
            <a:r>
              <a:rPr lang="en-GB" sz="1400" b="1" dirty="0" smtClean="0"/>
              <a:t>Outcomes</a:t>
            </a:r>
            <a:endParaRPr lang="en-GB" sz="1400" b="1" dirty="0"/>
          </a:p>
        </p:txBody>
      </p:sp>
      <p:sp>
        <p:nvSpPr>
          <p:cNvPr id="36" name="TextBox 35"/>
          <p:cNvSpPr txBox="1"/>
          <p:nvPr/>
        </p:nvSpPr>
        <p:spPr>
          <a:xfrm>
            <a:off x="7794972" y="3763208"/>
            <a:ext cx="1764481" cy="1169551"/>
          </a:xfrm>
          <a:prstGeom prst="rect">
            <a:avLst/>
          </a:prstGeom>
          <a:noFill/>
        </p:spPr>
        <p:txBody>
          <a:bodyPr wrap="square" rtlCol="0">
            <a:spAutoFit/>
          </a:bodyPr>
          <a:lstStyle/>
          <a:p>
            <a:pPr marL="285750" indent="-285750">
              <a:buFont typeface="Wingdings" panose="05000000000000000000" pitchFamily="2" charset="2"/>
              <a:buChar char="ü"/>
            </a:pPr>
            <a:r>
              <a:rPr lang="en-GB" sz="1400" b="1" dirty="0" smtClean="0"/>
              <a:t>Workforce Performance</a:t>
            </a:r>
          </a:p>
          <a:p>
            <a:pPr marL="285750" indent="-285750">
              <a:buFont typeface="Wingdings" panose="05000000000000000000" pitchFamily="2" charset="2"/>
              <a:buChar char="ü"/>
            </a:pPr>
            <a:r>
              <a:rPr lang="en-GB" sz="1400" b="1" dirty="0" smtClean="0"/>
              <a:t>Business Impact</a:t>
            </a:r>
          </a:p>
          <a:p>
            <a:pPr marL="285750" indent="-285750">
              <a:buFont typeface="Wingdings" panose="05000000000000000000" pitchFamily="2" charset="2"/>
              <a:buChar char="ü"/>
            </a:pPr>
            <a:endParaRPr lang="en-GB" sz="1400" b="1" dirty="0"/>
          </a:p>
        </p:txBody>
      </p:sp>
      <p:sp>
        <p:nvSpPr>
          <p:cNvPr id="19" name="TextBox 18"/>
          <p:cNvSpPr txBox="1"/>
          <p:nvPr/>
        </p:nvSpPr>
        <p:spPr>
          <a:xfrm>
            <a:off x="5801347" y="2438441"/>
            <a:ext cx="1741882" cy="1169551"/>
          </a:xfrm>
          <a:prstGeom prst="rect">
            <a:avLst/>
          </a:prstGeom>
          <a:solidFill>
            <a:srgbClr val="CCCCCC"/>
          </a:solidFill>
        </p:spPr>
        <p:txBody>
          <a:bodyPr wrap="square" rtlCol="0">
            <a:spAutoFit/>
          </a:bodyPr>
          <a:lstStyle/>
          <a:p>
            <a:r>
              <a:rPr lang="en-GB" sz="1000" b="1" dirty="0" smtClean="0"/>
              <a:t>Workforce staffing</a:t>
            </a:r>
          </a:p>
          <a:p>
            <a:endParaRPr lang="en-GB" sz="1000" dirty="0" smtClean="0"/>
          </a:p>
          <a:p>
            <a:pPr marL="171450" indent="-171450">
              <a:buFont typeface="Arial" panose="020B0604020202020204" pitchFamily="34" charset="0"/>
              <a:buChar char="•"/>
            </a:pPr>
            <a:r>
              <a:rPr lang="en-GB" sz="1000" dirty="0" smtClean="0"/>
              <a:t>Role analysis and competency modelling</a:t>
            </a:r>
          </a:p>
          <a:p>
            <a:pPr marL="171450" indent="-171450">
              <a:buFont typeface="Arial" panose="020B0604020202020204" pitchFamily="34" charset="0"/>
              <a:buChar char="•"/>
            </a:pPr>
            <a:r>
              <a:rPr lang="en-GB" sz="1000" dirty="0" smtClean="0"/>
              <a:t>Talent acquisition</a:t>
            </a:r>
          </a:p>
          <a:p>
            <a:pPr marL="171450" indent="-171450">
              <a:buFont typeface="Arial" panose="020B0604020202020204" pitchFamily="34" charset="0"/>
              <a:buChar char="•"/>
            </a:pPr>
            <a:r>
              <a:rPr lang="en-GB" sz="1000" dirty="0" smtClean="0"/>
              <a:t>Employee selection</a:t>
            </a:r>
          </a:p>
          <a:p>
            <a:pPr marL="171450" indent="-171450">
              <a:buFont typeface="Arial" panose="020B0604020202020204" pitchFamily="34" charset="0"/>
              <a:buChar char="•"/>
            </a:pPr>
            <a:r>
              <a:rPr lang="en-GB" sz="1000" dirty="0" smtClean="0"/>
              <a:t>On boarding</a:t>
            </a:r>
          </a:p>
        </p:txBody>
      </p:sp>
      <p:sp>
        <p:nvSpPr>
          <p:cNvPr id="39" name="TextBox 38"/>
          <p:cNvSpPr txBox="1"/>
          <p:nvPr/>
        </p:nvSpPr>
        <p:spPr>
          <a:xfrm>
            <a:off x="5834707" y="5985584"/>
            <a:ext cx="1719421" cy="1323439"/>
          </a:xfrm>
          <a:prstGeom prst="rect">
            <a:avLst/>
          </a:prstGeom>
          <a:solidFill>
            <a:srgbClr val="CCCCCC"/>
          </a:solidFill>
        </p:spPr>
        <p:txBody>
          <a:bodyPr wrap="square" rtlCol="0">
            <a:spAutoFit/>
          </a:bodyPr>
          <a:lstStyle/>
          <a:p>
            <a:r>
              <a:rPr lang="en-GB" sz="1000" b="1" dirty="0" smtClean="0"/>
              <a:t>Workforce development</a:t>
            </a:r>
          </a:p>
          <a:p>
            <a:endParaRPr lang="en-GB" sz="1000" dirty="0" smtClean="0"/>
          </a:p>
          <a:p>
            <a:pPr marL="171450" indent="-171450">
              <a:buFont typeface="Arial" panose="020B0604020202020204" pitchFamily="34" charset="0"/>
              <a:buChar char="•"/>
            </a:pPr>
            <a:r>
              <a:rPr lang="en-GB" sz="1000" dirty="0" smtClean="0"/>
              <a:t>Training &amp; development</a:t>
            </a:r>
          </a:p>
          <a:p>
            <a:pPr marL="171450" indent="-171450">
              <a:buFont typeface="Arial" panose="020B0604020202020204" pitchFamily="34" charset="0"/>
              <a:buChar char="•"/>
            </a:pPr>
            <a:r>
              <a:rPr lang="en-GB" sz="1000" dirty="0" smtClean="0"/>
              <a:t>Leadership development</a:t>
            </a:r>
          </a:p>
          <a:p>
            <a:pPr marL="171450" indent="-171450">
              <a:buFont typeface="Arial" panose="020B0604020202020204" pitchFamily="34" charset="0"/>
              <a:buChar char="•"/>
            </a:pPr>
            <a:r>
              <a:rPr lang="en-GB" sz="1000" dirty="0" smtClean="0"/>
              <a:t>Career development</a:t>
            </a:r>
          </a:p>
          <a:p>
            <a:pPr marL="171450" indent="-171450">
              <a:buFont typeface="Arial" panose="020B0604020202020204" pitchFamily="34" charset="0"/>
              <a:buChar char="•"/>
            </a:pPr>
            <a:endParaRPr lang="en-GB" sz="1000" dirty="0" smtClean="0"/>
          </a:p>
          <a:p>
            <a:endParaRPr lang="en-GB" sz="1000" dirty="0" smtClean="0"/>
          </a:p>
        </p:txBody>
      </p:sp>
      <p:sp>
        <p:nvSpPr>
          <p:cNvPr id="40" name="TextBox 39"/>
          <p:cNvSpPr txBox="1"/>
          <p:nvPr/>
        </p:nvSpPr>
        <p:spPr>
          <a:xfrm>
            <a:off x="2938883" y="5985583"/>
            <a:ext cx="1719421" cy="1323439"/>
          </a:xfrm>
          <a:prstGeom prst="rect">
            <a:avLst/>
          </a:prstGeom>
          <a:solidFill>
            <a:srgbClr val="CCCCCC"/>
          </a:solidFill>
        </p:spPr>
        <p:txBody>
          <a:bodyPr wrap="square" rtlCol="0">
            <a:spAutoFit/>
          </a:bodyPr>
          <a:lstStyle/>
          <a:p>
            <a:r>
              <a:rPr lang="en-GB" sz="1000" b="1" dirty="0" smtClean="0"/>
              <a:t>Workforce planning</a:t>
            </a:r>
          </a:p>
          <a:p>
            <a:endParaRPr lang="en-GB" sz="1000" dirty="0" smtClean="0"/>
          </a:p>
          <a:p>
            <a:pPr marL="171450" indent="-171450">
              <a:buFont typeface="Arial" panose="020B0604020202020204" pitchFamily="34" charset="0"/>
              <a:buChar char="•"/>
            </a:pPr>
            <a:r>
              <a:rPr lang="en-GB" sz="1000" dirty="0" smtClean="0"/>
              <a:t>Engagement</a:t>
            </a:r>
          </a:p>
          <a:p>
            <a:pPr marL="171450" indent="-171450">
              <a:buFont typeface="Arial" panose="020B0604020202020204" pitchFamily="34" charset="0"/>
              <a:buChar char="•"/>
            </a:pPr>
            <a:r>
              <a:rPr lang="en-GB" sz="1000" dirty="0" smtClean="0"/>
              <a:t>Performance management</a:t>
            </a:r>
          </a:p>
          <a:p>
            <a:pPr marL="171450" indent="-171450">
              <a:buFont typeface="Arial" panose="020B0604020202020204" pitchFamily="34" charset="0"/>
              <a:buChar char="•"/>
            </a:pPr>
            <a:r>
              <a:rPr lang="en-GB" sz="1000" dirty="0" smtClean="0"/>
              <a:t>Compensation</a:t>
            </a:r>
          </a:p>
          <a:p>
            <a:pPr marL="171450" indent="-171450">
              <a:buFont typeface="Arial" panose="020B0604020202020204" pitchFamily="34" charset="0"/>
              <a:buChar char="•"/>
            </a:pPr>
            <a:r>
              <a:rPr lang="en-GB" sz="1000" dirty="0" smtClean="0"/>
              <a:t>Succession planning</a:t>
            </a:r>
          </a:p>
          <a:p>
            <a:pPr marL="171450" indent="-171450">
              <a:buFont typeface="Arial" panose="020B0604020202020204" pitchFamily="34" charset="0"/>
              <a:buChar char="•"/>
            </a:pPr>
            <a:endParaRPr lang="en-GB" sz="1000" dirty="0" smtClean="0"/>
          </a:p>
        </p:txBody>
      </p:sp>
      <p:sp>
        <p:nvSpPr>
          <p:cNvPr id="41" name="TextBox 40"/>
          <p:cNvSpPr txBox="1"/>
          <p:nvPr/>
        </p:nvSpPr>
        <p:spPr>
          <a:xfrm>
            <a:off x="2970436" y="2350596"/>
            <a:ext cx="1719421" cy="1323439"/>
          </a:xfrm>
          <a:prstGeom prst="rect">
            <a:avLst/>
          </a:prstGeom>
          <a:solidFill>
            <a:srgbClr val="CCCCCC"/>
          </a:solidFill>
        </p:spPr>
        <p:txBody>
          <a:bodyPr wrap="square" rtlCol="0">
            <a:spAutoFit/>
          </a:bodyPr>
          <a:lstStyle/>
          <a:p>
            <a:r>
              <a:rPr lang="en-GB" sz="1000" b="1" dirty="0" smtClean="0"/>
              <a:t>Organisational effectiveness</a:t>
            </a:r>
          </a:p>
          <a:p>
            <a:endParaRPr lang="en-GB" sz="1000" dirty="0" smtClean="0"/>
          </a:p>
          <a:p>
            <a:pPr marL="171450" indent="-171450">
              <a:buFont typeface="Arial" panose="020B0604020202020204" pitchFamily="34" charset="0"/>
              <a:buChar char="•"/>
            </a:pPr>
            <a:r>
              <a:rPr lang="en-GB" sz="1000" dirty="0" smtClean="0"/>
              <a:t>Skills requirements</a:t>
            </a:r>
          </a:p>
          <a:p>
            <a:pPr marL="171450" indent="-171450">
              <a:buFont typeface="Arial" panose="020B0604020202020204" pitchFamily="34" charset="0"/>
              <a:buChar char="•"/>
            </a:pPr>
            <a:r>
              <a:rPr lang="en-GB" sz="1000" dirty="0" smtClean="0"/>
              <a:t>Work design</a:t>
            </a:r>
          </a:p>
          <a:p>
            <a:pPr marL="171450" indent="-171450">
              <a:buFont typeface="Arial" panose="020B0604020202020204" pitchFamily="34" charset="0"/>
              <a:buChar char="•"/>
            </a:pPr>
            <a:r>
              <a:rPr lang="en-GB" sz="1000" dirty="0" smtClean="0"/>
              <a:t>Change management</a:t>
            </a:r>
          </a:p>
          <a:p>
            <a:pPr marL="171450" indent="-171450">
              <a:buFont typeface="Arial" panose="020B0604020202020204" pitchFamily="34" charset="0"/>
              <a:buChar char="•"/>
            </a:pPr>
            <a:r>
              <a:rPr lang="en-GB" sz="1000" dirty="0" smtClean="0"/>
              <a:t>People transition</a:t>
            </a:r>
          </a:p>
          <a:p>
            <a:pPr marL="171450" indent="-171450">
              <a:buFont typeface="Arial" panose="020B0604020202020204" pitchFamily="34" charset="0"/>
              <a:buChar char="•"/>
            </a:pPr>
            <a:endParaRPr lang="en-GB" sz="1000" dirty="0" smtClean="0"/>
          </a:p>
        </p:txBody>
      </p:sp>
      <p:sp>
        <p:nvSpPr>
          <p:cNvPr id="42" name="Rectangle 41"/>
          <p:cNvSpPr/>
          <p:nvPr/>
        </p:nvSpPr>
        <p:spPr>
          <a:xfrm>
            <a:off x="822970" y="993805"/>
            <a:ext cx="8916218" cy="338554"/>
          </a:xfrm>
          <a:prstGeom prst="rect">
            <a:avLst/>
          </a:prstGeom>
        </p:spPr>
        <p:txBody>
          <a:bodyPr wrap="square">
            <a:spAutoFit/>
          </a:bodyPr>
          <a:lstStyle/>
          <a:p>
            <a:r>
              <a:rPr lang="en-GB" sz="1600" b="1" dirty="0" smtClean="0">
                <a:solidFill>
                  <a:schemeClr val="tx1">
                    <a:lumMod val="50000"/>
                    <a:lumOff val="50000"/>
                  </a:schemeClr>
                </a:solidFill>
              </a:rPr>
              <a:t>Managing </a:t>
            </a:r>
            <a:r>
              <a:rPr lang="en-GB" sz="1600" b="1" dirty="0">
                <a:solidFill>
                  <a:schemeClr val="tx1">
                    <a:lumMod val="50000"/>
                    <a:lumOff val="50000"/>
                  </a:schemeClr>
                </a:solidFill>
              </a:rPr>
              <a:t>employees correctly is critical </a:t>
            </a:r>
            <a:r>
              <a:rPr lang="en-GB" sz="1600" b="1" dirty="0" smtClean="0">
                <a:solidFill>
                  <a:schemeClr val="tx1">
                    <a:lumMod val="50000"/>
                    <a:lumOff val="50000"/>
                  </a:schemeClr>
                </a:solidFill>
              </a:rPr>
              <a:t>to </a:t>
            </a:r>
            <a:r>
              <a:rPr lang="en-GB" sz="1600" b="1" dirty="0">
                <a:solidFill>
                  <a:schemeClr val="tx1">
                    <a:lumMod val="50000"/>
                    <a:lumOff val="50000"/>
                  </a:schemeClr>
                </a:solidFill>
              </a:rPr>
              <a:t>sustain </a:t>
            </a:r>
            <a:r>
              <a:rPr lang="en-GB" sz="1600" b="1" dirty="0" smtClean="0">
                <a:solidFill>
                  <a:schemeClr val="tx1">
                    <a:lumMod val="50000"/>
                    <a:lumOff val="50000"/>
                  </a:schemeClr>
                </a:solidFill>
              </a:rPr>
              <a:t>business growth </a:t>
            </a:r>
            <a:endParaRPr lang="en-GB" sz="1600" b="1" dirty="0">
              <a:solidFill>
                <a:schemeClr val="tx1">
                  <a:lumMod val="50000"/>
                  <a:lumOff val="50000"/>
                </a:schemeClr>
              </a:solidFill>
            </a:endParaRPr>
          </a:p>
        </p:txBody>
      </p:sp>
    </p:spTree>
    <p:extLst>
      <p:ext uri="{BB962C8B-B14F-4D97-AF65-F5344CB8AC3E}">
        <p14:creationId xmlns:p14="http://schemas.microsoft.com/office/powerpoint/2010/main" val="26278338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38876506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1990"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839041" y="180231"/>
            <a:ext cx="9504363" cy="612000"/>
          </a:xfrm>
        </p:spPr>
        <p:txBody>
          <a:bodyPr/>
          <a:lstStyle/>
          <a:p>
            <a:r>
              <a:rPr lang="en-GB" dirty="0" smtClean="0"/>
              <a:t>Talent management for start-ups</a:t>
            </a:r>
            <a:endParaRPr lang="en-GB" dirty="0"/>
          </a:p>
        </p:txBody>
      </p:sp>
      <p:sp>
        <p:nvSpPr>
          <p:cNvPr id="15"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24</a:t>
            </a:fld>
            <a:endParaRPr lang="en-GB" sz="800" dirty="0">
              <a:solidFill>
                <a:srgbClr val="808080"/>
              </a:solidFill>
            </a:endParaRPr>
          </a:p>
        </p:txBody>
      </p:sp>
      <p:sp>
        <p:nvSpPr>
          <p:cNvPr id="5" name="Rectangle 4"/>
          <p:cNvSpPr/>
          <p:nvPr/>
        </p:nvSpPr>
        <p:spPr>
          <a:xfrm>
            <a:off x="799651" y="3266117"/>
            <a:ext cx="8857555" cy="3754874"/>
          </a:xfrm>
          <a:prstGeom prst="rect">
            <a:avLst/>
          </a:prstGeom>
        </p:spPr>
        <p:txBody>
          <a:bodyPr wrap="square">
            <a:spAutoFit/>
          </a:bodyPr>
          <a:lstStyle/>
          <a:p>
            <a:pPr algn="just"/>
            <a:r>
              <a:rPr lang="en-GB" sz="1400" b="1" dirty="0" smtClean="0"/>
              <a:t>How to maximise the return on investment in talent management</a:t>
            </a:r>
          </a:p>
          <a:p>
            <a:pPr algn="just"/>
            <a:endParaRPr lang="en-GB" sz="1400" b="1" dirty="0" smtClean="0"/>
          </a:p>
          <a:p>
            <a:pPr algn="just"/>
            <a:r>
              <a:rPr lang="en-GB" sz="1400" dirty="0" smtClean="0"/>
              <a:t>1. </a:t>
            </a:r>
            <a:r>
              <a:rPr lang="en-GB" sz="1400" b="1" dirty="0" smtClean="0"/>
              <a:t>Think </a:t>
            </a:r>
            <a:r>
              <a:rPr lang="en-GB" sz="1400" b="1" dirty="0"/>
              <a:t>long </a:t>
            </a:r>
            <a:r>
              <a:rPr lang="en-GB" sz="1400" b="1" dirty="0" smtClean="0"/>
              <a:t>term: </a:t>
            </a:r>
            <a:r>
              <a:rPr lang="en-GB" sz="1400" dirty="0" smtClean="0"/>
              <a:t>It </a:t>
            </a:r>
            <a:r>
              <a:rPr lang="en-GB" sz="1400" dirty="0"/>
              <a:t>may be years before </a:t>
            </a:r>
            <a:r>
              <a:rPr lang="en-GB" sz="1400" dirty="0" smtClean="0"/>
              <a:t>your </a:t>
            </a:r>
            <a:r>
              <a:rPr lang="en-GB" sz="1400" dirty="0"/>
              <a:t>company sees results. </a:t>
            </a:r>
            <a:r>
              <a:rPr lang="en-GB" sz="1400" dirty="0" smtClean="0"/>
              <a:t>Most talent programs </a:t>
            </a:r>
            <a:r>
              <a:rPr lang="en-GB" sz="1400" dirty="0"/>
              <a:t>are short-term inputs, which is why you often hear about how “expensive” it </a:t>
            </a:r>
            <a:r>
              <a:rPr lang="en-GB" sz="1400" dirty="0" smtClean="0"/>
              <a:t>is. If we think about talent management in the long term context it presents </a:t>
            </a:r>
            <a:r>
              <a:rPr lang="en-GB" sz="1400" dirty="0"/>
              <a:t>an entirely different return on investment.</a:t>
            </a:r>
          </a:p>
          <a:p>
            <a:pPr algn="just"/>
            <a:r>
              <a:rPr lang="en-GB" sz="1400" dirty="0"/>
              <a:t/>
            </a:r>
            <a:br>
              <a:rPr lang="en-GB" sz="1400" dirty="0"/>
            </a:br>
            <a:r>
              <a:rPr lang="en-GB" sz="1400" b="1" dirty="0"/>
              <a:t>2. Measure the right </a:t>
            </a:r>
            <a:r>
              <a:rPr lang="en-GB" sz="1400" b="1" dirty="0" smtClean="0"/>
              <a:t>outcomes: </a:t>
            </a:r>
            <a:r>
              <a:rPr lang="en-GB" sz="1400" dirty="0" smtClean="0"/>
              <a:t>A recent EY </a:t>
            </a:r>
            <a:r>
              <a:rPr lang="en-GB" sz="1400" dirty="0"/>
              <a:t>survey shows that companies are still using traditional measures to grade outcomes, such as employee satisfaction, productivity, engagement, collaboration and </a:t>
            </a:r>
            <a:r>
              <a:rPr lang="en-GB" sz="1400" dirty="0" smtClean="0"/>
              <a:t>retention. The </a:t>
            </a:r>
            <a:r>
              <a:rPr lang="en-GB" sz="1400" dirty="0"/>
              <a:t>future of effective talent management lies elsewhere. It will derive from practical measures such </a:t>
            </a:r>
            <a:r>
              <a:rPr lang="en-GB" sz="1400" dirty="0" smtClean="0"/>
              <a:t>as </a:t>
            </a:r>
            <a:r>
              <a:rPr lang="en-GB" sz="1400" dirty="0"/>
              <a:t>d</a:t>
            </a:r>
            <a:r>
              <a:rPr lang="en-GB" sz="1400" dirty="0" smtClean="0"/>
              <a:t>eveloping </a:t>
            </a:r>
            <a:r>
              <a:rPr lang="en-GB" sz="1400" dirty="0"/>
              <a:t>job-specific employee skills and leadership </a:t>
            </a:r>
            <a:r>
              <a:rPr lang="en-GB" sz="1400" dirty="0" smtClean="0"/>
              <a:t>competencies, assessing </a:t>
            </a:r>
            <a:r>
              <a:rPr lang="en-GB" sz="1400" dirty="0"/>
              <a:t>and later validating these through recruitment, selection and development </a:t>
            </a:r>
            <a:r>
              <a:rPr lang="en-GB" sz="1400" dirty="0" smtClean="0"/>
              <a:t>processes and evaluating </a:t>
            </a:r>
            <a:r>
              <a:rPr lang="en-GB" sz="1400" dirty="0"/>
              <a:t>talent management’s impact against financial and nonfinancial performance objectives</a:t>
            </a:r>
          </a:p>
          <a:p>
            <a:pPr algn="just"/>
            <a:r>
              <a:rPr lang="en-GB" sz="1400" dirty="0"/>
              <a:t/>
            </a:r>
            <a:br>
              <a:rPr lang="en-GB" sz="1400" dirty="0"/>
            </a:br>
            <a:r>
              <a:rPr lang="en-GB" sz="1400" b="1" dirty="0"/>
              <a:t>3. Adopt a disciplined </a:t>
            </a:r>
            <a:r>
              <a:rPr lang="en-GB" sz="1400" b="1" dirty="0" smtClean="0"/>
              <a:t>approach: </a:t>
            </a:r>
            <a:r>
              <a:rPr lang="en-GB" sz="1400" dirty="0" smtClean="0"/>
              <a:t>Unlike </a:t>
            </a:r>
            <a:r>
              <a:rPr lang="en-GB" sz="1400" dirty="0"/>
              <a:t>most other organizational </a:t>
            </a:r>
            <a:r>
              <a:rPr lang="en-GB" sz="1400" dirty="0" smtClean="0"/>
              <a:t>functions, high-performing </a:t>
            </a:r>
            <a:r>
              <a:rPr lang="en-GB" sz="1400" dirty="0"/>
              <a:t>organizations tend to have similar approaches to talent </a:t>
            </a:r>
            <a:r>
              <a:rPr lang="en-GB" sz="1400" dirty="0" smtClean="0"/>
              <a:t>management. they </a:t>
            </a:r>
            <a:r>
              <a:rPr lang="en-GB" sz="1400" dirty="0"/>
              <a:t>treat it as a disciplined process of alignment to the business strategy, integration of talent programs across the organization and measuring results to </a:t>
            </a:r>
            <a:r>
              <a:rPr lang="en-GB" sz="1400" dirty="0" smtClean="0"/>
              <a:t>validate business strategy execution. </a:t>
            </a:r>
            <a:endParaRPr lang="en-GB" dirty="0">
              <a:effectLst/>
            </a:endParaRPr>
          </a:p>
        </p:txBody>
      </p:sp>
      <p:sp>
        <p:nvSpPr>
          <p:cNvPr id="3" name="Rectangle 2"/>
          <p:cNvSpPr/>
          <p:nvPr/>
        </p:nvSpPr>
        <p:spPr>
          <a:xfrm>
            <a:off x="787432" y="1116335"/>
            <a:ext cx="8857554" cy="1863491"/>
          </a:xfrm>
          <a:prstGeom prst="rect">
            <a:avLst/>
          </a:prstGeom>
          <a:solidFill>
            <a:schemeClr val="bg1">
              <a:lumMod val="95000"/>
            </a:schemeClr>
          </a:solidFill>
          <a:ln w="9525" cmpd="sng">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just"/>
            <a:r>
              <a:rPr lang="en-GB" sz="1400" b="1" dirty="0" smtClean="0">
                <a:solidFill>
                  <a:schemeClr val="tx1"/>
                </a:solidFill>
              </a:rPr>
              <a:t>EY Insights – </a:t>
            </a:r>
            <a:r>
              <a:rPr lang="en-GB" sz="1400" dirty="0">
                <a:solidFill>
                  <a:schemeClr val="tx1"/>
                </a:solidFill>
              </a:rPr>
              <a:t>It is essential that entrepreneurs practice good talent management should they choose to grow their business beyond the early </a:t>
            </a:r>
            <a:r>
              <a:rPr lang="en-GB" sz="1400" dirty="0" smtClean="0">
                <a:solidFill>
                  <a:schemeClr val="tx1"/>
                </a:solidFill>
              </a:rPr>
              <a:t>start-up </a:t>
            </a:r>
            <a:r>
              <a:rPr lang="en-GB" sz="1400" dirty="0">
                <a:solidFill>
                  <a:schemeClr val="tx1"/>
                </a:solidFill>
              </a:rPr>
              <a:t>stage, because scaling up is never "a one man show”. </a:t>
            </a:r>
            <a:r>
              <a:rPr lang="en-GB" sz="1400" dirty="0" smtClean="0">
                <a:solidFill>
                  <a:schemeClr val="tx1"/>
                </a:solidFill>
              </a:rPr>
              <a:t>Olivia </a:t>
            </a:r>
            <a:r>
              <a:rPr lang="en-GB" sz="1400" dirty="0">
                <a:solidFill>
                  <a:schemeClr val="tx1"/>
                </a:solidFill>
              </a:rPr>
              <a:t>Lum left her job as a </a:t>
            </a:r>
            <a:r>
              <a:rPr lang="en-GB" sz="1400" dirty="0" smtClean="0">
                <a:solidFill>
                  <a:schemeClr val="tx1"/>
                </a:solidFill>
              </a:rPr>
              <a:t>chemist </a:t>
            </a:r>
            <a:r>
              <a:rPr lang="en-GB" sz="1400" dirty="0">
                <a:solidFill>
                  <a:schemeClr val="tx1"/>
                </a:solidFill>
              </a:rPr>
              <a:t>in 1989 to start Hyflux, which specializes in water treatment systems. The publicly-listed company now employs around 2,300 people in Singapore and abroad</a:t>
            </a:r>
            <a:r>
              <a:rPr lang="en-GB" sz="1400" dirty="0" smtClean="0">
                <a:solidFill>
                  <a:schemeClr val="tx1"/>
                </a:solidFill>
              </a:rPr>
              <a:t>.</a:t>
            </a:r>
            <a:r>
              <a:rPr lang="en-GB" sz="1400" b="1" dirty="0" smtClean="0">
                <a:solidFill>
                  <a:schemeClr val="tx1"/>
                </a:solidFill>
              </a:rPr>
              <a:t> </a:t>
            </a:r>
            <a:r>
              <a:rPr lang="en-GB" sz="1400" dirty="0" smtClean="0">
                <a:solidFill>
                  <a:schemeClr val="tx1"/>
                </a:solidFill>
              </a:rPr>
              <a:t>She said</a:t>
            </a:r>
            <a:r>
              <a:rPr lang="en-GB" sz="1400" b="1" dirty="0" smtClean="0">
                <a:solidFill>
                  <a:schemeClr val="tx1"/>
                </a:solidFill>
              </a:rPr>
              <a:t>, </a:t>
            </a:r>
            <a:r>
              <a:rPr lang="en-GB" sz="1400" dirty="0" smtClean="0">
                <a:solidFill>
                  <a:schemeClr val="tx1"/>
                </a:solidFill>
              </a:rPr>
              <a:t>“you depend </a:t>
            </a:r>
            <a:r>
              <a:rPr lang="en-GB" sz="1400" dirty="0">
                <a:solidFill>
                  <a:schemeClr val="tx1"/>
                </a:solidFill>
              </a:rPr>
              <a:t>on yourself to do everything. I was the salesperson, wielder, designer, purchasing manager, finance and after-sales support. I did everything, because I had no money to </a:t>
            </a:r>
            <a:r>
              <a:rPr lang="en-GB" sz="1400" dirty="0" smtClean="0">
                <a:solidFill>
                  <a:schemeClr val="tx1"/>
                </a:solidFill>
              </a:rPr>
              <a:t>hire. </a:t>
            </a:r>
            <a:r>
              <a:rPr lang="en-GB" sz="1400" dirty="0">
                <a:solidFill>
                  <a:schemeClr val="tx1"/>
                </a:solidFill>
              </a:rPr>
              <a:t>I</a:t>
            </a:r>
            <a:r>
              <a:rPr lang="en-GB" sz="1400" dirty="0" smtClean="0">
                <a:solidFill>
                  <a:schemeClr val="tx1"/>
                </a:solidFill>
              </a:rPr>
              <a:t>f </a:t>
            </a:r>
            <a:r>
              <a:rPr lang="en-GB" sz="1400" dirty="0">
                <a:solidFill>
                  <a:schemeClr val="tx1"/>
                </a:solidFill>
              </a:rPr>
              <a:t>founders cannot go beyond the </a:t>
            </a:r>
            <a:r>
              <a:rPr lang="en-GB" sz="1400" dirty="0" smtClean="0">
                <a:solidFill>
                  <a:schemeClr val="tx1"/>
                </a:solidFill>
              </a:rPr>
              <a:t>bootstrapping stage </a:t>
            </a:r>
            <a:r>
              <a:rPr lang="en-GB" sz="1400" dirty="0">
                <a:solidFill>
                  <a:schemeClr val="tx1"/>
                </a:solidFill>
              </a:rPr>
              <a:t>it kills the company. They have to learn to step back and hire the right growth-oriented people to take over, or it could go haywire.“ (Hyflux founder and </a:t>
            </a:r>
            <a:r>
              <a:rPr lang="en-GB" sz="1400" dirty="0" smtClean="0">
                <a:solidFill>
                  <a:schemeClr val="tx1"/>
                </a:solidFill>
              </a:rPr>
              <a:t>Chairman)</a:t>
            </a:r>
            <a:endParaRPr lang="en-GB" sz="1400" b="1" dirty="0" smtClean="0">
              <a:solidFill>
                <a:schemeClr val="tx1"/>
              </a:solidFill>
            </a:endParaRPr>
          </a:p>
        </p:txBody>
      </p:sp>
    </p:spTree>
    <p:extLst>
      <p:ext uri="{BB962C8B-B14F-4D97-AF65-F5344CB8AC3E}">
        <p14:creationId xmlns:p14="http://schemas.microsoft.com/office/powerpoint/2010/main" val="13569432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p:cNvSpPr txBox="1">
            <a:spLocks/>
          </p:cNvSpPr>
          <p:nvPr/>
        </p:nvSpPr>
        <p:spPr>
          <a:xfrm>
            <a:off x="688176" y="288800"/>
            <a:ext cx="9339044" cy="633715"/>
          </a:xfrm>
          <a:prstGeom prst="rect">
            <a:avLst/>
          </a:prstGeom>
        </p:spPr>
        <p:txBody>
          <a:bodyPr lIns="104306" tIns="52153" rIns="104306" bIns="52153"/>
          <a:lstStyle>
            <a:lvl1pPr algn="l" defTabSz="914400" rtl="0" eaLnBrk="1" latinLnBrk="0" hangingPunct="1">
              <a:lnSpc>
                <a:spcPct val="85000"/>
              </a:lnSpc>
              <a:spcBef>
                <a:spcPct val="0"/>
              </a:spcBef>
              <a:buNone/>
              <a:defRPr sz="3000" b="1" kern="1200">
                <a:solidFill>
                  <a:schemeClr val="tx1"/>
                </a:solidFill>
                <a:latin typeface="+mj-lt"/>
                <a:ea typeface="+mj-ea"/>
                <a:cs typeface="+mj-cs"/>
              </a:defRPr>
            </a:lvl1pPr>
          </a:lstStyle>
          <a:p>
            <a:r>
              <a:rPr lang="en-GB" sz="2400" b="0" dirty="0">
                <a:solidFill>
                  <a:schemeClr val="tx1">
                    <a:lumMod val="50000"/>
                    <a:lumOff val="50000"/>
                  </a:schemeClr>
                </a:solidFill>
              </a:rPr>
              <a:t>K</a:t>
            </a:r>
            <a:r>
              <a:rPr lang="en-GB" sz="2400" b="0" dirty="0" smtClean="0">
                <a:solidFill>
                  <a:schemeClr val="tx1">
                    <a:lumMod val="50000"/>
                    <a:lumOff val="50000"/>
                  </a:schemeClr>
                </a:solidFill>
              </a:rPr>
              <a:t>ey features of a game changing approach to talent management</a:t>
            </a:r>
            <a:endParaRPr lang="en-GB" sz="2400" b="0" dirty="0">
              <a:solidFill>
                <a:schemeClr val="tx1">
                  <a:lumMod val="50000"/>
                  <a:lumOff val="50000"/>
                </a:schemeClr>
              </a:solidFill>
            </a:endParaRPr>
          </a:p>
        </p:txBody>
      </p:sp>
      <p:sp>
        <p:nvSpPr>
          <p:cNvPr id="2" name="AutoShape 2" descr="data:image/jpeg;base64,/9j/4AAQSkZJRgABAQAAAQABAAD/2wCEAAkGBxQTEhUREhQUFRQXGRQXFhgWGRwWIBoWFxwYHRoaHRkbHCggGBonHBUWLTEkJSosLy4yGh8zODMsNygtLisBCgoKDg0OGxAQGzQkICYsLDQyOCwyLDA3NDcsLCwsMCw0LywsNCw0NCwsLCwsLyw0LCwsLCwsNCwsLy8vLCwsLP/AABEIAOAA4QMBEQACEQEDEQH/xAAcAAEAAwADAQEAAAAAAAAAAAAABQYHAQMEAgj/xABHEAABAwEDCAUHCAoBBQAAAAABAAIDEQQhMQUGBxJBUWFxEyJSgZEyQnKSobHRNFNzgqKywcIUFhcjM0Nik9LwJBU1Y4Oz/8QAGgEBAAMBAQEAAAAAAAAAAAAAAAQFBgMBAv/EADMRAAEDAgMDCwQDAQEAAAAAAAABAgMEEQUhMRJBURMVIjJhcYGhsdHwM1KRwTRC4RQj/9oADAMBAAIRAxEAPwDcUAQBAEAQBAEAQHBKAr+VM87JDUGTpHDzYuv7fJB5lS4qKaTdbvIc1fBHq669mZVrfpNeaiCFrdxkJd9ltKeJU5mFp/d34K2TGV/o38/P2QFrz2tr/wCdqjcxrW+2lfapTaGBv9b95DfiVQ7+1u4i5csWh3lTzO5yOP4rukMaaNT8IR1qZl1ev5U8r5XHFxPMkr7RqJohyV7l1U4ZIRgSORoioi6hHKminqiyrO3yZpm8pHD3FfCwxrq1Pwh0SolTRy/lSSsueNtZhO5w3PDX+0ivtXF1FA7+pIZiNQ3+35J2w6TJRdNCx43sJYfbrA+xRX4Wxeq63eTI8YenXbfuyLRkzPuyS0BeYnbpRqj1hVviQoUlBMzdfuLCLEoJN9u/5Yssbw4AtIIOBF4PeoaoqZKTkVFzQ+l4ehAEAQBAEAQBAEAQBAEAQBAEBw5wAJJoBeSdyApmX9IUMVWWcdM/tYMHfi/uu4qxgw57835J5lXU4pHHkzpL5GfZYzhtFpP72QlvYb1W+qMeZqVbQ00cXVQpJ6yWbrLlwIpdyKEBJ2PN61S+RBKRvLS0es6gXF9TEzVyEllHO/Rq/O8l7Po+trsWxs9J4/LVR3YjAml18PclNwqoXWyePsetmjS07ZIByLz+QLmuKRbkXy9zomDy73J5+xy/RpadkkB5l4/IUTFIt6L5e4XB5dzk8/Y8s+jy2NwET/Rf/kAvtuJQrxQ5uwmdNLL4kVbM2LXH5dnk5tGuPFlQpDKqF2jk9PUjvoahmrV8M/QiSKGhxGIXciqltThDw9+Sssz2c1hkczeMWnm03FcpYI5U6aXO8NTLCvQWxfsg6RmOoy1N6M9tlS3vbi329yqp8Ncmca3LqnxZrspUsvHcXmCZr2h7HBzTeC01BHAjFVitVq2Ut2uRyXQ7F4ehAEAQBAEAQBAEAQBAEBFZfy/DZGa0rusfJYL3O5DYOJuXeCnfMtmkeoqY4G3epk+cedU9rNHHUi2RtN31j5553bgFe09IyHNM14mbqq6SfJck4EEpRCJHJGRJ7SaQxlw2uwaObjdXhiuUs8cSdNSRBTSzLZiF6yRo1YKOtMhcexH1R3uN5HIBVcuJuXKNLd/z3LiHCGpnIt+757FvydkSzwfwYWMO8Cru9x6x8VXyTySdZblnFTxRdRqISC5HYIAgCAIAgPJb8lwzCk0TH+k0EjkcR3LoyV7OqtjnJEyRLPRFKjlbRvC+ps73RHsu67fb1hzqeSnxYm9OulytmwiN2ca28yi5bzbtFlvlj6nbb1m+Pm/WorSGqjl6q58Cmno5YOsmXFNCIXcikrkHOCeyOrE7qk9Zjr2u5jYeIvXCemZMnSQlU1XJAvRXLgavmznTDbBRvUlAq6Nxv5tPnN/0gKiqKR8K55pxNJS1sdQmWS8CeUUlhAEAQBAEAQBAEAQFZzvztZZG6jKPnIubsaD5zvhieGKm0lG6Zbrk0gVtc2nSyZu+amRW62STPMkri97sSfduA4C5X7GNY3ZalkMzJK+R209bqfNms7pHBkbS57jQNaKkr1zkal3LkfLGOe5GtS6mjZt6PGtpJazrOxETTcPScPKPAXc1T1GIqvRi/JfUuFI3pS5rwL5DE1jQ1jQ1ouAaKADcAMFVqqqt1LhGo1LIfa8PQgCAIAgCAIAgCAIDhzaihvBxQFLzj0fxS1fZqQydnzHdw8juu4Kyp8RezKTNPMqqrC2SZx9FfL/DM8o2CSB5ilYWPGw7t4OBHEK5jkbI3aat0M/LE+J2y9LKdMMzmOD2EtcDUEGhB3gr6c1HJZT5a5Wrdq2U1TMvPQWikFoIbNg12Ak+D+GB2blR1lEsfTZp6GjocQSXoP63qXNVxaBAEAQBAEAQBAVnPXOkWRmoyhneOqMdUds/gNvcVNo6RZnXXqp8sQK6tSnbZOsvy5j08znuL3kuc4kkm8knatA1qNSyGXc5XLtO1PbkPI0tqkEUQ4uccGjeT+G1c5p2Qt2nHanpnzu2Wmw5t5txWNlGDWeR15Di7h/S3gPab1nqipfMt104GnpqRlO2zdeJMqOSggCAIAgCAIAgCAIAgCAIAgI7LeRYrVH0cza46rhc5p3tOz3HausM74nbTTjPTsmbsvQx/ObNyWxv1X9Zh8iQC53A9l3D3rQ01S2Zt014GYq6N9O7PNOJDg0vCkERFtmhqmYed3TgWec/vgOq4/zAPzgeOO9UVbR8n02aehpMPruVTk39b1Lqq4tAgCAIAgCAis5ctsskBlde7Bje084DltJ3Bd6eBZn7KEeqqGwRq9fAxG3Wx80jpZDrPcak/wC4ADAcFpWMaxqNbohkpJHSOV7tVPVkLI8lqlEUY4uccGt2k/DavieZsLNpx0pqd079lptOQ8jx2WIRRC7FxOLnbXE7/cs3NM6V2041cEDIWbDCQXI7BAEAQBAEAQBAEAQBAEAQBAEAQHmyhYY543RStDmOxB943Eb19xyOY7aauZ8SRtkarXJdDGc6s3X2OXVNXRuqY37xuP8AUNvitFTVLZm337zK1lI6nfbcuhDRyFpDmkhwIIIuIIvBB2FSVRFSykRqq1bobNmXnGLXD1qCZlBIN+544H2GvBZyrplhflounsauhq0qGZ6pr7liUQmhAEAQHD3AAkkAC8k3UAREuFWxiWeGXja5y8V6JtWxD+na6m92PgNi0tJT8jHbeupk66q5eS6aJp87SIstndI9sbAXPcQGgbSVIc5Gorl0IrGOe5GtS6qbZmtkFljhEYoXmhkf2nf4jYPxJWaqahZn3XTca2kpm07NlNd5MqOSQgCAIAgCAIAgCAIAgCAIAgCAIAgCA8OWslR2mF0MguOB2tcMHDiPiNq6wyuiejmnKeFszFY4w/K+TX2eV0Mg6zTjsI2OHAhaWKVsrEc0yM8LoXqxx2ZBys+yztmZsucO0w4t/wB2gHYvJ4UlYrVPqmndBIj0NzsVqbLG2Vhqx4DmngfcVmHsVjlauqGvY9HtRzdFO9fJ9BAEBSdJuW+ihFmYevL5XCMY+sbuQcrLDoNt+2uiev8AhVYrU8nHyaar6f6ZWrwzZpmjHIGq39MkHWdURA7G4F3M4DhzVNiNRdeSbu1NBhVLst5V2q6fO0vyqi5CAIAgCAIAgCAIAgCAIAgCAIAgCAIAgCAqWkPN/wDSIOmYP3sQJuxczFzeJGI7xtU+gqOTfsropXYlS8tHtN1T5YyJX5lzQ9FuW73WN5xq+Ln57fx9ZVOJQaSp4l7hNTrC7vT9p+zR1Tl4EBwTS84IDCs5cqG02mSbzSaM4Mbc3ldfzJWopouSjRpj6uflpVdu3Hxm9ks2m0RwCtHGriNjBe4+GHEhKiVIo1eeUsCzSow3aGIMaGNADWgBoGwC4DwWYVVVbqbBERqWQ+14ehAEAQBAEAQBAEAQBAEAQBAEAQBAEAQBAEBiue+Rv0a1Oa0Ujf149wBxb3Gt26i0dFPysSKuqZKZTEKfkZltouaEPk+2OhlZMzymODhxps5EXd6kyMR7Vau8ixSLG9HpuN7sVqbLGyVl7Xta4ciK+Kyr2qxytXcbNj0e1HJop3r5Pormf+UehsUlDR0lIm/WrrfZDlLoY9uZOzP54kLEJeTgXiuX5/wxhaMyZpminJerHJaXC951Gei29xHN1PUVNict3JGm7P583mhwiGzFkXfl8+bi/KqLgIAgCAIAgCAIAgCAIAgCAIAgCAIAgCAIAgCAqWkrJfS2TpAOvCdcegbnjlSh+qp+Hy7EuzuX4hXYnDykO0mqZ+/zsMiV+Zc1bRblHXszoSb4nXeg+pH2tf2KixKPZkR3H9Glwmbbh2F3fsuiri0Mz0s22skMA81pkPNxoPDVd4q5wtnRc/wKHGJM2s8Sgq1KQ3vINg6CzxQ9hgB9LFx73ErLTScpIruKm0gi5KNrOCHZlTKMdnjM0pIY2lSATiQBcL8SF8xxukdst1PZZWxN23aEH+vti+cd/bf8FK5vn4eaETnOm+7yUfr7YvnHf23/AATm+fh5oOc6b7vJT6Zn3YT/ADSOcb/8V4tBP9vmh6mJUy/28l9iasGU4ZhWGRklMdUg05jEd6jviezrJYlRyskzYtz1rmdAgCA+ZHhoLnEAAVJJoABtJ2L1EVVsh4qoiXUo2XdIzI3hlmYJaHrPcSGkDEN2n0sOBVnDhrnJeRbFTUYs1jrRpf58z9Sx5vZyQ2ttY3UeB1o3XOHxHEexQ56Z8K9LTiTqerjnS7Vz4Ewo5JCAhcr50WazSdFM8tdQOoGudcagXgcCpEVLLK3aYmRFmrIYXbL1sp4v19sXzjv7b/guvN8/DzQ5c5033eSktkXLcNqDnQOLg0gGrS288wuE0D4ls9CTDURzJdi3JFcTsdNrtLY2OkeaNY0uccbmipuGOC+mtVzkamqny9yNarl0Qr36+2L5x39t/wAFL5vn4eaELnOm+7yU5bn5YiaCR1//AI3/AAXi0E/DzQ9TEqdVtteSlmUMnBAddohD2uY4Va4FrhvBFCPAr1rlaqKh45qORUXefn+22YxSPidixzmHm0kfgtWxyOajk3mKkYrHq1dyln0ZW3UtnR7JWOb9ZvWB8Gu8VCxFm1Dfgv8AhY4TJszbPFP9NdVAaUxXP2069umNbmlrBw1WgH7WstHQt2YGmUxJ+1UO7Dx5r2TpbXBHsMjSeTesfY0rpUv2IXL2HOjZtztTt9MzdlmDXlZ0jfIJecX32qZh/wBdPH0IOJfxneHqhja0RlAgCA7IJ3McHscWuGDmmhHeF45qOSyofTXuYt2rZTUsxs8P0j/jz06YDquw6QDG7Y4DdjfuVHW0XJdNmnoaOgr+W6D+t6l0VcWhCZw5zwWQdc60lLo23uPE9kcT3VUmClkmXLTiRamsjgTpLnwMrzizontZo86sdbo24cK9o8T3AK8p6SOHTXiZyprZJ8lyTgQikkMu2aeZEz3Nnlc+ztF7adWQ8R2BxN/Daq2qrmIisam16f6XFHh0iqj3rs+v+Fvnz3sjJhD0hdsMgFWg7i7bzFR7aV7aGZzNq3hvLN2IwNfsX8dxY4pA4BzSHNIqCDUEHaCMQoioqLZSaioqXQyfSl8tH0TPvPV7hn0fH2M5i/107v2pT1YFUabok/hT+m37qpcU67e40OD/AE3d5fVVlwRedHyO0/Qy/dK7U31m96epwqvov7l9DCVqDGnZZ/LbzHvXjtFPuPrJ3n6GWSNsEAQGNaRLJ0dukOx4Y8d4oftNK0WHv2oE7MjL4ozZqFXjZSJyDaejtMMlaaskZPKor7KrvO3ajcnYpFpX7EzV7UN7WWNkYFlqTWtE7u1LKfFxK1UKWjanYnoYyoW8zl7V9Se0Zw61uaewyR3sDfzqLiLrQ24qhNwpt6i/BF9jX1nzTFZ0jfIJecX32qZh/wBdPH0IOJfxneHqhja0RlCQyBks2mdkAcGF2t1iK01Wl2HcuU8vJMV9rnemg5aRGXtcs9u0bTtaXRyMkI82hYTyJqK8yFCZicarZyWLGTB5ES7XX8ilPYWktcCCCQQbiCMQRsKskVFS6FQqKi2U+7LaHRvbIw0c0hzTuIvC8c1HIrV0U+mPVjkc3VC8Zf0ive0MszTHUDWe68gkXhowFN58BiqyDDURbyZ9hb1GLKqWiS3aUSSQuJc4lziakk1JO8k4lWiIiJZCmc5XLdT35FyJNan6kLK08pxua3m78MeC4zTsiS7lO9PTSTrZiexf7NkuxZLaJZ3dJPi26pr/AEM2ekfEVoqp0s9WuyxLN+ar+i7ZDT0Tdp63d80T9lSzlzxntVWD93D2GnEf1u87lhw2qfT0TIc9VKyqxCSbJMm/NSugVuGKmEBEvkhqGj3ItrhGvK8xwkE9C681PnUP8P3naFSV88L1s1Lrx+amiw2nnjS71snD5oVXSJbo5rXrRPD2tY1pLbxrAuJAOBxF4U7D43Mis5LZlbikjJJrtW+RWFNK403RJ/Cn9Nv3VS4p129xocH+m7vL6qsuCLzo+R2n6GX7pXam+s3vT1OFV9F/cvoYStQY07LP5beY968dop9x9ZO8/QyyRtggCAzHS1BSaCTtMc31HV/OrrC3dBydvz0KDGW9Nruz56lDKtClNn/WPks3/wA5r/8AoMblfVxO8k+K0aJZLGSct3KpctFDf+VId0Lh4vj+CrsUX/yTv/Slrg6f+rl7P2hqqozRFZ0jfIJecX32qZh/108fQg4l/Gd4eqGNrRGULHo8/wC4Q/8At/8Am9Q6/wCg7w9UJ+GfyW+Pops6zpqjG9I0TW26TV84Mc70iBX3A960OHqqwJftMvijUSoW3BCsqaVwQBATWRs6LTZmOjieNU1oHDW1SfObXA+I4KPNSRSuRzkzJkFdNC1WtXL0Im02h0ji97i5zry5xqT3ru1qNSyJkRXvc9205bqe/IeQprU/VhbUDynm5reZ38BUrlNUMhS7lO9PSyTrZieO40Cz5PsWSmCSZ3STkXGgLj6DPMHEnv2KpdJPWLstyb81LtsVPQt2nrd3n4fPEp+cueE9qqyvRw9hpxH9bvO5YcNqsKeiZDnqpV1WISTZJk35qVxTCvCA03RJ/Cn9Nv3VS4p129xocH+m7vL6qsuCLzo+R2n6GX7pXam+s3vT1OFV9F/cvoYStQY07LP5beY968dop9x9ZO8/QyyRtggCAzvS626zH6YePR/BW+FLm/w/ZSYymTF7/wBGcq3KElv+rFR+RQnf9RGSso4jcSPBd0W6XIbks5ULlood/wAqQb4XHwfH8VXYon/knf8ApS1wdf8A1cnZ+0NVVGaIrOkb5BLzi++1TMP+unj6EHEv4zvD1QxtaIyhM5n5QZBa45pSQxuvUgE4scBcOJCj1cbpIla3XL1JdDK2KdHv0z9DQLdpFsrWkxh8jtg1dUV4l2A5AqpZhsqr0skLuTFYGp0c1MvyjbnzyvmkNXvNT+AHAAADkruONI2o1uiGdlldK9Xu1U8y+zmWHLeZ9os8bZSNdha0vLcYyRUhw3A162F19FEhrY5HK3RfUn1GHyxNR2qb+wrylkAIAgLhFn9KyziCKKKN4u12i4DeGYa3Ekjheq9cPa6TacqqnzeWqYq9sWw1qIvzcVO0TukcXvcXOdeXONSe9T2tRqWRMise9z12nLdT5YwkhoBJJoABUknAAbSvVVES6niIqrZD1ZTyZJZ3NZM3Vc5ofq1qQCSBWmBuwXOOVsiXbodZoHxKiPSy2ueNdDiXfR/nHBZY5WzOLS5zSKNLrgKbAqyuppJXIrELjDauKFio9bZlr/X6xfOO9R3wUHm+fh5oWXOdN93kp6MpZUjtOT7RLESWdFMKkEXhprcV8xxOiqGtdrdD7kmZLTPczSy+hiq0Zkj7hdRwJ2EFeOzQ+mLZyKa/+v1i+cd6jvgs/wA3z8PNDUc5033eSndYs9LJLI2Jj3FzyGtGo4XniQvl9FMxquVMkPqOvge5GtXNexSxKITTO9LrrrMPpj4dH8Vb4UnX8P2UmMrkxO/9Gcq3KElv+klR+WQnf8p5stR6tonb2ZZR4OIXSFbxtXsT0I9QlpnJ2r6k7ozn1bc0dtkjfYHfkUXEW3hvwVCbhTrVFuKL7mwLPmmKzpG+QS84vvtUzD/rp4+hBxL+M7w9UMbWiMoEAQBAXPR/mu6aRtplaRCwgtr/ADHjCm9oOJ24X30rq6qRjeTbqvkW2G0Svdyj0yTTtNXVEaMpOdGYMctZLNSOTEswY7l2Dyu4bVZU2IOZ0ZM08yqq8MZJ0o8l8jMrdYpIXmOVhY8Yg+/iOIuV0x7XptNW6GfkifG7ZellOhfRzCAmc3s2Z7Wf3bdWOvWkdc0b6do8B30UeeqjhTPXgTKaiknXLJOJqubua0FkFWDWkpfI7HiB2RwHfVUVRVSTLnpwNFTUccCdHXiUHSl8tH0TPvPVrhn0fH2KbF/rp3ftSnqwKoIAgNLza/7LaPRtP3Sqao/mN70NDS/wHdzjNFcmeCAICXzR+W2f6Rqj1f0XdxLof5DO83NZk1xmOlqes0MfZY53rup+RXWFt6Dl7fnqUGMu6bW9nz0KGVaFKbP+rnJZv/oNf/zmcZ+2bUt011zi1446zQT9rWVzQu2oGmexJmzUO7Tx5r2vorXBJsEjQeTuqfY4rpUs24XJ2HKjfsTtXt9cjdlmDYETnRkp1qsz4GuDS4sNTeOq4HZyXemlSKRHqR6qFZolYi2uUb9mU3z8fg5WfOjPtUqOZnfcP2ZTfPx+Dk50Z9qjmZ33H3Hoxk860MA4MJ/ELxcUbuaepgzt7/InMj6PbNEQ6UuncNjuq31BjyJIUaXEZX5NyJkGFwx5u6S9vsW9rQAABQC4AbAq/UsjlAEBHZayLDamakza46rhc5p3tOz3HausM74lu1TjPTxzN2XoZdnBmTaIHfu2umjcaNcwVIrgHNGHPDlgryCujkTpZKZ6pw2WN3QTaT5qWDNnR4BSS2XnERNNw9Nwx5C7iVEqMRVejF+SbS4UidKb8e5f4ow0BrQGtAoABQADYAMAqpVVVupcoiIlkPteHpS878zZLXOJmyMYAxraOBOBca3c1Y0ta2FmyqXzKutw91RJto62RCfsym+fj8HKTzoz7VInMzvuH7Mpvn4/Byc6M+1RzM77h+zKb5+PwcnOjPtUczO+4teSs3HxWCSxl7S54lAcAaDXFBdioMtSj50ltpbyLKGlVlOsN9b+ZVP2ZTfPx+DlO50Z9qlbzM77h+zKb5+PwcnOjPtUczO+4fsym+fj8HJzoz7VHMzvuPbkXR/LDPFMZoyGODiADfRc5sRbIxW7Op2gwt0UiP2tDQlUlyY1pEtfSW6QbGBjB3Cp+04rRYezZgTtzMvij9qoVOFkInINm6S0wx0rrSRg8qivsqu87tmNy9ikWlZtzNTtQ3tZY2RmelmxUkhnHnNMZ5tNR46zvBXOFv6LmeJQ4xHm1/gUFWpSG95Bt/T2eKbtsBPpYOHc4FZaaPk5FbwU2kEvKxtfxQ965HUIAgCAIAgCAIAgCAIAgCAIAgCAIAgCAIAgCA67RMGNc9xo1oLnHcAKk+AXrUVyoiHjnI1FVdx+f7baTJI+V2L3OeebiT+K1bGo1qNTcYqR6verl3qWfRlYte2dJsiY531ndUDwc7wULEX7MNuK/wCljhMe1NtcE/w11UBpSuZ/5O6axSUFXR0lb9Wut9kuUuhk2Jk7cvniQsQi5SBU3pn+P8MYWjMmaZopyprRyWZxvYddnouucBwDqeuqbE4rOSRN+Xz5uNDhE12LGu7P583l+VUXAQBAEAQBAEAQBAEAQBAEAQBAEAQBAEAQBAEBUtJWVOisnRg9eY6g9AXvPKlB9ZT8Pi25drcnxCuxObk4dlNVy9/naZEr8y5q2i3J2pZnTEXyuu9BlQPta/sVFiUm1IjeH7NLhMOxDtrv/RdFXFocEVuOCAwrOXJZs1pkh80GrOLHXt53XcwVqKaXlY0cY+rg5GVWbtx8ZvZUNmtEc4rRpo4Daw3OHhhxASoiSWNWHlLOsMqPN2hlDmh7SC1wBaRtBvB8FmFRUWymwRUcl0PteHoQBAEAQBAEAQBAEAQBAEAQBAEAQBAEAQBAYrnvln9JtTnNNY2dSPcQMXd5rfuotJRQclEiLquamUxCo5aZbaJkhD5PsbppWQs8p7g0cK7eQF/cpEj0Y1XLuIsUayPRibze7FZWxRsiZc1jWtHICnisq9yvcrl3mzYxGNRqaId6+T6CApOk3InSwi0sHXi8rjGcfVN/IuVlh0+w/YXRfX/SqxWm5SPlE1T0/wAMrV4Zs0zRjl/Wb+hyHrNqYidrcS3mMRw5KmxGnsvKt36mgwqq2m8k7VNPnYX5VRchAEAQBAEAQBAEAQBAEAQBAEAQBAEAQBAVLSHnB+jwdCw/vZQRdi1mDncCcB3nYp9BT8o/aXRCtxKq5KPZbqvy5kSvzMGh6LciXutjxvZFz8934esqnEp9Ik8S9wmm1md3J+1/Ro6py8CAIDh7QQQQCDcQb6goi2CpcxLPDIJsk5YK9E6roj/TtbXe3DwO1aWkqOWjvvTUyddS8hJZNF0+dhEWW0Oje2RhLXtILSNhCkOajkVq6EVj3McjmrZUNszWy8y2QiQUDxQSM7Lv8TsP4grNVNOsL7LpuNbSVLahm0mu8mVHJIQBAEAQBAEAQBAEAQBAEAQBAEAQBAeHLWVY7NC6aQ3DAbXOODRxPxOxdYYnSvRrTlPM2FivcYflfKT7RK6aQ9Zxw2AbGjgAtLFE2JiNaZGeZ0z1e47Mg5Jfap2ws23uPZYMXf7tIG1eTzJExXKfVNAs8iMQ3OxWVsUbYmCjGANaOA95WYe9XuVy6qa9jEY1Gt0Q718n0EAQBARWcuRGWuAxOudix3ZeMDy2Ebiu9POsL9pCPVU7Z41YvgYjbrG+GR0Ug1XtNCP9xBGB4rSse17Uc3RTJSRujcrHaoerIWWJLLKJYzwc04ObtB+OxfE8LZmbLjpTVDoH7TTach5YjtUQliN2DgcWu2tI3+9ZuaF0Ttlxq4J2TM22EguR2CAIAgCAIAgCAIAgCAIAgCAIAgPNlC3RwRullcGsbiT7gNpO5fccbnu2WpmfEkjY2q5y2QxnOrOJ9sl1jVsbaiNm4bzvcdvgtFTUzYG237zK1lW6offcmhDRRlxDWglxIAAvJJuAA2lSVVES6kRqK5bIbNmXm4LJD1qGZ9DId25g4D2mvBZyrqeWflomnuauhpEp2Z6rr7FiUQmhAEAQBAEBWc9c1ha2a7KCdg6pw1h2D+B2d5U2jq1hdZeqvy5ArqJKht06yfLGPTwuY4seC1zSQQbiCNi0DXI5LoZdzVauy7U9uQ8sy2WQSxHg5pwcNxH+0XOaBkzdlx2p6l8DtppsObeckVsZVh1XgdeM4t4/1N4j2G5Z6opnwrZdOJp6arZUNu3XgTKjkoIAgCAIAgCAIAgCAIAgCAICOy3lqKyx9JM6mOq0XucdzRt9w2rrDA+V2y1DjPUMhbtPUx/ObOOW2P1n9Vg8iMG5vE9p3H3LQ09M2Ftk14mYq6x9Q7PJOBDgVuCkEREvkhqmYeaPQAWicfviOq0/ywfzkeGG9UVbWcp0GaeppMPoeSTlH9b0Lqq4tAgCAIAgCAIAgKznfmky1t12UZOBc7Y4DzXfHEccFNpKx0K2XNpAraFtQl0yd81Mit1ikheY5Wlj24g+/cRxFyv2Pa9u01boZmSJ8btl6WU+bNaHRuD43Fr2moc00IXrmo5LOTI+WPcxyOatlNGzb0htdSO1jVdgJWi4+k0eSeIu5KnqMOVOlF+C+pcVR3RlyXiXyGZr2hzHBzTeC0ggjeCMVVqiotlLhHI5Lofa8PQgCAIAgCAIAgCAIDhzqCpuAxQFLzj0gRRVZZqTSdrzG948vuu4qyp8Oe/OTJPMqqrFGR5R9JfL/TM8oW+Sd5lleXvO07twGAHAK5jjbG3ZalkM/LK+V209bqdMMLnuDGAucTQACpJ3AL6c5GpdT5a1XLZqXU1TMvMsWek9oAdNi1uIj+L+OA2b1R1lasnQZp6mjocPSLpv63oXNVxaBAEAQBAEAQBAEAQEVl/IENrZqytvHkvFzm8jtHA3LvBUPhW7SPUU0c7bPQyfOPNWeyGrhrxbJGi76w8w87txKvaerZNkmS8DN1VDJBmuacSCUohEhkjLc9mNYZC0bW4tPNpurxxXKWCOVOmhIgqZYVuxS95I0lMNG2mMtPbj6w72m8DkSquXDHJnGt+/57FxDi7VykS3d89y35Oy3Z5/4MzHncDR3e09YeCr5IJI+slizjqIpOo5FJBcjsEAQBAEAQHjt+VIYRWaVjPScATyGJ7l0ZE9/VS5zklZHm9UQqWVtJELKizsdKe07qN9vWPKg5qfFhj1662K2bF425RpfyKLlvOS0Wq6WTqdhvVb4ed31VpDSxxdVM+JTT1ks/WXLgmhELuRSVyDm/Pa3Uib1Qes91zW8ztPAXrhPUshTpKSqakknXoplxNXzZzWhsYq3rykUdI4X8mjzW8PElUVRVvmXPJOBpKWijp0yzXiTyiksIAgCAIAgCAIAgCAIAgOHNBBBFQbiDuQFMy/o9hlq+znoX9nFh7sWd13BWMGIvZk/NPMq6nC45M2dFfIz7LGbtos38WMhvbb1m+sMORoVbQ1McvVUpJ6OWHrJlxIpdyKEBJ2POG1ReRPKBuLi4eq6oXF9NE/VqEllZOzRy/O8l7PpAtrcXRv9Jg/LRR3YdAul08fcktxWoTWy+Hsetmku07Y4DyDx+crmuFxblXy9jqmMS72p5+5y/SXadkcA5h5/OETC4t6r5ewXGJdzU8/c8s+kO2OwMTPRZ/kSvtuGwpxU5uxaddLJ4EVbM57XJ5dok5NOoPBlApDKWFujU9fUjvrah+rl8MvQiSampxOK7kVVvqcIeHvyVkae0GkMbn7zg0c3G4LlLPHEnTWx3hppZl6CF+yDo5Y2j7U7pD2GVDe92LvZ3qqnxJy5RpYuqfCWtzlW/ZuLzBC1jQxjQ1ouAaKADgBgqxXK5bqW7Wo1LIdi8PQgCAIAgCAIAgCAIAgCAIAgCA4IQFfypmZZJ6kx9G4+dF1PZ5JPMKXFWzR7795DmoIJdW2XsyKtb9GTxUwTNduEgLftNrXwCnMxRP7t/BWyYMv9Hfn5+iAteZNtZ/J1hvY5rvZWvsUptdA7+1u8hvw2ob/AFv3EXLke0N8qCZvONw/Bd0njXRyflCOtNMmrF/CnlfE4YtI5ghfaORdDkrHJqhwyMnAE8hVFVE1CNVdEPVFkqd3kwzO5RuPuC+FmjTVyflDolPKujV/CklZczba/CBzRveWs9hNfYuLq2Bv9iQzDqh39fyTth0Zym+aZjBuYC8+3VAPior8UYnVbfvJkeDvXrut3ZloyZmJZIqEsMrt8p1h6oo3xBUKSvmfvt3FhFhsEe6/f8sWWNgaAGgADAC4DuUNVVc1JyIiZIfS8PQgCAIAgCAIAgCA/9k="/>
          <p:cNvSpPr>
            <a:spLocks noChangeAspect="1" noChangeArrowheads="1"/>
          </p:cNvSpPr>
          <p:nvPr/>
        </p:nvSpPr>
        <p:spPr bwMode="auto">
          <a:xfrm>
            <a:off x="128098" y="-159276"/>
            <a:ext cx="356447" cy="33605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4306" tIns="52153" rIns="104306" bIns="52153" numCol="1" anchor="t" anchorCtr="0" compatLnSpc="1">
            <a:prstTxWarp prst="textNoShape">
              <a:avLst/>
            </a:prstTxWarp>
          </a:bodyPr>
          <a:lstStyle/>
          <a:p>
            <a:endParaRPr lang="en-GB"/>
          </a:p>
        </p:txBody>
      </p:sp>
      <p:sp>
        <p:nvSpPr>
          <p:cNvPr id="3" name="AutoShape 4" descr="data:image/jpeg;base64,/9j/4AAQSkZJRgABAQAAAQABAAD/2wCEAAkGBxQTEhUREhQUFRQXGRQXFhgWGRwWIBoWFxwYHRoaHRkbHCggGBonHBUWLTEkJSosLy4yGh8zODMsNygtLisBCgoKDg0OGxAQGzQkICYsLDQyOCwyLDA3NDcsLCwsMCw0LywsNCw0NCwsLCwsLyw0LCwsLCwsNCwsLy8vLCwsLP/AABEIAOAA4QMBEQACEQEDEQH/xAAcAAEAAwADAQEAAAAAAAAAAAAABQYHAQMEAgj/xABHEAABAwEDCAUHCAoBBQAAAAABAAIDEQQhMQUGBxJBUWFxEyJSgZEyQnKSobHRNFNzgqKywcIUFhcjM0Nik9LwJBU1Y4Oz/8QAGgEBAAMBAQEAAAAAAAAAAAAAAAQFBgMBAv/EADMRAAEDAgMDCwQDAQEAAAAAAAABAgMEEQUhMRJBURMVIjJhcYGhsdHwM1KRwTRC4RQj/9oADAMBAAIRAxEAPwDcUAQBAEAQBAEAQHBKAr+VM87JDUGTpHDzYuv7fJB5lS4qKaTdbvIc1fBHq669mZVrfpNeaiCFrdxkJd9ltKeJU5mFp/d34K2TGV/o38/P2QFrz2tr/wCdqjcxrW+2lfapTaGBv9b95DfiVQ7+1u4i5csWh3lTzO5yOP4rukMaaNT8IR1qZl1ev5U8r5XHFxPMkr7RqJohyV7l1U4ZIRgSORoioi6hHKminqiyrO3yZpm8pHD3FfCwxrq1Pwh0SolTRy/lSSsueNtZhO5w3PDX+0ivtXF1FA7+pIZiNQ3+35J2w6TJRdNCx43sJYfbrA+xRX4Wxeq63eTI8YenXbfuyLRkzPuyS0BeYnbpRqj1hVviQoUlBMzdfuLCLEoJN9u/5Yssbw4AtIIOBF4PeoaoqZKTkVFzQ+l4ehAEAQBAEAQBAEAQBAEAQBAEBw5wAJJoBeSdyApmX9IUMVWWcdM/tYMHfi/uu4qxgw57835J5lXU4pHHkzpL5GfZYzhtFpP72QlvYb1W+qMeZqVbQ00cXVQpJ6yWbrLlwIpdyKEBJ2PN61S+RBKRvLS0es6gXF9TEzVyEllHO/Rq/O8l7Po+trsWxs9J4/LVR3YjAml18PclNwqoXWyePsetmjS07ZIByLz+QLmuKRbkXy9zomDy73J5+xy/RpadkkB5l4/IUTFIt6L5e4XB5dzk8/Y8s+jy2NwET/Rf/kAvtuJQrxQ5uwmdNLL4kVbM2LXH5dnk5tGuPFlQpDKqF2jk9PUjvoahmrV8M/QiSKGhxGIXciqltThDw9+Sssz2c1hkczeMWnm03FcpYI5U6aXO8NTLCvQWxfsg6RmOoy1N6M9tlS3vbi329yqp8Ncmca3LqnxZrspUsvHcXmCZr2h7HBzTeC01BHAjFVitVq2Ut2uRyXQ7F4ehAEAQBAEAQBAEAQBAEBFZfy/DZGa0rusfJYL3O5DYOJuXeCnfMtmkeoqY4G3epk+cedU9rNHHUi2RtN31j5553bgFe09IyHNM14mbqq6SfJck4EEpRCJHJGRJ7SaQxlw2uwaObjdXhiuUs8cSdNSRBTSzLZiF6yRo1YKOtMhcexH1R3uN5HIBVcuJuXKNLd/z3LiHCGpnIt+757FvydkSzwfwYWMO8Cru9x6x8VXyTySdZblnFTxRdRqISC5HYIAgCAIAgPJb8lwzCk0TH+k0EjkcR3LoyV7OqtjnJEyRLPRFKjlbRvC+ps73RHsu67fb1hzqeSnxYm9OulytmwiN2ca28yi5bzbtFlvlj6nbb1m+Pm/WorSGqjl6q58Cmno5YOsmXFNCIXcikrkHOCeyOrE7qk9Zjr2u5jYeIvXCemZMnSQlU1XJAvRXLgavmznTDbBRvUlAq6Nxv5tPnN/0gKiqKR8K55pxNJS1sdQmWS8CeUUlhAEAQBAEAQBAEAQFZzvztZZG6jKPnIubsaD5zvhieGKm0lG6Zbrk0gVtc2nSyZu+amRW62STPMkri97sSfduA4C5X7GNY3ZalkMzJK+R209bqfNms7pHBkbS57jQNaKkr1zkal3LkfLGOe5GtS6mjZt6PGtpJazrOxETTcPScPKPAXc1T1GIqvRi/JfUuFI3pS5rwL5DE1jQ1jQ1ouAaKADcAMFVqqqt1LhGo1LIfa8PQgCAIAgCAIAgCAIDhzaihvBxQFLzj0fxS1fZqQydnzHdw8juu4Kyp8RezKTNPMqqrC2SZx9FfL/DM8o2CSB5ilYWPGw7t4OBHEK5jkbI3aat0M/LE+J2y9LKdMMzmOD2EtcDUEGhB3gr6c1HJZT5a5Wrdq2U1TMvPQWikFoIbNg12Ak+D+GB2blR1lEsfTZp6GjocQSXoP63qXNVxaBAEAQBAEAQBAVnPXOkWRmoyhneOqMdUds/gNvcVNo6RZnXXqp8sQK6tSnbZOsvy5j08znuL3kuc4kkm8knatA1qNSyGXc5XLtO1PbkPI0tqkEUQ4uccGjeT+G1c5p2Qt2nHanpnzu2Wmw5t5txWNlGDWeR15Di7h/S3gPab1nqipfMt104GnpqRlO2zdeJMqOSggCAIAgCAIAgCAIAgCAIAgI7LeRYrVH0cza46rhc5p3tOz3HausM74nbTTjPTsmbsvQx/ObNyWxv1X9Zh8iQC53A9l3D3rQ01S2Zt014GYq6N9O7PNOJDg0vCkERFtmhqmYed3TgWec/vgOq4/zAPzgeOO9UVbR8n02aehpMPruVTk39b1Lqq4tAgCAIAgCAis5ctsskBlde7Bje084DltJ3Bd6eBZn7KEeqqGwRq9fAxG3Wx80jpZDrPcak/wC4ADAcFpWMaxqNbohkpJHSOV7tVPVkLI8lqlEUY4uccGt2k/DavieZsLNpx0pqd079lptOQ8jx2WIRRC7FxOLnbXE7/cs3NM6V2041cEDIWbDCQXI7BAEAQBAEAQBAEAQBAEAQBAEAQHmyhYY543RStDmOxB943Eb19xyOY7aauZ8SRtkarXJdDGc6s3X2OXVNXRuqY37xuP8AUNvitFTVLZm337zK1lI6nfbcuhDRyFpDmkhwIIIuIIvBB2FSVRFSykRqq1bobNmXnGLXD1qCZlBIN+544H2GvBZyrplhflounsauhq0qGZ6pr7liUQmhAEAQHD3AAkkAC8k3UAREuFWxiWeGXja5y8V6JtWxD+na6m92PgNi0tJT8jHbeupk66q5eS6aJp87SIstndI9sbAXPcQGgbSVIc5Gorl0IrGOe5GtS6qbZmtkFljhEYoXmhkf2nf4jYPxJWaqahZn3XTca2kpm07NlNd5MqOSQgCAIAgCAIAgCAIAgCAIAgCAIAgCA8OWslR2mF0MguOB2tcMHDiPiNq6wyuiejmnKeFszFY4w/K+TX2eV0Mg6zTjsI2OHAhaWKVsrEc0yM8LoXqxx2ZBys+yztmZsucO0w4t/wB2gHYvJ4UlYrVPqmndBIj0NzsVqbLG2Vhqx4DmngfcVmHsVjlauqGvY9HtRzdFO9fJ9BAEBSdJuW+ihFmYevL5XCMY+sbuQcrLDoNt+2uiev8AhVYrU8nHyaar6f6ZWrwzZpmjHIGq39MkHWdURA7G4F3M4DhzVNiNRdeSbu1NBhVLst5V2q6fO0vyqi5CAIAgCAIAgCAIAgCAIAgCAIAgCAIAgCAqWkPN/wDSIOmYP3sQJuxczFzeJGI7xtU+gqOTfsropXYlS8tHtN1T5YyJX5lzQ9FuW73WN5xq+Ln57fx9ZVOJQaSp4l7hNTrC7vT9p+zR1Tl4EBwTS84IDCs5cqG02mSbzSaM4Mbc3ldfzJWopouSjRpj6uflpVdu3Hxm9ks2m0RwCtHGriNjBe4+GHEhKiVIo1eeUsCzSow3aGIMaGNADWgBoGwC4DwWYVVVbqbBERqWQ+14ehAEAQBAEAQBAEAQBAEAQBAEAQBAEAQBAEBiue+Rv0a1Oa0Ujf149wBxb3Gt26i0dFPysSKuqZKZTEKfkZltouaEPk+2OhlZMzymODhxps5EXd6kyMR7Vau8ixSLG9HpuN7sVqbLGyVl7Xta4ciK+Kyr2qxytXcbNj0e1HJop3r5Pormf+UehsUlDR0lIm/WrrfZDlLoY9uZOzP54kLEJeTgXiuX5/wxhaMyZpminJerHJaXC951Gei29xHN1PUVNict3JGm7P583mhwiGzFkXfl8+bi/KqLgIAgCAIAgCAIAgCAIAgCAIAgCAIAgCAIAgCAqWkrJfS2TpAOvCdcegbnjlSh+qp+Hy7EuzuX4hXYnDykO0mqZ+/zsMiV+Zc1bRblHXszoSb4nXeg+pH2tf2KixKPZkR3H9Glwmbbh2F3fsuiri0Mz0s22skMA81pkPNxoPDVd4q5wtnRc/wKHGJM2s8Sgq1KQ3vINg6CzxQ9hgB9LFx73ErLTScpIruKm0gi5KNrOCHZlTKMdnjM0pIY2lSATiQBcL8SF8xxukdst1PZZWxN23aEH+vti+cd/bf8FK5vn4eaETnOm+7yUfr7YvnHf23/AATm+fh5oOc6b7vJT6Zn3YT/ADSOcb/8V4tBP9vmh6mJUy/28l9iasGU4ZhWGRklMdUg05jEd6jviezrJYlRyskzYtz1rmdAgCA+ZHhoLnEAAVJJoABtJ2L1EVVsh4qoiXUo2XdIzI3hlmYJaHrPcSGkDEN2n0sOBVnDhrnJeRbFTUYs1jrRpf58z9Sx5vZyQ2ttY3UeB1o3XOHxHEexQ56Z8K9LTiTqerjnS7Vz4Ewo5JCAhcr50WazSdFM8tdQOoGudcagXgcCpEVLLK3aYmRFmrIYXbL1sp4v19sXzjv7b/guvN8/DzQ5c5033eSktkXLcNqDnQOLg0gGrS288wuE0D4ls9CTDURzJdi3JFcTsdNrtLY2OkeaNY0uccbmipuGOC+mtVzkamqny9yNarl0Qr36+2L5x39t/wAFL5vn4eaELnOm+7yU5bn5YiaCR1//AI3/AAXi0E/DzQ9TEqdVtteSlmUMnBAddohD2uY4Va4FrhvBFCPAr1rlaqKh45qORUXefn+22YxSPidixzmHm0kfgtWxyOajk3mKkYrHq1dyln0ZW3UtnR7JWOb9ZvWB8Gu8VCxFm1Dfgv8AhY4TJszbPFP9NdVAaUxXP2069umNbmlrBw1WgH7WstHQt2YGmUxJ+1UO7Dx5r2TpbXBHsMjSeTesfY0rpUv2IXL2HOjZtztTt9MzdlmDXlZ0jfIJecX32qZh/wBdPH0IOJfxneHqhja0RlAgCA7IJ3McHscWuGDmmhHeF45qOSyofTXuYt2rZTUsxs8P0j/jz06YDquw6QDG7Y4DdjfuVHW0XJdNmnoaOgr+W6D+t6l0VcWhCZw5zwWQdc60lLo23uPE9kcT3VUmClkmXLTiRamsjgTpLnwMrzizontZo86sdbo24cK9o8T3AK8p6SOHTXiZyprZJ8lyTgQikkMu2aeZEz3Nnlc+ztF7adWQ8R2BxN/Daq2qrmIisam16f6XFHh0iqj3rs+v+Fvnz3sjJhD0hdsMgFWg7i7bzFR7aV7aGZzNq3hvLN2IwNfsX8dxY4pA4BzSHNIqCDUEHaCMQoioqLZSaioqXQyfSl8tH0TPvPV7hn0fH2M5i/107v2pT1YFUabok/hT+m37qpcU67e40OD/AE3d5fVVlwRedHyO0/Qy/dK7U31m96epwqvov7l9DCVqDGnZZ/LbzHvXjtFPuPrJ3n6GWSNsEAQGNaRLJ0dukOx4Y8d4oftNK0WHv2oE7MjL4ozZqFXjZSJyDaejtMMlaaskZPKor7KrvO3ajcnYpFpX7EzV7UN7WWNkYFlqTWtE7u1LKfFxK1UKWjanYnoYyoW8zl7V9Se0Zw61uaewyR3sDfzqLiLrQ24qhNwpt6i/BF9jX1nzTFZ0jfIJecX32qZh/wBdPH0IOJfxneHqhja0RlCQyBks2mdkAcGF2t1iK01Wl2HcuU8vJMV9rnemg5aRGXtcs9u0bTtaXRyMkI82hYTyJqK8yFCZicarZyWLGTB5ES7XX8ilPYWktcCCCQQbiCMQRsKskVFS6FQqKi2U+7LaHRvbIw0c0hzTuIvC8c1HIrV0U+mPVjkc3VC8Zf0ive0MszTHUDWe68gkXhowFN58BiqyDDURbyZ9hb1GLKqWiS3aUSSQuJc4lziakk1JO8k4lWiIiJZCmc5XLdT35FyJNan6kLK08pxua3m78MeC4zTsiS7lO9PTSTrZiexf7NkuxZLaJZ3dJPi26pr/AEM2ekfEVoqp0s9WuyxLN+ar+i7ZDT0Tdp63d80T9lSzlzxntVWD93D2GnEf1u87lhw2qfT0TIc9VKyqxCSbJMm/NSugVuGKmEBEvkhqGj3ItrhGvK8xwkE9C681PnUP8P3naFSV88L1s1Lrx+amiw2nnjS71snD5oVXSJbo5rXrRPD2tY1pLbxrAuJAOBxF4U7D43Mis5LZlbikjJJrtW+RWFNK403RJ/Cn9Nv3VS4p129xocH+m7vL6qsuCLzo+R2n6GX7pXam+s3vT1OFV9F/cvoYStQY07LP5beY968dop9x9ZO8/QyyRtggCAzHS1BSaCTtMc31HV/OrrC3dBydvz0KDGW9Nruz56lDKtClNn/WPks3/wA5r/8AoMblfVxO8k+K0aJZLGSct3KpctFDf+VId0Lh4vj+CrsUX/yTv/Slrg6f+rl7P2hqqozRFZ0jfIJecX32qZh/108fQg4l/Gd4eqGNrRGULHo8/wC4Q/8At/8Am9Q6/wCg7w9UJ+GfyW+Pops6zpqjG9I0TW26TV84Mc70iBX3A960OHqqwJftMvijUSoW3BCsqaVwQBATWRs6LTZmOjieNU1oHDW1SfObXA+I4KPNSRSuRzkzJkFdNC1WtXL0Im02h0ji97i5zry5xqT3ru1qNSyJkRXvc9205bqe/IeQprU/VhbUDynm5reZ38BUrlNUMhS7lO9PSyTrZieO40Cz5PsWSmCSZ3STkXGgLj6DPMHEnv2KpdJPWLstyb81LtsVPQt2nrd3n4fPEp+cueE9qqyvRw9hpxH9bvO5YcNqsKeiZDnqpV1WISTZJk35qVxTCvCA03RJ/Cn9Nv3VS4p129xocH+m7vL6qsuCLzo+R2n6GX7pXam+s3vT1OFV9F/cvoYStQY07LP5beY968dop9x9ZO8/QyyRtggCAzvS626zH6YePR/BW+FLm/w/ZSYymTF7/wBGcq3KElv+rFR+RQnf9RGSso4jcSPBd0W6XIbks5ULlood/wAqQb4XHwfH8VXYon/knf8ApS1wdf8A1cnZ+0NVVGaIrOkb5BLzi++1TMP+unj6EHEv4zvD1QxtaIyhM5n5QZBa45pSQxuvUgE4scBcOJCj1cbpIla3XL1JdDK2KdHv0z9DQLdpFsrWkxh8jtg1dUV4l2A5AqpZhsqr0skLuTFYGp0c1MvyjbnzyvmkNXvNT+AHAAADkruONI2o1uiGdlldK9Xu1U8y+zmWHLeZ9os8bZSNdha0vLcYyRUhw3A162F19FEhrY5HK3RfUn1GHyxNR2qb+wrylkAIAgLhFn9KyziCKKKN4u12i4DeGYa3Ekjheq9cPa6TacqqnzeWqYq9sWw1qIvzcVO0TukcXvcXOdeXONSe9T2tRqWRMise9z12nLdT5YwkhoBJJoABUknAAbSvVVES6niIqrZD1ZTyZJZ3NZM3Vc5ofq1qQCSBWmBuwXOOVsiXbodZoHxKiPSy2ueNdDiXfR/nHBZY5WzOLS5zSKNLrgKbAqyuppJXIrELjDauKFio9bZlr/X6xfOO9R3wUHm+fh5oWXOdN93kp6MpZUjtOT7RLESWdFMKkEXhprcV8xxOiqGtdrdD7kmZLTPczSy+hiq0Zkj7hdRwJ2EFeOzQ+mLZyKa/+v1i+cd6jvgs/wA3z8PNDUc5033eSndYs9LJLI2Jj3FzyGtGo4XniQvl9FMxquVMkPqOvge5GtXNexSxKITTO9LrrrMPpj4dH8Vb4UnX8P2UmMrkxO/9Gcq3KElv+klR+WQnf8p5stR6tonb2ZZR4OIXSFbxtXsT0I9QlpnJ2r6k7ozn1bc0dtkjfYHfkUXEW3hvwVCbhTrVFuKL7mwLPmmKzpG+QS84vvtUzD/rp4+hBxL+M7w9UMbWiMoEAQBAXPR/mu6aRtplaRCwgtr/ADHjCm9oOJ24X30rq6qRjeTbqvkW2G0Svdyj0yTTtNXVEaMpOdGYMctZLNSOTEswY7l2Dyu4bVZU2IOZ0ZM08yqq8MZJ0o8l8jMrdYpIXmOVhY8Yg+/iOIuV0x7XptNW6GfkifG7ZellOhfRzCAmc3s2Z7Wf3bdWOvWkdc0b6do8B30UeeqjhTPXgTKaiknXLJOJqubua0FkFWDWkpfI7HiB2RwHfVUVRVSTLnpwNFTUccCdHXiUHSl8tH0TPvPVrhn0fH2KbF/rp3ftSnqwKoIAgNLza/7LaPRtP3Sqao/mN70NDS/wHdzjNFcmeCAICXzR+W2f6Rqj1f0XdxLof5DO83NZk1xmOlqes0MfZY53rup+RXWFt6Dl7fnqUGMu6bW9nz0KGVaFKbP+rnJZv/oNf/zmcZ+2bUt011zi1446zQT9rWVzQu2oGmexJmzUO7Tx5r2vorXBJsEjQeTuqfY4rpUs24XJ2HKjfsTtXt9cjdlmDYETnRkp1qsz4GuDS4sNTeOq4HZyXemlSKRHqR6qFZolYi2uUb9mU3z8fg5WfOjPtUqOZnfcP2ZTfPx+Dk50Z9qjmZ33H3Hoxk860MA4MJ/ELxcUbuaepgzt7/InMj6PbNEQ6UuncNjuq31BjyJIUaXEZX5NyJkGFwx5u6S9vsW9rQAABQC4AbAq/UsjlAEBHZayLDamakza46rhc5p3tOz3HausM74lu1TjPTxzN2XoZdnBmTaIHfu2umjcaNcwVIrgHNGHPDlgryCujkTpZKZ6pw2WN3QTaT5qWDNnR4BSS2XnERNNw9Nwx5C7iVEqMRVejF+SbS4UidKb8e5f4ow0BrQGtAoABQADYAMAqpVVVupcoiIlkPteHpS878zZLXOJmyMYAxraOBOBca3c1Y0ta2FmyqXzKutw91RJto62RCfsym+fj8HKTzoz7VInMzvuH7Mpvn4/Byc6M+1RzM77h+zKb5+PwcnOjPtUczO+4teSs3HxWCSxl7S54lAcAaDXFBdioMtSj50ltpbyLKGlVlOsN9b+ZVP2ZTfPx+DlO50Z9qlbzM77h+zKb5+PwcnOjPtUczO+4fsym+fj8HJzoz7VHMzvuPbkXR/LDPFMZoyGODiADfRc5sRbIxW7Op2gwt0UiP2tDQlUlyY1pEtfSW6QbGBjB3Cp+04rRYezZgTtzMvij9qoVOFkInINm6S0wx0rrSRg8qivsqu87tmNy9ikWlZtzNTtQ3tZY2RmelmxUkhnHnNMZ5tNR46zvBXOFv6LmeJQ4xHm1/gUFWpSG95Bt/T2eKbtsBPpYOHc4FZaaPk5FbwU2kEvKxtfxQ965HUIAgCAIAgCAIAgCAIAgCAIAgCAIAgCAIAgCA67RMGNc9xo1oLnHcAKk+AXrUVyoiHjnI1FVdx+f7baTJI+V2L3OeebiT+K1bGo1qNTcYqR6verl3qWfRlYte2dJsiY531ndUDwc7wULEX7MNuK/wCljhMe1NtcE/w11UBpSuZ/5O6axSUFXR0lb9Wut9kuUuhk2Jk7cvniQsQi5SBU3pn+P8MYWjMmaZopyprRyWZxvYddnouucBwDqeuqbE4rOSRN+Xz5uNDhE12LGu7P583l+VUXAQBAEAQBAEAQBAEAQBAEAQBAEAQBAEAQBAEBUtJWVOisnRg9eY6g9AXvPKlB9ZT8Pi25drcnxCuxObk4dlNVy9/naZEr8y5q2i3J2pZnTEXyuu9BlQPta/sVFiUm1IjeH7NLhMOxDtrv/RdFXFocEVuOCAwrOXJZs1pkh80GrOLHXt53XcwVqKaXlY0cY+rg5GVWbtx8ZvZUNmtEc4rRpo4Daw3OHhhxASoiSWNWHlLOsMqPN2hlDmh7SC1wBaRtBvB8FmFRUWymwRUcl0PteHoQBAEAQBAEAQBAEAQBAEAQBAEAQBAEAQBAYrnvln9JtTnNNY2dSPcQMXd5rfuotJRQclEiLquamUxCo5aZbaJkhD5PsbppWQs8p7g0cK7eQF/cpEj0Y1XLuIsUayPRibze7FZWxRsiZc1jWtHICnisq9yvcrl3mzYxGNRqaId6+T6CApOk3InSwi0sHXi8rjGcfVN/IuVlh0+w/YXRfX/SqxWm5SPlE1T0/wAMrV4Zs0zRjl/Wb+hyHrNqYidrcS3mMRw5KmxGnsvKt36mgwqq2m8k7VNPnYX5VRchAEAQBAEAQBAEAQBAEAQBAEAQBAEAQBAVLSHnB+jwdCw/vZQRdi1mDncCcB3nYp9BT8o/aXRCtxKq5KPZbqvy5kSvzMGh6LciXutjxvZFz8934esqnEp9Ik8S9wmm1md3J+1/Ro6py8CAIDh7QQQQCDcQb6goi2CpcxLPDIJsk5YK9E6roj/TtbXe3DwO1aWkqOWjvvTUyddS8hJZNF0+dhEWW0Oje2RhLXtILSNhCkOajkVq6EVj3McjmrZUNszWy8y2QiQUDxQSM7Lv8TsP4grNVNOsL7LpuNbSVLahm0mu8mVHJIQBAEAQBAEAQBAEAQBAEAQBAEAQBAeHLWVY7NC6aQ3DAbXOODRxPxOxdYYnSvRrTlPM2FivcYflfKT7RK6aQ9Zxw2AbGjgAtLFE2JiNaZGeZ0z1e47Mg5Jfap2ws23uPZYMXf7tIG1eTzJExXKfVNAs8iMQ3OxWVsUbYmCjGANaOA95WYe9XuVy6qa9jEY1Gt0Q718n0EAQBARWcuRGWuAxOudix3ZeMDy2Ebiu9POsL9pCPVU7Z41YvgYjbrG+GR0Ug1XtNCP9xBGB4rSse17Uc3RTJSRujcrHaoerIWWJLLKJYzwc04ObtB+OxfE8LZmbLjpTVDoH7TTach5YjtUQliN2DgcWu2tI3+9ZuaF0Ttlxq4J2TM22EguR2CAIAgCAIAgCAIAgCAIAgCAIAgPNlC3RwRullcGsbiT7gNpO5fccbnu2WpmfEkjY2q5y2QxnOrOJ9sl1jVsbaiNm4bzvcdvgtFTUzYG237zK1lW6offcmhDRRlxDWglxIAAvJJuAA2lSVVES6kRqK5bIbNmXm4LJD1qGZ9DId25g4D2mvBZyrqeWflomnuauhpEp2Z6rr7FiUQmhAEAQBAEBWc9c1ha2a7KCdg6pw1h2D+B2d5U2jq1hdZeqvy5ArqJKht06yfLGPTwuY4seC1zSQQbiCNi0DXI5LoZdzVauy7U9uQ8sy2WQSxHg5pwcNxH+0XOaBkzdlx2p6l8DtppsObeckVsZVh1XgdeM4t4/1N4j2G5Z6opnwrZdOJp6arZUNu3XgTKjkoIAgCAIAgCAIAgCAIAgCAICOy3lqKyx9JM6mOq0XucdzRt9w2rrDA+V2y1DjPUMhbtPUx/ObOOW2P1n9Vg8iMG5vE9p3H3LQ09M2Ftk14mYq6x9Q7PJOBDgVuCkEREvkhqmYeaPQAWicfviOq0/ywfzkeGG9UVbWcp0GaeppMPoeSTlH9b0Lqq4tAgCAIAgCAIAgKznfmky1t12UZOBc7Y4DzXfHEccFNpKx0K2XNpAraFtQl0yd81Mit1ikheY5Wlj24g+/cRxFyv2Pa9u01boZmSJ8btl6WU+bNaHRuD43Fr2moc00IXrmo5LOTI+WPcxyOatlNGzb0htdSO1jVdgJWi4+k0eSeIu5KnqMOVOlF+C+pcVR3RlyXiXyGZr2hzHBzTeC0ggjeCMVVqiotlLhHI5Lofa8PQgCAIAgCAIAgCAIDhzqCpuAxQFLzj0gRRVZZqTSdrzG948vuu4qyp8Oe/OTJPMqqrFGR5R9JfL/TM8oW+Sd5lleXvO07twGAHAK5jjbG3ZalkM/LK+V209bqdMMLnuDGAucTQACpJ3AL6c5GpdT5a1XLZqXU1TMvMsWek9oAdNi1uIj+L+OA2b1R1lasnQZp6mjocPSLpv63oXNVxaBAEAQBAEAQBAEAQEVl/IENrZqytvHkvFzm8jtHA3LvBUPhW7SPUU0c7bPQyfOPNWeyGrhrxbJGi76w8w87txKvaerZNkmS8DN1VDJBmuacSCUohEhkjLc9mNYZC0bW4tPNpurxxXKWCOVOmhIgqZYVuxS95I0lMNG2mMtPbj6w72m8DkSquXDHJnGt+/57FxDi7VykS3d89y35Oy3Z5/4MzHncDR3e09YeCr5IJI+slizjqIpOo5FJBcjsEAQBAEAQHjt+VIYRWaVjPScATyGJ7l0ZE9/VS5zklZHm9UQqWVtJELKizsdKe07qN9vWPKg5qfFhj1662K2bF425RpfyKLlvOS0Wq6WTqdhvVb4ed31VpDSxxdVM+JTT1ks/WXLgmhELuRSVyDm/Pa3Uib1Qes91zW8ztPAXrhPUshTpKSqakknXoplxNXzZzWhsYq3rykUdI4X8mjzW8PElUVRVvmXPJOBpKWijp0yzXiTyiksIAgCAIAgCAIAgCAIAgOHNBBBFQbiDuQFMy/o9hlq+znoX9nFh7sWd13BWMGIvZk/NPMq6nC45M2dFfIz7LGbtos38WMhvbb1m+sMORoVbQ1McvVUpJ6OWHrJlxIpdyKEBJ2POG1ReRPKBuLi4eq6oXF9NE/VqEllZOzRy/O8l7PpAtrcXRv9Jg/LRR3YdAul08fcktxWoTWy+Hsetmku07Y4DyDx+crmuFxblXy9jqmMS72p5+5y/SXadkcA5h5/OETC4t6r5ewXGJdzU8/c8s+kO2OwMTPRZ/kSvtuGwpxU5uxaddLJ4EVbM57XJ5dok5NOoPBlApDKWFujU9fUjvrah+rl8MvQiSampxOK7kVVvqcIeHvyVkae0GkMbn7zg0c3G4LlLPHEnTWx3hppZl6CF+yDo5Y2j7U7pD2GVDe92LvZ3qqnxJy5RpYuqfCWtzlW/ZuLzBC1jQxjQ1ouAaKADgBgqxXK5bqW7Wo1LIdi8PQgCAIAgCAIAgCAIAgCAIAgCA4IQFfypmZZJ6kx9G4+dF1PZ5JPMKXFWzR7795DmoIJdW2XsyKtb9GTxUwTNduEgLftNrXwCnMxRP7t/BWyYMv9Hfn5+iAteZNtZ/J1hvY5rvZWvsUptdA7+1u8hvw2ob/AFv3EXLke0N8qCZvONw/Bd0njXRyflCOtNMmrF/CnlfE4YtI5ghfaORdDkrHJqhwyMnAE8hVFVE1CNVdEPVFkqd3kwzO5RuPuC+FmjTVyflDolPKujV/CklZczba/CBzRveWs9hNfYuLq2Bv9iQzDqh39fyTth0Zym+aZjBuYC8+3VAPior8UYnVbfvJkeDvXrut3ZloyZmJZIqEsMrt8p1h6oo3xBUKSvmfvt3FhFhsEe6/f8sWWNgaAGgADAC4DuUNVVc1JyIiZIfS8PQgCAIAgCAIAgCA/9k="/>
          <p:cNvSpPr>
            <a:spLocks noChangeAspect="1" noChangeArrowheads="1"/>
          </p:cNvSpPr>
          <p:nvPr/>
        </p:nvSpPr>
        <p:spPr bwMode="auto">
          <a:xfrm>
            <a:off x="306322" y="8752"/>
            <a:ext cx="356447" cy="33605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4306" tIns="52153" rIns="104306" bIns="52153" numCol="1" anchor="t" anchorCtr="0" compatLnSpc="1">
            <a:prstTxWarp prst="textNoShape">
              <a:avLst/>
            </a:prstTxWarp>
          </a:bodyPr>
          <a:lstStyle/>
          <a:p>
            <a:endParaRPr lang="en-GB"/>
          </a:p>
        </p:txBody>
      </p:sp>
      <p:sp>
        <p:nvSpPr>
          <p:cNvPr id="63" name="Oval 62"/>
          <p:cNvSpPr/>
          <p:nvPr/>
        </p:nvSpPr>
        <p:spPr>
          <a:xfrm>
            <a:off x="5599328" y="1927921"/>
            <a:ext cx="1988900" cy="1826020"/>
          </a:xfrm>
          <a:prstGeom prst="ellipse">
            <a:avLst/>
          </a:prstGeom>
          <a:solidFill>
            <a:srgbClr val="FFD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2130" tIns="82130" rIns="82130" bIns="82130" rtlCol="0" anchor="ctr"/>
          <a:lstStyle/>
          <a:p>
            <a:pPr algn="ctr"/>
            <a:r>
              <a:rPr lang="en-GB" sz="1400" b="1" dirty="0">
                <a:solidFill>
                  <a:schemeClr val="tx1"/>
                </a:solidFill>
                <a:latin typeface="+mj-lt"/>
              </a:rPr>
              <a:t>Collaborative  connected environment </a:t>
            </a:r>
          </a:p>
          <a:p>
            <a:pPr algn="ctr"/>
            <a:endParaRPr lang="en-GB" sz="1600" dirty="0">
              <a:solidFill>
                <a:schemeClr val="tx1"/>
              </a:solidFill>
              <a:latin typeface="+mj-lt"/>
            </a:endParaRPr>
          </a:p>
          <a:p>
            <a:pPr algn="ctr"/>
            <a:endParaRPr lang="en-GB" sz="1600" dirty="0">
              <a:solidFill>
                <a:schemeClr val="tx1"/>
              </a:solidFill>
              <a:latin typeface="+mj-lt"/>
            </a:endParaRPr>
          </a:p>
        </p:txBody>
      </p:sp>
      <p:pic>
        <p:nvPicPr>
          <p:cNvPr id="64" name="Picture 4"/>
          <p:cNvPicPr>
            <a:picLocks noChangeAspect="1" noChangeArrowheads="1"/>
          </p:cNvPicPr>
          <p:nvPr/>
        </p:nvPicPr>
        <p:blipFill>
          <a:blip r:embed="rId3" cstate="print"/>
          <a:srcRect/>
          <a:stretch>
            <a:fillRect/>
          </a:stretch>
        </p:blipFill>
        <p:spPr bwMode="auto">
          <a:xfrm flipH="1">
            <a:off x="6130585" y="3040933"/>
            <a:ext cx="950560" cy="446418"/>
          </a:xfrm>
          <a:prstGeom prst="rect">
            <a:avLst/>
          </a:prstGeom>
          <a:solidFill>
            <a:srgbClr val="FFD200"/>
          </a:solidFill>
          <a:ln w="9525">
            <a:noFill/>
            <a:miter lim="800000"/>
            <a:headEnd/>
            <a:tailEnd/>
          </a:ln>
          <a:effectLst/>
        </p:spPr>
      </p:pic>
      <p:grpSp>
        <p:nvGrpSpPr>
          <p:cNvPr id="65" name="Group 64"/>
          <p:cNvGrpSpPr/>
          <p:nvPr/>
        </p:nvGrpSpPr>
        <p:grpSpPr>
          <a:xfrm>
            <a:off x="5599328" y="4389078"/>
            <a:ext cx="1988900" cy="1826020"/>
            <a:chOff x="2119155" y="4073425"/>
            <a:chExt cx="1800200" cy="1812394"/>
          </a:xfrm>
          <a:solidFill>
            <a:srgbClr val="FFD200"/>
          </a:solidFill>
        </p:grpSpPr>
        <p:sp>
          <p:nvSpPr>
            <p:cNvPr id="66" name="Oval 65"/>
            <p:cNvSpPr/>
            <p:nvPr/>
          </p:nvSpPr>
          <p:spPr>
            <a:xfrm>
              <a:off x="2119155" y="4073425"/>
              <a:ext cx="1800200" cy="1812394"/>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b="1" dirty="0">
                  <a:solidFill>
                    <a:schemeClr val="tx1"/>
                  </a:solidFill>
                  <a:latin typeface="+mj-lt"/>
                </a:rPr>
                <a:t>Culture and leadership</a:t>
              </a:r>
            </a:p>
            <a:p>
              <a:pPr algn="ctr"/>
              <a:endParaRPr lang="en-GB" sz="1500" b="1" dirty="0">
                <a:solidFill>
                  <a:schemeClr val="tx1"/>
                </a:solidFill>
                <a:latin typeface="+mj-lt"/>
              </a:endParaRPr>
            </a:p>
            <a:p>
              <a:pPr algn="ctr"/>
              <a:endParaRPr lang="en-GB" sz="1600" dirty="0">
                <a:solidFill>
                  <a:schemeClr val="tx1"/>
                </a:solidFill>
                <a:latin typeface="+mj-lt"/>
              </a:endParaRPr>
            </a:p>
            <a:p>
              <a:pPr algn="ctr"/>
              <a:endParaRPr lang="en-GB" sz="1600" dirty="0">
                <a:solidFill>
                  <a:schemeClr val="tx1"/>
                </a:solidFill>
                <a:latin typeface="+mj-lt"/>
              </a:endParaRPr>
            </a:p>
          </p:txBody>
        </p:sp>
        <p:pic>
          <p:nvPicPr>
            <p:cNvPr id="67" name="Picture 3"/>
            <p:cNvPicPr>
              <a:picLocks noChangeAspect="1" noChangeArrowheads="1"/>
            </p:cNvPicPr>
            <p:nvPr/>
          </p:nvPicPr>
          <p:blipFill>
            <a:blip r:embed="rId4" cstate="print"/>
            <a:srcRect/>
            <a:stretch>
              <a:fillRect/>
            </a:stretch>
          </p:blipFill>
          <p:spPr bwMode="auto">
            <a:xfrm>
              <a:off x="2623211" y="5153545"/>
              <a:ext cx="813969" cy="504056"/>
            </a:xfrm>
            <a:prstGeom prst="rect">
              <a:avLst/>
            </a:prstGeom>
            <a:grpFill/>
            <a:ln w="9525">
              <a:noFill/>
              <a:miter lim="800000"/>
              <a:headEnd/>
              <a:tailEnd/>
            </a:ln>
            <a:effectLst/>
          </p:spPr>
        </p:pic>
      </p:grpSp>
      <p:grpSp>
        <p:nvGrpSpPr>
          <p:cNvPr id="68" name="Group 67"/>
          <p:cNvGrpSpPr/>
          <p:nvPr/>
        </p:nvGrpSpPr>
        <p:grpSpPr>
          <a:xfrm>
            <a:off x="2988838" y="4389078"/>
            <a:ext cx="1988900" cy="1826020"/>
            <a:chOff x="246947" y="2963398"/>
            <a:chExt cx="1800200" cy="1812394"/>
          </a:xfrm>
          <a:solidFill>
            <a:srgbClr val="FFD200"/>
          </a:solidFill>
        </p:grpSpPr>
        <p:sp>
          <p:nvSpPr>
            <p:cNvPr id="69" name="Oval 68"/>
            <p:cNvSpPr/>
            <p:nvPr/>
          </p:nvSpPr>
          <p:spPr>
            <a:xfrm>
              <a:off x="246947" y="2963398"/>
              <a:ext cx="1800200" cy="1812394"/>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400" b="1" dirty="0">
                  <a:solidFill>
                    <a:schemeClr val="tx1"/>
                  </a:solidFill>
                  <a:latin typeface="+mj-lt"/>
                </a:rPr>
                <a:t>People, competencies and processes</a:t>
              </a:r>
            </a:p>
            <a:p>
              <a:pPr algn="ctr"/>
              <a:endParaRPr lang="en-GB" sz="1600" dirty="0">
                <a:solidFill>
                  <a:schemeClr val="tx1"/>
                </a:solidFill>
                <a:latin typeface="+mj-lt"/>
              </a:endParaRPr>
            </a:p>
            <a:p>
              <a:pPr algn="ctr"/>
              <a:endParaRPr lang="en-GB" sz="1600" dirty="0">
                <a:solidFill>
                  <a:schemeClr val="tx1"/>
                </a:solidFill>
                <a:latin typeface="+mj-lt"/>
              </a:endParaRPr>
            </a:p>
          </p:txBody>
        </p:sp>
        <p:pic>
          <p:nvPicPr>
            <p:cNvPr id="70" name="Picture 2"/>
            <p:cNvPicPr>
              <a:picLocks noChangeAspect="1" noChangeArrowheads="1"/>
            </p:cNvPicPr>
            <p:nvPr/>
          </p:nvPicPr>
          <p:blipFill>
            <a:blip r:embed="rId5" cstate="print"/>
            <a:srcRect/>
            <a:stretch>
              <a:fillRect/>
            </a:stretch>
          </p:blipFill>
          <p:spPr bwMode="auto">
            <a:xfrm>
              <a:off x="864233" y="4113786"/>
              <a:ext cx="604007" cy="480246"/>
            </a:xfrm>
            <a:prstGeom prst="rect">
              <a:avLst/>
            </a:prstGeom>
            <a:grpFill/>
            <a:ln w="9525">
              <a:noFill/>
              <a:miter lim="800000"/>
              <a:headEnd/>
              <a:tailEnd/>
            </a:ln>
            <a:effectLst/>
          </p:spPr>
        </p:pic>
      </p:grpSp>
      <p:cxnSp>
        <p:nvCxnSpPr>
          <p:cNvPr id="74" name="Straight Arrow Connector 73"/>
          <p:cNvCxnSpPr/>
          <p:nvPr/>
        </p:nvCxnSpPr>
        <p:spPr>
          <a:xfrm flipH="1">
            <a:off x="5302861" y="1889729"/>
            <a:ext cx="7826" cy="4392055"/>
          </a:xfrm>
          <a:prstGeom prst="straightConnector1">
            <a:avLst/>
          </a:prstGeom>
          <a:ln w="28575">
            <a:solidFill>
              <a:srgbClr val="80808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a:off x="128099" y="4085756"/>
            <a:ext cx="10439581" cy="0"/>
          </a:xfrm>
          <a:prstGeom prst="straightConnector1">
            <a:avLst/>
          </a:prstGeom>
          <a:ln w="28575">
            <a:solidFill>
              <a:srgbClr val="80808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2988838" y="1927921"/>
            <a:ext cx="1988900" cy="1826020"/>
          </a:xfrm>
          <a:prstGeom prst="ellipse">
            <a:avLst/>
          </a:prstGeom>
          <a:solidFill>
            <a:srgbClr val="FFD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2130" tIns="82130" rIns="82130" bIns="82130" rtlCol="0" anchor="ctr"/>
          <a:lstStyle/>
          <a:p>
            <a:pPr algn="ctr"/>
            <a:r>
              <a:rPr lang="en-GB" sz="1400" b="1" dirty="0">
                <a:solidFill>
                  <a:schemeClr val="tx1"/>
                </a:solidFill>
                <a:latin typeface="+mj-lt"/>
              </a:rPr>
              <a:t>Flexible organisation</a:t>
            </a:r>
          </a:p>
          <a:p>
            <a:pPr algn="ctr"/>
            <a:endParaRPr lang="en-GB" sz="1400" dirty="0">
              <a:solidFill>
                <a:schemeClr val="tx1"/>
              </a:solidFill>
              <a:latin typeface="+mj-lt"/>
            </a:endParaRPr>
          </a:p>
          <a:p>
            <a:pPr algn="ctr"/>
            <a:endParaRPr lang="en-GB" sz="1400" dirty="0">
              <a:solidFill>
                <a:schemeClr val="tx1"/>
              </a:solidFill>
              <a:latin typeface="+mj-lt"/>
            </a:endParaRPr>
          </a:p>
        </p:txBody>
      </p:sp>
      <p:sp>
        <p:nvSpPr>
          <p:cNvPr id="32" name="Rectangle 31"/>
          <p:cNvSpPr/>
          <p:nvPr/>
        </p:nvSpPr>
        <p:spPr>
          <a:xfrm>
            <a:off x="128099" y="4177521"/>
            <a:ext cx="2776530" cy="2116968"/>
          </a:xfrm>
          <a:prstGeom prst="rect">
            <a:avLst/>
          </a:prstGeom>
          <a:solidFill>
            <a:schemeClr val="bg2">
              <a:lumMod val="95000"/>
            </a:schemeClr>
          </a:solidFill>
          <a:ln w="28575">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82130" tIns="82130" rIns="82130" bIns="82130" rtlCol="0" anchor="ctr"/>
          <a:lstStyle/>
          <a:p>
            <a:pPr marL="195573" indent="-195573">
              <a:buFont typeface="Wingdings" panose="05000000000000000000" pitchFamily="2" charset="2"/>
              <a:buChar char="§"/>
            </a:pPr>
            <a:r>
              <a:rPr lang="en-GB" sz="1100" dirty="0" smtClean="0">
                <a:solidFill>
                  <a:srgbClr val="000000"/>
                </a:solidFill>
                <a:latin typeface="+mj-lt"/>
              </a:rPr>
              <a:t>Invest more in talent</a:t>
            </a:r>
          </a:p>
          <a:p>
            <a:pPr marL="195573" indent="-195573">
              <a:buFont typeface="Wingdings" panose="05000000000000000000" pitchFamily="2" charset="2"/>
              <a:buChar char="§"/>
            </a:pPr>
            <a:r>
              <a:rPr lang="en-GB" sz="1100" dirty="0" smtClean="0">
                <a:solidFill>
                  <a:srgbClr val="000000"/>
                </a:solidFill>
                <a:latin typeface="+mj-lt"/>
              </a:rPr>
              <a:t>Focus </a:t>
            </a:r>
            <a:r>
              <a:rPr lang="en-GB" sz="1100" dirty="0">
                <a:solidFill>
                  <a:srgbClr val="000000"/>
                </a:solidFill>
                <a:latin typeface="+mj-lt"/>
              </a:rPr>
              <a:t>on career development and spotting outstanding talent for future needs of your business</a:t>
            </a:r>
          </a:p>
          <a:p>
            <a:pPr marL="195573" indent="-195573">
              <a:buFont typeface="Wingdings" panose="05000000000000000000" pitchFamily="2" charset="2"/>
              <a:buChar char="§"/>
            </a:pPr>
            <a:r>
              <a:rPr lang="en-GB" sz="1100" dirty="0">
                <a:solidFill>
                  <a:srgbClr val="000000"/>
                </a:solidFill>
                <a:latin typeface="+mj-lt"/>
              </a:rPr>
              <a:t>Appreciation of diversity </a:t>
            </a:r>
          </a:p>
          <a:p>
            <a:pPr marL="195573" indent="-195573">
              <a:buFont typeface="Wingdings" panose="05000000000000000000" pitchFamily="2" charset="2"/>
              <a:buChar char="§"/>
            </a:pPr>
            <a:r>
              <a:rPr lang="en-GB" sz="1100" dirty="0">
                <a:solidFill>
                  <a:srgbClr val="000000"/>
                </a:solidFill>
                <a:latin typeface="+mj-lt"/>
              </a:rPr>
              <a:t>Work on guiding principles rather than fixed rules</a:t>
            </a:r>
          </a:p>
          <a:p>
            <a:pPr marL="195573" indent="-195573">
              <a:buFont typeface="Wingdings" panose="05000000000000000000" pitchFamily="2" charset="2"/>
              <a:buChar char="§"/>
            </a:pPr>
            <a:r>
              <a:rPr lang="en-GB" sz="1100" dirty="0">
                <a:solidFill>
                  <a:srgbClr val="000000"/>
                </a:solidFill>
                <a:latin typeface="+mj-lt"/>
              </a:rPr>
              <a:t>Standardise processes to improve the speed of decision </a:t>
            </a:r>
            <a:r>
              <a:rPr lang="en-GB" sz="1100" dirty="0" smtClean="0">
                <a:solidFill>
                  <a:srgbClr val="000000"/>
                </a:solidFill>
                <a:latin typeface="+mj-lt"/>
              </a:rPr>
              <a:t>making</a:t>
            </a:r>
          </a:p>
          <a:p>
            <a:pPr marL="195573" indent="-195573">
              <a:buFont typeface="Wingdings" panose="05000000000000000000" pitchFamily="2" charset="2"/>
              <a:buChar char="§"/>
            </a:pPr>
            <a:r>
              <a:rPr lang="en-GB" sz="1100" dirty="0" smtClean="0">
                <a:solidFill>
                  <a:srgbClr val="000000"/>
                </a:solidFill>
              </a:rPr>
              <a:t>Reinforce </a:t>
            </a:r>
            <a:r>
              <a:rPr lang="en-GB" sz="1100" dirty="0">
                <a:solidFill>
                  <a:srgbClr val="000000"/>
                </a:solidFill>
              </a:rPr>
              <a:t>a flexible working environment e.g. Technology enabled remote </a:t>
            </a:r>
            <a:r>
              <a:rPr lang="en-GB" sz="1100" dirty="0" smtClean="0">
                <a:solidFill>
                  <a:srgbClr val="000000"/>
                </a:solidFill>
              </a:rPr>
              <a:t>working Skype</a:t>
            </a:r>
            <a:endParaRPr lang="en-GB" sz="1100" dirty="0">
              <a:solidFill>
                <a:srgbClr val="000000"/>
              </a:solidFill>
            </a:endParaRPr>
          </a:p>
        </p:txBody>
      </p:sp>
      <p:sp>
        <p:nvSpPr>
          <p:cNvPr id="38" name="Rectangle 37"/>
          <p:cNvSpPr/>
          <p:nvPr/>
        </p:nvSpPr>
        <p:spPr>
          <a:xfrm>
            <a:off x="128099" y="1764407"/>
            <a:ext cx="2776529" cy="2227710"/>
          </a:xfrm>
          <a:prstGeom prst="rect">
            <a:avLst/>
          </a:prstGeom>
          <a:solidFill>
            <a:schemeClr val="bg2">
              <a:lumMod val="95000"/>
            </a:schemeClr>
          </a:solidFill>
          <a:ln w="28575">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82130" tIns="82130" rIns="82130" bIns="82130" rtlCol="0" anchor="ctr"/>
          <a:lstStyle/>
          <a:p>
            <a:pPr marL="195573" indent="-195573">
              <a:buFont typeface="Wingdings" panose="05000000000000000000" pitchFamily="2" charset="2"/>
              <a:buChar char="§"/>
            </a:pPr>
            <a:r>
              <a:rPr lang="en-GB" sz="1100" dirty="0">
                <a:solidFill>
                  <a:schemeClr val="tx1"/>
                </a:solidFill>
                <a:latin typeface="+mj-lt"/>
              </a:rPr>
              <a:t>Be poised to drive, anticipate &amp; adapt to change</a:t>
            </a:r>
          </a:p>
          <a:p>
            <a:pPr marL="195573" indent="-195573">
              <a:buFont typeface="Wingdings" panose="05000000000000000000" pitchFamily="2" charset="2"/>
              <a:buChar char="§"/>
            </a:pPr>
            <a:r>
              <a:rPr lang="en-GB" sz="1100" dirty="0">
                <a:solidFill>
                  <a:schemeClr val="tx1"/>
                </a:solidFill>
                <a:latin typeface="+mj-lt"/>
              </a:rPr>
              <a:t>Design an organisation structure that can accommodate a substantial amount of change</a:t>
            </a:r>
          </a:p>
          <a:p>
            <a:pPr marL="195573" indent="-195573">
              <a:buFont typeface="Wingdings" panose="05000000000000000000" pitchFamily="2" charset="2"/>
              <a:buChar char="§"/>
            </a:pPr>
            <a:r>
              <a:rPr lang="en-GB" sz="1100" dirty="0">
                <a:solidFill>
                  <a:schemeClr val="tx1"/>
                </a:solidFill>
                <a:latin typeface="+mj-lt"/>
              </a:rPr>
              <a:t>Foster &amp; reward </a:t>
            </a:r>
            <a:r>
              <a:rPr lang="en-GB" sz="1100" dirty="0" smtClean="0">
                <a:solidFill>
                  <a:schemeClr val="tx1"/>
                </a:solidFill>
                <a:latin typeface="+mj-lt"/>
              </a:rPr>
              <a:t>people  </a:t>
            </a:r>
            <a:r>
              <a:rPr lang="en-GB" sz="1100" dirty="0">
                <a:solidFill>
                  <a:schemeClr val="tx1"/>
                </a:solidFill>
                <a:latin typeface="+mj-lt"/>
              </a:rPr>
              <a:t>that </a:t>
            </a:r>
            <a:r>
              <a:rPr lang="en-GB" sz="1100" dirty="0" smtClean="0">
                <a:solidFill>
                  <a:schemeClr val="tx1"/>
                </a:solidFill>
                <a:latin typeface="+mj-lt"/>
              </a:rPr>
              <a:t>thrive on </a:t>
            </a:r>
            <a:r>
              <a:rPr lang="en-GB" sz="1100" dirty="0">
                <a:solidFill>
                  <a:schemeClr val="tx1"/>
                </a:solidFill>
                <a:latin typeface="+mj-lt"/>
              </a:rPr>
              <a:t>innovation and </a:t>
            </a:r>
            <a:r>
              <a:rPr lang="en-GB" sz="1100" dirty="0" smtClean="0">
                <a:solidFill>
                  <a:schemeClr val="tx1"/>
                </a:solidFill>
                <a:latin typeface="+mj-lt"/>
              </a:rPr>
              <a:t>who are comfortable </a:t>
            </a:r>
            <a:r>
              <a:rPr lang="en-GB" sz="1100" dirty="0">
                <a:solidFill>
                  <a:schemeClr val="tx1"/>
                </a:solidFill>
                <a:latin typeface="+mj-lt"/>
              </a:rPr>
              <a:t>with adaptability</a:t>
            </a:r>
          </a:p>
          <a:p>
            <a:pPr marL="195573" indent="-195573">
              <a:buFont typeface="Wingdings" panose="05000000000000000000" pitchFamily="2" charset="2"/>
              <a:buChar char="§"/>
            </a:pPr>
            <a:r>
              <a:rPr lang="en-GB" sz="1100" dirty="0">
                <a:solidFill>
                  <a:schemeClr val="tx1"/>
                </a:solidFill>
                <a:latin typeface="+mj-lt"/>
              </a:rPr>
              <a:t>Be regularly prepared to change the model - the right people, with the right skills, in the right place</a:t>
            </a:r>
          </a:p>
          <a:p>
            <a:pPr marL="195573" indent="-195573">
              <a:buFont typeface="Wingdings" panose="05000000000000000000" pitchFamily="2" charset="2"/>
              <a:buChar char="§"/>
            </a:pPr>
            <a:r>
              <a:rPr lang="en-GB" sz="1100" dirty="0">
                <a:solidFill>
                  <a:schemeClr val="tx1"/>
                </a:solidFill>
                <a:latin typeface="+mj-lt"/>
              </a:rPr>
              <a:t>Develop more “porous” models - more alliances, partnerships, etc. </a:t>
            </a:r>
          </a:p>
        </p:txBody>
      </p:sp>
      <p:sp>
        <p:nvSpPr>
          <p:cNvPr id="42" name="Rectangle 41"/>
          <p:cNvSpPr/>
          <p:nvPr/>
        </p:nvSpPr>
        <p:spPr>
          <a:xfrm>
            <a:off x="7763790" y="4177520"/>
            <a:ext cx="2803890" cy="2116970"/>
          </a:xfrm>
          <a:prstGeom prst="rect">
            <a:avLst/>
          </a:prstGeom>
          <a:solidFill>
            <a:schemeClr val="bg2">
              <a:lumMod val="95000"/>
            </a:schemeClr>
          </a:solidFill>
          <a:ln w="28575">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82130" tIns="82130" rIns="82130" bIns="82130" rtlCol="0" anchor="ctr"/>
          <a:lstStyle/>
          <a:p>
            <a:pPr marL="195573" indent="-195573">
              <a:buFont typeface="Wingdings" panose="05000000000000000000" pitchFamily="2" charset="2"/>
              <a:buChar char="§"/>
            </a:pPr>
            <a:r>
              <a:rPr lang="en-GB" sz="1100" dirty="0">
                <a:solidFill>
                  <a:schemeClr val="tx1"/>
                </a:solidFill>
                <a:latin typeface="+mj-lt"/>
              </a:rPr>
              <a:t>Create clarity, paint a picture of the future by sharing your vision, &amp; plan of how to stay competitive </a:t>
            </a:r>
          </a:p>
          <a:p>
            <a:pPr marL="195573" indent="-195573">
              <a:buFont typeface="Wingdings" panose="05000000000000000000" pitchFamily="2" charset="2"/>
              <a:buChar char="§"/>
            </a:pPr>
            <a:r>
              <a:rPr lang="en-GB" sz="1100" dirty="0">
                <a:solidFill>
                  <a:schemeClr val="tx1"/>
                </a:solidFill>
                <a:latin typeface="+mj-lt"/>
              </a:rPr>
              <a:t>Leaders must demonstrate agility in the way they work</a:t>
            </a:r>
          </a:p>
          <a:p>
            <a:pPr marL="195573" indent="-195573">
              <a:buFont typeface="Wingdings" panose="05000000000000000000" pitchFamily="2" charset="2"/>
              <a:buChar char="§"/>
            </a:pPr>
            <a:r>
              <a:rPr lang="en-GB" sz="1100" dirty="0">
                <a:solidFill>
                  <a:schemeClr val="tx1"/>
                </a:solidFill>
                <a:latin typeface="+mj-lt"/>
              </a:rPr>
              <a:t>With so many variables lead with confidence, have the courage to take a stand on critical issues</a:t>
            </a:r>
          </a:p>
          <a:p>
            <a:pPr marL="195573" indent="-195573">
              <a:buFont typeface="Wingdings" panose="05000000000000000000" pitchFamily="2" charset="2"/>
              <a:buChar char="§"/>
            </a:pPr>
            <a:r>
              <a:rPr lang="en-GB" sz="1100" dirty="0">
                <a:solidFill>
                  <a:schemeClr val="tx1"/>
                </a:solidFill>
                <a:latin typeface="+mj-lt"/>
              </a:rPr>
              <a:t>To build confidence be genuine and authentic in communications</a:t>
            </a:r>
          </a:p>
          <a:p>
            <a:pPr marL="195573" indent="-195573">
              <a:buFont typeface="Wingdings" panose="05000000000000000000" pitchFamily="2" charset="2"/>
              <a:buChar char="§"/>
            </a:pPr>
            <a:r>
              <a:rPr lang="en-GB" sz="1100" dirty="0">
                <a:solidFill>
                  <a:schemeClr val="tx1"/>
                </a:solidFill>
                <a:latin typeface="+mj-lt"/>
              </a:rPr>
              <a:t>Embed coaching and mentoring into the culture, lead by example</a:t>
            </a:r>
          </a:p>
        </p:txBody>
      </p:sp>
      <p:sp>
        <p:nvSpPr>
          <p:cNvPr id="43" name="Rectangle 42"/>
          <p:cNvSpPr/>
          <p:nvPr/>
        </p:nvSpPr>
        <p:spPr>
          <a:xfrm>
            <a:off x="7763792" y="1836415"/>
            <a:ext cx="2803889" cy="2227710"/>
          </a:xfrm>
          <a:prstGeom prst="rect">
            <a:avLst/>
          </a:prstGeom>
          <a:solidFill>
            <a:schemeClr val="bg2">
              <a:lumMod val="95000"/>
            </a:schemeClr>
          </a:solidFill>
          <a:ln w="28575">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82130" tIns="82130" rIns="82130" bIns="82130" rtlCol="0" anchor="ctr"/>
          <a:lstStyle/>
          <a:p>
            <a:endParaRPr lang="en-GB" sz="1100" dirty="0">
              <a:solidFill>
                <a:schemeClr val="tx1"/>
              </a:solidFill>
              <a:latin typeface="EY interstate"/>
            </a:endParaRPr>
          </a:p>
          <a:p>
            <a:pPr marL="195573" indent="-195573">
              <a:buFont typeface="Wingdings" panose="05000000000000000000" pitchFamily="2" charset="2"/>
              <a:buChar char="§"/>
            </a:pPr>
            <a:r>
              <a:rPr lang="en-GB" sz="1100" dirty="0">
                <a:solidFill>
                  <a:schemeClr val="tx1"/>
                </a:solidFill>
                <a:latin typeface="+mj-lt"/>
              </a:rPr>
              <a:t>Drive connectivity by building </a:t>
            </a:r>
            <a:r>
              <a:rPr lang="en-GB" sz="1100" dirty="0" smtClean="0">
                <a:solidFill>
                  <a:schemeClr val="tx1"/>
                </a:solidFill>
                <a:latin typeface="+mj-lt"/>
              </a:rPr>
              <a:t>alliances</a:t>
            </a:r>
          </a:p>
          <a:p>
            <a:pPr marL="195573" indent="-195573">
              <a:buFont typeface="Wingdings" panose="05000000000000000000" pitchFamily="2" charset="2"/>
              <a:buChar char="§"/>
            </a:pPr>
            <a:r>
              <a:rPr lang="en-GB" sz="1100" dirty="0" smtClean="0">
                <a:solidFill>
                  <a:schemeClr val="tx1"/>
                </a:solidFill>
                <a:latin typeface="+mj-lt"/>
              </a:rPr>
              <a:t>Foster </a:t>
            </a:r>
            <a:r>
              <a:rPr lang="en-GB" sz="1100" dirty="0">
                <a:solidFill>
                  <a:schemeClr val="tx1"/>
                </a:solidFill>
                <a:latin typeface="+mj-lt"/>
              </a:rPr>
              <a:t>a supportive culture by encouraging helping behaviours </a:t>
            </a:r>
          </a:p>
          <a:p>
            <a:pPr marL="195573" indent="-195573">
              <a:buFont typeface="Wingdings" panose="05000000000000000000" pitchFamily="2" charset="2"/>
              <a:buChar char="§"/>
            </a:pPr>
            <a:r>
              <a:rPr lang="en-GB" sz="1100" dirty="0">
                <a:solidFill>
                  <a:schemeClr val="tx1"/>
                </a:solidFill>
                <a:latin typeface="+mj-lt"/>
              </a:rPr>
              <a:t>Create workspace for collaboration, e.g. hubs, think pods, idea walls</a:t>
            </a:r>
          </a:p>
          <a:p>
            <a:pPr marL="195573" indent="-195573">
              <a:buFont typeface="Wingdings" panose="05000000000000000000" pitchFamily="2" charset="2"/>
              <a:buChar char="§"/>
            </a:pPr>
            <a:r>
              <a:rPr lang="en-GB" sz="1100" dirty="0">
                <a:solidFill>
                  <a:schemeClr val="tx1"/>
                </a:solidFill>
                <a:latin typeface="+mj-lt"/>
              </a:rPr>
              <a:t>Inspire creative working practices</a:t>
            </a:r>
          </a:p>
          <a:p>
            <a:pPr marL="195573" indent="-195573">
              <a:buFont typeface="Wingdings" panose="05000000000000000000" pitchFamily="2" charset="2"/>
              <a:buChar char="§"/>
            </a:pPr>
            <a:r>
              <a:rPr lang="en-GB" sz="1100" dirty="0">
                <a:solidFill>
                  <a:schemeClr val="tx1"/>
                </a:solidFill>
                <a:latin typeface="+mj-lt"/>
              </a:rPr>
              <a:t>Build an infrastructure for knowledge sharing </a:t>
            </a:r>
            <a:endParaRPr lang="en-GB" sz="1100" dirty="0" smtClean="0">
              <a:solidFill>
                <a:schemeClr val="tx1"/>
              </a:solidFill>
              <a:latin typeface="+mj-lt"/>
            </a:endParaRPr>
          </a:p>
          <a:p>
            <a:pPr marL="195573" indent="-195573">
              <a:buFont typeface="Wingdings" panose="05000000000000000000" pitchFamily="2" charset="2"/>
              <a:buChar char="§"/>
            </a:pPr>
            <a:r>
              <a:rPr lang="en-GB" sz="1100" dirty="0" smtClean="0">
                <a:solidFill>
                  <a:schemeClr val="tx1"/>
                </a:solidFill>
                <a:latin typeface="+mj-lt"/>
              </a:rPr>
              <a:t>Encourage </a:t>
            </a:r>
            <a:r>
              <a:rPr lang="en-GB" sz="1100" dirty="0">
                <a:solidFill>
                  <a:schemeClr val="tx1"/>
                </a:solidFill>
                <a:latin typeface="+mj-lt"/>
              </a:rPr>
              <a:t>employee initiative</a:t>
            </a:r>
          </a:p>
          <a:p>
            <a:pPr marL="195573" indent="-195573">
              <a:buFont typeface="Wingdings" panose="05000000000000000000" pitchFamily="2" charset="2"/>
              <a:buChar char="§"/>
            </a:pPr>
            <a:endParaRPr lang="en-GB" sz="1100" dirty="0">
              <a:solidFill>
                <a:schemeClr val="bg1"/>
              </a:solidFill>
              <a:latin typeface="EYInterstate Light" panose="02000506000000020004" pitchFamily="2" charset="0"/>
            </a:endParaRPr>
          </a:p>
        </p:txBody>
      </p:sp>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33491" y="3059351"/>
            <a:ext cx="920992" cy="36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 name="Oval 82"/>
          <p:cNvSpPr/>
          <p:nvPr/>
        </p:nvSpPr>
        <p:spPr>
          <a:xfrm>
            <a:off x="4011533" y="3595156"/>
            <a:ext cx="2598307" cy="912642"/>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82130" tIns="82130" rIns="82130" bIns="82130" rtlCol="0" anchor="ctr"/>
          <a:lstStyle/>
          <a:p>
            <a:pPr algn="ctr"/>
            <a:r>
              <a:rPr lang="en-GB" sz="1800" b="1" dirty="0">
                <a:solidFill>
                  <a:schemeClr val="bg1"/>
                </a:solidFill>
                <a:latin typeface="+mj-lt"/>
              </a:rPr>
              <a:t>Talent Management</a:t>
            </a:r>
          </a:p>
        </p:txBody>
      </p:sp>
    </p:spTree>
    <p:extLst>
      <p:ext uri="{BB962C8B-B14F-4D97-AF65-F5344CB8AC3E}">
        <p14:creationId xmlns:p14="http://schemas.microsoft.com/office/powerpoint/2010/main" val="27349489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34015882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3014"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5"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26</a:t>
            </a:fld>
            <a:endParaRPr lang="en-GB" sz="800" dirty="0">
              <a:solidFill>
                <a:srgbClr val="808080"/>
              </a:solidFill>
            </a:endParaRPr>
          </a:p>
        </p:txBody>
      </p:sp>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1732" y="4112197"/>
            <a:ext cx="1224707" cy="2332729"/>
          </a:xfrm>
          <a:prstGeom prst="rect">
            <a:avLst/>
          </a:prstGeom>
        </p:spPr>
      </p:pic>
      <p:sp>
        <p:nvSpPr>
          <p:cNvPr id="9" name="Rectangle 8"/>
          <p:cNvSpPr/>
          <p:nvPr/>
        </p:nvSpPr>
        <p:spPr bwMode="auto">
          <a:xfrm>
            <a:off x="2191841" y="4121174"/>
            <a:ext cx="8136136" cy="2323753"/>
          </a:xfrm>
          <a:prstGeom prst="rect">
            <a:avLst/>
          </a:prstGeom>
          <a:solidFill>
            <a:schemeClr val="bg2"/>
          </a:solidFill>
          <a:ln w="0">
            <a:solidFill>
              <a:schemeClr val="tx1"/>
            </a:solidFill>
            <a:prstDash val="solid"/>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r>
              <a:rPr lang="en-GB" sz="1100" dirty="0" smtClean="0">
                <a:latin typeface="+mj-lt"/>
              </a:rPr>
              <a:t>In 2013 the stock price more than tripled and US subscriber base grew by 29 million. Threw out the HR rule book and introduced </a:t>
            </a:r>
            <a:r>
              <a:rPr lang="en-GB" sz="1100" b="1" dirty="0" smtClean="0">
                <a:latin typeface="+mj-lt"/>
              </a:rPr>
              <a:t>5 innovative ideas to attract, retain and manage talent</a:t>
            </a:r>
            <a:r>
              <a:rPr lang="en-GB" sz="1100" dirty="0">
                <a:latin typeface="+mj-lt"/>
              </a:rPr>
              <a:t> </a:t>
            </a:r>
            <a:r>
              <a:rPr lang="en-GB" sz="1100" dirty="0" smtClean="0">
                <a:latin typeface="+mj-lt"/>
              </a:rPr>
              <a:t>where leaders are expected to create the company culture and talent managers don’t fall into the HR set:</a:t>
            </a:r>
          </a:p>
          <a:p>
            <a:endParaRPr lang="en-GB" sz="1100" dirty="0" smtClean="0">
              <a:latin typeface="+mj-lt"/>
            </a:endParaRPr>
          </a:p>
          <a:p>
            <a:pPr marL="285750" indent="-285750">
              <a:buFont typeface="+mj-lt"/>
              <a:buAutoNum type="arabicPeriod"/>
            </a:pPr>
            <a:r>
              <a:rPr lang="en-GB" sz="1100" dirty="0" smtClean="0">
                <a:latin typeface="+mj-lt"/>
              </a:rPr>
              <a:t>Only hire, reward &amp; tolerate fully formed adults who’s interests are aligned with the company’s</a:t>
            </a:r>
          </a:p>
          <a:p>
            <a:pPr marL="285750" indent="-285750">
              <a:buFont typeface="+mj-lt"/>
              <a:buAutoNum type="arabicPeriod"/>
            </a:pPr>
            <a:r>
              <a:rPr lang="en-GB" sz="1100" dirty="0" smtClean="0">
                <a:latin typeface="+mj-lt"/>
              </a:rPr>
              <a:t>Hire  ‘A’ players &amp; </a:t>
            </a:r>
            <a:r>
              <a:rPr lang="en-GB" sz="1100" dirty="0">
                <a:latin typeface="+mj-lt"/>
              </a:rPr>
              <a:t>b</a:t>
            </a:r>
            <a:r>
              <a:rPr lang="en-GB" sz="1100" dirty="0" smtClean="0">
                <a:latin typeface="+mj-lt"/>
              </a:rPr>
              <a:t>e willing to let go of people who’s skills no longer fit even if they did in the past</a:t>
            </a:r>
          </a:p>
          <a:p>
            <a:pPr marL="285750" indent="-285750">
              <a:buFont typeface="+mj-lt"/>
              <a:buAutoNum type="arabicPeriod"/>
            </a:pPr>
            <a:r>
              <a:rPr lang="en-GB" sz="1100" dirty="0" smtClean="0">
                <a:latin typeface="+mj-lt"/>
              </a:rPr>
              <a:t>Honest communications &amp; common sense approach with less focus on formal policies</a:t>
            </a:r>
          </a:p>
          <a:p>
            <a:pPr marL="285750" indent="-285750">
              <a:buFont typeface="+mj-lt"/>
              <a:buAutoNum type="arabicPeriod"/>
            </a:pPr>
            <a:r>
              <a:rPr lang="en-GB" sz="1100" dirty="0">
                <a:latin typeface="+mj-lt"/>
              </a:rPr>
              <a:t>T</a:t>
            </a:r>
            <a:r>
              <a:rPr lang="en-GB" sz="1100" dirty="0" smtClean="0">
                <a:latin typeface="+mj-lt"/>
              </a:rPr>
              <a:t>ell the truth about performance – eliminate performance reviews</a:t>
            </a:r>
          </a:p>
          <a:p>
            <a:pPr marL="285750" indent="-285750">
              <a:buFont typeface="+mj-lt"/>
              <a:buAutoNum type="arabicPeriod"/>
            </a:pPr>
            <a:r>
              <a:rPr lang="en-GB" sz="1100" dirty="0">
                <a:latin typeface="+mj-lt"/>
              </a:rPr>
              <a:t>M</a:t>
            </a:r>
            <a:r>
              <a:rPr lang="en-GB" sz="1100" dirty="0" smtClean="0">
                <a:latin typeface="+mj-lt"/>
              </a:rPr>
              <a:t>ake clear to managers that their top priority is building great teams</a:t>
            </a:r>
          </a:p>
        </p:txBody>
      </p:sp>
      <p:sp>
        <p:nvSpPr>
          <p:cNvPr id="11" name="Title 1"/>
          <p:cNvSpPr txBox="1">
            <a:spLocks/>
          </p:cNvSpPr>
          <p:nvPr/>
        </p:nvSpPr>
        <p:spPr>
          <a:xfrm>
            <a:off x="688176" y="288800"/>
            <a:ext cx="9339044" cy="633715"/>
          </a:xfrm>
          <a:prstGeom prst="rect">
            <a:avLst/>
          </a:prstGeom>
        </p:spPr>
        <p:txBody>
          <a:bodyPr lIns="104306" tIns="52153" rIns="104306" bIns="52153"/>
          <a:lstStyle>
            <a:lvl1pPr algn="l" defTabSz="914400" rtl="0" eaLnBrk="1" latinLnBrk="0" hangingPunct="1">
              <a:lnSpc>
                <a:spcPct val="85000"/>
              </a:lnSpc>
              <a:spcBef>
                <a:spcPct val="0"/>
              </a:spcBef>
              <a:buNone/>
              <a:defRPr sz="3000" b="1" kern="1200">
                <a:solidFill>
                  <a:schemeClr val="tx1"/>
                </a:solidFill>
                <a:latin typeface="+mj-lt"/>
                <a:ea typeface="+mj-ea"/>
                <a:cs typeface="+mj-cs"/>
              </a:defRPr>
            </a:lvl1pPr>
          </a:lstStyle>
          <a:p>
            <a:r>
              <a:rPr lang="en-GB" sz="2400" b="0" dirty="0" smtClean="0">
                <a:solidFill>
                  <a:schemeClr val="tx1">
                    <a:lumMod val="50000"/>
                    <a:lumOff val="50000"/>
                  </a:schemeClr>
                </a:solidFill>
              </a:rPr>
              <a:t>Some case studies: Best practice in maximising talent</a:t>
            </a:r>
            <a:endParaRPr lang="en-GB" sz="2400" b="0" dirty="0">
              <a:solidFill>
                <a:schemeClr val="tx1">
                  <a:lumMod val="50000"/>
                  <a:lumOff val="50000"/>
                </a:schemeClr>
              </a:solidFill>
            </a:endParaRPr>
          </a:p>
        </p:txBody>
      </p:sp>
      <p:sp>
        <p:nvSpPr>
          <p:cNvPr id="2" name="AutoShape 4" descr="data:image/jpeg;base64,/9j/4AAQSkZJRgABAQAAAQABAAD/2wCEAAkGBxAQDxIUDxQVEA8QFRAUDw8UEBQPEBUVFRQXFxQVFRUYHCggGB0mGxQUITEhJSorOi8uFx8zODMsNygtLisBCgoKDg0OGhAQGCwkHR8sLCwsLCwsLCwsLCwsLCwsLCwsLCwsLCwsLCwsLCwsLCwsLCwsLCwsLCwsLCwsLCwsLP/AABEIAL4A8AMBEQACEQEDEQH/xAAcAAEAAgIDAQAAAAAAAAAAAAAABgcBBQIDBAj/xABNEAABAwICBAYMCwUHBQAAAAABAAIDBBEFEgYHITETQVFxgZEVIjJCU2FykqGxsrMIFBcjJTQ1UnPB0SRDVGKCFiYzdIOT0jaUo8Pw/8QAGgEBAAIDAQAAAAAAAAAAAAAAAAEFAgQGA//EACwRAQABAwMCBQUAAgMAAAAAAAABAgMRBBIhBTEUM0FRUhMiIzI0YXFCgZH/2gAMAwEAAhEDEQA/ALxQEBAQEEExkftEvlfkFx3UM+IqdBpPKh47LS5bRZOfc4LJycFk5CychZOTgsnPucFk59zgsnPucFk59zgsnPucFk59zgsnPucFk59zgsnPuMEf/XUxEzOETiEVxzSoNuym7Y99KdrR5I4+f1q70fS5q+6729lZqNbEcULG1YyOfhkTnkuc50xLibk/OO410FNMUxiFVNU1TmUsWSBAQEBAQEBAQEBBB8WH7RL5X5Bchr4/PUv9J5UPLlWptbOTKm1GWMqYMs5UwMZUwGVRgyZUwZMqYMmVTgyZUwZMqYMs5UwZYyqMGTKp2mXCZ7WNLnkNa0Xc47AAsqLc1TiIRNURGZQDSLSN1QSyO7IOPic/xnkHiXR6Hp1NqIrr7qfU6qa5209mgVq0V7arPsqHypveOQS5AQEBAQEBAQEBAQQvE2/Py+UfUFymtj89S800/ih5sq1cNjJlUYMmVMGTKmDJlU7TJlTaZMqbTJlUYMmVTgyZU2mTKowZMqYMmVTtMuErg1pc4hrQCSSbAAJFGZxHdE1YjKt9JcfdVOysu2Bp7Ubi4/ed+QXR6LRRbp3T3U+p1M3JxHZpFZerUEF66rPsqHypveOQS5AQEBAQEBAQEBAQQ7EB89L5Z9QXL6uPzVLvT+VDostbD2yWTBksmDJZMGSyYMlkwZLJgyWTBksmDJZMGSyYMlkwZMqYMq90zx7hXmGI/NMPbuB7tw4uYetXWg0m376o5Vur1GfthFlbtAQEF7arPsqHypveOQS1AQEBAQEBAQEBAQRKtHz0vln1Bc1qY/NUubE/ih05V4YemTKmE5MqYRkyphOTKmDJlTCMmVMGTKmDJlTBkyphOTKmEZMqYTlFtN8c4CPgoz87IDc8bGcvOVu6LTfUq3T2hram9tjEK3AV/wD4VWWUBAQXtqs+yofKm945BLUBAQEBAQEBAQEBBD66donlDtnbnbxbguY1N2mL9USubFEzaiWW2O7aFjG2e0s+XLKpxlHBlTBkypgyZVO0yZVG0yZU2mTKm0yZU2mTKm0yxlU7TLy4pWsp4XySdywXtxk8QCU0TVO2ETVERmVN11Y+eV0kndvNzyDkA8QXRWrUWqdsKi7XNdWXnuvVgzdBi6BdBe2qv7Kh8qb3jkEuQEBAQEBAQEBAQEEDxv6zL5X5BcZ1D+ip0Wj8mHia4jcbcy06a5p7NiaYl6Y65432POF7xqq4eU2aZd7MSHG0jmN1706uPWHnNiXc2tjPHbnC9o1NufV5zaqh3NnYdzh1r0puUT6sdtUejmCDx+lZ5pY8s2U8IZypgyZUwZYsmAso4OVZaxcZ4SUQMPaRbX243ncOgetWGgtd65/6amquf8UPurRpF0GLoM3QYugvjVUfoqHypveOQS9AQEBAQEBAQEBAQQLG/rMvlfkFxnUf6KnQ6OfxUvGtFtiIEBBhAsp3IxDIceU9anfV7o2w5cI7lPWVO+r3NkMcI7lPWU31e5sg4Q8p6ym+r3NsPJilcIIXyO25BsBO925o6SvfTW6r1yKMvO9XTbomVUyTFzi5xu5xJceUnaSu1opimmKY9HN1VTM5ljMskGZAzIGZBlpJNgLk7gASTzAKKqopjNU8JiMzwvzVfC9mFwte0scDLdrhlO15IuFFFdNUZiSqmYnlLVkgQEBAQEBAQEBBgoKG0yx2emxer4N12Z2Xjd2zP8NnV0LT1GhtX/2jlsWdTXb/AFbXBdJoKmzSeClP7txFif5XcfNsK5zVdNuWeY5hb2NZRc4niW7Va3GUBAQEBAQEAoIPrAxG72QtOxvbyc57gdAuekLo+jaeIibkqjqN3mKEQzK+VbOZAzJyMZk4P9t5gGjktV2xvHD4Qja7yAd/PuVbrOoU2OI5luWNJVc59E9w3CoacWibY8bzteedy5q/rLt6funhcW9PRbjhYOjH1ZvO/wBa6bpn88KXW+dLbKxaogICAgICAgICAg+b9ZJ+l6zy2e6YgjV1GMpSbAtMJYbMnvNFuve8reY98PEetVOs6XRc5o4lvafW1UcT2T6hrY52B8Lg9h4wdx5CN4PiK5u9YrtVYqhcW7lNyMw9C8XoICAgICDhLI1rS5xs1oLnHkAFys7dE11REMaqopiZU9X1rppXyO2GRxdbkHEOgWC7ixai3bimHNXK5rqmZdGZezzMyDGZPQSnRPRrh7Szi0HeM3GTxn+X1qm6h1CLX2W+6x0mk3zur7LBa0AAAWA2ADYAFzNVU1TmVzERHEOSxSmejH1ZvO/1rsOl/wA8Oe1vnS2ysWqICAgICAgICAgIPmvWY76YrfxGe6YgjOdBjMg9mGYrNTPzwuynvgdrHDkc3jXhf01F6nFUPW1ert8xKytHtJIawWHzc4F3RE7+UsPfD1LltZ0+uxOY5pXen1VN2MTxLdqubbKAgIBQRrT3EOCpCwGzpzkHkja89Vh/UrXpNj6l3dPo0dfc228e6ssy6xRM5kDMgkGiGAGrkLpAfi8ZGbizu+4D6+fxqs6hrYs04p7y3dJpvqVZnss9rQAANgGwAbABxALkpqmqcyvaYiOIclCREpnox9Wbzv8AWuw6X/PDndb50tsrFqiAgICAgICAgICD5l1nO+ma38Rnuo0EZzIMZkDMg5xzOa4OaS1zTdrgbEEcYKxrpiqMVJpmYnMLG0T0wE9oqkhs+wMf3LZPF4neLj4uRc1r+mbPvt9vZc6TWbvtqS5UqxhlAQCgrHWLXZ6tsY3QMt/U/tnegNXVdIs7bO73UWvubq8ItmVu0TMg9mD4e+qmbFHvd3TrXDWje4836LX1F+LNuaqnrZtTcqxC46CjZBE2OIWYwWHKeUnxlcXevVXq5rn1dFatxRTEQ9C8noICCZ6MfVm87/Wuw6X/ADw57W+dLbKxaogICAgICAgICAg+YNaDvpqu/EZ7mNBF86BnQM6BnQMyYTEysPQrTDhC2CrcM+wQzE2z8jHk99yHj3b9/PdQ6bj8lqP9wtdHrM/bWnS5/ErXuygw5wAudgFyTyAb/QsqKd1UQiqcRlROIVxnmklO+V7n9BPajoFl3Vm3soin2czcq3VTU6M69XmF6C2dBsC+KwZ3j5+cNc++9rd7WeLfc+M+Jcn1PVzdubY7QvtFp/p0bp7ykiqm6ygICCZ6MfVm87/Wuw6X/PDntb50tsrFqiAgICAgICAgICD5b1pn6brvxGe5jQRbMgXQMyBmQMyDF0nsQs7QLSzh7U9S754D5mQn/EAG4/zD09C5vqfT9v5LccesLjR6vdG2tNlRLPLTaY1nA0E7r2JZkafG/tfzW9021v1FMNbV1bbcqUBXZw51m6CT6AYN8Zqc7xeGnyudcbHP7xvj3XPMOVVvUtV9K3iO8t3RWPqV5ntC27rksT3lfRBdRgLqcBmTAXTAmmi/1ZvO/wBZXXdM/nhz2t86W3Vi1RAQEBAQEBAQEAoPnzWJoZU1GKVc0To8sj2kNc5zXC0bG8h+6VX19StUVzRV6NyjRXK6IqhEKnQvEGfueEHLHIx3oJBWVHUdPVxuY1aO7T6NNVUc0RtLHJEf543M9JC26blFX6zEvCq3VT3h58yzYGZAzIGZByZKWkFpLXNILXA2II3EFRVG6MSmJmJzC5dCtJRXQ9vYVMVhM3de+54HIbdB6FyfUtH9CvdH6yvtJqIuU4nvDT62avLTwRj97IXEfyxt/wCT29S2eiW811Vezw6jXimIVhmXSeimZaSSAAS4kANG0knYAFGcRmUxGeF26NYUKOmZF3/dSnlee66t3QuQ11+b12avT0dJprP06Ihtcy0sNgzKcBmUYSZkwGZThCcaKfVW87/aK6zpvkQ57W+dU3CsGoICAgICAgICAgFBXGOn9qm8o+oLkddGb9TpNJ5NLwZlqYbWWH2IsQCOQi49Kypqqp7SxmmJ9GixTRChqLkx8E/wkR4M9I7k9IW9a6jet+uY/wAtW5obVfphDMZ1f1EdzTOFQ37mxkvQNzuhW1jqdqviriVbe6fcp5p5Q+Zr2OLXtLHDe1zS1w6CrKJiqMxLRmmaeJdfCKWJwiD34HjMlHOyaPaW7HMO5zT3TTz/AKLxv2ab1E0VPSzcm3VmEj1m4uyolpjE7NHwGdvL8469jyHYB0LS6bp6rNNUVd8tnWXfqTEx7Ibwis2kmGrXCuGqTM8XjprFuzYZHXy9QuepV3Ur/wBO1tjvLf0Fnfc3T6LVzLl8L5nMmAzJgMyYDMmBjMmBPNET+yN53+0V1XTvIhzut86pulvtQQEBAQEBAQEBAQVppA79qm8v8guU1sfnqdLo/Jpa/MtXDZMyYDMmAzJga/GMGp6tuWdgd9147WRvM5bNjU3LM/bLwvae3djmOVZ6SaFz0t3xXng3lwHzjPKaOLxj0K+02vovcdpUuo0VdrmOYRZb0NJi6DJcgXRK7tFcLFJSRx2s8jPL5bt/VsHQuV1176t2Z9I7Ok0ln6duI9W3zLUw2TMmAzJgMyYDMmAzJgWBof8AVGc7/aK6fp/kQ5zW+dU3a3moICAgICAgICAgJIq/SF37XN5f5BcvrI/PU6bR+TS14ctXDZMyYQZkwkzJgMyYQZkxhKFaV6FMlzS0gDJdpdCNjH+T913oKuNJr5jFNz/1U6rQxOaqFaSRlpIcC1w2FpFiDyEFXUTmMqeYxOJcUQkWgmGfGKxmYXjh+cfybO5HXbqWrrLv07U+8tvR2vqXI/wuDMuXmMukMyYDMmAzJgMyYDMmAzJgWHoaf2NnO/2iul6f5EOb13n1N6t1qCAgICAgICAgICDwTYPTPcXPiY5ztpcWgkleNVi3VOZph6037lMYiqXDsDSeBj8wLHwtn4wy8Te+Us9gaTwMfmBPDWfjB4m98pY7A0ngY/MCeFs/CDxN75SdgaTwMfmBPDWfjB4m98pOwNJ4GPzAnhbPwg8Te+UnYGk8DH5gTwtn4weJvfKTsDSeBj8wJ4Wz8YPE3vlLyT6HYZI4uko6d7jvc6BjnHnJC9qaYiMQ8aqpmeXX/YfCf4Gl/wC2j/RT3Q76XRTD4r8FSwR5rZskLWXtuvYLCu3RX+0ZZ0XK6P1nD0dgaTwMfmBYeGs/GHp4m78pOwNJ4GPzAnhbPxg8Td+UnYKk8DH5gTw1n4weJu/KTsFSeBj8wJ4az8YPE3flJ2BpPAx+YE8LZ+MHibvyk7A0ngY/MCeGs/GDxN35SdgqTwMfmBPDWfjB4m78peympmRtDY2hjRezQLDavWmmKYxDxqqmqcy7lkgQEBAQEFd6Ta3aGgq5aaWOZ8kJaHlobluWh2y55CEGs+XfDvAz9TP1QY+XfDvA1HUz9UE9g0lhdhwrrOFOYTNbL2+UC9rcqCBfLxh3gajqZ+qDa4FriwqqkbG5z6Z7yA0ystGTyF4uG9NkFg5tl+JBENCdYlJi0ssdO2RroWh5L2gBzS62yx5utBMUEO0s1iUmG1cNPO2Rz5g0hzGgtAc7KL3KCVVlXHDG6SZ7Y4mAufI4hrWgbySUFbVuvHCmPtGJpmj942PI08wcQfQglGiGnlBipc2leeFYA58L2FjwN1xxOF+QoIzieuvD4J5YnRTudC98biGtsSxxabXPKCg83y74d4GfzWfqgx8vGHeBqPNZ+qCf4zpHDS0zJ5A4xyZMga3tjnbmFwd2xBH/AJT6P7kvmt/VRkw3uBaV0lacsL7SDbwbxkfbxX39CZHsxzFmUcDppQ4saWghou7abDepGcFxRlXA2aMEMfewcLO2GxQa+m0qgkrXUgD+FZmBcQMl2i5238agb5SBNt+5BFcT1gUELi0PdM4b+Dbmb5xsD0KMpw6aLWPQSOs4viv3z2Xb0lt7JlCR12JxxU75yc8TG57ss648XKpET+VCj+5L1N/5KMjPyn0f3JfNb+qZTh7sD07pqudsMbZGvfmsXAW2C/EUyhvKnBaWVxdJBE953udG1zjzkhSKF+EDh8MNdSNhjZGHQm4YwMBPCkbbIL1/s7Rfw0H+yz9EGv06iazB6xrAGtbTyhrQLADLuACCu/g84dBLQ1RlijkIqAAXxtcQODbsuQg6tfeidFDSR1UEbKefhWxvDGhgka5pO1o2Zhlvfkv4rBPdVNXJNgtI6Ylz8hbmO8taS1pPLsAQVb8Gz67V/gM94EH0Eg+fdew+m6P8OD3xQSn4RdXIzDoGMJEcs9pbbjlY5zWnp2/0oNzqu0cww4VTviihmdKwGeVzGyPdJ3zXE7rG4txIN3g+g2H0dW6qpYuBlewscxjiIbEgkhm4HYN2xBtJcCpHuLn08LnON3OMTCSTxk2QULprQRN0spo2xsbEZaIGMMAYQXC927kF7/2dov4aD/ZZ+iCNa2hahj5BMz2XqJTDcaK4fC6gps0bHExR3JY0k7OPYkQhAtYGHMw+sgmpBwWcOeGt2NDmOF7DiBDtyhKZax3ZsLkO65hNudwUyQ7dXP2ZD/qe2UhEotg//Uk3PN7AUeqVoLJCv9auNPjZHTxEh0+YyW7rKCA1o5yfQolLb6MaGU1LE3hI2yzkAyPeA+x+60HYAPSmEPRj2iNJVRlvBtjksckrGhrgeK9t48SYET1YV72yz0U+1rQ4tY7tg1zXZZG8x2HoRKwDhVP4KP8A22/opQrbVRSsknqhI1rwGx2zNDrXe7dfmWMJWbDQQsN2Rsa7lDGg9YCyQ9KCgPhFD6QovwT70oL/AEEf0/8Asqt/y83slBQmrLGMcp6aYYTTNqITLeVxiMhD8gFh244rdaDEdZVY9icdLjNSaTI4iOHgeDAebXY1trNcRuc+/JxoPpHDaCOmgjhhbkiiaGRt5ABYIKJ+DZ9crPwGe8QfQKCgNeg+m6HyIPfFBc+lWjsGJUr6eoByP2tc3Y9jh3L2+MelBRtRotpBo890lA901Le7nRASsIHhYDtB8Y60Fh6s9aUWKu4CdggrA3MGgkxSAd1kJ2gjflPWUFjIKA05H98aX8Sh9oIPoBBCNbf1Fn4zPZcolMNZgmsOngpYYjFK58TGtNstiQOLamR44qOqxqtZLNGYaSKwF9gyg3LQT3RdxkbkEt1lD6Ml54vbCShz1dfZkH9ftlIJRfBh/eSbnm9hqj1T6LOWSFW6bDNjlKHdzem5rcIVjKVpLJDBQVfgjbaRzZd2ae/S0X9KxStBZIVhqh/x6vyYvbeohMrQUoEFB/CIH0hQfhH3qC/Ag0Gnv2VW/wCXm9koID8G8fR9V/mf/UxB4PhDaOkCCvhGV8bhFUPbsdywvuNxBBF/G1BZug+PDEMPp6gEF0jAJQOKRux46wetBS2q+sZg2O1VLVngmyZ4WvcbNuH5oiTxBw4/GEH0KZBa9xl5b7OtB8/6W1TMZ0npY6QiWKB0LXyN2sLY355TfkG0X5UF34ppDSUssMVTMyGSpz8A15LQ7LluM3cg9s3eRe+y6DY5ha9xblvs60Hz1HHDLpizsdl4NswdI6P/AA7hh4Yi2y28c5KD6HCCg9OB/fGk8ui9aC/UEI1tfUGfjM9lyiUw3eidMz4jSnI2/BR7covuSEN2ApEY1k/Zk3PH7YUSOerv7Mg5n+0UgRjBx/eSf/V9hqj1SstZIVtrXoZGSU9VGO47R5+65rg6MnxbwsZSnOB4xFVwtkhcDcds2/bNdxtcFOUOWM4tDSROkmcGtaNg75x4mtHGSpyIJqwo5JqmorZRbOXBh4i57sz7eICw6VEJWSpQrLVCPn6zmi9uRRCZWcpQIK+1jauXYtU00onEAp25XNMecuGfNsNxbjQWAEHg0gw741STwZsnDxvZntfLmFr240Ee1Z6FnB6aSF0onMspkzBhjA7RrbWJP3UG90mwaOupJqeTY2ZhbmtctPeuHMbFBoNWehkuEQSwyVAqGSPD2ARmMMNrO3k77N6kGNOtXFFixD5c0NS0ZRUR2zEcTXg7HD0oIU3UnVEZHYnIafdwWR+7ksX29CCfaD6A0WEtd8XBfM8ASVEhu8gd6BuaPEN/HewQZ070FpcXjYKgvZJDn4GZhsW57ZgWnY4HK3fybONBAfkWqx2jcUkEG7g8sm7ktwlvQgnGgmr2jwkOMOaWoeMr6iSxdb7rQNjRzb+NBLyggGO6ujU41BiPD5GwmEmDg8xJj3WdfZfZxILACDRaX4D8fpxEH8GQ9rw7Lm3Ai1r+NRI2OE0fAQRRXzcExrM1rXyi17KR7EGq0lwn45TPhzZM+XtrZrWIO7oQctHsL+KU0cObPwYPbWy3ub7ulBF8Z0Bkmq5KiKpMJkN7BpzDYAbODhyLHCXR/YCr/j5P/J/zQS+iwoCkbT1B+MAMyyOeL5+e6yQis+rZjXl1LUSwX725db+oEE9KjAzT6t43PDquolqLd7ct6MxJPUmBNqSmZExrI2hjGCzWgWACkdqCMaIaKdj5J3cJwnDZbDLlyhpceXb3SiBKFI//2Q=="/>
          <p:cNvSpPr>
            <a:spLocks noChangeAspect="1" noChangeArrowheads="1"/>
          </p:cNvSpPr>
          <p:nvPr/>
        </p:nvSpPr>
        <p:spPr bwMode="auto">
          <a:xfrm>
            <a:off x="1174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6" descr="data:image/jpeg;base64,/9j/4AAQSkZJRgABAQAAAQABAAD/2wCEAAkGBxAQDxIUDxQVEA8QFRAUDw8UEBQPEBUVFRQXFxQVFRUYHCggGB0mGxQUITEhJSorOi8uFx8zODMsNygtLisBCgoKDg0OGhAQGCwkHR8sLCwsLCwsLCwsLCwsLCwsLCwsLCwsLCwsLCwsLCwsLCwsLCwsLCwsLCwsLCwsLCwsLP/AABEIAL4A8AMBEQACEQEDEQH/xAAcAAEAAgIDAQAAAAAAAAAAAAAABgcBBQIDBAj/xABNEAABAwICBAYMCwUHBQAAAAABAAIDBBEFEgYHITETQVFxgZEVIjJCU2FykqGxsrMIFBcjJTQ1UnPB0SRDVGKCFiYzdIOT0jaUo8Pw/8QAGgEBAAIDAQAAAAAAAAAAAAAAAAEFAgQGA//EACwRAQABAwMCBQUAAgMAAAAAAAABAgMRBBIhBTEUM0FRUhMiIzI0YXFCgZH/2gAMAwEAAhEDEQA/ALxQEBAQEEExkftEvlfkFx3UM+IqdBpPKh47LS5bRZOfc4LJycFk5CychZOTgsnPucFk59zgsnPucFk59zgsnPucFk59zgsnPucFk59zgsnPuMEf/XUxEzOETiEVxzSoNuym7Y99KdrR5I4+f1q70fS5q+6729lZqNbEcULG1YyOfhkTnkuc50xLibk/OO410FNMUxiFVNU1TmUsWSBAQEBAQEBAQEBBB8WH7RL5X5Bchr4/PUv9J5UPLlWptbOTKm1GWMqYMs5UwMZUwGVRgyZUwZMqYMmVTgyZUwZMqYMs5UwZYyqMGTKp2mXCZ7WNLnkNa0Xc47AAsqLc1TiIRNURGZQDSLSN1QSyO7IOPic/xnkHiXR6Hp1NqIrr7qfU6qa5209mgVq0V7arPsqHypveOQS5AQEBAQEBAQEBAQQvE2/Py+UfUFymtj89S800/ih5sq1cNjJlUYMmVMGTKmDJlU7TJlTaZMqbTJlUYMmVTgyZU2mTKowZMqYMmVTtMuErg1pc4hrQCSSbAAJFGZxHdE1YjKt9JcfdVOysu2Bp7Ubi4/ed+QXR6LRRbp3T3U+p1M3JxHZpFZerUEF66rPsqHypveOQS5AQEBAQEBAQEBAQQ7EB89L5Z9QXL6uPzVLvT+VDostbD2yWTBksmDJZMGSyYMlkwZLJgyWTBksmDJZMGSyYMlkwZMqYMq90zx7hXmGI/NMPbuB7tw4uYetXWg0m376o5Vur1GfthFlbtAQEF7arPsqHypveOQS1AQEBAQEBAQEBAQRKtHz0vln1Bc1qY/NUubE/ih05V4YemTKmE5MqYRkyphOTKmDJlTCMmVMGTKmDJlTBkyphOTKmEZMqYTlFtN8c4CPgoz87IDc8bGcvOVu6LTfUq3T2hram9tjEK3AV/wD4VWWUBAQXtqs+yofKm945BLUBAQEBAQEBAQEBBD66donlDtnbnbxbguY1N2mL9USubFEzaiWW2O7aFjG2e0s+XLKpxlHBlTBkypgyZVO0yZVG0yZU2mTKm0yZU2mTKm0yxlU7TLy4pWsp4XySdywXtxk8QCU0TVO2ETVERmVN11Y+eV0kndvNzyDkA8QXRWrUWqdsKi7XNdWXnuvVgzdBi6BdBe2qv7Kh8qb3jkEuQEBAQEBAQEBAQEEDxv6zL5X5BcZ1D+ip0Wj8mHia4jcbcy06a5p7NiaYl6Y65432POF7xqq4eU2aZd7MSHG0jmN1706uPWHnNiXc2tjPHbnC9o1NufV5zaqh3NnYdzh1r0puUT6sdtUejmCDx+lZ5pY8s2U8IZypgyZUwZYsmAso4OVZaxcZ4SUQMPaRbX243ncOgetWGgtd65/6amquf8UPurRpF0GLoM3QYugvjVUfoqHypveOQS9AQEBAQEBAQEBAQQLG/rMvlfkFxnUf6KnQ6OfxUvGtFtiIEBBhAsp3IxDIceU9anfV7o2w5cI7lPWVO+r3NkMcI7lPWU31e5sg4Q8p6ym+r3NsPJilcIIXyO25BsBO925o6SvfTW6r1yKMvO9XTbomVUyTFzi5xu5xJceUnaSu1opimmKY9HN1VTM5ljMskGZAzIGZBlpJNgLk7gASTzAKKqopjNU8JiMzwvzVfC9mFwte0scDLdrhlO15IuFFFdNUZiSqmYnlLVkgQEBAQEBAQEBBgoKG0yx2emxer4N12Z2Xjd2zP8NnV0LT1GhtX/2jlsWdTXb/AFbXBdJoKmzSeClP7txFif5XcfNsK5zVdNuWeY5hb2NZRc4niW7Va3GUBAQEBAQEAoIPrAxG72QtOxvbyc57gdAuekLo+jaeIibkqjqN3mKEQzK+VbOZAzJyMZk4P9t5gGjktV2xvHD4Qja7yAd/PuVbrOoU2OI5luWNJVc59E9w3CoacWibY8bzteedy5q/rLt6funhcW9PRbjhYOjH1ZvO/wBa6bpn88KXW+dLbKxaogICAgICAgICAg+b9ZJ+l6zy2e6YgjV1GMpSbAtMJYbMnvNFuve8reY98PEetVOs6XRc5o4lvafW1UcT2T6hrY52B8Lg9h4wdx5CN4PiK5u9YrtVYqhcW7lNyMw9C8XoICAgICDhLI1rS5xs1oLnHkAFys7dE11REMaqopiZU9X1rppXyO2GRxdbkHEOgWC7ixai3bimHNXK5rqmZdGZezzMyDGZPQSnRPRrh7Szi0HeM3GTxn+X1qm6h1CLX2W+6x0mk3zur7LBa0AAAWA2ADYAFzNVU1TmVzERHEOSxSmejH1ZvO/1rsOl/wA8Oe1vnS2ysWqICAgICAgICAgIPmvWY76YrfxGe6YgjOdBjMg9mGYrNTPzwuynvgdrHDkc3jXhf01F6nFUPW1ert8xKytHtJIawWHzc4F3RE7+UsPfD1LltZ0+uxOY5pXen1VN2MTxLdqubbKAgIBQRrT3EOCpCwGzpzkHkja89Vh/UrXpNj6l3dPo0dfc228e6ssy6xRM5kDMgkGiGAGrkLpAfi8ZGbizu+4D6+fxqs6hrYs04p7y3dJpvqVZnss9rQAANgGwAbABxALkpqmqcyvaYiOIclCREpnox9Wbzv8AWuw6X/PDndb50tsrFqiAgICAgICAgICD5l1nO+ma38Rnuo0EZzIMZkDMg5xzOa4OaS1zTdrgbEEcYKxrpiqMVJpmYnMLG0T0wE9oqkhs+wMf3LZPF4neLj4uRc1r+mbPvt9vZc6TWbvtqS5UqxhlAQCgrHWLXZ6tsY3QMt/U/tnegNXVdIs7bO73UWvubq8ItmVu0TMg9mD4e+qmbFHvd3TrXDWje4836LX1F+LNuaqnrZtTcqxC46CjZBE2OIWYwWHKeUnxlcXevVXq5rn1dFatxRTEQ9C8noICCZ6MfVm87/Wuw6X/ADw57W+dLbKxaogICAgICAgICAg+YNaDvpqu/EZ7mNBF86BnQM6BnQMyYTEysPQrTDhC2CrcM+wQzE2z8jHk99yHj3b9/PdQ6bj8lqP9wtdHrM/bWnS5/ErXuygw5wAudgFyTyAb/QsqKd1UQiqcRlROIVxnmklO+V7n9BPajoFl3Vm3soin2czcq3VTU6M69XmF6C2dBsC+KwZ3j5+cNc++9rd7WeLfc+M+Jcn1PVzdubY7QvtFp/p0bp7ykiqm6ygICCZ6MfVm87/Wuw6X/PDntb50tsrFqiAgICAgICAgICD5b1pn6brvxGe5jQRbMgXQMyBmQMyDF0nsQs7QLSzh7U9S754D5mQn/EAG4/zD09C5vqfT9v5LccesLjR6vdG2tNlRLPLTaY1nA0E7r2JZkafG/tfzW9021v1FMNbV1bbcqUBXZw51m6CT6AYN8Zqc7xeGnyudcbHP7xvj3XPMOVVvUtV9K3iO8t3RWPqV5ntC27rksT3lfRBdRgLqcBmTAXTAmmi/1ZvO/wBZXXdM/nhz2t86W3Vi1RAQEBAQEBAQEAoPnzWJoZU1GKVc0To8sj2kNc5zXC0bG8h+6VX19StUVzRV6NyjRXK6IqhEKnQvEGfueEHLHIx3oJBWVHUdPVxuY1aO7T6NNVUc0RtLHJEf543M9JC26blFX6zEvCq3VT3h58yzYGZAzIGZByZKWkFpLXNILXA2II3EFRVG6MSmJmJzC5dCtJRXQ9vYVMVhM3de+54HIbdB6FyfUtH9CvdH6yvtJqIuU4nvDT62avLTwRj97IXEfyxt/wCT29S2eiW811Vezw6jXimIVhmXSeimZaSSAAS4kANG0knYAFGcRmUxGeF26NYUKOmZF3/dSnlee66t3QuQ11+b12avT0dJprP06Ihtcy0sNgzKcBmUYSZkwGZThCcaKfVW87/aK6zpvkQ57W+dU3CsGoICAgICAgICAgFBXGOn9qm8o+oLkddGb9TpNJ5NLwZlqYbWWH2IsQCOQi49Kypqqp7SxmmJ9GixTRChqLkx8E/wkR4M9I7k9IW9a6jet+uY/wAtW5obVfphDMZ1f1EdzTOFQ37mxkvQNzuhW1jqdqviriVbe6fcp5p5Q+Zr2OLXtLHDe1zS1w6CrKJiqMxLRmmaeJdfCKWJwiD34HjMlHOyaPaW7HMO5zT3TTz/AKLxv2ab1E0VPSzcm3VmEj1m4uyolpjE7NHwGdvL8469jyHYB0LS6bp6rNNUVd8tnWXfqTEx7Ibwis2kmGrXCuGqTM8XjprFuzYZHXy9QuepV3Ur/wBO1tjvLf0Fnfc3T6LVzLl8L5nMmAzJgMyYDMmBjMmBPNET+yN53+0V1XTvIhzut86pulvtQQEBAQEBAQEBAQVppA79qm8v8guU1sfnqdLo/Jpa/MtXDZMyYDMmAzJga/GMGp6tuWdgd9147WRvM5bNjU3LM/bLwvae3djmOVZ6SaFz0t3xXng3lwHzjPKaOLxj0K+02vovcdpUuo0VdrmOYRZb0NJi6DJcgXRK7tFcLFJSRx2s8jPL5bt/VsHQuV1176t2Z9I7Ok0ln6duI9W3zLUw2TMmAzJgMyYDMmAzJgWBof8AVGc7/aK6fp/kQ5zW+dU3a3moICAgICAgICAgJIq/SF37XN5f5BcvrI/PU6bR+TS14ctXDZMyYQZkwkzJgMyYQZkxhKFaV6FMlzS0gDJdpdCNjH+T913oKuNJr5jFNz/1U6rQxOaqFaSRlpIcC1w2FpFiDyEFXUTmMqeYxOJcUQkWgmGfGKxmYXjh+cfybO5HXbqWrrLv07U+8tvR2vqXI/wuDMuXmMukMyYDMmAzJgMyYDMmAzJgWHoaf2NnO/2iul6f5EOb13n1N6t1qCAgICAgICAgICDwTYPTPcXPiY5ztpcWgkleNVi3VOZph6037lMYiqXDsDSeBj8wLHwtn4wy8Te+Us9gaTwMfmBPDWfjB4m98pY7A0ngY/MCeFs/CDxN75SdgaTwMfmBPDWfjB4m98pOwNJ4GPzAnhbPwg8Te+UnYGk8DH5gTwtn4weJvfKTsDSeBj8wJ4Wz8YPE3vlLyT6HYZI4uko6d7jvc6BjnHnJC9qaYiMQ8aqpmeXX/YfCf4Gl/wC2j/RT3Q76XRTD4r8FSwR5rZskLWXtuvYLCu3RX+0ZZ0XK6P1nD0dgaTwMfmBYeGs/GHp4m78pOwNJ4GPzAnhbPxg8Td+UnYKk8DH5gTw1n4weJu/KTsFSeBj8wJ4az8YPE3flJ2BpPAx+YE8LZ+MHibvyk7A0ngY/MCeGs/GDxN35SdgqTwMfmBPDWfjB4m78peympmRtDY2hjRezQLDavWmmKYxDxqqmqcy7lkgQEBAQEFd6Ta3aGgq5aaWOZ8kJaHlobluWh2y55CEGs+XfDvAz9TP1QY+XfDvA1HUz9UE9g0lhdhwrrOFOYTNbL2+UC9rcqCBfLxh3gajqZ+qDa4FriwqqkbG5z6Z7yA0ystGTyF4uG9NkFg5tl+JBENCdYlJi0ssdO2RroWh5L2gBzS62yx5utBMUEO0s1iUmG1cNPO2Rz5g0hzGgtAc7KL3KCVVlXHDG6SZ7Y4mAufI4hrWgbySUFbVuvHCmPtGJpmj942PI08wcQfQglGiGnlBipc2leeFYA58L2FjwN1xxOF+QoIzieuvD4J5YnRTudC98biGtsSxxabXPKCg83y74d4GfzWfqgx8vGHeBqPNZ+qCf4zpHDS0zJ5A4xyZMga3tjnbmFwd2xBH/AJT6P7kvmt/VRkw3uBaV0lacsL7SDbwbxkfbxX39CZHsxzFmUcDppQ4saWghou7abDepGcFxRlXA2aMEMfewcLO2GxQa+m0qgkrXUgD+FZmBcQMl2i5238agb5SBNt+5BFcT1gUELi0PdM4b+Dbmb5xsD0KMpw6aLWPQSOs4viv3z2Xb0lt7JlCR12JxxU75yc8TG57ss648XKpET+VCj+5L1N/5KMjPyn0f3JfNb+qZTh7sD07pqudsMbZGvfmsXAW2C/EUyhvKnBaWVxdJBE953udG1zjzkhSKF+EDh8MNdSNhjZGHQm4YwMBPCkbbIL1/s7Rfw0H+yz9EGv06iazB6xrAGtbTyhrQLADLuACCu/g84dBLQ1RlijkIqAAXxtcQODbsuQg6tfeidFDSR1UEbKefhWxvDGhgka5pO1o2Zhlvfkv4rBPdVNXJNgtI6Ylz8hbmO8taS1pPLsAQVb8Gz67V/gM94EH0Eg+fdew+m6P8OD3xQSn4RdXIzDoGMJEcs9pbbjlY5zWnp2/0oNzqu0cww4VTviihmdKwGeVzGyPdJ3zXE7rG4txIN3g+g2H0dW6qpYuBlewscxjiIbEgkhm4HYN2xBtJcCpHuLn08LnON3OMTCSTxk2QULprQRN0spo2xsbEZaIGMMAYQXC927kF7/2dov4aD/ZZ+iCNa2hahj5BMz2XqJTDcaK4fC6gps0bHExR3JY0k7OPYkQhAtYGHMw+sgmpBwWcOeGt2NDmOF7DiBDtyhKZax3ZsLkO65hNudwUyQ7dXP2ZD/qe2UhEotg//Uk3PN7AUeqVoLJCv9auNPjZHTxEh0+YyW7rKCA1o5yfQolLb6MaGU1LE3hI2yzkAyPeA+x+60HYAPSmEPRj2iNJVRlvBtjksckrGhrgeK9t48SYET1YV72yz0U+1rQ4tY7tg1zXZZG8x2HoRKwDhVP4KP8A22/opQrbVRSsknqhI1rwGx2zNDrXe7dfmWMJWbDQQsN2Rsa7lDGg9YCyQ9KCgPhFD6QovwT70oL/AEEf0/8Asqt/y83slBQmrLGMcp6aYYTTNqITLeVxiMhD8gFh244rdaDEdZVY9icdLjNSaTI4iOHgeDAebXY1trNcRuc+/JxoPpHDaCOmgjhhbkiiaGRt5ABYIKJ+DZ9crPwGe8QfQKCgNeg+m6HyIPfFBc+lWjsGJUr6eoByP2tc3Y9jh3L2+MelBRtRotpBo890lA901Le7nRASsIHhYDtB8Y60Fh6s9aUWKu4CdggrA3MGgkxSAd1kJ2gjflPWUFjIKA05H98aX8Sh9oIPoBBCNbf1Fn4zPZcolMNZgmsOngpYYjFK58TGtNstiQOLamR44qOqxqtZLNGYaSKwF9gyg3LQT3RdxkbkEt1lD6Ml54vbCShz1dfZkH9ftlIJRfBh/eSbnm9hqj1T6LOWSFW6bDNjlKHdzem5rcIVjKVpLJDBQVfgjbaRzZd2ae/S0X9KxStBZIVhqh/x6vyYvbeohMrQUoEFB/CIH0hQfhH3qC/Ag0Gnv2VW/wCXm9koID8G8fR9V/mf/UxB4PhDaOkCCvhGV8bhFUPbsdywvuNxBBF/G1BZug+PDEMPp6gEF0jAJQOKRux46wetBS2q+sZg2O1VLVngmyZ4WvcbNuH5oiTxBw4/GEH0KZBa9xl5b7OtB8/6W1TMZ0npY6QiWKB0LXyN2sLY355TfkG0X5UF34ppDSUssMVTMyGSpz8A15LQ7LluM3cg9s3eRe+y6DY5ha9xblvs60Hz1HHDLpizsdl4NswdI6P/AA7hh4Yi2y28c5KD6HCCg9OB/fGk8ui9aC/UEI1tfUGfjM9lyiUw3eidMz4jSnI2/BR7covuSEN2ApEY1k/Zk3PH7YUSOerv7Mg5n+0UgRjBx/eSf/V9hqj1SstZIVtrXoZGSU9VGO47R5+65rg6MnxbwsZSnOB4xFVwtkhcDcds2/bNdxtcFOUOWM4tDSROkmcGtaNg75x4mtHGSpyIJqwo5JqmorZRbOXBh4i57sz7eICw6VEJWSpQrLVCPn6zmi9uRRCZWcpQIK+1jauXYtU00onEAp25XNMecuGfNsNxbjQWAEHg0gw741STwZsnDxvZntfLmFr240Ee1Z6FnB6aSF0onMspkzBhjA7RrbWJP3UG90mwaOupJqeTY2ZhbmtctPeuHMbFBoNWehkuEQSwyVAqGSPD2ARmMMNrO3k77N6kGNOtXFFixD5c0NS0ZRUR2zEcTXg7HD0oIU3UnVEZHYnIafdwWR+7ksX29CCfaD6A0WEtd8XBfM8ASVEhu8gd6BuaPEN/HewQZ070FpcXjYKgvZJDn4GZhsW57ZgWnY4HK3fybONBAfkWqx2jcUkEG7g8sm7ktwlvQgnGgmr2jwkOMOaWoeMr6iSxdb7rQNjRzb+NBLyggGO6ujU41BiPD5GwmEmDg8xJj3WdfZfZxILACDRaX4D8fpxEH8GQ9rw7Lm3Ai1r+NRI2OE0fAQRRXzcExrM1rXyi17KR7EGq0lwn45TPhzZM+XtrZrWIO7oQctHsL+KU0cObPwYPbWy3ub7ulBF8Z0Bkmq5KiKpMJkN7BpzDYAbODhyLHCXR/YCr/j5P/J/zQS+iwoCkbT1B+MAMyyOeL5+e6yQis+rZjXl1LUSwX725db+oEE9KjAzT6t43PDquolqLd7ct6MxJPUmBNqSmZExrI2hjGCzWgWACkdqCMaIaKdj5J3cJwnDZbDLlyhpceXb3SiBKFI//2Q=="/>
          <p:cNvSpPr>
            <a:spLocks noChangeAspect="1" noChangeArrowheads="1"/>
          </p:cNvSpPr>
          <p:nvPr/>
        </p:nvSpPr>
        <p:spPr bwMode="auto">
          <a:xfrm>
            <a:off x="2698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1732" y="1564373"/>
            <a:ext cx="1224707" cy="2016223"/>
          </a:xfrm>
          <a:prstGeom prst="rect">
            <a:avLst/>
          </a:prstGeom>
        </p:spPr>
      </p:pic>
      <p:sp>
        <p:nvSpPr>
          <p:cNvPr id="13" name="Rectangle 12"/>
          <p:cNvSpPr/>
          <p:nvPr/>
        </p:nvSpPr>
        <p:spPr bwMode="auto">
          <a:xfrm>
            <a:off x="2198331" y="1447901"/>
            <a:ext cx="8136136" cy="2308722"/>
          </a:xfrm>
          <a:prstGeom prst="rect">
            <a:avLst/>
          </a:prstGeom>
          <a:solidFill>
            <a:schemeClr val="bg2"/>
          </a:solidFill>
          <a:ln w="0">
            <a:solidFill>
              <a:schemeClr val="tx1"/>
            </a:solidFill>
            <a:prstDash val="solid"/>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171450" indent="-171450">
              <a:buFont typeface="Wingdings" panose="05000000000000000000" pitchFamily="2" charset="2"/>
              <a:buChar char="§"/>
            </a:pPr>
            <a:r>
              <a:rPr lang="en-GB" sz="1100" dirty="0" smtClean="0"/>
              <a:t>Danish EY Entrepreneur of the year 2013 and online review-driven community </a:t>
            </a:r>
            <a:r>
              <a:rPr lang="en-GB" sz="1100" dirty="0"/>
              <a:t>and platform that </a:t>
            </a:r>
            <a:r>
              <a:rPr lang="en-GB" sz="1100" dirty="0" smtClean="0"/>
              <a:t>builds relationships </a:t>
            </a:r>
            <a:r>
              <a:rPr lang="en-GB" sz="1100" dirty="0"/>
              <a:t>between consumers </a:t>
            </a:r>
            <a:r>
              <a:rPr lang="en-GB" sz="1100" dirty="0" smtClean="0"/>
              <a:t>and businesses</a:t>
            </a:r>
            <a:r>
              <a:rPr lang="en-GB" sz="1100" dirty="0"/>
              <a:t>. Launched in 2007 and </a:t>
            </a:r>
            <a:r>
              <a:rPr lang="en-GB" sz="1100" dirty="0" smtClean="0"/>
              <a:t>operating in </a:t>
            </a:r>
            <a:r>
              <a:rPr lang="en-GB" sz="1100" dirty="0"/>
              <a:t>24 countries, it has seen rapid </a:t>
            </a:r>
            <a:r>
              <a:rPr lang="en-GB" sz="1100" dirty="0" smtClean="0"/>
              <a:t>adoption and </a:t>
            </a:r>
            <a:r>
              <a:rPr lang="en-GB" sz="1100" dirty="0"/>
              <a:t>now provides over 70,000 </a:t>
            </a:r>
            <a:r>
              <a:rPr lang="en-GB" sz="1100" dirty="0" smtClean="0"/>
              <a:t>ecommerce businesses with </a:t>
            </a:r>
            <a:r>
              <a:rPr lang="en-GB" sz="1100" dirty="0" err="1" smtClean="0"/>
              <a:t>TrustScores</a:t>
            </a:r>
            <a:r>
              <a:rPr lang="en-GB" sz="1100" dirty="0" smtClean="0"/>
              <a:t> </a:t>
            </a:r>
            <a:r>
              <a:rPr lang="en-GB" sz="1100" dirty="0"/>
              <a:t>based on </a:t>
            </a:r>
            <a:r>
              <a:rPr lang="en-GB" sz="1100" dirty="0" smtClean="0"/>
              <a:t>more than </a:t>
            </a:r>
            <a:r>
              <a:rPr lang="en-GB" sz="1100" dirty="0"/>
              <a:t>six million reviews</a:t>
            </a:r>
            <a:r>
              <a:rPr lang="en-GB" sz="1100" dirty="0" smtClean="0"/>
              <a:t>.</a:t>
            </a:r>
          </a:p>
          <a:p>
            <a:pPr marL="171450" indent="-171450">
              <a:buFont typeface="Wingdings" panose="05000000000000000000" pitchFamily="2" charset="2"/>
              <a:buChar char="§"/>
            </a:pPr>
            <a:r>
              <a:rPr lang="en-GB" sz="1100" dirty="0"/>
              <a:t>At the start of 2012, Trustpilot employed around </a:t>
            </a:r>
            <a:r>
              <a:rPr lang="en-GB" sz="1100" dirty="0" smtClean="0"/>
              <a:t>35 people</a:t>
            </a:r>
            <a:r>
              <a:rPr lang="en-GB" sz="1100" dirty="0"/>
              <a:t>, all of whom were based in </a:t>
            </a:r>
            <a:r>
              <a:rPr lang="en-GB" sz="1100" dirty="0" smtClean="0"/>
              <a:t>Copenhagen. By </a:t>
            </a:r>
            <a:r>
              <a:rPr lang="en-GB" sz="1100" dirty="0"/>
              <a:t>the end of 2013, it had additional offices </a:t>
            </a:r>
            <a:r>
              <a:rPr lang="en-GB" sz="1100" dirty="0" smtClean="0"/>
              <a:t>in London </a:t>
            </a:r>
            <a:r>
              <a:rPr lang="en-GB" sz="1100" dirty="0"/>
              <a:t>and New York and a staff of around </a:t>
            </a:r>
            <a:r>
              <a:rPr lang="en-GB" sz="1100" dirty="0" smtClean="0"/>
              <a:t>170. </a:t>
            </a:r>
          </a:p>
          <a:p>
            <a:pPr marL="171450" indent="-171450">
              <a:buFont typeface="Wingdings" panose="05000000000000000000" pitchFamily="2" charset="2"/>
              <a:buChar char="§"/>
            </a:pPr>
            <a:r>
              <a:rPr lang="en-GB" sz="1100" dirty="0" smtClean="0"/>
              <a:t>Managing </a:t>
            </a:r>
            <a:r>
              <a:rPr lang="en-GB" sz="1100" dirty="0"/>
              <a:t>such dramatic growth whilst </a:t>
            </a:r>
            <a:r>
              <a:rPr lang="en-GB" sz="1100" dirty="0" smtClean="0"/>
              <a:t>maintaining a </a:t>
            </a:r>
            <a:r>
              <a:rPr lang="en-GB" sz="1100" dirty="0"/>
              <a:t>differentiating culture and top quality </a:t>
            </a:r>
            <a:r>
              <a:rPr lang="en-GB" sz="1100" dirty="0" smtClean="0"/>
              <a:t>service was a </a:t>
            </a:r>
            <a:r>
              <a:rPr lang="en-GB" sz="1100" dirty="0"/>
              <a:t>key priority for the business </a:t>
            </a:r>
            <a:r>
              <a:rPr lang="en-GB" sz="1100" dirty="0" smtClean="0"/>
              <a:t>and a particular challenge </a:t>
            </a:r>
            <a:r>
              <a:rPr lang="en-GB" sz="1100" dirty="0"/>
              <a:t>given </a:t>
            </a:r>
            <a:r>
              <a:rPr lang="en-GB" sz="1100" dirty="0" smtClean="0"/>
              <a:t>the highly </a:t>
            </a:r>
            <a:r>
              <a:rPr lang="en-GB" sz="1100" dirty="0"/>
              <a:t>competitive nature of talent acquisition in </a:t>
            </a:r>
            <a:r>
              <a:rPr lang="en-GB" sz="1100" dirty="0" smtClean="0"/>
              <a:t>the e-commerce space.</a:t>
            </a:r>
          </a:p>
          <a:p>
            <a:pPr marL="171450" indent="-171450">
              <a:buFont typeface="Wingdings" panose="05000000000000000000" pitchFamily="2" charset="2"/>
              <a:buChar char="§"/>
            </a:pPr>
            <a:r>
              <a:rPr lang="en-GB" sz="1100" dirty="0" smtClean="0">
                <a:latin typeface="+mj-lt"/>
              </a:rPr>
              <a:t>How did they grow so quickly? </a:t>
            </a:r>
            <a:r>
              <a:rPr lang="en-GB" sz="1100" dirty="0"/>
              <a:t>Trustpilot staffed 100% of </a:t>
            </a:r>
            <a:r>
              <a:rPr lang="en-GB" sz="1100" dirty="0" smtClean="0"/>
              <a:t>the management </a:t>
            </a:r>
            <a:r>
              <a:rPr lang="en-GB" sz="1100" dirty="0"/>
              <a:t>and </a:t>
            </a:r>
            <a:r>
              <a:rPr lang="en-GB" sz="1100" dirty="0" smtClean="0"/>
              <a:t>mid-management positions </a:t>
            </a:r>
            <a:r>
              <a:rPr lang="en-GB" sz="1100" dirty="0"/>
              <a:t>of the New York </a:t>
            </a:r>
            <a:r>
              <a:rPr lang="en-GB" sz="1100" dirty="0" smtClean="0"/>
              <a:t>office and 70</a:t>
            </a:r>
            <a:r>
              <a:rPr lang="en-GB" sz="1100" dirty="0"/>
              <a:t>% of candidate profiles for </a:t>
            </a:r>
            <a:r>
              <a:rPr lang="en-GB" sz="1100" dirty="0" smtClean="0"/>
              <a:t>the Copenhagen </a:t>
            </a:r>
            <a:r>
              <a:rPr lang="en-GB" sz="1100" dirty="0"/>
              <a:t>offices </a:t>
            </a:r>
            <a:r>
              <a:rPr lang="en-GB" sz="1100" dirty="0" smtClean="0"/>
              <a:t>were found via LinkedIn. </a:t>
            </a:r>
            <a:r>
              <a:rPr lang="en-GB" sz="1100" dirty="0"/>
              <a:t>Trustpilot uses the talent </a:t>
            </a:r>
            <a:r>
              <a:rPr lang="en-GB" sz="1100" dirty="0" smtClean="0"/>
              <a:t>pipeline feature </a:t>
            </a:r>
            <a:r>
              <a:rPr lang="en-GB" sz="1100" dirty="0"/>
              <a:t>on LinkedIn to </a:t>
            </a:r>
            <a:r>
              <a:rPr lang="en-GB" sz="1100" dirty="0" smtClean="0"/>
              <a:t>identify potential </a:t>
            </a:r>
            <a:r>
              <a:rPr lang="en-GB" sz="1100" dirty="0"/>
              <a:t>candidates for roles up to </a:t>
            </a:r>
            <a:r>
              <a:rPr lang="en-GB" sz="1100" dirty="0" smtClean="0"/>
              <a:t>12 months </a:t>
            </a:r>
            <a:r>
              <a:rPr lang="en-GB" sz="1100" dirty="0"/>
              <a:t>in </a:t>
            </a:r>
            <a:r>
              <a:rPr lang="en-GB" sz="1100" dirty="0" smtClean="0"/>
              <a:t>advance. </a:t>
            </a:r>
          </a:p>
          <a:p>
            <a:pPr marL="171450" indent="-171450">
              <a:buFont typeface="Wingdings" panose="05000000000000000000" pitchFamily="2" charset="2"/>
              <a:buChar char="§"/>
            </a:pPr>
            <a:r>
              <a:rPr lang="en-GB" sz="1100" dirty="0" smtClean="0"/>
              <a:t>Trustpilot </a:t>
            </a:r>
            <a:r>
              <a:rPr lang="en-GB" sz="1100" dirty="0"/>
              <a:t>sees its employees as one of its </a:t>
            </a:r>
            <a:r>
              <a:rPr lang="en-GB" sz="1100" dirty="0" smtClean="0"/>
              <a:t>most powerful </a:t>
            </a:r>
            <a:r>
              <a:rPr lang="en-GB" sz="1100" dirty="0"/>
              <a:t>brand assets, and they take centre stage </a:t>
            </a:r>
            <a:r>
              <a:rPr lang="en-GB" sz="1100" dirty="0" smtClean="0"/>
              <a:t>when it </a:t>
            </a:r>
            <a:r>
              <a:rPr lang="en-GB" sz="1100" dirty="0"/>
              <a:t>comes to spreading word of the company to </a:t>
            </a:r>
            <a:r>
              <a:rPr lang="en-GB" sz="1100" dirty="0" smtClean="0"/>
              <a:t>passive candidates</a:t>
            </a:r>
            <a:r>
              <a:rPr lang="en-GB" sz="1100" dirty="0"/>
              <a:t>.</a:t>
            </a:r>
            <a:endParaRPr lang="en-GB" sz="1100" dirty="0" smtClean="0">
              <a:latin typeface="+mj-lt"/>
            </a:endParaRPr>
          </a:p>
        </p:txBody>
      </p:sp>
      <p:sp>
        <p:nvSpPr>
          <p:cNvPr id="6" name="TextBox 5"/>
          <p:cNvSpPr txBox="1"/>
          <p:nvPr/>
        </p:nvSpPr>
        <p:spPr>
          <a:xfrm>
            <a:off x="811732" y="900113"/>
            <a:ext cx="9522735" cy="338554"/>
          </a:xfrm>
          <a:prstGeom prst="rect">
            <a:avLst/>
          </a:prstGeom>
          <a:noFill/>
        </p:spPr>
        <p:txBody>
          <a:bodyPr wrap="square" rtlCol="0">
            <a:spAutoFit/>
          </a:bodyPr>
          <a:lstStyle/>
          <a:p>
            <a:r>
              <a:rPr lang="en-GB" sz="1600" dirty="0" smtClean="0">
                <a:solidFill>
                  <a:schemeClr val="tx1">
                    <a:lumMod val="50000"/>
                    <a:lumOff val="50000"/>
                  </a:schemeClr>
                </a:solidFill>
              </a:rPr>
              <a:t>Often the most innovative approaches to talent management come from new businesses</a:t>
            </a:r>
            <a:endParaRPr lang="en-GB" sz="1600" dirty="0">
              <a:solidFill>
                <a:schemeClr val="tx1">
                  <a:lumMod val="50000"/>
                  <a:lumOff val="50000"/>
                </a:schemeClr>
              </a:solidFill>
            </a:endParaRPr>
          </a:p>
        </p:txBody>
      </p:sp>
    </p:spTree>
    <p:extLst>
      <p:ext uri="{BB962C8B-B14F-4D97-AF65-F5344CB8AC3E}">
        <p14:creationId xmlns:p14="http://schemas.microsoft.com/office/powerpoint/2010/main" val="22228104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119928057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4038"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5"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27</a:t>
            </a:fld>
            <a:endParaRPr lang="en-GB" sz="800" dirty="0">
              <a:solidFill>
                <a:srgbClr val="808080"/>
              </a:solidFill>
            </a:endParaRPr>
          </a:p>
        </p:txBody>
      </p:sp>
      <p:sp>
        <p:nvSpPr>
          <p:cNvPr id="8" name="Rectangle 7"/>
          <p:cNvSpPr/>
          <p:nvPr/>
        </p:nvSpPr>
        <p:spPr>
          <a:xfrm>
            <a:off x="806647" y="179835"/>
            <a:ext cx="9074150" cy="720278"/>
          </a:xfrm>
          <a:prstGeom prst="rect">
            <a:avLst/>
          </a:prstGeom>
          <a:solidFill>
            <a:srgbClr val="FFD200"/>
          </a:solidFill>
          <a:ln w="12700" cmpd="sng">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just"/>
            <a:r>
              <a:rPr lang="en-GB" sz="1200" b="1" dirty="0" smtClean="0">
                <a:solidFill>
                  <a:schemeClr val="tx1"/>
                </a:solidFill>
              </a:rPr>
              <a:t>Activity (90 minutes): Managing employees  well is critical to sustaining business growth. Using </a:t>
            </a:r>
            <a:r>
              <a:rPr lang="en-GB" sz="1200" b="1" dirty="0">
                <a:solidFill>
                  <a:schemeClr val="tx1"/>
                </a:solidFill>
              </a:rPr>
              <a:t>the outputs from the SWOT </a:t>
            </a:r>
            <a:r>
              <a:rPr lang="en-GB" sz="1200" b="1" dirty="0" smtClean="0">
                <a:solidFill>
                  <a:schemeClr val="tx1"/>
                </a:solidFill>
              </a:rPr>
              <a:t>analysis</a:t>
            </a:r>
            <a:r>
              <a:rPr lang="en-GB" sz="1200" b="1" dirty="0">
                <a:solidFill>
                  <a:schemeClr val="tx1"/>
                </a:solidFill>
              </a:rPr>
              <a:t> </a:t>
            </a:r>
            <a:r>
              <a:rPr lang="en-GB" sz="1200" b="1" dirty="0" smtClean="0">
                <a:solidFill>
                  <a:schemeClr val="tx1"/>
                </a:solidFill>
              </a:rPr>
              <a:t>as a basis, work through each of the components of talent management and develop an approach to support your growth plan.</a:t>
            </a:r>
          </a:p>
        </p:txBody>
      </p:sp>
      <p:sp>
        <p:nvSpPr>
          <p:cNvPr id="5" name="TextBox 4"/>
          <p:cNvSpPr txBox="1"/>
          <p:nvPr/>
        </p:nvSpPr>
        <p:spPr>
          <a:xfrm>
            <a:off x="806647" y="1188345"/>
            <a:ext cx="1947765" cy="306288"/>
          </a:xfrm>
          <a:prstGeom prst="rect">
            <a:avLst/>
          </a:prstGeom>
          <a:solidFill>
            <a:schemeClr val="tx1"/>
          </a:solidFill>
        </p:spPr>
        <p:txBody>
          <a:bodyPr wrap="square" rtlCol="0">
            <a:spAutoFit/>
          </a:bodyPr>
          <a:lstStyle/>
          <a:p>
            <a:pPr algn="ctr"/>
            <a:r>
              <a:rPr lang="en-GB" sz="1400" b="1" dirty="0" smtClean="0">
                <a:solidFill>
                  <a:schemeClr val="bg1"/>
                </a:solidFill>
              </a:rPr>
              <a:t>   Attract</a:t>
            </a:r>
          </a:p>
        </p:txBody>
      </p:sp>
      <p:sp>
        <p:nvSpPr>
          <p:cNvPr id="12" name="TextBox 11"/>
          <p:cNvSpPr txBox="1"/>
          <p:nvPr/>
        </p:nvSpPr>
        <p:spPr>
          <a:xfrm>
            <a:off x="3186460" y="1188345"/>
            <a:ext cx="1947765" cy="306288"/>
          </a:xfrm>
          <a:prstGeom prst="rect">
            <a:avLst/>
          </a:prstGeom>
          <a:solidFill>
            <a:schemeClr val="tx1"/>
          </a:solidFill>
        </p:spPr>
        <p:txBody>
          <a:bodyPr wrap="square" rtlCol="0">
            <a:spAutoFit/>
          </a:bodyPr>
          <a:lstStyle/>
          <a:p>
            <a:pPr algn="ctr"/>
            <a:r>
              <a:rPr lang="en-GB" sz="1400" b="1" dirty="0" smtClean="0">
                <a:solidFill>
                  <a:schemeClr val="bg1"/>
                </a:solidFill>
              </a:rPr>
              <a:t>Develop</a:t>
            </a:r>
          </a:p>
        </p:txBody>
      </p:sp>
      <p:sp>
        <p:nvSpPr>
          <p:cNvPr id="13" name="TextBox 12"/>
          <p:cNvSpPr txBox="1"/>
          <p:nvPr/>
        </p:nvSpPr>
        <p:spPr>
          <a:xfrm>
            <a:off x="5559175" y="1188345"/>
            <a:ext cx="1947765" cy="306288"/>
          </a:xfrm>
          <a:prstGeom prst="rect">
            <a:avLst/>
          </a:prstGeom>
          <a:solidFill>
            <a:schemeClr val="tx1"/>
          </a:solidFill>
        </p:spPr>
        <p:txBody>
          <a:bodyPr wrap="square" rtlCol="0">
            <a:spAutoFit/>
          </a:bodyPr>
          <a:lstStyle/>
          <a:p>
            <a:pPr algn="ctr"/>
            <a:r>
              <a:rPr lang="en-GB" sz="1400" b="1" dirty="0" smtClean="0">
                <a:solidFill>
                  <a:schemeClr val="bg1"/>
                </a:solidFill>
              </a:rPr>
              <a:t>Retain</a:t>
            </a:r>
          </a:p>
        </p:txBody>
      </p:sp>
      <p:sp>
        <p:nvSpPr>
          <p:cNvPr id="14" name="TextBox 13"/>
          <p:cNvSpPr txBox="1"/>
          <p:nvPr/>
        </p:nvSpPr>
        <p:spPr>
          <a:xfrm>
            <a:off x="7933032" y="1188345"/>
            <a:ext cx="1947765" cy="306288"/>
          </a:xfrm>
          <a:prstGeom prst="rect">
            <a:avLst/>
          </a:prstGeom>
          <a:solidFill>
            <a:schemeClr val="tx1"/>
          </a:solidFill>
        </p:spPr>
        <p:txBody>
          <a:bodyPr wrap="square" rtlCol="0">
            <a:spAutoFit/>
          </a:bodyPr>
          <a:lstStyle/>
          <a:p>
            <a:pPr algn="ctr"/>
            <a:r>
              <a:rPr lang="en-GB" sz="1400" b="1" dirty="0" smtClean="0">
                <a:solidFill>
                  <a:schemeClr val="bg1"/>
                </a:solidFill>
              </a:rPr>
              <a:t>Churn</a:t>
            </a:r>
          </a:p>
        </p:txBody>
      </p:sp>
      <p:sp>
        <p:nvSpPr>
          <p:cNvPr id="17" name="TextBox 16"/>
          <p:cNvSpPr txBox="1"/>
          <p:nvPr/>
        </p:nvSpPr>
        <p:spPr>
          <a:xfrm>
            <a:off x="806647" y="1494633"/>
            <a:ext cx="1947765" cy="5262979"/>
          </a:xfrm>
          <a:prstGeom prst="rect">
            <a:avLst/>
          </a:prstGeom>
          <a:noFill/>
          <a:ln>
            <a:solidFill>
              <a:schemeClr val="tx1"/>
            </a:solidFill>
          </a:ln>
        </p:spPr>
        <p:txBody>
          <a:bodyPr wrap="square" rtlCol="0">
            <a:spAutoFit/>
          </a:bodyPr>
          <a:lstStyle/>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r>
              <a:rPr lang="en-GB" sz="1400" b="1" dirty="0" smtClean="0">
                <a:solidFill>
                  <a:schemeClr val="bg1"/>
                </a:solidFill>
              </a:rPr>
              <a:t>act</a:t>
            </a:r>
          </a:p>
        </p:txBody>
      </p:sp>
      <p:sp>
        <p:nvSpPr>
          <p:cNvPr id="18" name="TextBox 17"/>
          <p:cNvSpPr txBox="1"/>
          <p:nvPr/>
        </p:nvSpPr>
        <p:spPr>
          <a:xfrm>
            <a:off x="3182911" y="1494632"/>
            <a:ext cx="1947765" cy="5262979"/>
          </a:xfrm>
          <a:prstGeom prst="rect">
            <a:avLst/>
          </a:prstGeom>
          <a:noFill/>
          <a:ln>
            <a:solidFill>
              <a:schemeClr val="tx1"/>
            </a:solidFill>
          </a:ln>
        </p:spPr>
        <p:txBody>
          <a:bodyPr wrap="square" rtlCol="0">
            <a:spAutoFit/>
          </a:bodyPr>
          <a:lstStyle/>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r>
              <a:rPr lang="en-GB" sz="1400" b="1" dirty="0" smtClean="0">
                <a:solidFill>
                  <a:schemeClr val="bg1"/>
                </a:solidFill>
              </a:rPr>
              <a:t>act</a:t>
            </a:r>
          </a:p>
        </p:txBody>
      </p:sp>
      <p:sp>
        <p:nvSpPr>
          <p:cNvPr id="19" name="TextBox 18"/>
          <p:cNvSpPr txBox="1"/>
          <p:nvPr/>
        </p:nvSpPr>
        <p:spPr>
          <a:xfrm>
            <a:off x="5559175" y="1469867"/>
            <a:ext cx="1947765" cy="5262979"/>
          </a:xfrm>
          <a:prstGeom prst="rect">
            <a:avLst/>
          </a:prstGeom>
          <a:noFill/>
          <a:ln>
            <a:solidFill>
              <a:schemeClr val="tx1"/>
            </a:solidFill>
          </a:ln>
        </p:spPr>
        <p:txBody>
          <a:bodyPr wrap="square" rtlCol="0">
            <a:spAutoFit/>
          </a:bodyPr>
          <a:lstStyle/>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r>
              <a:rPr lang="en-GB" sz="1400" b="1" dirty="0" smtClean="0">
                <a:solidFill>
                  <a:schemeClr val="bg1"/>
                </a:solidFill>
              </a:rPr>
              <a:t>act</a:t>
            </a:r>
          </a:p>
        </p:txBody>
      </p:sp>
      <p:sp>
        <p:nvSpPr>
          <p:cNvPr id="20" name="TextBox 19"/>
          <p:cNvSpPr txBox="1"/>
          <p:nvPr/>
        </p:nvSpPr>
        <p:spPr>
          <a:xfrm>
            <a:off x="7933032" y="1469980"/>
            <a:ext cx="1947765" cy="5262979"/>
          </a:xfrm>
          <a:prstGeom prst="rect">
            <a:avLst/>
          </a:prstGeom>
          <a:noFill/>
          <a:ln>
            <a:solidFill>
              <a:schemeClr val="tx1"/>
            </a:solidFill>
          </a:ln>
        </p:spPr>
        <p:txBody>
          <a:bodyPr wrap="square" rtlCol="0">
            <a:spAutoFit/>
          </a:bodyPr>
          <a:lstStyle/>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endParaRPr lang="en-GB" sz="1400" b="1" dirty="0" smtClean="0">
              <a:solidFill>
                <a:schemeClr val="bg1"/>
              </a:solidFill>
            </a:endParaRPr>
          </a:p>
          <a:p>
            <a:pPr algn="ctr"/>
            <a:endParaRPr lang="en-GB" sz="1400" b="1" dirty="0">
              <a:solidFill>
                <a:schemeClr val="bg1"/>
              </a:solidFill>
            </a:endParaRPr>
          </a:p>
          <a:p>
            <a:pPr algn="ctr"/>
            <a:r>
              <a:rPr lang="en-GB" sz="1400" b="1" dirty="0" smtClean="0">
                <a:solidFill>
                  <a:schemeClr val="bg1"/>
                </a:solidFill>
              </a:rPr>
              <a:t>act</a:t>
            </a:r>
          </a:p>
        </p:txBody>
      </p:sp>
    </p:spTree>
    <p:extLst>
      <p:ext uri="{BB962C8B-B14F-4D97-AF65-F5344CB8AC3E}">
        <p14:creationId xmlns:p14="http://schemas.microsoft.com/office/powerpoint/2010/main" val="34543761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smtClean="0"/>
              <a:t>Group 6</a:t>
            </a:r>
            <a:endParaRPr lang="en-GB" dirty="0"/>
          </a:p>
        </p:txBody>
      </p:sp>
      <p:sp>
        <p:nvSpPr>
          <p:cNvPr id="3" name="Text Placeholder 2"/>
          <p:cNvSpPr>
            <a:spLocks noGrp="1"/>
          </p:cNvSpPr>
          <p:nvPr>
            <p:ph type="body" sz="quarter" idx="11"/>
          </p:nvPr>
        </p:nvSpPr>
        <p:spPr/>
        <p:txBody>
          <a:bodyPr/>
          <a:lstStyle/>
          <a:p>
            <a:r>
              <a:rPr lang="en-GB" dirty="0" smtClean="0"/>
              <a:t>Project Management</a:t>
            </a:r>
            <a:endParaRPr lang="en-GB" dirty="0"/>
          </a:p>
        </p:txBody>
      </p:sp>
      <p:sp>
        <p:nvSpPr>
          <p:cNvPr id="4" name="Text Placeholder 1"/>
          <p:cNvSpPr txBox="1">
            <a:spLocks/>
          </p:cNvSpPr>
          <p:nvPr/>
        </p:nvSpPr>
        <p:spPr bwMode="gray">
          <a:xfrm>
            <a:off x="882206" y="1980431"/>
            <a:ext cx="4176462" cy="864096"/>
          </a:xfrm>
          <a:prstGeom prst="rect">
            <a:avLst/>
          </a:prstGeom>
        </p:spPr>
        <p:txBody>
          <a:bodyPr vert="horz" wrap="none" lIns="0" tIns="0" rIns="0" bIns="0" rtlCol="0" anchor="ctr" anchorCtr="0">
            <a:noAutofit/>
          </a:bodyPr>
          <a:lstStyle>
            <a:lvl1pPr marL="0" indent="0" algn="l" defTabSz="1042688" rtl="0" eaLnBrk="1" latinLnBrk="0" hangingPunct="1">
              <a:spcBef>
                <a:spcPts val="0"/>
              </a:spcBef>
              <a:spcAft>
                <a:spcPts val="500"/>
              </a:spcAft>
              <a:buFont typeface="Arial" pitchFamily="34" charset="0"/>
              <a:buNone/>
              <a:defRPr lang="en-US" sz="1400" b="1" kern="1200" dirty="0" smtClean="0">
                <a:solidFill>
                  <a:schemeClr val="accent1"/>
                </a:solidFill>
                <a:latin typeface="+mj-lt"/>
                <a:ea typeface="+mn-ea"/>
                <a:cs typeface="Arial" charset="0"/>
              </a:defRPr>
            </a:lvl1pPr>
            <a:lvl2pPr marL="0" indent="0" algn="l" defTabSz="1042688" rtl="0" eaLnBrk="1" latinLnBrk="0" hangingPunct="1">
              <a:spcBef>
                <a:spcPts val="200"/>
              </a:spcBef>
              <a:spcAft>
                <a:spcPts val="500"/>
              </a:spcAft>
              <a:buFontTx/>
              <a:buNone/>
              <a:defRPr sz="1400" b="1" kern="1200">
                <a:solidFill>
                  <a:schemeClr val="tx1"/>
                </a:solidFill>
                <a:latin typeface="+mn-lt"/>
                <a:ea typeface="+mn-ea"/>
                <a:cs typeface="+mn-cs"/>
              </a:defRPr>
            </a:lvl2pPr>
            <a:lvl3pPr marL="0" indent="0" algn="l" defTabSz="1042688" rtl="0" eaLnBrk="1" latinLnBrk="0" hangingPunct="1">
              <a:spcBef>
                <a:spcPts val="200"/>
              </a:spcBef>
              <a:spcAft>
                <a:spcPts val="500"/>
              </a:spcAft>
              <a:buFontTx/>
              <a:buNone/>
              <a:defRPr sz="1300" b="1" kern="1200">
                <a:solidFill>
                  <a:schemeClr val="accent1"/>
                </a:solidFill>
                <a:latin typeface="+mn-lt"/>
                <a:ea typeface="+mn-ea"/>
                <a:cs typeface="+mn-cs"/>
              </a:defRPr>
            </a:lvl3pPr>
            <a:lvl4pPr marL="177738" indent="-177738"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4pPr>
            <a:lvl5pPr marL="342779" indent="-165042"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5pPr>
            <a:lvl6pPr marL="2867392"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735"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0080"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1424"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en-GB" dirty="0" smtClean="0"/>
              <a:t>Session Aim: </a:t>
            </a:r>
            <a:r>
              <a:rPr lang="en-GB" dirty="0"/>
              <a:t>Work together to design the </a:t>
            </a:r>
            <a:endParaRPr lang="en-GB" dirty="0" smtClean="0"/>
          </a:p>
          <a:p>
            <a:r>
              <a:rPr lang="en-GB" dirty="0" smtClean="0"/>
              <a:t>delivery </a:t>
            </a:r>
            <a:r>
              <a:rPr lang="en-GB" dirty="0"/>
              <a:t>and risk management of a key project</a:t>
            </a:r>
          </a:p>
        </p:txBody>
      </p:sp>
    </p:spTree>
    <p:extLst>
      <p:ext uri="{BB962C8B-B14F-4D97-AF65-F5344CB8AC3E}">
        <p14:creationId xmlns:p14="http://schemas.microsoft.com/office/powerpoint/2010/main" val="21344654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104555401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5061"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759441" y="288311"/>
            <a:ext cx="9504363" cy="612000"/>
          </a:xfrm>
        </p:spPr>
        <p:txBody>
          <a:bodyPr/>
          <a:lstStyle/>
          <a:p>
            <a:r>
              <a:rPr lang="en-GB" dirty="0" smtClean="0"/>
              <a:t>Prioritising strategic projects as your business grows</a:t>
            </a:r>
            <a:endParaRPr lang="en-GB" dirty="0"/>
          </a:p>
        </p:txBody>
      </p:sp>
      <p:sp>
        <p:nvSpPr>
          <p:cNvPr id="15"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29</a:t>
            </a:fld>
            <a:endParaRPr lang="en-GB" sz="800" dirty="0">
              <a:solidFill>
                <a:srgbClr val="808080"/>
              </a:solidFill>
            </a:endParaRPr>
          </a:p>
        </p:txBody>
      </p:sp>
      <p:sp>
        <p:nvSpPr>
          <p:cNvPr id="11" name="Rectangle 10"/>
          <p:cNvSpPr/>
          <p:nvPr/>
        </p:nvSpPr>
        <p:spPr>
          <a:xfrm>
            <a:off x="737617" y="1044327"/>
            <a:ext cx="9361611" cy="338554"/>
          </a:xfrm>
          <a:prstGeom prst="rect">
            <a:avLst/>
          </a:prstGeom>
        </p:spPr>
        <p:txBody>
          <a:bodyPr wrap="square">
            <a:spAutoFit/>
          </a:bodyPr>
          <a:lstStyle/>
          <a:p>
            <a:pPr lvl="0"/>
            <a:r>
              <a:rPr lang="en-GB" sz="1600" b="1" dirty="0" smtClean="0">
                <a:solidFill>
                  <a:schemeClr val="bg1">
                    <a:lumMod val="50000"/>
                  </a:schemeClr>
                </a:solidFill>
              </a:rPr>
              <a:t>Session Aim</a:t>
            </a:r>
            <a:r>
              <a:rPr lang="en-GB" sz="1600" dirty="0" smtClean="0">
                <a:solidFill>
                  <a:schemeClr val="bg1">
                    <a:lumMod val="50000"/>
                  </a:schemeClr>
                </a:solidFill>
              </a:rPr>
              <a:t>: Design</a:t>
            </a:r>
            <a:r>
              <a:rPr lang="en-GB" sz="1600" dirty="0">
                <a:solidFill>
                  <a:schemeClr val="bg1">
                    <a:lumMod val="50000"/>
                  </a:schemeClr>
                </a:solidFill>
              </a:rPr>
              <a:t> </a:t>
            </a:r>
            <a:r>
              <a:rPr lang="en-GB" sz="1600" dirty="0" smtClean="0">
                <a:solidFill>
                  <a:schemeClr val="bg1">
                    <a:lumMod val="50000"/>
                  </a:schemeClr>
                </a:solidFill>
              </a:rPr>
              <a:t>the delivery and risk management of one </a:t>
            </a:r>
            <a:r>
              <a:rPr lang="en-GB" sz="1600" dirty="0">
                <a:solidFill>
                  <a:schemeClr val="bg1">
                    <a:lumMod val="50000"/>
                  </a:schemeClr>
                </a:solidFill>
              </a:rPr>
              <a:t>of your key projects</a:t>
            </a:r>
          </a:p>
        </p:txBody>
      </p:sp>
      <p:sp>
        <p:nvSpPr>
          <p:cNvPr id="8" name="Rounded Rectangle 7"/>
          <p:cNvSpPr/>
          <p:nvPr/>
        </p:nvSpPr>
        <p:spPr>
          <a:xfrm>
            <a:off x="783239" y="1620391"/>
            <a:ext cx="9361612" cy="5813340"/>
          </a:xfrm>
          <a:prstGeom prst="roundRect">
            <a:avLst>
              <a:gd name="adj" fmla="val 7972"/>
            </a:avLst>
          </a:prstGeom>
          <a:solidFill>
            <a:schemeClr val="bg2">
              <a:lumMod val="95000"/>
            </a:schemeClr>
          </a:solidFill>
          <a:ln w="9525" cmpd="sng">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1975" tIns="71975" rIns="71975" bIns="71975" rtlCol="0" anchor="t"/>
          <a:lstStyle/>
          <a:p>
            <a:pPr algn="just"/>
            <a:endParaRPr lang="en-GB" sz="1100" dirty="0" smtClean="0">
              <a:solidFill>
                <a:schemeClr val="tx1"/>
              </a:solidFill>
            </a:endParaRPr>
          </a:p>
        </p:txBody>
      </p:sp>
      <p:sp>
        <p:nvSpPr>
          <p:cNvPr id="26" name="TextBox 25"/>
          <p:cNvSpPr txBox="1"/>
          <p:nvPr/>
        </p:nvSpPr>
        <p:spPr>
          <a:xfrm>
            <a:off x="6830516" y="4570949"/>
            <a:ext cx="3052688" cy="2639184"/>
          </a:xfrm>
          <a:prstGeom prst="rect">
            <a:avLst/>
          </a:prstGeom>
          <a:noFill/>
        </p:spPr>
        <p:txBody>
          <a:bodyPr wrap="square" numCol="1" rtlCol="0">
            <a:spAutoFit/>
          </a:bodyPr>
          <a:lstStyle/>
          <a:p>
            <a:pPr>
              <a:spcAft>
                <a:spcPts val="300"/>
              </a:spcAft>
            </a:pPr>
            <a:endParaRPr lang="en-GB" sz="1050" dirty="0" smtClean="0"/>
          </a:p>
          <a:p>
            <a:pPr>
              <a:spcAft>
                <a:spcPts val="300"/>
              </a:spcAft>
            </a:pPr>
            <a:endParaRPr lang="en-GB" sz="1050" b="1" dirty="0" smtClean="0"/>
          </a:p>
          <a:p>
            <a:pPr algn="just">
              <a:spcAft>
                <a:spcPts val="300"/>
              </a:spcAft>
            </a:pPr>
            <a:r>
              <a:rPr lang="en-GB" sz="1100" b="1" dirty="0" smtClean="0"/>
              <a:t>7. Close</a:t>
            </a:r>
          </a:p>
          <a:p>
            <a:pPr algn="just">
              <a:spcAft>
                <a:spcPts val="300"/>
              </a:spcAft>
            </a:pPr>
            <a:r>
              <a:rPr lang="en-GB" sz="1100" dirty="0" smtClean="0"/>
              <a:t>Formally close the project by validating that the project objectives and client outcomes have been achieved.</a:t>
            </a:r>
          </a:p>
          <a:p>
            <a:pPr algn="just">
              <a:spcAft>
                <a:spcPts val="300"/>
              </a:spcAft>
            </a:pPr>
            <a:r>
              <a:rPr lang="en-GB" sz="1100" b="1" dirty="0" smtClean="0"/>
              <a:t>8. Projects delivering strategic change</a:t>
            </a:r>
          </a:p>
          <a:p>
            <a:pPr algn="just">
              <a:spcAft>
                <a:spcPts val="300"/>
              </a:spcAft>
            </a:pPr>
            <a:r>
              <a:rPr lang="en-GB" sz="1100" dirty="0" smtClean="0"/>
              <a:t>The strategic vision and objectives will kick-start a number of projects that will follow a standard project management methodology (steps 4-7). It is important to assess the portfolio of change continually (points 2 and 3) and to assess what projects need to stop, start or continue.</a:t>
            </a:r>
            <a:endParaRPr lang="en-GB" sz="1100" dirty="0"/>
          </a:p>
        </p:txBody>
      </p:sp>
      <p:sp>
        <p:nvSpPr>
          <p:cNvPr id="27" name="TextBox 26"/>
          <p:cNvSpPr txBox="1"/>
          <p:nvPr/>
        </p:nvSpPr>
        <p:spPr>
          <a:xfrm>
            <a:off x="879883" y="1759557"/>
            <a:ext cx="2712380" cy="4832092"/>
          </a:xfrm>
          <a:prstGeom prst="rect">
            <a:avLst/>
          </a:prstGeom>
          <a:noFill/>
        </p:spPr>
        <p:txBody>
          <a:bodyPr wrap="square" numCol="1" rtlCol="0">
            <a:spAutoFit/>
          </a:bodyPr>
          <a:lstStyle/>
          <a:p>
            <a:pPr algn="just"/>
            <a:r>
              <a:rPr lang="en-GB" sz="1100" dirty="0" smtClean="0"/>
              <a:t>Following a structured approach to the management of a portfolio of projects will ensure that the identified projects align with the original strategic objectives of the enterprise, and that there is a review mechanism in place to assess the relevance of each project continually. Once projects are prioritised and selected they should be delivered through a structured project management framework. Applying a framework offers a consistent way to manage all projects, facilitating the ongoing review and comparison of an entire portfolio of projects.</a:t>
            </a:r>
          </a:p>
          <a:p>
            <a:pPr algn="just"/>
            <a:endParaRPr lang="en-GB" sz="1100" dirty="0"/>
          </a:p>
          <a:p>
            <a:pPr algn="just"/>
            <a:r>
              <a:rPr lang="en-GB" sz="1100" dirty="0" smtClean="0"/>
              <a:t>At times, you may need to have the courage to make difficult decisions relating to de-prioritising or even stopping projects, in order to prioritise projects that deliver the most benefit.</a:t>
            </a:r>
          </a:p>
          <a:p>
            <a:pPr algn="just"/>
            <a:endParaRPr lang="en-GB" sz="1100" dirty="0"/>
          </a:p>
          <a:p>
            <a:pPr algn="just"/>
            <a:r>
              <a:rPr lang="en-GB" sz="1100" i="1" dirty="0" smtClean="0"/>
              <a:t>The diagram on the right provides an overview of how strategic change can be delivered through a portfolio of projects using a structured approach. This can be adopted for any project scope, at any level within the organisation.</a:t>
            </a:r>
            <a:endParaRPr lang="en-GB" sz="1100" i="1" dirty="0"/>
          </a:p>
        </p:txBody>
      </p:sp>
      <p:sp>
        <p:nvSpPr>
          <p:cNvPr id="37" name="TextBox 36"/>
          <p:cNvSpPr txBox="1"/>
          <p:nvPr/>
        </p:nvSpPr>
        <p:spPr>
          <a:xfrm>
            <a:off x="3685267" y="2609333"/>
            <a:ext cx="3103044" cy="4824398"/>
          </a:xfrm>
          <a:prstGeom prst="rect">
            <a:avLst/>
          </a:prstGeom>
          <a:noFill/>
        </p:spPr>
        <p:txBody>
          <a:bodyPr wrap="square" numCol="1" rtlCol="0">
            <a:spAutoFit/>
          </a:bodyPr>
          <a:lstStyle/>
          <a:p>
            <a:pPr algn="just">
              <a:spcAft>
                <a:spcPts val="300"/>
              </a:spcAft>
            </a:pPr>
            <a:r>
              <a:rPr lang="en-GB" sz="1100" b="1" dirty="0" smtClean="0"/>
              <a:t>0. Articulate the Strategic Vision</a:t>
            </a:r>
          </a:p>
          <a:p>
            <a:pPr algn="just">
              <a:spcAft>
                <a:spcPts val="300"/>
              </a:spcAft>
            </a:pPr>
            <a:r>
              <a:rPr lang="en-GB" sz="1100" dirty="0" smtClean="0"/>
              <a:t>The strategic vision is a view of the organisation’s future direction: where it is going and what it’s trying to become. It articulates a roadmap of where the organisation is aiming to be in three or five years.</a:t>
            </a:r>
          </a:p>
          <a:p>
            <a:pPr algn="just">
              <a:spcAft>
                <a:spcPts val="300"/>
              </a:spcAft>
            </a:pPr>
            <a:r>
              <a:rPr lang="en-GB" sz="1100" b="1" dirty="0" smtClean="0"/>
              <a:t>1. Confirm Strategic Objectives</a:t>
            </a:r>
          </a:p>
          <a:p>
            <a:pPr algn="just">
              <a:spcAft>
                <a:spcPts val="300"/>
              </a:spcAft>
            </a:pPr>
            <a:r>
              <a:rPr lang="en-GB" sz="1100" dirty="0" smtClean="0"/>
              <a:t>What are the strategic objectives you need to deliver against?</a:t>
            </a:r>
          </a:p>
          <a:p>
            <a:pPr algn="just">
              <a:spcAft>
                <a:spcPts val="300"/>
              </a:spcAft>
            </a:pPr>
            <a:r>
              <a:rPr lang="en-GB" sz="1100" b="1" dirty="0" smtClean="0"/>
              <a:t>2. Identify Projects</a:t>
            </a:r>
          </a:p>
          <a:p>
            <a:pPr algn="just">
              <a:spcAft>
                <a:spcPts val="300"/>
              </a:spcAft>
            </a:pPr>
            <a:r>
              <a:rPr lang="en-GB" sz="1100" dirty="0" smtClean="0"/>
              <a:t>What are the potential projects that could deliver these strategic  objectives?</a:t>
            </a:r>
            <a:endParaRPr lang="en-GB" sz="1100" b="1" dirty="0" smtClean="0"/>
          </a:p>
          <a:p>
            <a:pPr algn="just">
              <a:spcAft>
                <a:spcPts val="300"/>
              </a:spcAft>
            </a:pPr>
            <a:r>
              <a:rPr lang="en-GB" sz="1100" b="1" dirty="0" smtClean="0"/>
              <a:t>3. Prioritise and Select</a:t>
            </a:r>
          </a:p>
          <a:p>
            <a:pPr algn="just">
              <a:spcAft>
                <a:spcPts val="300"/>
              </a:spcAft>
            </a:pPr>
            <a:r>
              <a:rPr lang="en-GB" sz="1100" dirty="0" smtClean="0"/>
              <a:t>What projects can you deliver within your operating constraints (resources, time, etc.)?</a:t>
            </a:r>
            <a:endParaRPr lang="en-GB" sz="1100" b="1" dirty="0" smtClean="0"/>
          </a:p>
          <a:p>
            <a:pPr algn="just">
              <a:spcAft>
                <a:spcPts val="300"/>
              </a:spcAft>
            </a:pPr>
            <a:r>
              <a:rPr lang="en-GB" sz="1100" b="1" dirty="0" smtClean="0"/>
              <a:t>4, Initiate</a:t>
            </a:r>
          </a:p>
          <a:p>
            <a:pPr algn="just">
              <a:spcAft>
                <a:spcPts val="300"/>
              </a:spcAft>
            </a:pPr>
            <a:r>
              <a:rPr lang="en-GB" sz="1100" dirty="0" smtClean="0"/>
              <a:t>Project setup activities, including on-going review with new projects being selected.</a:t>
            </a:r>
            <a:endParaRPr lang="en-GB" sz="1100" b="1" dirty="0" smtClean="0"/>
          </a:p>
          <a:p>
            <a:pPr algn="just">
              <a:spcAft>
                <a:spcPts val="300"/>
              </a:spcAft>
            </a:pPr>
            <a:r>
              <a:rPr lang="en-GB" sz="1100" b="1" dirty="0" smtClean="0"/>
              <a:t>5. Plan</a:t>
            </a:r>
          </a:p>
          <a:p>
            <a:pPr algn="just">
              <a:spcAft>
                <a:spcPts val="300"/>
              </a:spcAft>
            </a:pPr>
            <a:r>
              <a:rPr lang="en-GB" sz="1100" dirty="0" smtClean="0"/>
              <a:t>Develop the project plan and deployment approach, and mobilise resources to deliver.</a:t>
            </a:r>
          </a:p>
          <a:p>
            <a:pPr algn="just">
              <a:spcAft>
                <a:spcPts val="300"/>
              </a:spcAft>
            </a:pPr>
            <a:r>
              <a:rPr lang="en-GB" sz="1100" b="1" dirty="0" smtClean="0"/>
              <a:t>6. Execute and Monitor and Control</a:t>
            </a:r>
          </a:p>
          <a:p>
            <a:pPr algn="just">
              <a:spcAft>
                <a:spcPts val="300"/>
              </a:spcAft>
            </a:pPr>
            <a:r>
              <a:rPr lang="en-GB" sz="1100" dirty="0" smtClean="0"/>
              <a:t>Deliver against the project plan, amidst uncertainty and change, to ensure client outcomes are achieved.</a:t>
            </a:r>
            <a:endParaRPr lang="en-GB" sz="1100" dirty="0"/>
          </a:p>
        </p:txBody>
      </p:sp>
      <p:sp>
        <p:nvSpPr>
          <p:cNvPr id="38" name="AutoShape 4"/>
          <p:cNvSpPr>
            <a:spLocks noChangeArrowheads="1"/>
          </p:cNvSpPr>
          <p:nvPr/>
        </p:nvSpPr>
        <p:spPr bwMode="auto">
          <a:xfrm>
            <a:off x="7059051" y="1794467"/>
            <a:ext cx="1348589" cy="647276"/>
          </a:xfrm>
          <a:prstGeom prst="homePlate">
            <a:avLst>
              <a:gd name="adj" fmla="val 46137"/>
            </a:avLst>
          </a:prstGeom>
          <a:solidFill>
            <a:schemeClr val="accent2"/>
          </a:solidFill>
          <a:ln w="6350" cap="rnd">
            <a:noFill/>
            <a:miter lim="800000"/>
            <a:headEnd/>
            <a:tailEnd/>
          </a:ln>
        </p:spPr>
        <p:txBody>
          <a:bodyPr wrap="none" lIns="45720" rIns="45720" anchor="ctr"/>
          <a:lstStyle/>
          <a:p>
            <a:pPr eaLnBrk="0" hangingPunct="0"/>
            <a:endParaRPr lang="en-GB" sz="1200" dirty="0"/>
          </a:p>
        </p:txBody>
      </p:sp>
      <p:grpSp>
        <p:nvGrpSpPr>
          <p:cNvPr id="39" name="Group 3"/>
          <p:cNvGrpSpPr>
            <a:grpSpLocks/>
          </p:cNvGrpSpPr>
          <p:nvPr/>
        </p:nvGrpSpPr>
        <p:grpSpPr bwMode="auto">
          <a:xfrm rot="20540351">
            <a:off x="7057369" y="1754909"/>
            <a:ext cx="2749958" cy="2826233"/>
            <a:chOff x="2130" y="1410"/>
            <a:chExt cx="1980" cy="1948"/>
          </a:xfrm>
        </p:grpSpPr>
        <p:sp>
          <p:nvSpPr>
            <p:cNvPr id="40" name="Freeform 4"/>
            <p:cNvSpPr>
              <a:spLocks/>
            </p:cNvSpPr>
            <p:nvPr/>
          </p:nvSpPr>
          <p:spPr bwMode="auto">
            <a:xfrm>
              <a:off x="2130" y="1731"/>
              <a:ext cx="626" cy="1359"/>
            </a:xfrm>
            <a:custGeom>
              <a:avLst/>
              <a:gdLst>
                <a:gd name="T0" fmla="*/ 893 w 432"/>
                <a:gd name="T1" fmla="*/ 637 h 951"/>
                <a:gd name="T2" fmla="*/ 758 w 432"/>
                <a:gd name="T3" fmla="*/ 130 h 951"/>
                <a:gd name="T4" fmla="*/ 223 w 432"/>
                <a:gd name="T5" fmla="*/ 0 h 951"/>
                <a:gd name="T6" fmla="*/ 304 w 432"/>
                <a:gd name="T7" fmla="*/ 77 h 951"/>
                <a:gd name="T8" fmla="*/ 238 w 432"/>
                <a:gd name="T9" fmla="*/ 170 h 951"/>
                <a:gd name="T10" fmla="*/ 177 w 432"/>
                <a:gd name="T11" fmla="*/ 266 h 951"/>
                <a:gd name="T12" fmla="*/ 123 w 432"/>
                <a:gd name="T13" fmla="*/ 367 h 951"/>
                <a:gd name="T14" fmla="*/ 80 w 432"/>
                <a:gd name="T15" fmla="*/ 476 h 951"/>
                <a:gd name="T16" fmla="*/ 46 w 432"/>
                <a:gd name="T17" fmla="*/ 584 h 951"/>
                <a:gd name="T18" fmla="*/ 20 w 432"/>
                <a:gd name="T19" fmla="*/ 699 h 951"/>
                <a:gd name="T20" fmla="*/ 4 w 432"/>
                <a:gd name="T21" fmla="*/ 815 h 951"/>
                <a:gd name="T22" fmla="*/ 0 w 432"/>
                <a:gd name="T23" fmla="*/ 935 h 951"/>
                <a:gd name="T24" fmla="*/ 1 w 432"/>
                <a:gd name="T25" fmla="*/ 1007 h 951"/>
                <a:gd name="T26" fmla="*/ 9 w 432"/>
                <a:gd name="T27" fmla="*/ 1080 h 951"/>
                <a:gd name="T28" fmla="*/ 19 w 432"/>
                <a:gd name="T29" fmla="*/ 1152 h 951"/>
                <a:gd name="T30" fmla="*/ 29 w 432"/>
                <a:gd name="T31" fmla="*/ 1222 h 951"/>
                <a:gd name="T32" fmla="*/ 48 w 432"/>
                <a:gd name="T33" fmla="*/ 1290 h 951"/>
                <a:gd name="T34" fmla="*/ 70 w 432"/>
                <a:gd name="T35" fmla="*/ 1358 h 951"/>
                <a:gd name="T36" fmla="*/ 93 w 432"/>
                <a:gd name="T37" fmla="*/ 1425 h 951"/>
                <a:gd name="T38" fmla="*/ 120 w 432"/>
                <a:gd name="T39" fmla="*/ 1489 h 951"/>
                <a:gd name="T40" fmla="*/ 181 w 432"/>
                <a:gd name="T41" fmla="*/ 1613 h 951"/>
                <a:gd name="T42" fmla="*/ 258 w 432"/>
                <a:gd name="T43" fmla="*/ 1729 h 951"/>
                <a:gd name="T44" fmla="*/ 345 w 432"/>
                <a:gd name="T45" fmla="*/ 1838 h 951"/>
                <a:gd name="T46" fmla="*/ 441 w 432"/>
                <a:gd name="T47" fmla="*/ 1941 h 951"/>
                <a:gd name="T48" fmla="*/ 548 w 432"/>
                <a:gd name="T49" fmla="*/ 1522 h 951"/>
                <a:gd name="T50" fmla="*/ 906 w 432"/>
                <a:gd name="T51" fmla="*/ 1433 h 951"/>
                <a:gd name="T52" fmla="*/ 859 w 432"/>
                <a:gd name="T53" fmla="*/ 1380 h 951"/>
                <a:gd name="T54" fmla="*/ 817 w 432"/>
                <a:gd name="T55" fmla="*/ 1328 h 951"/>
                <a:gd name="T56" fmla="*/ 784 w 432"/>
                <a:gd name="T57" fmla="*/ 1270 h 951"/>
                <a:gd name="T58" fmla="*/ 752 w 432"/>
                <a:gd name="T59" fmla="*/ 1208 h 951"/>
                <a:gd name="T60" fmla="*/ 729 w 432"/>
                <a:gd name="T61" fmla="*/ 1142 h 951"/>
                <a:gd name="T62" fmla="*/ 711 w 432"/>
                <a:gd name="T63" fmla="*/ 1076 h 951"/>
                <a:gd name="T64" fmla="*/ 701 w 432"/>
                <a:gd name="T65" fmla="*/ 1007 h 951"/>
                <a:gd name="T66" fmla="*/ 697 w 432"/>
                <a:gd name="T67" fmla="*/ 935 h 951"/>
                <a:gd name="T68" fmla="*/ 706 w 432"/>
                <a:gd name="T69" fmla="*/ 832 h 951"/>
                <a:gd name="T70" fmla="*/ 726 w 432"/>
                <a:gd name="T71" fmla="*/ 735 h 951"/>
                <a:gd name="T72" fmla="*/ 762 w 432"/>
                <a:gd name="T73" fmla="*/ 642 h 951"/>
                <a:gd name="T74" fmla="*/ 784 w 432"/>
                <a:gd name="T75" fmla="*/ 596 h 951"/>
                <a:gd name="T76" fmla="*/ 809 w 432"/>
                <a:gd name="T77" fmla="*/ 556 h 951"/>
                <a:gd name="T78" fmla="*/ 893 w 432"/>
                <a:gd name="T79" fmla="*/ 637 h 9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32"/>
                <a:gd name="T121" fmla="*/ 0 h 951"/>
                <a:gd name="T122" fmla="*/ 432 w 432"/>
                <a:gd name="T123" fmla="*/ 951 h 95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32" h="951">
                  <a:moveTo>
                    <a:pt x="425" y="312"/>
                  </a:moveTo>
                  <a:lnTo>
                    <a:pt x="361" y="64"/>
                  </a:lnTo>
                  <a:lnTo>
                    <a:pt x="106" y="0"/>
                  </a:lnTo>
                  <a:lnTo>
                    <a:pt x="145" y="38"/>
                  </a:lnTo>
                  <a:lnTo>
                    <a:pt x="113" y="83"/>
                  </a:lnTo>
                  <a:lnTo>
                    <a:pt x="84" y="130"/>
                  </a:lnTo>
                  <a:lnTo>
                    <a:pt x="59" y="180"/>
                  </a:lnTo>
                  <a:lnTo>
                    <a:pt x="38" y="233"/>
                  </a:lnTo>
                  <a:lnTo>
                    <a:pt x="22" y="286"/>
                  </a:lnTo>
                  <a:lnTo>
                    <a:pt x="10" y="342"/>
                  </a:lnTo>
                  <a:lnTo>
                    <a:pt x="2" y="399"/>
                  </a:lnTo>
                  <a:lnTo>
                    <a:pt x="0" y="458"/>
                  </a:lnTo>
                  <a:lnTo>
                    <a:pt x="1" y="493"/>
                  </a:lnTo>
                  <a:lnTo>
                    <a:pt x="4" y="529"/>
                  </a:lnTo>
                  <a:lnTo>
                    <a:pt x="9" y="564"/>
                  </a:lnTo>
                  <a:lnTo>
                    <a:pt x="14" y="598"/>
                  </a:lnTo>
                  <a:lnTo>
                    <a:pt x="23" y="632"/>
                  </a:lnTo>
                  <a:lnTo>
                    <a:pt x="33" y="665"/>
                  </a:lnTo>
                  <a:lnTo>
                    <a:pt x="44" y="698"/>
                  </a:lnTo>
                  <a:lnTo>
                    <a:pt x="57" y="729"/>
                  </a:lnTo>
                  <a:lnTo>
                    <a:pt x="86" y="790"/>
                  </a:lnTo>
                  <a:lnTo>
                    <a:pt x="123" y="847"/>
                  </a:lnTo>
                  <a:lnTo>
                    <a:pt x="164" y="900"/>
                  </a:lnTo>
                  <a:lnTo>
                    <a:pt x="210" y="950"/>
                  </a:lnTo>
                  <a:lnTo>
                    <a:pt x="261" y="745"/>
                  </a:lnTo>
                  <a:lnTo>
                    <a:pt x="431" y="702"/>
                  </a:lnTo>
                  <a:lnTo>
                    <a:pt x="409" y="676"/>
                  </a:lnTo>
                  <a:lnTo>
                    <a:pt x="389" y="650"/>
                  </a:lnTo>
                  <a:lnTo>
                    <a:pt x="373" y="622"/>
                  </a:lnTo>
                  <a:lnTo>
                    <a:pt x="358" y="591"/>
                  </a:lnTo>
                  <a:lnTo>
                    <a:pt x="347" y="559"/>
                  </a:lnTo>
                  <a:lnTo>
                    <a:pt x="339" y="527"/>
                  </a:lnTo>
                  <a:lnTo>
                    <a:pt x="334" y="493"/>
                  </a:lnTo>
                  <a:lnTo>
                    <a:pt x="332" y="458"/>
                  </a:lnTo>
                  <a:lnTo>
                    <a:pt x="336" y="407"/>
                  </a:lnTo>
                  <a:lnTo>
                    <a:pt x="346" y="360"/>
                  </a:lnTo>
                  <a:lnTo>
                    <a:pt x="363" y="314"/>
                  </a:lnTo>
                  <a:lnTo>
                    <a:pt x="373" y="292"/>
                  </a:lnTo>
                  <a:lnTo>
                    <a:pt x="385" y="272"/>
                  </a:lnTo>
                  <a:lnTo>
                    <a:pt x="425" y="312"/>
                  </a:lnTo>
                </a:path>
              </a:pathLst>
            </a:custGeom>
            <a:solidFill>
              <a:schemeClr val="accent1"/>
            </a:solidFill>
            <a:ln w="6350" cap="rnd">
              <a:solidFill>
                <a:schemeClr val="folHlink"/>
              </a:solidFill>
              <a:round/>
              <a:headEnd/>
              <a:tailEnd/>
            </a:ln>
          </p:spPr>
          <p:txBody>
            <a:bodyPr lIns="45720" rIns="45720" anchor="ctr" anchorCtr="1"/>
            <a:lstStyle/>
            <a:p>
              <a:endParaRPr lang="en-GB"/>
            </a:p>
          </p:txBody>
        </p:sp>
        <p:sp>
          <p:nvSpPr>
            <p:cNvPr id="41" name="Freeform 5"/>
            <p:cNvSpPr>
              <a:spLocks/>
            </p:cNvSpPr>
            <p:nvPr/>
          </p:nvSpPr>
          <p:spPr bwMode="auto">
            <a:xfrm>
              <a:off x="2459" y="2746"/>
              <a:ext cx="1373" cy="612"/>
            </a:xfrm>
            <a:custGeom>
              <a:avLst/>
              <a:gdLst>
                <a:gd name="T0" fmla="*/ 652 w 948"/>
                <a:gd name="T1" fmla="*/ 16 h 428"/>
                <a:gd name="T2" fmla="*/ 135 w 948"/>
                <a:gd name="T3" fmla="*/ 149 h 428"/>
                <a:gd name="T4" fmla="*/ 0 w 948"/>
                <a:gd name="T5" fmla="*/ 671 h 428"/>
                <a:gd name="T6" fmla="*/ 84 w 948"/>
                <a:gd name="T7" fmla="*/ 586 h 428"/>
                <a:gd name="T8" fmla="*/ 178 w 948"/>
                <a:gd name="T9" fmla="*/ 651 h 428"/>
                <a:gd name="T10" fmla="*/ 277 w 948"/>
                <a:gd name="T11" fmla="*/ 708 h 428"/>
                <a:gd name="T12" fmla="*/ 382 w 948"/>
                <a:gd name="T13" fmla="*/ 758 h 428"/>
                <a:gd name="T14" fmla="*/ 491 w 948"/>
                <a:gd name="T15" fmla="*/ 802 h 428"/>
                <a:gd name="T16" fmla="*/ 602 w 948"/>
                <a:gd name="T17" fmla="*/ 834 h 428"/>
                <a:gd name="T18" fmla="*/ 717 w 948"/>
                <a:gd name="T19" fmla="*/ 859 h 428"/>
                <a:gd name="T20" fmla="*/ 839 w 948"/>
                <a:gd name="T21" fmla="*/ 874 h 428"/>
                <a:gd name="T22" fmla="*/ 960 w 948"/>
                <a:gd name="T23" fmla="*/ 874 h 428"/>
                <a:gd name="T24" fmla="*/ 1109 w 948"/>
                <a:gd name="T25" fmla="*/ 869 h 428"/>
                <a:gd name="T26" fmla="*/ 1253 w 948"/>
                <a:gd name="T27" fmla="*/ 848 h 428"/>
                <a:gd name="T28" fmla="*/ 1393 w 948"/>
                <a:gd name="T29" fmla="*/ 812 h 428"/>
                <a:gd name="T30" fmla="*/ 1527 w 948"/>
                <a:gd name="T31" fmla="*/ 765 h 428"/>
                <a:gd name="T32" fmla="*/ 1653 w 948"/>
                <a:gd name="T33" fmla="*/ 704 h 428"/>
                <a:gd name="T34" fmla="*/ 1713 w 948"/>
                <a:gd name="T35" fmla="*/ 669 h 428"/>
                <a:gd name="T36" fmla="*/ 1773 w 948"/>
                <a:gd name="T37" fmla="*/ 632 h 428"/>
                <a:gd name="T38" fmla="*/ 1884 w 948"/>
                <a:gd name="T39" fmla="*/ 548 h 428"/>
                <a:gd name="T40" fmla="*/ 1987 w 948"/>
                <a:gd name="T41" fmla="*/ 456 h 428"/>
                <a:gd name="T42" fmla="*/ 1564 w 948"/>
                <a:gd name="T43" fmla="*/ 353 h 428"/>
                <a:gd name="T44" fmla="*/ 1470 w 948"/>
                <a:gd name="T45" fmla="*/ 0 h 428"/>
                <a:gd name="T46" fmla="*/ 1421 w 948"/>
                <a:gd name="T47" fmla="*/ 44 h 428"/>
                <a:gd name="T48" fmla="*/ 1363 w 948"/>
                <a:gd name="T49" fmla="*/ 84 h 428"/>
                <a:gd name="T50" fmla="*/ 1302 w 948"/>
                <a:gd name="T51" fmla="*/ 117 h 428"/>
                <a:gd name="T52" fmla="*/ 1240 w 948"/>
                <a:gd name="T53" fmla="*/ 147 h 428"/>
                <a:gd name="T54" fmla="*/ 1175 w 948"/>
                <a:gd name="T55" fmla="*/ 170 h 428"/>
                <a:gd name="T56" fmla="*/ 1104 w 948"/>
                <a:gd name="T57" fmla="*/ 186 h 428"/>
                <a:gd name="T58" fmla="*/ 1034 w 948"/>
                <a:gd name="T59" fmla="*/ 196 h 428"/>
                <a:gd name="T60" fmla="*/ 960 w 948"/>
                <a:gd name="T61" fmla="*/ 200 h 428"/>
                <a:gd name="T62" fmla="*/ 908 w 948"/>
                <a:gd name="T63" fmla="*/ 199 h 428"/>
                <a:gd name="T64" fmla="*/ 856 w 948"/>
                <a:gd name="T65" fmla="*/ 192 h 428"/>
                <a:gd name="T66" fmla="*/ 805 w 948"/>
                <a:gd name="T67" fmla="*/ 184 h 428"/>
                <a:gd name="T68" fmla="*/ 757 w 948"/>
                <a:gd name="T69" fmla="*/ 174 h 428"/>
                <a:gd name="T70" fmla="*/ 710 w 948"/>
                <a:gd name="T71" fmla="*/ 157 h 428"/>
                <a:gd name="T72" fmla="*/ 663 w 948"/>
                <a:gd name="T73" fmla="*/ 142 h 428"/>
                <a:gd name="T74" fmla="*/ 618 w 948"/>
                <a:gd name="T75" fmla="*/ 119 h 428"/>
                <a:gd name="T76" fmla="*/ 575 w 948"/>
                <a:gd name="T77" fmla="*/ 94 h 428"/>
                <a:gd name="T78" fmla="*/ 652 w 948"/>
                <a:gd name="T79" fmla="*/ 16 h 42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48"/>
                <a:gd name="T121" fmla="*/ 0 h 428"/>
                <a:gd name="T122" fmla="*/ 948 w 948"/>
                <a:gd name="T123" fmla="*/ 428 h 42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48" h="428">
                  <a:moveTo>
                    <a:pt x="311" y="8"/>
                  </a:moveTo>
                  <a:lnTo>
                    <a:pt x="64" y="73"/>
                  </a:lnTo>
                  <a:lnTo>
                    <a:pt x="0" y="328"/>
                  </a:lnTo>
                  <a:lnTo>
                    <a:pt x="40" y="287"/>
                  </a:lnTo>
                  <a:lnTo>
                    <a:pt x="85" y="318"/>
                  </a:lnTo>
                  <a:lnTo>
                    <a:pt x="132" y="346"/>
                  </a:lnTo>
                  <a:lnTo>
                    <a:pt x="182" y="371"/>
                  </a:lnTo>
                  <a:lnTo>
                    <a:pt x="234" y="392"/>
                  </a:lnTo>
                  <a:lnTo>
                    <a:pt x="287" y="408"/>
                  </a:lnTo>
                  <a:lnTo>
                    <a:pt x="342" y="420"/>
                  </a:lnTo>
                  <a:lnTo>
                    <a:pt x="400" y="427"/>
                  </a:lnTo>
                  <a:lnTo>
                    <a:pt x="458" y="427"/>
                  </a:lnTo>
                  <a:lnTo>
                    <a:pt x="529" y="425"/>
                  </a:lnTo>
                  <a:lnTo>
                    <a:pt x="597" y="415"/>
                  </a:lnTo>
                  <a:lnTo>
                    <a:pt x="664" y="397"/>
                  </a:lnTo>
                  <a:lnTo>
                    <a:pt x="728" y="374"/>
                  </a:lnTo>
                  <a:lnTo>
                    <a:pt x="788" y="344"/>
                  </a:lnTo>
                  <a:lnTo>
                    <a:pt x="817" y="327"/>
                  </a:lnTo>
                  <a:lnTo>
                    <a:pt x="845" y="309"/>
                  </a:lnTo>
                  <a:lnTo>
                    <a:pt x="898" y="268"/>
                  </a:lnTo>
                  <a:lnTo>
                    <a:pt x="947" y="223"/>
                  </a:lnTo>
                  <a:lnTo>
                    <a:pt x="746" y="173"/>
                  </a:lnTo>
                  <a:lnTo>
                    <a:pt x="701" y="0"/>
                  </a:lnTo>
                  <a:lnTo>
                    <a:pt x="677" y="22"/>
                  </a:lnTo>
                  <a:lnTo>
                    <a:pt x="650" y="41"/>
                  </a:lnTo>
                  <a:lnTo>
                    <a:pt x="621" y="57"/>
                  </a:lnTo>
                  <a:lnTo>
                    <a:pt x="591" y="72"/>
                  </a:lnTo>
                  <a:lnTo>
                    <a:pt x="560" y="83"/>
                  </a:lnTo>
                  <a:lnTo>
                    <a:pt x="526" y="91"/>
                  </a:lnTo>
                  <a:lnTo>
                    <a:pt x="493" y="96"/>
                  </a:lnTo>
                  <a:lnTo>
                    <a:pt x="458" y="98"/>
                  </a:lnTo>
                  <a:lnTo>
                    <a:pt x="433" y="97"/>
                  </a:lnTo>
                  <a:lnTo>
                    <a:pt x="408" y="94"/>
                  </a:lnTo>
                  <a:lnTo>
                    <a:pt x="384" y="90"/>
                  </a:lnTo>
                  <a:lnTo>
                    <a:pt x="361" y="85"/>
                  </a:lnTo>
                  <a:lnTo>
                    <a:pt x="338" y="77"/>
                  </a:lnTo>
                  <a:lnTo>
                    <a:pt x="316" y="69"/>
                  </a:lnTo>
                  <a:lnTo>
                    <a:pt x="295" y="58"/>
                  </a:lnTo>
                  <a:lnTo>
                    <a:pt x="274" y="46"/>
                  </a:lnTo>
                  <a:lnTo>
                    <a:pt x="311" y="8"/>
                  </a:lnTo>
                </a:path>
              </a:pathLst>
            </a:custGeom>
            <a:solidFill>
              <a:schemeClr val="hlink"/>
            </a:solidFill>
            <a:ln w="6350" cap="rnd">
              <a:solidFill>
                <a:schemeClr val="folHlink"/>
              </a:solidFill>
              <a:round/>
              <a:headEnd/>
              <a:tailEnd/>
            </a:ln>
          </p:spPr>
          <p:txBody>
            <a:bodyPr lIns="45720" rIns="45720" anchor="ctr" anchorCtr="1"/>
            <a:lstStyle/>
            <a:p>
              <a:endParaRPr lang="en-GB"/>
            </a:p>
          </p:txBody>
        </p:sp>
        <p:sp>
          <p:nvSpPr>
            <p:cNvPr id="42" name="Freeform 6"/>
            <p:cNvSpPr>
              <a:spLocks/>
            </p:cNvSpPr>
            <p:nvPr/>
          </p:nvSpPr>
          <p:spPr bwMode="auto">
            <a:xfrm>
              <a:off x="3494" y="1690"/>
              <a:ext cx="616" cy="1356"/>
            </a:xfrm>
            <a:custGeom>
              <a:avLst/>
              <a:gdLst>
                <a:gd name="T0" fmla="*/ 10 w 425"/>
                <a:gd name="T1" fmla="*/ 1303 h 948"/>
                <a:gd name="T2" fmla="*/ 145 w 425"/>
                <a:gd name="T3" fmla="*/ 1807 h 948"/>
                <a:gd name="T4" fmla="*/ 683 w 425"/>
                <a:gd name="T5" fmla="*/ 1938 h 948"/>
                <a:gd name="T6" fmla="*/ 590 w 425"/>
                <a:gd name="T7" fmla="*/ 1851 h 948"/>
                <a:gd name="T8" fmla="*/ 659 w 425"/>
                <a:gd name="T9" fmla="*/ 1759 h 948"/>
                <a:gd name="T10" fmla="*/ 719 w 425"/>
                <a:gd name="T11" fmla="*/ 1664 h 948"/>
                <a:gd name="T12" fmla="*/ 771 w 425"/>
                <a:gd name="T13" fmla="*/ 1561 h 948"/>
                <a:gd name="T14" fmla="*/ 815 w 425"/>
                <a:gd name="T15" fmla="*/ 1455 h 948"/>
                <a:gd name="T16" fmla="*/ 849 w 425"/>
                <a:gd name="T17" fmla="*/ 1345 h 948"/>
                <a:gd name="T18" fmla="*/ 875 w 425"/>
                <a:gd name="T19" fmla="*/ 1232 h 948"/>
                <a:gd name="T20" fmla="*/ 891 w 425"/>
                <a:gd name="T21" fmla="*/ 1116 h 948"/>
                <a:gd name="T22" fmla="*/ 891 w 425"/>
                <a:gd name="T23" fmla="*/ 997 h 948"/>
                <a:gd name="T24" fmla="*/ 888 w 425"/>
                <a:gd name="T25" fmla="*/ 851 h 948"/>
                <a:gd name="T26" fmla="*/ 865 w 425"/>
                <a:gd name="T27" fmla="*/ 709 h 948"/>
                <a:gd name="T28" fmla="*/ 828 w 425"/>
                <a:gd name="T29" fmla="*/ 575 h 948"/>
                <a:gd name="T30" fmla="*/ 780 w 425"/>
                <a:gd name="T31" fmla="*/ 448 h 948"/>
                <a:gd name="T32" fmla="*/ 719 w 425"/>
                <a:gd name="T33" fmla="*/ 323 h 948"/>
                <a:gd name="T34" fmla="*/ 644 w 425"/>
                <a:gd name="T35" fmla="*/ 206 h 948"/>
                <a:gd name="T36" fmla="*/ 559 w 425"/>
                <a:gd name="T37" fmla="*/ 99 h 948"/>
                <a:gd name="T38" fmla="*/ 462 w 425"/>
                <a:gd name="T39" fmla="*/ 0 h 948"/>
                <a:gd name="T40" fmla="*/ 355 w 425"/>
                <a:gd name="T41" fmla="*/ 415 h 948"/>
                <a:gd name="T42" fmla="*/ 0 w 425"/>
                <a:gd name="T43" fmla="*/ 505 h 948"/>
                <a:gd name="T44" fmla="*/ 46 w 425"/>
                <a:gd name="T45" fmla="*/ 556 h 948"/>
                <a:gd name="T46" fmla="*/ 84 w 425"/>
                <a:gd name="T47" fmla="*/ 609 h 948"/>
                <a:gd name="T48" fmla="*/ 117 w 425"/>
                <a:gd name="T49" fmla="*/ 667 h 948"/>
                <a:gd name="T50" fmla="*/ 145 w 425"/>
                <a:gd name="T51" fmla="*/ 728 h 948"/>
                <a:gd name="T52" fmla="*/ 170 w 425"/>
                <a:gd name="T53" fmla="*/ 792 h 948"/>
                <a:gd name="T54" fmla="*/ 187 w 425"/>
                <a:gd name="T55" fmla="*/ 857 h 948"/>
                <a:gd name="T56" fmla="*/ 196 w 425"/>
                <a:gd name="T57" fmla="*/ 925 h 948"/>
                <a:gd name="T58" fmla="*/ 200 w 425"/>
                <a:gd name="T59" fmla="*/ 997 h 948"/>
                <a:gd name="T60" fmla="*/ 191 w 425"/>
                <a:gd name="T61" fmla="*/ 1097 h 948"/>
                <a:gd name="T62" fmla="*/ 170 w 425"/>
                <a:gd name="T63" fmla="*/ 1197 h 948"/>
                <a:gd name="T64" fmla="*/ 135 w 425"/>
                <a:gd name="T65" fmla="*/ 1287 h 948"/>
                <a:gd name="T66" fmla="*/ 88 w 425"/>
                <a:gd name="T67" fmla="*/ 1373 h 948"/>
                <a:gd name="T68" fmla="*/ 10 w 425"/>
                <a:gd name="T69" fmla="*/ 1303 h 9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25"/>
                <a:gd name="T106" fmla="*/ 0 h 948"/>
                <a:gd name="T107" fmla="*/ 425 w 425"/>
                <a:gd name="T108" fmla="*/ 948 h 9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25" h="948">
                  <a:moveTo>
                    <a:pt x="5" y="637"/>
                  </a:moveTo>
                  <a:lnTo>
                    <a:pt x="69" y="883"/>
                  </a:lnTo>
                  <a:lnTo>
                    <a:pt x="325" y="947"/>
                  </a:lnTo>
                  <a:lnTo>
                    <a:pt x="281" y="905"/>
                  </a:lnTo>
                  <a:lnTo>
                    <a:pt x="314" y="860"/>
                  </a:lnTo>
                  <a:lnTo>
                    <a:pt x="342" y="813"/>
                  </a:lnTo>
                  <a:lnTo>
                    <a:pt x="367" y="763"/>
                  </a:lnTo>
                  <a:lnTo>
                    <a:pt x="388" y="711"/>
                  </a:lnTo>
                  <a:lnTo>
                    <a:pt x="404" y="657"/>
                  </a:lnTo>
                  <a:lnTo>
                    <a:pt x="417" y="602"/>
                  </a:lnTo>
                  <a:lnTo>
                    <a:pt x="424" y="545"/>
                  </a:lnTo>
                  <a:lnTo>
                    <a:pt x="424" y="487"/>
                  </a:lnTo>
                  <a:lnTo>
                    <a:pt x="423" y="416"/>
                  </a:lnTo>
                  <a:lnTo>
                    <a:pt x="412" y="347"/>
                  </a:lnTo>
                  <a:lnTo>
                    <a:pt x="394" y="281"/>
                  </a:lnTo>
                  <a:lnTo>
                    <a:pt x="371" y="219"/>
                  </a:lnTo>
                  <a:lnTo>
                    <a:pt x="342" y="158"/>
                  </a:lnTo>
                  <a:lnTo>
                    <a:pt x="306" y="101"/>
                  </a:lnTo>
                  <a:lnTo>
                    <a:pt x="266" y="48"/>
                  </a:lnTo>
                  <a:lnTo>
                    <a:pt x="220" y="0"/>
                  </a:lnTo>
                  <a:lnTo>
                    <a:pt x="169" y="203"/>
                  </a:lnTo>
                  <a:lnTo>
                    <a:pt x="0" y="247"/>
                  </a:lnTo>
                  <a:lnTo>
                    <a:pt x="22" y="272"/>
                  </a:lnTo>
                  <a:lnTo>
                    <a:pt x="40" y="298"/>
                  </a:lnTo>
                  <a:lnTo>
                    <a:pt x="56" y="326"/>
                  </a:lnTo>
                  <a:lnTo>
                    <a:pt x="69" y="356"/>
                  </a:lnTo>
                  <a:lnTo>
                    <a:pt x="81" y="387"/>
                  </a:lnTo>
                  <a:lnTo>
                    <a:pt x="89" y="419"/>
                  </a:lnTo>
                  <a:lnTo>
                    <a:pt x="93" y="452"/>
                  </a:lnTo>
                  <a:lnTo>
                    <a:pt x="95" y="487"/>
                  </a:lnTo>
                  <a:lnTo>
                    <a:pt x="91" y="536"/>
                  </a:lnTo>
                  <a:lnTo>
                    <a:pt x="81" y="585"/>
                  </a:lnTo>
                  <a:lnTo>
                    <a:pt x="64" y="629"/>
                  </a:lnTo>
                  <a:lnTo>
                    <a:pt x="42" y="671"/>
                  </a:lnTo>
                  <a:lnTo>
                    <a:pt x="5" y="637"/>
                  </a:lnTo>
                </a:path>
              </a:pathLst>
            </a:custGeom>
            <a:solidFill>
              <a:schemeClr val="folHlink"/>
            </a:solidFill>
            <a:ln w="6350" cap="rnd">
              <a:solidFill>
                <a:schemeClr val="folHlink"/>
              </a:solidFill>
              <a:round/>
              <a:headEnd/>
              <a:tailEnd/>
            </a:ln>
          </p:spPr>
          <p:txBody>
            <a:bodyPr lIns="45720" rIns="45720" anchor="ctr" anchorCtr="1"/>
            <a:lstStyle/>
            <a:p>
              <a:endParaRPr lang="en-GB"/>
            </a:p>
          </p:txBody>
        </p:sp>
        <p:sp>
          <p:nvSpPr>
            <p:cNvPr id="43" name="Freeform 7"/>
            <p:cNvSpPr>
              <a:spLocks/>
            </p:cNvSpPr>
            <p:nvPr/>
          </p:nvSpPr>
          <p:spPr bwMode="auto">
            <a:xfrm>
              <a:off x="2408" y="1410"/>
              <a:ext cx="1382" cy="612"/>
            </a:xfrm>
            <a:custGeom>
              <a:avLst/>
              <a:gdLst>
                <a:gd name="T0" fmla="*/ 1349 w 954"/>
                <a:gd name="T1" fmla="*/ 869 h 428"/>
                <a:gd name="T2" fmla="*/ 1867 w 954"/>
                <a:gd name="T3" fmla="*/ 741 h 428"/>
                <a:gd name="T4" fmla="*/ 2001 w 954"/>
                <a:gd name="T5" fmla="*/ 214 h 428"/>
                <a:gd name="T6" fmla="*/ 1918 w 954"/>
                <a:gd name="T7" fmla="*/ 300 h 428"/>
                <a:gd name="T8" fmla="*/ 1824 w 954"/>
                <a:gd name="T9" fmla="*/ 233 h 428"/>
                <a:gd name="T10" fmla="*/ 1722 w 954"/>
                <a:gd name="T11" fmla="*/ 174 h 428"/>
                <a:gd name="T12" fmla="*/ 1618 w 954"/>
                <a:gd name="T13" fmla="*/ 123 h 428"/>
                <a:gd name="T14" fmla="*/ 1509 w 954"/>
                <a:gd name="T15" fmla="*/ 80 h 428"/>
                <a:gd name="T16" fmla="*/ 1394 w 954"/>
                <a:gd name="T17" fmla="*/ 44 h 428"/>
                <a:gd name="T18" fmla="*/ 1276 w 954"/>
                <a:gd name="T19" fmla="*/ 20 h 428"/>
                <a:gd name="T20" fmla="*/ 1156 w 954"/>
                <a:gd name="T21" fmla="*/ 4 h 428"/>
                <a:gd name="T22" fmla="*/ 1030 w 954"/>
                <a:gd name="T23" fmla="*/ 0 h 428"/>
                <a:gd name="T24" fmla="*/ 881 w 954"/>
                <a:gd name="T25" fmla="*/ 6 h 428"/>
                <a:gd name="T26" fmla="*/ 736 w 954"/>
                <a:gd name="T27" fmla="*/ 29 h 428"/>
                <a:gd name="T28" fmla="*/ 595 w 954"/>
                <a:gd name="T29" fmla="*/ 66 h 428"/>
                <a:gd name="T30" fmla="*/ 462 w 954"/>
                <a:gd name="T31" fmla="*/ 117 h 428"/>
                <a:gd name="T32" fmla="*/ 336 w 954"/>
                <a:gd name="T33" fmla="*/ 176 h 428"/>
                <a:gd name="T34" fmla="*/ 214 w 954"/>
                <a:gd name="T35" fmla="*/ 249 h 428"/>
                <a:gd name="T36" fmla="*/ 103 w 954"/>
                <a:gd name="T37" fmla="*/ 333 h 428"/>
                <a:gd name="T38" fmla="*/ 0 w 954"/>
                <a:gd name="T39" fmla="*/ 428 h 428"/>
                <a:gd name="T40" fmla="*/ 435 w 954"/>
                <a:gd name="T41" fmla="*/ 533 h 428"/>
                <a:gd name="T42" fmla="*/ 527 w 954"/>
                <a:gd name="T43" fmla="*/ 874 h 428"/>
                <a:gd name="T44" fmla="*/ 579 w 954"/>
                <a:gd name="T45" fmla="*/ 828 h 428"/>
                <a:gd name="T46" fmla="*/ 633 w 954"/>
                <a:gd name="T47" fmla="*/ 791 h 428"/>
                <a:gd name="T48" fmla="*/ 692 w 954"/>
                <a:gd name="T49" fmla="*/ 756 h 428"/>
                <a:gd name="T50" fmla="*/ 756 w 954"/>
                <a:gd name="T51" fmla="*/ 729 h 428"/>
                <a:gd name="T52" fmla="*/ 820 w 954"/>
                <a:gd name="T53" fmla="*/ 708 h 428"/>
                <a:gd name="T54" fmla="*/ 889 w 954"/>
                <a:gd name="T55" fmla="*/ 691 h 428"/>
                <a:gd name="T56" fmla="*/ 960 w 954"/>
                <a:gd name="T57" fmla="*/ 681 h 428"/>
                <a:gd name="T58" fmla="*/ 1030 w 954"/>
                <a:gd name="T59" fmla="*/ 676 h 428"/>
                <a:gd name="T60" fmla="*/ 1140 w 954"/>
                <a:gd name="T61" fmla="*/ 685 h 428"/>
                <a:gd name="T62" fmla="*/ 1240 w 954"/>
                <a:gd name="T63" fmla="*/ 708 h 428"/>
                <a:gd name="T64" fmla="*/ 1339 w 954"/>
                <a:gd name="T65" fmla="*/ 742 h 428"/>
                <a:gd name="T66" fmla="*/ 1427 w 954"/>
                <a:gd name="T67" fmla="*/ 789 h 428"/>
                <a:gd name="T68" fmla="*/ 1349 w 954"/>
                <a:gd name="T69" fmla="*/ 869 h 42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54"/>
                <a:gd name="T106" fmla="*/ 0 h 428"/>
                <a:gd name="T107" fmla="*/ 954 w 954"/>
                <a:gd name="T108" fmla="*/ 428 h 42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54" h="428">
                  <a:moveTo>
                    <a:pt x="643" y="425"/>
                  </a:moveTo>
                  <a:lnTo>
                    <a:pt x="890" y="362"/>
                  </a:lnTo>
                  <a:lnTo>
                    <a:pt x="953" y="105"/>
                  </a:lnTo>
                  <a:lnTo>
                    <a:pt x="914" y="147"/>
                  </a:lnTo>
                  <a:lnTo>
                    <a:pt x="869" y="114"/>
                  </a:lnTo>
                  <a:lnTo>
                    <a:pt x="821" y="85"/>
                  </a:lnTo>
                  <a:lnTo>
                    <a:pt x="771" y="60"/>
                  </a:lnTo>
                  <a:lnTo>
                    <a:pt x="719" y="39"/>
                  </a:lnTo>
                  <a:lnTo>
                    <a:pt x="664" y="22"/>
                  </a:lnTo>
                  <a:lnTo>
                    <a:pt x="608" y="10"/>
                  </a:lnTo>
                  <a:lnTo>
                    <a:pt x="551" y="2"/>
                  </a:lnTo>
                  <a:lnTo>
                    <a:pt x="491" y="0"/>
                  </a:lnTo>
                  <a:lnTo>
                    <a:pt x="420" y="3"/>
                  </a:lnTo>
                  <a:lnTo>
                    <a:pt x="351" y="14"/>
                  </a:lnTo>
                  <a:lnTo>
                    <a:pt x="284" y="32"/>
                  </a:lnTo>
                  <a:lnTo>
                    <a:pt x="220" y="57"/>
                  </a:lnTo>
                  <a:lnTo>
                    <a:pt x="160" y="86"/>
                  </a:lnTo>
                  <a:lnTo>
                    <a:pt x="102" y="122"/>
                  </a:lnTo>
                  <a:lnTo>
                    <a:pt x="49" y="163"/>
                  </a:lnTo>
                  <a:lnTo>
                    <a:pt x="0" y="209"/>
                  </a:lnTo>
                  <a:lnTo>
                    <a:pt x="207" y="261"/>
                  </a:lnTo>
                  <a:lnTo>
                    <a:pt x="251" y="427"/>
                  </a:lnTo>
                  <a:lnTo>
                    <a:pt x="276" y="405"/>
                  </a:lnTo>
                  <a:lnTo>
                    <a:pt x="302" y="387"/>
                  </a:lnTo>
                  <a:lnTo>
                    <a:pt x="330" y="370"/>
                  </a:lnTo>
                  <a:lnTo>
                    <a:pt x="360" y="357"/>
                  </a:lnTo>
                  <a:lnTo>
                    <a:pt x="391" y="346"/>
                  </a:lnTo>
                  <a:lnTo>
                    <a:pt x="424" y="338"/>
                  </a:lnTo>
                  <a:lnTo>
                    <a:pt x="458" y="333"/>
                  </a:lnTo>
                  <a:lnTo>
                    <a:pt x="491" y="331"/>
                  </a:lnTo>
                  <a:lnTo>
                    <a:pt x="543" y="335"/>
                  </a:lnTo>
                  <a:lnTo>
                    <a:pt x="591" y="346"/>
                  </a:lnTo>
                  <a:lnTo>
                    <a:pt x="638" y="363"/>
                  </a:lnTo>
                  <a:lnTo>
                    <a:pt x="680" y="386"/>
                  </a:lnTo>
                  <a:lnTo>
                    <a:pt x="643" y="425"/>
                  </a:lnTo>
                </a:path>
              </a:pathLst>
            </a:custGeom>
            <a:solidFill>
              <a:schemeClr val="accent2"/>
            </a:solidFill>
            <a:ln w="6350" cap="rnd">
              <a:noFill/>
              <a:round/>
              <a:headEnd/>
              <a:tailEnd/>
            </a:ln>
          </p:spPr>
          <p:txBody>
            <a:bodyPr lIns="45720" rIns="45720" anchor="ctr" anchorCtr="1"/>
            <a:lstStyle/>
            <a:p>
              <a:endParaRPr lang="en-GB"/>
            </a:p>
          </p:txBody>
        </p:sp>
      </p:grpSp>
      <p:sp>
        <p:nvSpPr>
          <p:cNvPr id="44" name="AutoShape 4"/>
          <p:cNvSpPr>
            <a:spLocks noChangeArrowheads="1"/>
          </p:cNvSpPr>
          <p:nvPr/>
        </p:nvSpPr>
        <p:spPr bwMode="auto">
          <a:xfrm>
            <a:off x="6642981" y="1794467"/>
            <a:ext cx="1224000" cy="647276"/>
          </a:xfrm>
          <a:prstGeom prst="homePlate">
            <a:avLst>
              <a:gd name="adj" fmla="val 46137"/>
            </a:avLst>
          </a:prstGeom>
          <a:solidFill>
            <a:schemeClr val="accent1"/>
          </a:solidFill>
          <a:ln w="6350" cap="rnd">
            <a:noFill/>
            <a:miter lim="800000"/>
            <a:headEnd/>
            <a:tailEnd/>
          </a:ln>
        </p:spPr>
        <p:txBody>
          <a:bodyPr wrap="none" lIns="45720" rIns="45720" anchor="ctr"/>
          <a:lstStyle/>
          <a:p>
            <a:pPr eaLnBrk="0" hangingPunct="0"/>
            <a:endParaRPr lang="en-GB" sz="1200" dirty="0"/>
          </a:p>
        </p:txBody>
      </p:sp>
      <p:sp>
        <p:nvSpPr>
          <p:cNvPr id="45" name="AutoShape 5"/>
          <p:cNvSpPr>
            <a:spLocks noChangeArrowheads="1"/>
          </p:cNvSpPr>
          <p:nvPr/>
        </p:nvSpPr>
        <p:spPr bwMode="auto">
          <a:xfrm>
            <a:off x="5798360" y="1794467"/>
            <a:ext cx="1224000" cy="647276"/>
          </a:xfrm>
          <a:prstGeom prst="homePlate">
            <a:avLst>
              <a:gd name="adj" fmla="val 46137"/>
            </a:avLst>
          </a:prstGeom>
          <a:solidFill>
            <a:schemeClr val="accent5"/>
          </a:solidFill>
          <a:ln w="6350" cap="rnd">
            <a:noFill/>
            <a:miter lim="800000"/>
            <a:headEnd/>
            <a:tailEnd/>
          </a:ln>
        </p:spPr>
        <p:txBody>
          <a:bodyPr wrap="none" lIns="45720" rIns="45720" anchor="ctr"/>
          <a:lstStyle/>
          <a:p>
            <a:pPr eaLnBrk="0" hangingPunct="0"/>
            <a:endParaRPr lang="en-GB" sz="1200" dirty="0"/>
          </a:p>
        </p:txBody>
      </p:sp>
      <p:sp>
        <p:nvSpPr>
          <p:cNvPr id="46" name="AutoShape 6"/>
          <p:cNvSpPr>
            <a:spLocks noChangeArrowheads="1"/>
          </p:cNvSpPr>
          <p:nvPr/>
        </p:nvSpPr>
        <p:spPr bwMode="auto">
          <a:xfrm>
            <a:off x="4716490" y="1794467"/>
            <a:ext cx="1422163" cy="647276"/>
          </a:xfrm>
          <a:prstGeom prst="homePlate">
            <a:avLst>
              <a:gd name="adj" fmla="val 46197"/>
            </a:avLst>
          </a:prstGeom>
          <a:solidFill>
            <a:schemeClr val="accent1"/>
          </a:solidFill>
          <a:ln w="6350" cap="rnd">
            <a:noFill/>
            <a:miter lim="800000"/>
            <a:headEnd/>
            <a:tailEnd/>
          </a:ln>
        </p:spPr>
        <p:txBody>
          <a:bodyPr wrap="none" lIns="45720" rIns="45720" anchor="ctr"/>
          <a:lstStyle/>
          <a:p>
            <a:pPr eaLnBrk="0" hangingPunct="0"/>
            <a:endParaRPr lang="en-GB" sz="1200" dirty="0"/>
          </a:p>
        </p:txBody>
      </p:sp>
      <p:sp>
        <p:nvSpPr>
          <p:cNvPr id="47" name="AutoShape 7"/>
          <p:cNvSpPr>
            <a:spLocks noChangeArrowheads="1"/>
          </p:cNvSpPr>
          <p:nvPr/>
        </p:nvSpPr>
        <p:spPr bwMode="auto">
          <a:xfrm>
            <a:off x="3978549" y="1794467"/>
            <a:ext cx="1224000" cy="647276"/>
          </a:xfrm>
          <a:prstGeom prst="homePlate">
            <a:avLst>
              <a:gd name="adj" fmla="val 46137"/>
            </a:avLst>
          </a:prstGeom>
          <a:solidFill>
            <a:schemeClr val="accent5"/>
          </a:solidFill>
          <a:ln w="6350" cap="rnd">
            <a:noFill/>
            <a:miter lim="800000"/>
            <a:headEnd/>
            <a:tailEnd/>
          </a:ln>
        </p:spPr>
        <p:txBody>
          <a:bodyPr wrap="square" lIns="45720" rIns="45720" anchor="ctr"/>
          <a:lstStyle/>
          <a:p>
            <a:pPr eaLnBrk="0" hangingPunct="0"/>
            <a:r>
              <a:rPr lang="en-GB" sz="1000" dirty="0" smtClean="0">
                <a:latin typeface="EYInterstate" pitchFamily="2" charset="0"/>
              </a:rPr>
              <a:t>Articulate the Strategic Vision</a:t>
            </a:r>
            <a:endParaRPr lang="en-GB" sz="1000" dirty="0">
              <a:latin typeface="EYInterstate" pitchFamily="2" charset="0"/>
            </a:endParaRPr>
          </a:p>
        </p:txBody>
      </p:sp>
      <p:sp>
        <p:nvSpPr>
          <p:cNvPr id="48" name="Freeform 9"/>
          <p:cNvSpPr>
            <a:spLocks/>
          </p:cNvSpPr>
          <p:nvPr/>
        </p:nvSpPr>
        <p:spPr bwMode="auto">
          <a:xfrm rot="9010616">
            <a:off x="7896391" y="2582779"/>
            <a:ext cx="1084362" cy="1188385"/>
          </a:xfrm>
          <a:custGeom>
            <a:avLst/>
            <a:gdLst>
              <a:gd name="T0" fmla="*/ 61 w 1699"/>
              <a:gd name="T1" fmla="*/ 776 h 1522"/>
              <a:gd name="T2" fmla="*/ 10 w 1699"/>
              <a:gd name="T3" fmla="*/ 1022 h 1522"/>
              <a:gd name="T4" fmla="*/ 1 w 1699"/>
              <a:gd name="T5" fmla="*/ 1276 h 1522"/>
              <a:gd name="T6" fmla="*/ 40 w 1699"/>
              <a:gd name="T7" fmla="*/ 1529 h 1522"/>
              <a:gd name="T8" fmla="*/ 120 w 1699"/>
              <a:gd name="T9" fmla="*/ 1764 h 1522"/>
              <a:gd name="T10" fmla="*/ 238 w 1699"/>
              <a:gd name="T11" fmla="*/ 1972 h 1522"/>
              <a:gd name="T12" fmla="*/ 392 w 1699"/>
              <a:gd name="T13" fmla="*/ 2149 h 1522"/>
              <a:gd name="T14" fmla="*/ 571 w 1699"/>
              <a:gd name="T15" fmla="*/ 2279 h 1522"/>
              <a:gd name="T16" fmla="*/ 770 w 1699"/>
              <a:gd name="T17" fmla="*/ 2357 h 1522"/>
              <a:gd name="T18" fmla="*/ 978 w 1699"/>
              <a:gd name="T19" fmla="*/ 2386 h 1522"/>
              <a:gd name="T20" fmla="*/ 1187 w 1699"/>
              <a:gd name="T21" fmla="*/ 2357 h 1522"/>
              <a:gd name="T22" fmla="*/ 1384 w 1699"/>
              <a:gd name="T23" fmla="*/ 2279 h 1522"/>
              <a:gd name="T24" fmla="*/ 1565 w 1699"/>
              <a:gd name="T25" fmla="*/ 2149 h 1522"/>
              <a:gd name="T26" fmla="*/ 1719 w 1699"/>
              <a:gd name="T27" fmla="*/ 1972 h 1522"/>
              <a:gd name="T28" fmla="*/ 1837 w 1699"/>
              <a:gd name="T29" fmla="*/ 1764 h 1522"/>
              <a:gd name="T30" fmla="*/ 1916 w 1699"/>
              <a:gd name="T31" fmla="*/ 1529 h 1522"/>
              <a:gd name="T32" fmla="*/ 1955 w 1699"/>
              <a:gd name="T33" fmla="*/ 1276 h 1522"/>
              <a:gd name="T34" fmla="*/ 1946 w 1699"/>
              <a:gd name="T35" fmla="*/ 1019 h 1522"/>
              <a:gd name="T36" fmla="*/ 1893 w 1699"/>
              <a:gd name="T37" fmla="*/ 766 h 1522"/>
              <a:gd name="T38" fmla="*/ 1797 w 1699"/>
              <a:gd name="T39" fmla="*/ 538 h 1522"/>
              <a:gd name="T40" fmla="*/ 1661 w 1699"/>
              <a:gd name="T41" fmla="*/ 337 h 1522"/>
              <a:gd name="T42" fmla="*/ 1493 w 1699"/>
              <a:gd name="T43" fmla="*/ 178 h 1522"/>
              <a:gd name="T44" fmla="*/ 1301 w 1699"/>
              <a:gd name="T45" fmla="*/ 64 h 1522"/>
              <a:gd name="T46" fmla="*/ 1094 w 1699"/>
              <a:gd name="T47" fmla="*/ 8 h 1522"/>
              <a:gd name="T48" fmla="*/ 881 w 1699"/>
              <a:gd name="T49" fmla="*/ 5 h 1522"/>
              <a:gd name="T50" fmla="*/ 674 w 1699"/>
              <a:gd name="T51" fmla="*/ 58 h 1522"/>
              <a:gd name="T52" fmla="*/ 480 w 1699"/>
              <a:gd name="T53" fmla="*/ 164 h 1522"/>
              <a:gd name="T54" fmla="*/ 309 w 1699"/>
              <a:gd name="T55" fmla="*/ 319 h 1522"/>
              <a:gd name="T56" fmla="*/ 507 w 1699"/>
              <a:gd name="T57" fmla="*/ 421 h 1522"/>
              <a:gd name="T58" fmla="*/ 749 w 1699"/>
              <a:gd name="T59" fmla="*/ 670 h 1522"/>
              <a:gd name="T60" fmla="*/ 882 w 1699"/>
              <a:gd name="T61" fmla="*/ 609 h 1522"/>
              <a:gd name="T62" fmla="*/ 1025 w 1699"/>
              <a:gd name="T63" fmla="*/ 597 h 1522"/>
              <a:gd name="T64" fmla="*/ 1165 w 1699"/>
              <a:gd name="T65" fmla="*/ 639 h 1522"/>
              <a:gd name="T66" fmla="*/ 1289 w 1699"/>
              <a:gd name="T67" fmla="*/ 731 h 1522"/>
              <a:gd name="T68" fmla="*/ 1387 w 1699"/>
              <a:gd name="T69" fmla="*/ 859 h 1522"/>
              <a:gd name="T70" fmla="*/ 1447 w 1699"/>
              <a:gd name="T71" fmla="*/ 1018 h 1522"/>
              <a:gd name="T72" fmla="*/ 1468 w 1699"/>
              <a:gd name="T73" fmla="*/ 1192 h 1522"/>
              <a:gd name="T74" fmla="*/ 1444 w 1699"/>
              <a:gd name="T75" fmla="*/ 1371 h 1522"/>
              <a:gd name="T76" fmla="*/ 1380 w 1699"/>
              <a:gd name="T77" fmla="*/ 1534 h 1522"/>
              <a:gd name="T78" fmla="*/ 1279 w 1699"/>
              <a:gd name="T79" fmla="*/ 1664 h 1522"/>
              <a:gd name="T80" fmla="*/ 1148 w 1699"/>
              <a:gd name="T81" fmla="*/ 1752 h 1522"/>
              <a:gd name="T82" fmla="*/ 1003 w 1699"/>
              <a:gd name="T83" fmla="*/ 1788 h 1522"/>
              <a:gd name="T84" fmla="*/ 856 w 1699"/>
              <a:gd name="T85" fmla="*/ 1769 h 1522"/>
              <a:gd name="T86" fmla="*/ 719 w 1699"/>
              <a:gd name="T87" fmla="*/ 1699 h 1522"/>
              <a:gd name="T88" fmla="*/ 607 w 1699"/>
              <a:gd name="T89" fmla="*/ 1580 h 1522"/>
              <a:gd name="T90" fmla="*/ 528 w 1699"/>
              <a:gd name="T91" fmla="*/ 1428 h 1522"/>
              <a:gd name="T92" fmla="*/ 491 w 1699"/>
              <a:gd name="T93" fmla="*/ 1251 h 1522"/>
              <a:gd name="T94" fmla="*/ 501 w 1699"/>
              <a:gd name="T95" fmla="*/ 1077 h 1522"/>
              <a:gd name="T96" fmla="*/ 545 w 1699"/>
              <a:gd name="T97" fmla="*/ 914 h 1522"/>
              <a:gd name="T98" fmla="*/ 636 w 1699"/>
              <a:gd name="T99" fmla="*/ 773 h 1522"/>
              <a:gd name="T100" fmla="*/ 323 w 1699"/>
              <a:gd name="T101" fmla="*/ 483 h 1522"/>
              <a:gd name="T102" fmla="*/ 120 w 1699"/>
              <a:gd name="T103" fmla="*/ 622 h 152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99"/>
              <a:gd name="T157" fmla="*/ 0 h 1522"/>
              <a:gd name="T158" fmla="*/ 1699 w 1699"/>
              <a:gd name="T159" fmla="*/ 1522 h 152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99" h="1522">
                <a:moveTo>
                  <a:pt x="104" y="397"/>
                </a:moveTo>
                <a:lnTo>
                  <a:pt x="76" y="444"/>
                </a:lnTo>
                <a:lnTo>
                  <a:pt x="53" y="495"/>
                </a:lnTo>
                <a:lnTo>
                  <a:pt x="34" y="546"/>
                </a:lnTo>
                <a:lnTo>
                  <a:pt x="18" y="598"/>
                </a:lnTo>
                <a:lnTo>
                  <a:pt x="8" y="652"/>
                </a:lnTo>
                <a:lnTo>
                  <a:pt x="1" y="706"/>
                </a:lnTo>
                <a:lnTo>
                  <a:pt x="0" y="760"/>
                </a:lnTo>
                <a:lnTo>
                  <a:pt x="1" y="814"/>
                </a:lnTo>
                <a:lnTo>
                  <a:pt x="8" y="868"/>
                </a:lnTo>
                <a:lnTo>
                  <a:pt x="20" y="922"/>
                </a:lnTo>
                <a:lnTo>
                  <a:pt x="34" y="975"/>
                </a:lnTo>
                <a:lnTo>
                  <a:pt x="54" y="1025"/>
                </a:lnTo>
                <a:lnTo>
                  <a:pt x="76" y="1076"/>
                </a:lnTo>
                <a:lnTo>
                  <a:pt x="104" y="1125"/>
                </a:lnTo>
                <a:lnTo>
                  <a:pt x="134" y="1172"/>
                </a:lnTo>
                <a:lnTo>
                  <a:pt x="169" y="1216"/>
                </a:lnTo>
                <a:lnTo>
                  <a:pt x="207" y="1258"/>
                </a:lnTo>
                <a:lnTo>
                  <a:pt x="249" y="1298"/>
                </a:lnTo>
                <a:lnTo>
                  <a:pt x="293" y="1335"/>
                </a:lnTo>
                <a:lnTo>
                  <a:pt x="340" y="1370"/>
                </a:lnTo>
                <a:lnTo>
                  <a:pt x="390" y="1400"/>
                </a:lnTo>
                <a:lnTo>
                  <a:pt x="442" y="1428"/>
                </a:lnTo>
                <a:lnTo>
                  <a:pt x="496" y="1453"/>
                </a:lnTo>
                <a:lnTo>
                  <a:pt x="552" y="1473"/>
                </a:lnTo>
                <a:lnTo>
                  <a:pt x="609" y="1490"/>
                </a:lnTo>
                <a:lnTo>
                  <a:pt x="668" y="1503"/>
                </a:lnTo>
                <a:lnTo>
                  <a:pt x="728" y="1513"/>
                </a:lnTo>
                <a:lnTo>
                  <a:pt x="788" y="1519"/>
                </a:lnTo>
                <a:lnTo>
                  <a:pt x="849" y="1521"/>
                </a:lnTo>
                <a:lnTo>
                  <a:pt x="910" y="1519"/>
                </a:lnTo>
                <a:lnTo>
                  <a:pt x="970" y="1513"/>
                </a:lnTo>
                <a:lnTo>
                  <a:pt x="1030" y="1503"/>
                </a:lnTo>
                <a:lnTo>
                  <a:pt x="1088" y="1490"/>
                </a:lnTo>
                <a:lnTo>
                  <a:pt x="1145" y="1473"/>
                </a:lnTo>
                <a:lnTo>
                  <a:pt x="1201" y="1453"/>
                </a:lnTo>
                <a:lnTo>
                  <a:pt x="1256" y="1428"/>
                </a:lnTo>
                <a:lnTo>
                  <a:pt x="1308" y="1400"/>
                </a:lnTo>
                <a:lnTo>
                  <a:pt x="1358" y="1370"/>
                </a:lnTo>
                <a:lnTo>
                  <a:pt x="1405" y="1335"/>
                </a:lnTo>
                <a:lnTo>
                  <a:pt x="1449" y="1298"/>
                </a:lnTo>
                <a:lnTo>
                  <a:pt x="1491" y="1258"/>
                </a:lnTo>
                <a:lnTo>
                  <a:pt x="1529" y="1216"/>
                </a:lnTo>
                <a:lnTo>
                  <a:pt x="1563" y="1172"/>
                </a:lnTo>
                <a:lnTo>
                  <a:pt x="1594" y="1125"/>
                </a:lnTo>
                <a:lnTo>
                  <a:pt x="1622" y="1076"/>
                </a:lnTo>
                <a:lnTo>
                  <a:pt x="1644" y="1025"/>
                </a:lnTo>
                <a:lnTo>
                  <a:pt x="1663" y="975"/>
                </a:lnTo>
                <a:lnTo>
                  <a:pt x="1678" y="922"/>
                </a:lnTo>
                <a:lnTo>
                  <a:pt x="1690" y="868"/>
                </a:lnTo>
                <a:lnTo>
                  <a:pt x="1696" y="814"/>
                </a:lnTo>
                <a:lnTo>
                  <a:pt x="1698" y="760"/>
                </a:lnTo>
                <a:lnTo>
                  <a:pt x="1696" y="705"/>
                </a:lnTo>
                <a:lnTo>
                  <a:pt x="1689" y="650"/>
                </a:lnTo>
                <a:lnTo>
                  <a:pt x="1678" y="595"/>
                </a:lnTo>
                <a:lnTo>
                  <a:pt x="1662" y="542"/>
                </a:lnTo>
                <a:lnTo>
                  <a:pt x="1642" y="489"/>
                </a:lnTo>
                <a:lnTo>
                  <a:pt x="1618" y="439"/>
                </a:lnTo>
                <a:lnTo>
                  <a:pt x="1591" y="390"/>
                </a:lnTo>
                <a:lnTo>
                  <a:pt x="1559" y="343"/>
                </a:lnTo>
                <a:lnTo>
                  <a:pt x="1523" y="297"/>
                </a:lnTo>
                <a:lnTo>
                  <a:pt x="1484" y="255"/>
                </a:lnTo>
                <a:lnTo>
                  <a:pt x="1441" y="215"/>
                </a:lnTo>
                <a:lnTo>
                  <a:pt x="1395" y="177"/>
                </a:lnTo>
                <a:lnTo>
                  <a:pt x="1346" y="143"/>
                </a:lnTo>
                <a:lnTo>
                  <a:pt x="1296" y="113"/>
                </a:lnTo>
                <a:lnTo>
                  <a:pt x="1242" y="86"/>
                </a:lnTo>
                <a:lnTo>
                  <a:pt x="1186" y="61"/>
                </a:lnTo>
                <a:lnTo>
                  <a:pt x="1129" y="41"/>
                </a:lnTo>
                <a:lnTo>
                  <a:pt x="1070" y="25"/>
                </a:lnTo>
                <a:lnTo>
                  <a:pt x="1010" y="13"/>
                </a:lnTo>
                <a:lnTo>
                  <a:pt x="949" y="5"/>
                </a:lnTo>
                <a:lnTo>
                  <a:pt x="888" y="0"/>
                </a:lnTo>
                <a:lnTo>
                  <a:pt x="826" y="0"/>
                </a:lnTo>
                <a:lnTo>
                  <a:pt x="765" y="3"/>
                </a:lnTo>
                <a:lnTo>
                  <a:pt x="704" y="10"/>
                </a:lnTo>
                <a:lnTo>
                  <a:pt x="644" y="22"/>
                </a:lnTo>
                <a:lnTo>
                  <a:pt x="585" y="37"/>
                </a:lnTo>
                <a:lnTo>
                  <a:pt x="525" y="56"/>
                </a:lnTo>
                <a:lnTo>
                  <a:pt x="470" y="79"/>
                </a:lnTo>
                <a:lnTo>
                  <a:pt x="416" y="105"/>
                </a:lnTo>
                <a:lnTo>
                  <a:pt x="364" y="135"/>
                </a:lnTo>
                <a:lnTo>
                  <a:pt x="316" y="168"/>
                </a:lnTo>
                <a:lnTo>
                  <a:pt x="268" y="204"/>
                </a:lnTo>
                <a:lnTo>
                  <a:pt x="225" y="244"/>
                </a:lnTo>
                <a:lnTo>
                  <a:pt x="185" y="286"/>
                </a:lnTo>
                <a:lnTo>
                  <a:pt x="440" y="268"/>
                </a:lnTo>
                <a:lnTo>
                  <a:pt x="582" y="469"/>
                </a:lnTo>
                <a:lnTo>
                  <a:pt x="614" y="447"/>
                </a:lnTo>
                <a:lnTo>
                  <a:pt x="650" y="427"/>
                </a:lnTo>
                <a:lnTo>
                  <a:pt x="686" y="411"/>
                </a:lnTo>
                <a:lnTo>
                  <a:pt x="726" y="398"/>
                </a:lnTo>
                <a:lnTo>
                  <a:pt x="766" y="388"/>
                </a:lnTo>
                <a:lnTo>
                  <a:pt x="808" y="382"/>
                </a:lnTo>
                <a:lnTo>
                  <a:pt x="849" y="380"/>
                </a:lnTo>
                <a:lnTo>
                  <a:pt x="890" y="381"/>
                </a:lnTo>
                <a:lnTo>
                  <a:pt x="932" y="386"/>
                </a:lnTo>
                <a:lnTo>
                  <a:pt x="973" y="395"/>
                </a:lnTo>
                <a:lnTo>
                  <a:pt x="1011" y="407"/>
                </a:lnTo>
                <a:lnTo>
                  <a:pt x="1049" y="424"/>
                </a:lnTo>
                <a:lnTo>
                  <a:pt x="1086" y="443"/>
                </a:lnTo>
                <a:lnTo>
                  <a:pt x="1119" y="466"/>
                </a:lnTo>
                <a:lnTo>
                  <a:pt x="1151" y="489"/>
                </a:lnTo>
                <a:lnTo>
                  <a:pt x="1177" y="518"/>
                </a:lnTo>
                <a:lnTo>
                  <a:pt x="1203" y="548"/>
                </a:lnTo>
                <a:lnTo>
                  <a:pt x="1224" y="580"/>
                </a:lnTo>
                <a:lnTo>
                  <a:pt x="1242" y="614"/>
                </a:lnTo>
                <a:lnTo>
                  <a:pt x="1256" y="649"/>
                </a:lnTo>
                <a:lnTo>
                  <a:pt x="1266" y="685"/>
                </a:lnTo>
                <a:lnTo>
                  <a:pt x="1272" y="723"/>
                </a:lnTo>
                <a:lnTo>
                  <a:pt x="1273" y="760"/>
                </a:lnTo>
                <a:lnTo>
                  <a:pt x="1271" y="798"/>
                </a:lnTo>
                <a:lnTo>
                  <a:pt x="1265" y="836"/>
                </a:lnTo>
                <a:lnTo>
                  <a:pt x="1253" y="874"/>
                </a:lnTo>
                <a:lnTo>
                  <a:pt x="1239" y="910"/>
                </a:lnTo>
                <a:lnTo>
                  <a:pt x="1220" y="944"/>
                </a:lnTo>
                <a:lnTo>
                  <a:pt x="1197" y="978"/>
                </a:lnTo>
                <a:lnTo>
                  <a:pt x="1171" y="1008"/>
                </a:lnTo>
                <a:lnTo>
                  <a:pt x="1142" y="1036"/>
                </a:lnTo>
                <a:lnTo>
                  <a:pt x="1109" y="1061"/>
                </a:lnTo>
                <a:lnTo>
                  <a:pt x="1074" y="1084"/>
                </a:lnTo>
                <a:lnTo>
                  <a:pt x="1037" y="1101"/>
                </a:lnTo>
                <a:lnTo>
                  <a:pt x="996" y="1117"/>
                </a:lnTo>
                <a:lnTo>
                  <a:pt x="955" y="1128"/>
                </a:lnTo>
                <a:lnTo>
                  <a:pt x="913" y="1136"/>
                </a:lnTo>
                <a:lnTo>
                  <a:pt x="870" y="1140"/>
                </a:lnTo>
                <a:lnTo>
                  <a:pt x="827" y="1140"/>
                </a:lnTo>
                <a:lnTo>
                  <a:pt x="784" y="1136"/>
                </a:lnTo>
                <a:lnTo>
                  <a:pt x="742" y="1128"/>
                </a:lnTo>
                <a:lnTo>
                  <a:pt x="701" y="1117"/>
                </a:lnTo>
                <a:lnTo>
                  <a:pt x="661" y="1101"/>
                </a:lnTo>
                <a:lnTo>
                  <a:pt x="624" y="1084"/>
                </a:lnTo>
                <a:lnTo>
                  <a:pt x="589" y="1061"/>
                </a:lnTo>
                <a:lnTo>
                  <a:pt x="556" y="1036"/>
                </a:lnTo>
                <a:lnTo>
                  <a:pt x="526" y="1008"/>
                </a:lnTo>
                <a:lnTo>
                  <a:pt x="501" y="978"/>
                </a:lnTo>
                <a:lnTo>
                  <a:pt x="477" y="944"/>
                </a:lnTo>
                <a:lnTo>
                  <a:pt x="458" y="910"/>
                </a:lnTo>
                <a:lnTo>
                  <a:pt x="445" y="874"/>
                </a:lnTo>
                <a:lnTo>
                  <a:pt x="433" y="836"/>
                </a:lnTo>
                <a:lnTo>
                  <a:pt x="426" y="798"/>
                </a:lnTo>
                <a:lnTo>
                  <a:pt x="424" y="760"/>
                </a:lnTo>
                <a:lnTo>
                  <a:pt x="428" y="723"/>
                </a:lnTo>
                <a:lnTo>
                  <a:pt x="435" y="687"/>
                </a:lnTo>
                <a:lnTo>
                  <a:pt x="445" y="652"/>
                </a:lnTo>
                <a:lnTo>
                  <a:pt x="457" y="617"/>
                </a:lnTo>
                <a:lnTo>
                  <a:pt x="473" y="583"/>
                </a:lnTo>
                <a:lnTo>
                  <a:pt x="493" y="550"/>
                </a:lnTo>
                <a:lnTo>
                  <a:pt x="613" y="591"/>
                </a:lnTo>
                <a:lnTo>
                  <a:pt x="551" y="493"/>
                </a:lnTo>
                <a:lnTo>
                  <a:pt x="486" y="394"/>
                </a:lnTo>
                <a:lnTo>
                  <a:pt x="419" y="299"/>
                </a:lnTo>
                <a:lnTo>
                  <a:pt x="280" y="308"/>
                </a:lnTo>
                <a:lnTo>
                  <a:pt x="143" y="322"/>
                </a:lnTo>
                <a:lnTo>
                  <a:pt x="5" y="337"/>
                </a:lnTo>
                <a:lnTo>
                  <a:pt x="104" y="397"/>
                </a:lnTo>
              </a:path>
            </a:pathLst>
          </a:custGeom>
          <a:solidFill>
            <a:schemeClr val="accent1"/>
          </a:solidFill>
          <a:ln w="12700" cap="rnd">
            <a:solidFill>
              <a:schemeClr val="folHlink"/>
            </a:solidFill>
            <a:round/>
            <a:headEnd/>
            <a:tailEnd/>
          </a:ln>
        </p:spPr>
        <p:txBody>
          <a:bodyPr lIns="45720" rIns="45720" anchor="ctr" anchorCtr="1"/>
          <a:lstStyle/>
          <a:p>
            <a:endParaRPr lang="en-GB"/>
          </a:p>
        </p:txBody>
      </p:sp>
      <p:sp>
        <p:nvSpPr>
          <p:cNvPr id="49" name="Rectangle 48"/>
          <p:cNvSpPr/>
          <p:nvPr/>
        </p:nvSpPr>
        <p:spPr>
          <a:xfrm>
            <a:off x="5058669" y="1791037"/>
            <a:ext cx="991439" cy="648000"/>
          </a:xfrm>
          <a:prstGeom prst="rect">
            <a:avLst/>
          </a:prstGeom>
          <a:no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dirty="0" smtClean="0">
                <a:latin typeface="EYInterstate" pitchFamily="2" charset="0"/>
              </a:rPr>
              <a:t>Confirm Strategic Objectives</a:t>
            </a:r>
          </a:p>
        </p:txBody>
      </p:sp>
      <p:sp>
        <p:nvSpPr>
          <p:cNvPr id="50" name="Rectangle 49"/>
          <p:cNvSpPr/>
          <p:nvPr/>
        </p:nvSpPr>
        <p:spPr>
          <a:xfrm>
            <a:off x="6066781" y="1791037"/>
            <a:ext cx="792762" cy="648000"/>
          </a:xfrm>
          <a:prstGeom prst="rect">
            <a:avLst/>
          </a:prstGeom>
          <a:no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dirty="0" smtClean="0">
                <a:solidFill>
                  <a:sysClr val="windowText" lastClr="000000"/>
                </a:solidFill>
                <a:latin typeface="EYInterstate" pitchFamily="2" charset="0"/>
              </a:rPr>
              <a:t>Identify Projects</a:t>
            </a:r>
          </a:p>
        </p:txBody>
      </p:sp>
      <p:sp>
        <p:nvSpPr>
          <p:cNvPr id="51" name="Rectangle 50"/>
          <p:cNvSpPr/>
          <p:nvPr/>
        </p:nvSpPr>
        <p:spPr>
          <a:xfrm>
            <a:off x="6916807" y="1791037"/>
            <a:ext cx="806158" cy="648000"/>
          </a:xfrm>
          <a:prstGeom prst="rect">
            <a:avLst/>
          </a:prstGeom>
          <a:no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dirty="0" smtClean="0">
                <a:latin typeface="EYInterstate" pitchFamily="2" charset="0"/>
              </a:rPr>
              <a:t>Prioritise and Select</a:t>
            </a:r>
          </a:p>
        </p:txBody>
      </p:sp>
      <p:sp>
        <p:nvSpPr>
          <p:cNvPr id="53" name="Rectangle 52"/>
          <p:cNvSpPr/>
          <p:nvPr/>
        </p:nvSpPr>
        <p:spPr>
          <a:xfrm>
            <a:off x="7945444" y="3993111"/>
            <a:ext cx="1382426" cy="324000"/>
          </a:xfrm>
          <a:prstGeom prst="rect">
            <a:avLst/>
          </a:prstGeom>
          <a:no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dirty="0" smtClean="0">
                <a:solidFill>
                  <a:sysClr val="windowText" lastClr="000000"/>
                </a:solidFill>
                <a:latin typeface="EYInterstate" pitchFamily="2" charset="0"/>
              </a:rPr>
              <a:t>Execute and Monitor and Control</a:t>
            </a:r>
            <a:endParaRPr lang="en-GB" sz="1000" baseline="30000" dirty="0" smtClean="0">
              <a:solidFill>
                <a:sysClr val="windowText" lastClr="000000"/>
              </a:solidFill>
              <a:latin typeface="EYInterstate" pitchFamily="2" charset="0"/>
            </a:endParaRPr>
          </a:p>
        </p:txBody>
      </p:sp>
      <p:sp>
        <p:nvSpPr>
          <p:cNvPr id="54" name="Rectangle 53"/>
          <p:cNvSpPr/>
          <p:nvPr/>
        </p:nvSpPr>
        <p:spPr>
          <a:xfrm>
            <a:off x="7074409" y="3195159"/>
            <a:ext cx="658936" cy="324000"/>
          </a:xfrm>
          <a:prstGeom prst="rect">
            <a:avLst/>
          </a:prstGeom>
          <a:no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dirty="0" smtClean="0">
                <a:solidFill>
                  <a:sysClr val="windowText" lastClr="000000"/>
                </a:solidFill>
                <a:latin typeface="EYInterstate" pitchFamily="2" charset="0"/>
              </a:rPr>
              <a:t>Close</a:t>
            </a:r>
          </a:p>
        </p:txBody>
      </p:sp>
      <p:sp>
        <p:nvSpPr>
          <p:cNvPr id="55" name="TextBox 54"/>
          <p:cNvSpPr txBox="1"/>
          <p:nvPr/>
        </p:nvSpPr>
        <p:spPr>
          <a:xfrm rot="314403">
            <a:off x="8064007" y="2765531"/>
            <a:ext cx="756000" cy="737262"/>
          </a:xfrm>
          <a:prstGeom prst="rect">
            <a:avLst/>
          </a:prstGeom>
          <a:noFill/>
          <a:scene3d>
            <a:camera prst="orthographicFront">
              <a:rot lat="0" lon="0" rev="0"/>
            </a:camera>
            <a:lightRig rig="threePt" dir="t"/>
          </a:scene3d>
          <a:sp3d/>
        </p:spPr>
        <p:txBody>
          <a:bodyPr wrap="square" rtlCol="0">
            <a:prstTxWarp prst="textArchUp">
              <a:avLst/>
            </a:prstTxWarp>
            <a:spAutoFit/>
          </a:bodyPr>
          <a:lstStyle/>
          <a:p>
            <a:r>
              <a:rPr lang="en-GB" sz="1000" dirty="0" smtClean="0">
                <a:solidFill>
                  <a:schemeClr val="bg1"/>
                </a:solidFill>
              </a:rPr>
              <a:t>Projects delivering</a:t>
            </a:r>
            <a:endParaRPr lang="en-GB" sz="1000" dirty="0">
              <a:solidFill>
                <a:schemeClr val="bg1"/>
              </a:solidFill>
            </a:endParaRPr>
          </a:p>
        </p:txBody>
      </p:sp>
      <p:sp>
        <p:nvSpPr>
          <p:cNvPr id="56" name="TextBox 55"/>
          <p:cNvSpPr txBox="1"/>
          <p:nvPr/>
        </p:nvSpPr>
        <p:spPr>
          <a:xfrm rot="20699138">
            <a:off x="8072581" y="2890922"/>
            <a:ext cx="756000" cy="737262"/>
          </a:xfrm>
          <a:prstGeom prst="rect">
            <a:avLst/>
          </a:prstGeom>
          <a:noFill/>
          <a:scene3d>
            <a:camera prst="orthographicFront">
              <a:rot lat="0" lon="0" rev="0"/>
            </a:camera>
            <a:lightRig rig="threePt" dir="t"/>
          </a:scene3d>
          <a:sp3d/>
        </p:spPr>
        <p:txBody>
          <a:bodyPr wrap="square" rtlCol="0">
            <a:prstTxWarp prst="textArchDown">
              <a:avLst/>
            </a:prstTxWarp>
            <a:spAutoFit/>
          </a:bodyPr>
          <a:lstStyle/>
          <a:p>
            <a:r>
              <a:rPr lang="en-GB" sz="1000" dirty="0" smtClean="0">
                <a:solidFill>
                  <a:schemeClr val="bg1"/>
                </a:solidFill>
              </a:rPr>
              <a:t>strategic change</a:t>
            </a:r>
            <a:endParaRPr lang="en-GB" sz="1000" dirty="0">
              <a:solidFill>
                <a:schemeClr val="bg1"/>
              </a:solidFill>
            </a:endParaRPr>
          </a:p>
        </p:txBody>
      </p:sp>
      <p:sp>
        <p:nvSpPr>
          <p:cNvPr id="57" name="Oval 56"/>
          <p:cNvSpPr/>
          <p:nvPr/>
        </p:nvSpPr>
        <p:spPr>
          <a:xfrm>
            <a:off x="8308121" y="2184899"/>
            <a:ext cx="206932" cy="206932"/>
          </a:xfrm>
          <a:prstGeom prst="ellipse">
            <a:avLst/>
          </a:prstGeom>
          <a:solidFill>
            <a:schemeClr val="bg1"/>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b="1" dirty="0" smtClean="0">
                <a:solidFill>
                  <a:schemeClr val="tx1"/>
                </a:solidFill>
                <a:latin typeface="EYInterstate" pitchFamily="2" charset="0"/>
              </a:rPr>
              <a:t>4</a:t>
            </a:r>
          </a:p>
        </p:txBody>
      </p:sp>
      <p:sp>
        <p:nvSpPr>
          <p:cNvPr id="58" name="Oval 57"/>
          <p:cNvSpPr/>
          <p:nvPr/>
        </p:nvSpPr>
        <p:spPr>
          <a:xfrm>
            <a:off x="4293534" y="2315188"/>
            <a:ext cx="206932" cy="206932"/>
          </a:xfrm>
          <a:prstGeom prst="ellipse">
            <a:avLst/>
          </a:prstGeom>
          <a:solidFill>
            <a:schemeClr val="bg1"/>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b="1" dirty="0">
                <a:solidFill>
                  <a:schemeClr val="tx1"/>
                </a:solidFill>
                <a:latin typeface="EYInterstate" pitchFamily="2" charset="0"/>
              </a:rPr>
              <a:t>0</a:t>
            </a:r>
            <a:endParaRPr lang="en-GB" sz="1000" b="1" dirty="0" smtClean="0">
              <a:solidFill>
                <a:schemeClr val="tx1"/>
              </a:solidFill>
              <a:latin typeface="EYInterstate" pitchFamily="2" charset="0"/>
            </a:endParaRPr>
          </a:p>
        </p:txBody>
      </p:sp>
      <p:sp>
        <p:nvSpPr>
          <p:cNvPr id="59" name="Oval 58"/>
          <p:cNvSpPr/>
          <p:nvPr/>
        </p:nvSpPr>
        <p:spPr>
          <a:xfrm>
            <a:off x="5428037" y="2315188"/>
            <a:ext cx="206932" cy="206932"/>
          </a:xfrm>
          <a:prstGeom prst="ellipse">
            <a:avLst/>
          </a:prstGeom>
          <a:solidFill>
            <a:schemeClr val="bg1"/>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b="1" dirty="0">
                <a:solidFill>
                  <a:schemeClr val="tx1"/>
                </a:solidFill>
                <a:latin typeface="EYInterstate" pitchFamily="2" charset="0"/>
              </a:rPr>
              <a:t>1</a:t>
            </a:r>
            <a:endParaRPr lang="en-GB" sz="1000" b="1" dirty="0" smtClean="0">
              <a:solidFill>
                <a:schemeClr val="tx1"/>
              </a:solidFill>
              <a:latin typeface="EYInterstate" pitchFamily="2" charset="0"/>
            </a:endParaRPr>
          </a:p>
        </p:txBody>
      </p:sp>
      <p:sp>
        <p:nvSpPr>
          <p:cNvPr id="60" name="Oval 59"/>
          <p:cNvSpPr/>
          <p:nvPr/>
        </p:nvSpPr>
        <p:spPr>
          <a:xfrm>
            <a:off x="6341367" y="2315188"/>
            <a:ext cx="206932" cy="206932"/>
          </a:xfrm>
          <a:prstGeom prst="ellipse">
            <a:avLst/>
          </a:prstGeom>
          <a:solidFill>
            <a:schemeClr val="bg1"/>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b="1" dirty="0" smtClean="0">
                <a:solidFill>
                  <a:schemeClr val="tx1"/>
                </a:solidFill>
                <a:latin typeface="EYInterstate" pitchFamily="2" charset="0"/>
              </a:rPr>
              <a:t>2</a:t>
            </a:r>
          </a:p>
        </p:txBody>
      </p:sp>
      <p:sp>
        <p:nvSpPr>
          <p:cNvPr id="61" name="Oval 60"/>
          <p:cNvSpPr/>
          <p:nvPr/>
        </p:nvSpPr>
        <p:spPr>
          <a:xfrm>
            <a:off x="7178616" y="2315188"/>
            <a:ext cx="206932" cy="206932"/>
          </a:xfrm>
          <a:prstGeom prst="ellipse">
            <a:avLst/>
          </a:prstGeom>
          <a:solidFill>
            <a:schemeClr val="bg1"/>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b="1" dirty="0" smtClean="0">
                <a:solidFill>
                  <a:schemeClr val="tx1"/>
                </a:solidFill>
                <a:latin typeface="EYInterstate" pitchFamily="2" charset="0"/>
              </a:rPr>
              <a:t>3</a:t>
            </a:r>
          </a:p>
        </p:txBody>
      </p:sp>
      <p:sp>
        <p:nvSpPr>
          <p:cNvPr id="62" name="Oval 61"/>
          <p:cNvSpPr/>
          <p:nvPr/>
        </p:nvSpPr>
        <p:spPr>
          <a:xfrm>
            <a:off x="9383548" y="3129582"/>
            <a:ext cx="206932" cy="206932"/>
          </a:xfrm>
          <a:prstGeom prst="ellipse">
            <a:avLst/>
          </a:prstGeom>
          <a:solidFill>
            <a:schemeClr val="bg1"/>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b="1" dirty="0" smtClean="0">
                <a:solidFill>
                  <a:schemeClr val="tx1"/>
                </a:solidFill>
                <a:latin typeface="EYInterstate" pitchFamily="2" charset="0"/>
              </a:rPr>
              <a:t>5</a:t>
            </a:r>
          </a:p>
        </p:txBody>
      </p:sp>
      <p:sp>
        <p:nvSpPr>
          <p:cNvPr id="63" name="Oval 62"/>
          <p:cNvSpPr/>
          <p:nvPr/>
        </p:nvSpPr>
        <p:spPr>
          <a:xfrm>
            <a:off x="8466869" y="4317111"/>
            <a:ext cx="206932" cy="206932"/>
          </a:xfrm>
          <a:prstGeom prst="ellipse">
            <a:avLst/>
          </a:prstGeom>
          <a:solidFill>
            <a:schemeClr val="bg1"/>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b="1" dirty="0" smtClean="0">
                <a:solidFill>
                  <a:schemeClr val="tx1"/>
                </a:solidFill>
                <a:latin typeface="EYInterstate" pitchFamily="2" charset="0"/>
              </a:rPr>
              <a:t>6</a:t>
            </a:r>
          </a:p>
        </p:txBody>
      </p:sp>
      <p:sp>
        <p:nvSpPr>
          <p:cNvPr id="64" name="Oval 63"/>
          <p:cNvSpPr/>
          <p:nvPr/>
        </p:nvSpPr>
        <p:spPr>
          <a:xfrm>
            <a:off x="7300411" y="3471459"/>
            <a:ext cx="206932" cy="206932"/>
          </a:xfrm>
          <a:prstGeom prst="ellipse">
            <a:avLst/>
          </a:prstGeom>
          <a:solidFill>
            <a:schemeClr val="bg1"/>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b="1" dirty="0" smtClean="0">
                <a:solidFill>
                  <a:schemeClr val="tx1"/>
                </a:solidFill>
                <a:latin typeface="EYInterstate" pitchFamily="2" charset="0"/>
              </a:rPr>
              <a:t>7</a:t>
            </a:r>
          </a:p>
        </p:txBody>
      </p:sp>
      <p:sp>
        <p:nvSpPr>
          <p:cNvPr id="65" name="Oval 64"/>
          <p:cNvSpPr/>
          <p:nvPr/>
        </p:nvSpPr>
        <p:spPr>
          <a:xfrm>
            <a:off x="8101189" y="3073505"/>
            <a:ext cx="206932" cy="206932"/>
          </a:xfrm>
          <a:prstGeom prst="ellipse">
            <a:avLst/>
          </a:prstGeom>
          <a:solidFill>
            <a:schemeClr val="bg1"/>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b="1" dirty="0" smtClean="0">
                <a:solidFill>
                  <a:schemeClr val="tx1"/>
                </a:solidFill>
                <a:latin typeface="EYInterstate" pitchFamily="2" charset="0"/>
              </a:rPr>
              <a:t>8</a:t>
            </a:r>
          </a:p>
        </p:txBody>
      </p:sp>
      <p:sp>
        <p:nvSpPr>
          <p:cNvPr id="66" name="Rectangle 65"/>
          <p:cNvSpPr/>
          <p:nvPr/>
        </p:nvSpPr>
        <p:spPr>
          <a:xfrm>
            <a:off x="8987167" y="2621804"/>
            <a:ext cx="792762" cy="324000"/>
          </a:xfrm>
          <a:prstGeom prst="rect">
            <a:avLst/>
          </a:prstGeom>
          <a:no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dirty="0" smtClean="0">
                <a:solidFill>
                  <a:sysClr val="windowText" lastClr="000000"/>
                </a:solidFill>
                <a:latin typeface="EYInterstate" pitchFamily="2" charset="0"/>
              </a:rPr>
              <a:t>Plan</a:t>
            </a:r>
          </a:p>
        </p:txBody>
      </p:sp>
      <p:sp>
        <p:nvSpPr>
          <p:cNvPr id="67" name="Rectangle 66"/>
          <p:cNvSpPr/>
          <p:nvPr/>
        </p:nvSpPr>
        <p:spPr>
          <a:xfrm>
            <a:off x="8083004" y="1831080"/>
            <a:ext cx="792762" cy="324000"/>
          </a:xfrm>
          <a:prstGeom prst="rect">
            <a:avLst/>
          </a:prstGeom>
          <a:no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dirty="0" smtClean="0">
                <a:solidFill>
                  <a:sysClr val="windowText" lastClr="000000"/>
                </a:solidFill>
                <a:latin typeface="EYInterstate" pitchFamily="2" charset="0"/>
              </a:rPr>
              <a:t>Initiate</a:t>
            </a:r>
          </a:p>
        </p:txBody>
      </p:sp>
    </p:spTree>
    <p:extLst>
      <p:ext uri="{BB962C8B-B14F-4D97-AF65-F5344CB8AC3E}">
        <p14:creationId xmlns:p14="http://schemas.microsoft.com/office/powerpoint/2010/main" val="5365069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292772026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6085"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809625" y="288113"/>
            <a:ext cx="8857555" cy="612000"/>
          </a:xfrm>
        </p:spPr>
        <p:txBody>
          <a:bodyPr/>
          <a:lstStyle/>
          <a:p>
            <a:r>
              <a:rPr lang="en-GB" dirty="0" smtClean="0"/>
              <a:t>Managing risks in projects</a:t>
            </a:r>
            <a:endParaRPr lang="en-GB" dirty="0"/>
          </a:p>
        </p:txBody>
      </p:sp>
      <p:sp>
        <p:nvSpPr>
          <p:cNvPr id="5" name="Text Placeholder 6"/>
          <p:cNvSpPr txBox="1">
            <a:spLocks/>
          </p:cNvSpPr>
          <p:nvPr/>
        </p:nvSpPr>
        <p:spPr>
          <a:xfrm>
            <a:off x="797308" y="1278013"/>
            <a:ext cx="9085896" cy="516283"/>
          </a:xfrm>
          <a:prstGeom prst="rect">
            <a:avLst/>
          </a:prstGeom>
        </p:spPr>
        <p:txBody>
          <a:bodyPr vert="horz" wrap="none" lIns="0" tIns="0" rIns="0" bIns="0" rtlCol="0" anchor="ctr" anchorCtr="0">
            <a:noAutofit/>
          </a:bodyPr>
          <a:lstStyle>
            <a:lvl1pPr marL="0" indent="0" algn="l" defTabSz="914400" rtl="0" eaLnBrk="1" latinLnBrk="0" hangingPunct="1">
              <a:spcBef>
                <a:spcPts val="600"/>
              </a:spcBef>
              <a:buFontTx/>
              <a:buNone/>
              <a:defRPr sz="1600" kern="1200">
                <a:solidFill>
                  <a:schemeClr val="tx1"/>
                </a:solidFill>
                <a:latin typeface="+mn-lt"/>
                <a:ea typeface="+mn-ea"/>
                <a:cs typeface="+mn-cs"/>
              </a:defRPr>
            </a:lvl1pPr>
            <a:lvl2pPr marL="0" indent="0" algn="l" defTabSz="914400" rtl="0" eaLnBrk="1" latinLnBrk="0" hangingPunct="1">
              <a:spcBef>
                <a:spcPts val="600"/>
              </a:spcBef>
              <a:buFontTx/>
              <a:buNone/>
              <a:defRPr sz="2400" b="1" kern="1200" baseline="0">
                <a:solidFill>
                  <a:schemeClr val="tx1"/>
                </a:solidFill>
                <a:latin typeface="+mn-lt"/>
                <a:ea typeface="+mn-ea"/>
                <a:cs typeface="+mn-cs"/>
              </a:defRPr>
            </a:lvl2pPr>
            <a:lvl3pPr marL="355600" indent="-355600" algn="l" defTabSz="914400" rtl="0" eaLnBrk="1" latinLnBrk="0" hangingPunct="1">
              <a:spcBef>
                <a:spcPts val="600"/>
              </a:spcBef>
              <a:buClr>
                <a:schemeClr val="accent2"/>
              </a:buClr>
              <a:buSzPct val="70000"/>
              <a:buFont typeface="Arial" pitchFamily="34" charset="0"/>
              <a:buChar char="►"/>
              <a:defRPr sz="2400" kern="1200" baseline="0">
                <a:solidFill>
                  <a:schemeClr val="tx1"/>
                </a:solidFill>
                <a:latin typeface="+mn-lt"/>
                <a:ea typeface="+mn-ea"/>
                <a:cs typeface="+mn-cs"/>
              </a:defRPr>
            </a:lvl3pPr>
            <a:lvl4pPr marL="692150" indent="-330200" algn="l" defTabSz="914400" rtl="0" eaLnBrk="1" latinLnBrk="0" hangingPunct="1">
              <a:spcBef>
                <a:spcPts val="600"/>
              </a:spcBef>
              <a:buClr>
                <a:schemeClr val="accent2"/>
              </a:buClr>
              <a:buSzPct val="70000"/>
              <a:buFont typeface="Arial" pitchFamily="34" charset="0"/>
              <a:buChar char="►"/>
              <a:defRPr sz="2000" kern="1200" baseline="0">
                <a:solidFill>
                  <a:schemeClr val="tx1"/>
                </a:solidFill>
                <a:latin typeface="+mn-lt"/>
                <a:ea typeface="+mn-ea"/>
                <a:cs typeface="+mn-cs"/>
              </a:defRPr>
            </a:lvl4pPr>
            <a:lvl5pPr marL="1035050" indent="-317500" algn="l" defTabSz="914400" rtl="0" eaLnBrk="1" latinLnBrk="0" hangingPunct="1">
              <a:spcBef>
                <a:spcPts val="600"/>
              </a:spcBef>
              <a:buClr>
                <a:schemeClr val="accent2"/>
              </a:buClr>
              <a:buSzPct val="70000"/>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GB" dirty="0" smtClean="0">
                <a:solidFill>
                  <a:schemeClr val="tx1">
                    <a:lumMod val="50000"/>
                    <a:lumOff val="50000"/>
                  </a:schemeClr>
                </a:solidFill>
                <a:latin typeface="+mj-lt"/>
              </a:rPr>
              <a:t>The benefits of risk management in projects is significant. Dealing with uncertain events in a proactive </a:t>
            </a:r>
          </a:p>
          <a:p>
            <a:pPr>
              <a:spcBef>
                <a:spcPts val="0"/>
              </a:spcBef>
            </a:pPr>
            <a:r>
              <a:rPr lang="en-GB" dirty="0" smtClean="0">
                <a:solidFill>
                  <a:schemeClr val="tx1">
                    <a:lumMod val="50000"/>
                    <a:lumOff val="50000"/>
                  </a:schemeClr>
                </a:solidFill>
                <a:latin typeface="+mj-lt"/>
              </a:rPr>
              <a:t>manner will minimise the impact of project threats and seize the opportunities that occur. </a:t>
            </a:r>
          </a:p>
        </p:txBody>
      </p:sp>
      <p:sp>
        <p:nvSpPr>
          <p:cNvPr id="6" name="Text Placeholder 6"/>
          <p:cNvSpPr txBox="1">
            <a:spLocks/>
          </p:cNvSpPr>
          <p:nvPr/>
        </p:nvSpPr>
        <p:spPr>
          <a:xfrm>
            <a:off x="797308" y="1925424"/>
            <a:ext cx="9589952" cy="4663519"/>
          </a:xfrm>
          <a:prstGeom prst="rect">
            <a:avLst/>
          </a:prstGeom>
        </p:spPr>
        <p:txBody>
          <a:bodyPr vert="horz" wrap="none" lIns="0" tIns="0" rIns="0" bIns="0" rtlCol="0" anchor="ctr" anchorCtr="0">
            <a:noAutofit/>
          </a:bodyPr>
          <a:lstStyle>
            <a:lvl1pPr marL="0" indent="0" algn="l" defTabSz="914400" rtl="0" eaLnBrk="1" latinLnBrk="0" hangingPunct="1">
              <a:spcBef>
                <a:spcPts val="600"/>
              </a:spcBef>
              <a:buFontTx/>
              <a:buNone/>
              <a:defRPr sz="1600" kern="1200">
                <a:solidFill>
                  <a:schemeClr val="tx1"/>
                </a:solidFill>
                <a:latin typeface="+mn-lt"/>
                <a:ea typeface="+mn-ea"/>
                <a:cs typeface="+mn-cs"/>
              </a:defRPr>
            </a:lvl1pPr>
            <a:lvl2pPr marL="0" indent="0" algn="l" defTabSz="914400" rtl="0" eaLnBrk="1" latinLnBrk="0" hangingPunct="1">
              <a:spcBef>
                <a:spcPts val="600"/>
              </a:spcBef>
              <a:buFontTx/>
              <a:buNone/>
              <a:defRPr sz="2400" b="1" kern="1200" baseline="0">
                <a:solidFill>
                  <a:schemeClr val="tx1"/>
                </a:solidFill>
                <a:latin typeface="+mn-lt"/>
                <a:ea typeface="+mn-ea"/>
                <a:cs typeface="+mn-cs"/>
              </a:defRPr>
            </a:lvl2pPr>
            <a:lvl3pPr marL="355600" indent="-355600" algn="l" defTabSz="914400" rtl="0" eaLnBrk="1" latinLnBrk="0" hangingPunct="1">
              <a:spcBef>
                <a:spcPts val="600"/>
              </a:spcBef>
              <a:buClr>
                <a:schemeClr val="accent2"/>
              </a:buClr>
              <a:buSzPct val="70000"/>
              <a:buFont typeface="Arial" pitchFamily="34" charset="0"/>
              <a:buChar char="►"/>
              <a:defRPr sz="2400" kern="1200" baseline="0">
                <a:solidFill>
                  <a:schemeClr val="tx1"/>
                </a:solidFill>
                <a:latin typeface="+mn-lt"/>
                <a:ea typeface="+mn-ea"/>
                <a:cs typeface="+mn-cs"/>
              </a:defRPr>
            </a:lvl3pPr>
            <a:lvl4pPr marL="692150" indent="-330200" algn="l" defTabSz="914400" rtl="0" eaLnBrk="1" latinLnBrk="0" hangingPunct="1">
              <a:spcBef>
                <a:spcPts val="600"/>
              </a:spcBef>
              <a:buClr>
                <a:schemeClr val="accent2"/>
              </a:buClr>
              <a:buSzPct val="70000"/>
              <a:buFont typeface="Arial" pitchFamily="34" charset="0"/>
              <a:buChar char="►"/>
              <a:defRPr sz="2000" kern="1200" baseline="0">
                <a:solidFill>
                  <a:schemeClr val="tx1"/>
                </a:solidFill>
                <a:latin typeface="+mn-lt"/>
                <a:ea typeface="+mn-ea"/>
                <a:cs typeface="+mn-cs"/>
              </a:defRPr>
            </a:lvl4pPr>
            <a:lvl5pPr marL="1035050" indent="-317500" algn="l" defTabSz="914400" rtl="0" eaLnBrk="1" latinLnBrk="0" hangingPunct="1">
              <a:spcBef>
                <a:spcPts val="600"/>
              </a:spcBef>
              <a:buClr>
                <a:schemeClr val="accent2"/>
              </a:buClr>
              <a:buSzPct val="70000"/>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GB" b="1" dirty="0" smtClean="0">
                <a:latin typeface="+mj-lt"/>
              </a:rPr>
              <a:t>Applying risk management successfully in projects is a continuous process</a:t>
            </a:r>
          </a:p>
          <a:p>
            <a:pPr>
              <a:spcBef>
                <a:spcPts val="0"/>
              </a:spcBef>
            </a:pPr>
            <a:endParaRPr lang="en-GB" dirty="0" smtClean="0">
              <a:latin typeface="+mj-lt"/>
            </a:endParaRPr>
          </a:p>
          <a:p>
            <a:pPr marL="342900" indent="-342900">
              <a:lnSpc>
                <a:spcPct val="150000"/>
              </a:lnSpc>
              <a:spcBef>
                <a:spcPts val="0"/>
              </a:spcBef>
              <a:spcAft>
                <a:spcPts val="600"/>
              </a:spcAft>
              <a:buFont typeface="+mj-lt"/>
              <a:buAutoNum type="arabicPeriod"/>
            </a:pPr>
            <a:r>
              <a:rPr lang="en-GB" sz="1400" b="1" dirty="0" smtClean="0">
                <a:latin typeface="+mj-lt"/>
              </a:rPr>
              <a:t>Embed it</a:t>
            </a:r>
            <a:r>
              <a:rPr lang="en-GB" sz="1400" dirty="0" smtClean="0">
                <a:latin typeface="+mj-lt"/>
              </a:rPr>
              <a:t>: Make risk management part of your projects and a standard way of working</a:t>
            </a:r>
          </a:p>
          <a:p>
            <a:pPr marL="342900" indent="-342900">
              <a:lnSpc>
                <a:spcPct val="150000"/>
              </a:lnSpc>
              <a:spcBef>
                <a:spcPts val="0"/>
              </a:spcBef>
              <a:spcAft>
                <a:spcPts val="600"/>
              </a:spcAft>
              <a:buFont typeface="+mj-lt"/>
              <a:buAutoNum type="arabicPeriod"/>
            </a:pPr>
            <a:r>
              <a:rPr lang="en-GB" sz="1400" b="1" dirty="0" smtClean="0">
                <a:latin typeface="+mj-lt"/>
              </a:rPr>
              <a:t>Identify risks early: </a:t>
            </a:r>
            <a:r>
              <a:rPr lang="en-GB" sz="1400" dirty="0">
                <a:latin typeface="+mj-lt"/>
              </a:rPr>
              <a:t>W</a:t>
            </a:r>
            <a:r>
              <a:rPr lang="en-GB" sz="1400" dirty="0" smtClean="0">
                <a:latin typeface="+mj-lt"/>
              </a:rPr>
              <a:t>ith an open mind-set and focus on future scenarios that may occur</a:t>
            </a:r>
          </a:p>
          <a:p>
            <a:pPr marL="342900" indent="-342900">
              <a:lnSpc>
                <a:spcPct val="150000"/>
              </a:lnSpc>
              <a:spcBef>
                <a:spcPts val="0"/>
              </a:spcBef>
              <a:spcAft>
                <a:spcPts val="600"/>
              </a:spcAft>
              <a:buFont typeface="+mj-lt"/>
              <a:buAutoNum type="arabicPeriod"/>
            </a:pPr>
            <a:r>
              <a:rPr lang="en-GB" sz="1400" b="1" dirty="0" smtClean="0">
                <a:latin typeface="+mj-lt"/>
              </a:rPr>
              <a:t>Communicate risks: </a:t>
            </a:r>
            <a:r>
              <a:rPr lang="en-GB" sz="1400" dirty="0">
                <a:latin typeface="+mj-lt"/>
              </a:rPr>
              <a:t>C</a:t>
            </a:r>
            <a:r>
              <a:rPr lang="en-GB" sz="1400" dirty="0" smtClean="0">
                <a:latin typeface="+mj-lt"/>
              </a:rPr>
              <a:t>onsistently use risk communication in the tasks you carry out such as stakeholder meetings</a:t>
            </a:r>
          </a:p>
          <a:p>
            <a:pPr marL="342900" indent="-342900">
              <a:lnSpc>
                <a:spcPct val="150000"/>
              </a:lnSpc>
              <a:spcBef>
                <a:spcPts val="0"/>
              </a:spcBef>
              <a:spcAft>
                <a:spcPts val="600"/>
              </a:spcAft>
              <a:buFont typeface="+mj-lt"/>
              <a:buAutoNum type="arabicPeriod"/>
            </a:pPr>
            <a:r>
              <a:rPr lang="en-GB" sz="1400" b="1" dirty="0" smtClean="0">
                <a:latin typeface="+mj-lt"/>
              </a:rPr>
              <a:t>Consider both the threats and the opportunities: </a:t>
            </a:r>
            <a:r>
              <a:rPr lang="en-GB" sz="1400" dirty="0">
                <a:latin typeface="+mj-lt"/>
              </a:rPr>
              <a:t>P</a:t>
            </a:r>
            <a:r>
              <a:rPr lang="en-GB" sz="1400" dirty="0" smtClean="0">
                <a:latin typeface="+mj-lt"/>
              </a:rPr>
              <a:t>ositive risks that are beneficial to your project and organisation</a:t>
            </a:r>
          </a:p>
          <a:p>
            <a:pPr marL="342900" indent="-342900">
              <a:lnSpc>
                <a:spcPct val="150000"/>
              </a:lnSpc>
              <a:spcBef>
                <a:spcPts val="0"/>
              </a:spcBef>
              <a:spcAft>
                <a:spcPts val="600"/>
              </a:spcAft>
              <a:buFont typeface="+mj-lt"/>
              <a:buAutoNum type="arabicPeriod"/>
            </a:pPr>
            <a:r>
              <a:rPr lang="en-GB" sz="1400" b="1" dirty="0" smtClean="0">
                <a:latin typeface="+mj-lt"/>
              </a:rPr>
              <a:t>Clarify ownership issues: </a:t>
            </a:r>
            <a:r>
              <a:rPr lang="en-GB" sz="1400" dirty="0">
                <a:latin typeface="+mj-lt"/>
              </a:rPr>
              <a:t>W</a:t>
            </a:r>
            <a:r>
              <a:rPr lang="en-GB" sz="1400" dirty="0" smtClean="0">
                <a:latin typeface="+mj-lt"/>
              </a:rPr>
              <a:t>ho is responsible for each and the mitigating actions</a:t>
            </a:r>
          </a:p>
          <a:p>
            <a:pPr marL="342900" indent="-342900">
              <a:lnSpc>
                <a:spcPct val="150000"/>
              </a:lnSpc>
              <a:spcBef>
                <a:spcPts val="0"/>
              </a:spcBef>
              <a:spcAft>
                <a:spcPts val="600"/>
              </a:spcAft>
              <a:buFont typeface="+mj-lt"/>
              <a:buAutoNum type="arabicPeriod"/>
            </a:pPr>
            <a:r>
              <a:rPr lang="en-GB" sz="1400" b="1" dirty="0" smtClean="0">
                <a:latin typeface="+mj-lt"/>
              </a:rPr>
              <a:t>Prioritise risks: </a:t>
            </a:r>
            <a:r>
              <a:rPr lang="en-GB" sz="1400" dirty="0">
                <a:latin typeface="+mj-lt"/>
              </a:rPr>
              <a:t>B</a:t>
            </a:r>
            <a:r>
              <a:rPr lang="en-GB" sz="1400" dirty="0" smtClean="0">
                <a:latin typeface="+mj-lt"/>
              </a:rPr>
              <a:t>y identifying which risks have a higher impact, spend your time on the biggest losses and gains</a:t>
            </a:r>
          </a:p>
          <a:p>
            <a:pPr marL="342900" indent="-342900">
              <a:lnSpc>
                <a:spcPct val="150000"/>
              </a:lnSpc>
              <a:spcBef>
                <a:spcPts val="0"/>
              </a:spcBef>
              <a:spcAft>
                <a:spcPts val="600"/>
              </a:spcAft>
              <a:buFont typeface="+mj-lt"/>
              <a:buAutoNum type="arabicPeriod"/>
            </a:pPr>
            <a:r>
              <a:rPr lang="en-GB" sz="1400" b="1" dirty="0" smtClean="0">
                <a:latin typeface="+mj-lt"/>
              </a:rPr>
              <a:t>Analyse risks: </a:t>
            </a:r>
            <a:r>
              <a:rPr lang="en-GB" sz="1400" dirty="0">
                <a:latin typeface="+mj-lt"/>
              </a:rPr>
              <a:t>T</a:t>
            </a:r>
            <a:r>
              <a:rPr lang="en-GB" sz="1400" dirty="0" smtClean="0">
                <a:latin typeface="+mj-lt"/>
              </a:rPr>
              <a:t>o understand the nature of the pre-condition and develop appropriate responses</a:t>
            </a:r>
          </a:p>
          <a:p>
            <a:pPr marL="342900" indent="-342900">
              <a:lnSpc>
                <a:spcPct val="150000"/>
              </a:lnSpc>
              <a:spcBef>
                <a:spcPts val="0"/>
              </a:spcBef>
              <a:spcAft>
                <a:spcPts val="600"/>
              </a:spcAft>
              <a:buFont typeface="+mj-lt"/>
              <a:buAutoNum type="arabicPeriod"/>
            </a:pPr>
            <a:r>
              <a:rPr lang="en-GB" sz="1400" b="1" dirty="0" smtClean="0">
                <a:latin typeface="+mj-lt"/>
              </a:rPr>
              <a:t>Plan and implement: </a:t>
            </a:r>
            <a:r>
              <a:rPr lang="en-GB" sz="1400" dirty="0">
                <a:latin typeface="+mj-lt"/>
              </a:rPr>
              <a:t>R</a:t>
            </a:r>
            <a:r>
              <a:rPr lang="en-GB" sz="1400" dirty="0" smtClean="0">
                <a:latin typeface="+mj-lt"/>
              </a:rPr>
              <a:t>isk responses/mitigating actions</a:t>
            </a:r>
          </a:p>
          <a:p>
            <a:pPr marL="342900" indent="-342900">
              <a:lnSpc>
                <a:spcPct val="150000"/>
              </a:lnSpc>
              <a:spcBef>
                <a:spcPts val="0"/>
              </a:spcBef>
              <a:spcAft>
                <a:spcPts val="600"/>
              </a:spcAft>
              <a:buFont typeface="+mj-lt"/>
              <a:buAutoNum type="arabicPeriod"/>
            </a:pPr>
            <a:r>
              <a:rPr lang="en-GB" sz="1400" b="1" dirty="0" smtClean="0">
                <a:latin typeface="+mj-lt"/>
              </a:rPr>
              <a:t>Register risks: </a:t>
            </a:r>
            <a:r>
              <a:rPr lang="en-GB" sz="1400" dirty="0">
                <a:latin typeface="+mj-lt"/>
              </a:rPr>
              <a:t>T</a:t>
            </a:r>
            <a:r>
              <a:rPr lang="en-GB" sz="1400" dirty="0" smtClean="0">
                <a:latin typeface="+mj-lt"/>
              </a:rPr>
              <a:t>o view progress, </a:t>
            </a:r>
            <a:r>
              <a:rPr lang="en-GB" sz="1400" dirty="0" smtClean="0"/>
              <a:t>a </a:t>
            </a:r>
            <a:r>
              <a:rPr lang="en-GB" sz="1400" dirty="0"/>
              <a:t>good risk </a:t>
            </a:r>
            <a:r>
              <a:rPr lang="en-GB" sz="1400" dirty="0" smtClean="0"/>
              <a:t>log or RAID </a:t>
            </a:r>
            <a:r>
              <a:rPr lang="en-GB" sz="1400" dirty="0"/>
              <a:t>contains </a:t>
            </a:r>
            <a:r>
              <a:rPr lang="en-GB" sz="1400" dirty="0" smtClean="0"/>
              <a:t>descriptions and clarifies </a:t>
            </a:r>
            <a:r>
              <a:rPr lang="en-GB" sz="1400" dirty="0"/>
              <a:t>ownership issues </a:t>
            </a:r>
            <a:endParaRPr lang="en-GB" sz="1400" dirty="0" smtClean="0">
              <a:latin typeface="+mj-lt"/>
            </a:endParaRPr>
          </a:p>
          <a:p>
            <a:pPr marL="342900" indent="-342900">
              <a:lnSpc>
                <a:spcPct val="150000"/>
              </a:lnSpc>
              <a:spcBef>
                <a:spcPts val="0"/>
              </a:spcBef>
              <a:spcAft>
                <a:spcPts val="600"/>
              </a:spcAft>
              <a:buFont typeface="+mj-lt"/>
              <a:buAutoNum type="arabicPeriod"/>
            </a:pPr>
            <a:r>
              <a:rPr lang="en-GB" sz="1400" b="1" dirty="0" smtClean="0">
                <a:latin typeface="+mj-lt"/>
              </a:rPr>
              <a:t>Track risks</a:t>
            </a:r>
            <a:r>
              <a:rPr lang="en-GB" sz="1400" dirty="0" smtClean="0">
                <a:latin typeface="+mj-lt"/>
              </a:rPr>
              <a:t>: Along with mitigating actions and associated tasks</a:t>
            </a:r>
          </a:p>
        </p:txBody>
      </p:sp>
    </p:spTree>
    <p:extLst>
      <p:ext uri="{BB962C8B-B14F-4D97-AF65-F5344CB8AC3E}">
        <p14:creationId xmlns:p14="http://schemas.microsoft.com/office/powerpoint/2010/main" val="13510920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a:spLocks noGrp="1"/>
          </p:cNvSpPr>
          <p:nvPr>
            <p:ph type="title"/>
          </p:nvPr>
        </p:nvSpPr>
        <p:spPr>
          <a:xfrm>
            <a:off x="809626" y="1080399"/>
            <a:ext cx="9070751" cy="612000"/>
          </a:xfrm>
        </p:spPr>
        <p:txBody>
          <a:bodyPr/>
          <a:lstStyle/>
          <a:p>
            <a:r>
              <a:rPr lang="en-GB" dirty="0" smtClean="0"/>
              <a:t>Step 1: Identify and prioritise in-flight and new projects that support your strategic growth plan</a:t>
            </a:r>
            <a:endParaRPr lang="en-GB" dirty="0"/>
          </a:p>
        </p:txBody>
      </p:sp>
      <p:sp>
        <p:nvSpPr>
          <p:cNvPr id="22" name="Rectangle 21"/>
          <p:cNvSpPr/>
          <p:nvPr/>
        </p:nvSpPr>
        <p:spPr>
          <a:xfrm>
            <a:off x="806227" y="179835"/>
            <a:ext cx="9074150" cy="720278"/>
          </a:xfrm>
          <a:prstGeom prst="rect">
            <a:avLst/>
          </a:prstGeom>
          <a:solidFill>
            <a:srgbClr val="FFD200"/>
          </a:solidFill>
          <a:ln w="12700" cmpd="sng">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200" b="1" dirty="0" smtClean="0">
                <a:solidFill>
                  <a:schemeClr val="tx1"/>
                </a:solidFill>
              </a:rPr>
              <a:t>Activity (90 minutes): </a:t>
            </a:r>
            <a:r>
              <a:rPr lang="en-GB" sz="1200" b="1" dirty="0">
                <a:solidFill>
                  <a:schemeClr val="tx1"/>
                </a:solidFill>
              </a:rPr>
              <a:t>Using the outputs from the SWOT analysis </a:t>
            </a:r>
            <a:r>
              <a:rPr lang="en-GB" sz="1200" b="1" dirty="0" smtClean="0">
                <a:solidFill>
                  <a:schemeClr val="tx1"/>
                </a:solidFill>
              </a:rPr>
              <a:t>identify all of your major projects, prioritise using the 9 square model and select the projects that fully support your strategic objectives. Then select the highest priority project and plan the delivery and analyse the risk profile. </a:t>
            </a:r>
          </a:p>
        </p:txBody>
      </p:sp>
      <p:cxnSp>
        <p:nvCxnSpPr>
          <p:cNvPr id="3" name="Straight Arrow Connector 2"/>
          <p:cNvCxnSpPr>
            <a:endCxn id="10" idx="3"/>
          </p:cNvCxnSpPr>
          <p:nvPr/>
        </p:nvCxnSpPr>
        <p:spPr>
          <a:xfrm flipV="1">
            <a:off x="1026220" y="2134320"/>
            <a:ext cx="0" cy="452663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1026220" y="6660951"/>
            <a:ext cx="856895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5275263" y="2215952"/>
            <a:ext cx="35433" cy="44449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026220" y="4140199"/>
            <a:ext cx="856895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5520" y="1980431"/>
            <a:ext cx="720700" cy="307777"/>
          </a:xfrm>
          <a:prstGeom prst="rect">
            <a:avLst/>
          </a:prstGeom>
          <a:noFill/>
        </p:spPr>
        <p:txBody>
          <a:bodyPr wrap="square" rtlCol="0">
            <a:spAutoFit/>
          </a:bodyPr>
          <a:lstStyle/>
          <a:p>
            <a:pPr algn="ctr"/>
            <a:r>
              <a:rPr lang="en-GB" sz="1400" b="1" dirty="0" smtClean="0"/>
              <a:t>High</a:t>
            </a:r>
            <a:endParaRPr lang="en-GB" sz="1400" b="1" dirty="0"/>
          </a:p>
        </p:txBody>
      </p:sp>
      <p:sp>
        <p:nvSpPr>
          <p:cNvPr id="16" name="TextBox 15"/>
          <p:cNvSpPr txBox="1"/>
          <p:nvPr/>
        </p:nvSpPr>
        <p:spPr>
          <a:xfrm>
            <a:off x="298451" y="6353174"/>
            <a:ext cx="720700" cy="307777"/>
          </a:xfrm>
          <a:prstGeom prst="rect">
            <a:avLst/>
          </a:prstGeom>
          <a:noFill/>
        </p:spPr>
        <p:txBody>
          <a:bodyPr wrap="square" rtlCol="0">
            <a:spAutoFit/>
          </a:bodyPr>
          <a:lstStyle/>
          <a:p>
            <a:pPr algn="ctr"/>
            <a:r>
              <a:rPr lang="en-GB" sz="1400" b="1" dirty="0" smtClean="0"/>
              <a:t>Low</a:t>
            </a:r>
            <a:endParaRPr lang="en-GB" sz="1400" b="1" dirty="0"/>
          </a:p>
        </p:txBody>
      </p:sp>
      <p:sp>
        <p:nvSpPr>
          <p:cNvPr id="17" name="TextBox 16"/>
          <p:cNvSpPr txBox="1"/>
          <p:nvPr/>
        </p:nvSpPr>
        <p:spPr>
          <a:xfrm>
            <a:off x="1019150" y="6804967"/>
            <a:ext cx="1087189" cy="307777"/>
          </a:xfrm>
          <a:prstGeom prst="rect">
            <a:avLst/>
          </a:prstGeom>
          <a:noFill/>
        </p:spPr>
        <p:txBody>
          <a:bodyPr wrap="square" rtlCol="0">
            <a:spAutoFit/>
          </a:bodyPr>
          <a:lstStyle/>
          <a:p>
            <a:pPr algn="ctr"/>
            <a:r>
              <a:rPr lang="en-GB" sz="1400" b="1" dirty="0" smtClean="0"/>
              <a:t>Difficult</a:t>
            </a:r>
            <a:endParaRPr lang="en-GB" sz="1400" b="1" dirty="0"/>
          </a:p>
        </p:txBody>
      </p:sp>
      <p:sp>
        <p:nvSpPr>
          <p:cNvPr id="18" name="TextBox 17"/>
          <p:cNvSpPr txBox="1"/>
          <p:nvPr/>
        </p:nvSpPr>
        <p:spPr>
          <a:xfrm>
            <a:off x="8640469" y="6804967"/>
            <a:ext cx="1087189" cy="307777"/>
          </a:xfrm>
          <a:prstGeom prst="rect">
            <a:avLst/>
          </a:prstGeom>
          <a:noFill/>
        </p:spPr>
        <p:txBody>
          <a:bodyPr wrap="square" rtlCol="0">
            <a:spAutoFit/>
          </a:bodyPr>
          <a:lstStyle/>
          <a:p>
            <a:pPr algn="ctr"/>
            <a:r>
              <a:rPr lang="en-GB" sz="1400" b="1" dirty="0" smtClean="0"/>
              <a:t>Easy</a:t>
            </a:r>
            <a:endParaRPr lang="en-GB" sz="1400" b="1" dirty="0"/>
          </a:p>
        </p:txBody>
      </p:sp>
      <p:sp>
        <p:nvSpPr>
          <p:cNvPr id="19" name="TextBox 18"/>
          <p:cNvSpPr txBox="1"/>
          <p:nvPr/>
        </p:nvSpPr>
        <p:spPr>
          <a:xfrm>
            <a:off x="4626620" y="6803478"/>
            <a:ext cx="1296144" cy="307777"/>
          </a:xfrm>
          <a:prstGeom prst="rect">
            <a:avLst/>
          </a:prstGeom>
          <a:noFill/>
        </p:spPr>
        <p:txBody>
          <a:bodyPr wrap="square" rtlCol="0">
            <a:spAutoFit/>
          </a:bodyPr>
          <a:lstStyle/>
          <a:p>
            <a:pPr algn="ctr"/>
            <a:r>
              <a:rPr lang="en-GB" sz="1400" b="1" dirty="0" smtClean="0"/>
              <a:t>Manageable</a:t>
            </a:r>
            <a:endParaRPr lang="en-GB" sz="1400" b="1" dirty="0"/>
          </a:p>
        </p:txBody>
      </p:sp>
      <p:sp>
        <p:nvSpPr>
          <p:cNvPr id="23" name="TextBox 22"/>
          <p:cNvSpPr txBox="1"/>
          <p:nvPr/>
        </p:nvSpPr>
        <p:spPr>
          <a:xfrm>
            <a:off x="1019150" y="1744662"/>
            <a:ext cx="4039518" cy="307777"/>
          </a:xfrm>
          <a:prstGeom prst="rect">
            <a:avLst/>
          </a:prstGeom>
          <a:noFill/>
        </p:spPr>
        <p:txBody>
          <a:bodyPr wrap="square" rtlCol="0">
            <a:spAutoFit/>
          </a:bodyPr>
          <a:lstStyle/>
          <a:p>
            <a:r>
              <a:rPr lang="en-GB" sz="1400" b="1" dirty="0" smtClean="0"/>
              <a:t>Project Prioritisation Matrix</a:t>
            </a:r>
            <a:endParaRPr lang="en-GB" sz="1400" b="1" dirty="0"/>
          </a:p>
        </p:txBody>
      </p:sp>
      <p:sp>
        <p:nvSpPr>
          <p:cNvPr id="24" name="TextBox 23"/>
          <p:cNvSpPr txBox="1"/>
          <p:nvPr/>
        </p:nvSpPr>
        <p:spPr>
          <a:xfrm rot="16200000">
            <a:off x="-2039861" y="4243748"/>
            <a:ext cx="4526633" cy="307777"/>
          </a:xfrm>
          <a:prstGeom prst="rect">
            <a:avLst/>
          </a:prstGeom>
          <a:solidFill>
            <a:schemeClr val="bg1">
              <a:lumMod val="95000"/>
            </a:schemeClr>
          </a:solidFill>
        </p:spPr>
        <p:txBody>
          <a:bodyPr wrap="square" rtlCol="0">
            <a:spAutoFit/>
          </a:bodyPr>
          <a:lstStyle/>
          <a:p>
            <a:pPr algn="ctr"/>
            <a:r>
              <a:rPr lang="en-GB" sz="1400" b="1" dirty="0" smtClean="0"/>
              <a:t>Impact</a:t>
            </a:r>
            <a:endParaRPr lang="en-GB" sz="1400" b="1" dirty="0"/>
          </a:p>
        </p:txBody>
      </p:sp>
      <p:sp>
        <p:nvSpPr>
          <p:cNvPr id="13" name="TextBox 12"/>
          <p:cNvSpPr txBox="1"/>
          <p:nvPr/>
        </p:nvSpPr>
        <p:spPr>
          <a:xfrm>
            <a:off x="223456" y="3986311"/>
            <a:ext cx="874772" cy="307777"/>
          </a:xfrm>
          <a:prstGeom prst="rect">
            <a:avLst/>
          </a:prstGeom>
          <a:noFill/>
        </p:spPr>
        <p:txBody>
          <a:bodyPr wrap="square" rtlCol="0">
            <a:spAutoFit/>
          </a:bodyPr>
          <a:lstStyle/>
          <a:p>
            <a:pPr algn="ctr"/>
            <a:r>
              <a:rPr lang="en-GB" sz="1400" b="1" dirty="0" smtClean="0"/>
              <a:t>Medium</a:t>
            </a:r>
            <a:endParaRPr lang="en-GB" sz="1400" b="1" dirty="0"/>
          </a:p>
        </p:txBody>
      </p:sp>
      <p:sp>
        <p:nvSpPr>
          <p:cNvPr id="25" name="TextBox 24"/>
          <p:cNvSpPr txBox="1"/>
          <p:nvPr/>
        </p:nvSpPr>
        <p:spPr>
          <a:xfrm>
            <a:off x="1026220" y="7085424"/>
            <a:ext cx="8568952" cy="307777"/>
          </a:xfrm>
          <a:prstGeom prst="rect">
            <a:avLst/>
          </a:prstGeom>
          <a:solidFill>
            <a:schemeClr val="bg1">
              <a:lumMod val="95000"/>
            </a:schemeClr>
          </a:solidFill>
        </p:spPr>
        <p:txBody>
          <a:bodyPr wrap="square" rtlCol="0">
            <a:spAutoFit/>
          </a:bodyPr>
          <a:lstStyle/>
          <a:p>
            <a:pPr algn="ctr"/>
            <a:r>
              <a:rPr lang="en-GB" sz="1400" b="1" dirty="0" smtClean="0"/>
              <a:t>Implementation</a:t>
            </a:r>
            <a:endParaRPr lang="en-GB" sz="1400" b="1" dirty="0"/>
          </a:p>
        </p:txBody>
      </p:sp>
      <p:sp>
        <p:nvSpPr>
          <p:cNvPr id="26" name="TextBox 25"/>
          <p:cNvSpPr txBox="1"/>
          <p:nvPr/>
        </p:nvSpPr>
        <p:spPr>
          <a:xfrm>
            <a:off x="2066801" y="2048685"/>
            <a:ext cx="1944216" cy="307777"/>
          </a:xfrm>
          <a:prstGeom prst="rect">
            <a:avLst/>
          </a:prstGeom>
          <a:solidFill>
            <a:schemeClr val="bg1">
              <a:lumMod val="95000"/>
            </a:schemeClr>
          </a:solidFill>
          <a:ln>
            <a:solidFill>
              <a:schemeClr val="bg1">
                <a:lumMod val="95000"/>
              </a:schemeClr>
            </a:solidFill>
          </a:ln>
        </p:spPr>
        <p:txBody>
          <a:bodyPr wrap="square" rtlCol="0">
            <a:spAutoFit/>
          </a:bodyPr>
          <a:lstStyle/>
          <a:p>
            <a:pPr algn="ctr"/>
            <a:r>
              <a:rPr lang="en-GB" sz="1400" b="1" dirty="0" smtClean="0"/>
              <a:t>Must Have</a:t>
            </a:r>
            <a:endParaRPr lang="en-GB" sz="1400" b="1" dirty="0"/>
          </a:p>
        </p:txBody>
      </p:sp>
      <p:sp>
        <p:nvSpPr>
          <p:cNvPr id="27" name="TextBox 26"/>
          <p:cNvSpPr txBox="1"/>
          <p:nvPr/>
        </p:nvSpPr>
        <p:spPr>
          <a:xfrm>
            <a:off x="6507902" y="4258791"/>
            <a:ext cx="1935142" cy="307777"/>
          </a:xfrm>
          <a:prstGeom prst="rect">
            <a:avLst/>
          </a:prstGeom>
          <a:solidFill>
            <a:schemeClr val="bg1">
              <a:lumMod val="95000"/>
            </a:schemeClr>
          </a:solidFill>
          <a:ln>
            <a:solidFill>
              <a:schemeClr val="bg1">
                <a:lumMod val="95000"/>
              </a:schemeClr>
            </a:solidFill>
          </a:ln>
        </p:spPr>
        <p:txBody>
          <a:bodyPr wrap="square" rtlCol="0">
            <a:spAutoFit/>
          </a:bodyPr>
          <a:lstStyle/>
          <a:p>
            <a:pPr algn="ctr"/>
            <a:r>
              <a:rPr lang="en-GB" sz="1400" b="1" dirty="0" smtClean="0"/>
              <a:t>Low hanging fruit</a:t>
            </a:r>
            <a:endParaRPr lang="en-GB" sz="1400" b="1" dirty="0"/>
          </a:p>
        </p:txBody>
      </p:sp>
      <p:sp>
        <p:nvSpPr>
          <p:cNvPr id="28" name="TextBox 27"/>
          <p:cNvSpPr txBox="1"/>
          <p:nvPr/>
        </p:nvSpPr>
        <p:spPr>
          <a:xfrm>
            <a:off x="6602240" y="2012033"/>
            <a:ext cx="1912812" cy="307777"/>
          </a:xfrm>
          <a:prstGeom prst="rect">
            <a:avLst/>
          </a:prstGeom>
          <a:solidFill>
            <a:schemeClr val="bg1">
              <a:lumMod val="95000"/>
            </a:schemeClr>
          </a:solidFill>
          <a:ln>
            <a:solidFill>
              <a:schemeClr val="bg1">
                <a:lumMod val="95000"/>
              </a:schemeClr>
            </a:solidFill>
          </a:ln>
        </p:spPr>
        <p:txBody>
          <a:bodyPr wrap="square" rtlCol="0">
            <a:spAutoFit/>
          </a:bodyPr>
          <a:lstStyle/>
          <a:p>
            <a:pPr algn="ctr"/>
            <a:r>
              <a:rPr lang="en-GB" sz="1400" b="1" dirty="0" smtClean="0"/>
              <a:t>Quick win</a:t>
            </a:r>
            <a:endParaRPr lang="en-GB" sz="1400" b="1" dirty="0"/>
          </a:p>
        </p:txBody>
      </p:sp>
      <p:sp>
        <p:nvSpPr>
          <p:cNvPr id="29" name="TextBox 28"/>
          <p:cNvSpPr txBox="1"/>
          <p:nvPr/>
        </p:nvSpPr>
        <p:spPr>
          <a:xfrm>
            <a:off x="2040470" y="4243747"/>
            <a:ext cx="1944216" cy="307777"/>
          </a:xfrm>
          <a:prstGeom prst="rect">
            <a:avLst/>
          </a:prstGeom>
          <a:solidFill>
            <a:schemeClr val="bg1">
              <a:lumMod val="95000"/>
            </a:schemeClr>
          </a:solidFill>
          <a:ln>
            <a:solidFill>
              <a:schemeClr val="bg1">
                <a:lumMod val="95000"/>
              </a:schemeClr>
            </a:solidFill>
          </a:ln>
        </p:spPr>
        <p:txBody>
          <a:bodyPr wrap="square" rtlCol="0">
            <a:spAutoFit/>
          </a:bodyPr>
          <a:lstStyle/>
          <a:p>
            <a:pPr algn="ctr"/>
            <a:r>
              <a:rPr lang="en-GB" sz="1400" b="1" dirty="0" smtClean="0"/>
              <a:t>Money pit</a:t>
            </a:r>
            <a:endParaRPr lang="en-GB" sz="1400" b="1" dirty="0"/>
          </a:p>
        </p:txBody>
      </p:sp>
    </p:spTree>
    <p:extLst>
      <p:ext uri="{BB962C8B-B14F-4D97-AF65-F5344CB8AC3E}">
        <p14:creationId xmlns:p14="http://schemas.microsoft.com/office/powerpoint/2010/main" val="37989410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209401604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7109"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759441" y="288311"/>
            <a:ext cx="9504363" cy="612000"/>
          </a:xfrm>
        </p:spPr>
        <p:txBody>
          <a:bodyPr/>
          <a:lstStyle/>
          <a:p>
            <a:r>
              <a:rPr lang="en-GB" dirty="0" smtClean="0"/>
              <a:t>Step 2: Assess project risks and mitigating actions</a:t>
            </a:r>
            <a:r>
              <a:rPr lang="en-GB" dirty="0"/>
              <a:t> </a:t>
            </a:r>
            <a:r>
              <a:rPr lang="en-GB" dirty="0" smtClean="0"/>
              <a:t>for a priority project</a:t>
            </a:r>
            <a:endParaRPr lang="en-GB" dirty="0"/>
          </a:p>
        </p:txBody>
      </p:sp>
      <p:sp>
        <p:nvSpPr>
          <p:cNvPr id="15"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32</a:t>
            </a:fld>
            <a:endParaRPr lang="en-GB" sz="800" dirty="0">
              <a:solidFill>
                <a:srgbClr val="80808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688283039"/>
              </p:ext>
            </p:extLst>
          </p:nvPr>
        </p:nvGraphicFramePr>
        <p:xfrm>
          <a:off x="809624" y="1620391"/>
          <a:ext cx="9577637" cy="4981764"/>
        </p:xfrm>
        <a:graphic>
          <a:graphicData uri="http://schemas.openxmlformats.org/drawingml/2006/table">
            <a:tbl>
              <a:tblPr firstRow="1" bandRow="1">
                <a:tableStyleId>{5C22544A-7EE6-4342-B048-85BDC9FD1C3A}</a:tableStyleId>
              </a:tblPr>
              <a:tblGrid>
                <a:gridCol w="250976"/>
                <a:gridCol w="1666535"/>
                <a:gridCol w="1755469"/>
                <a:gridCol w="1224136"/>
                <a:gridCol w="1080120"/>
                <a:gridCol w="720080"/>
                <a:gridCol w="2880321"/>
              </a:tblGrid>
              <a:tr h="11143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200" b="1" dirty="0" smtClean="0">
                        <a:solidFill>
                          <a:schemeClr val="tx1"/>
                        </a:solidFill>
                      </a:endParaRPr>
                    </a:p>
                  </a:txBody>
                  <a:tcPr>
                    <a:solidFill>
                      <a:srgbClr val="FFD2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b="1" dirty="0" smtClean="0">
                          <a:solidFill>
                            <a:schemeClr val="tx1"/>
                          </a:solidFill>
                        </a:rPr>
                        <a:t>Potential Risk</a:t>
                      </a:r>
                    </a:p>
                  </a:txBody>
                  <a:tcPr>
                    <a:solidFill>
                      <a:srgbClr val="FFD2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b="1" dirty="0" smtClean="0">
                          <a:solidFill>
                            <a:schemeClr val="tx1"/>
                          </a:solidFill>
                        </a:rPr>
                        <a:t>Details</a:t>
                      </a:r>
                    </a:p>
                  </a:txBody>
                  <a:tcPr>
                    <a:solidFill>
                      <a:srgbClr val="FFD200"/>
                    </a:solidFill>
                  </a:tcPr>
                </a:tc>
                <a:tc>
                  <a:txBody>
                    <a:bodyPr/>
                    <a:lstStyle/>
                    <a:p>
                      <a:pPr algn="l"/>
                      <a:r>
                        <a:rPr lang="en-GB" sz="1200" dirty="0" smtClean="0">
                          <a:solidFill>
                            <a:schemeClr val="tx1"/>
                          </a:solidFill>
                        </a:rPr>
                        <a:t>Estimated Impact </a:t>
                      </a:r>
                    </a:p>
                    <a:p>
                      <a:pPr algn="l"/>
                      <a:r>
                        <a:rPr lang="en-GB" sz="1200" dirty="0" smtClean="0">
                          <a:solidFill>
                            <a:schemeClr val="tx1"/>
                          </a:solidFill>
                        </a:rPr>
                        <a:t>(1</a:t>
                      </a:r>
                      <a:r>
                        <a:rPr lang="en-GB" sz="1200" baseline="0" dirty="0" smtClean="0">
                          <a:solidFill>
                            <a:schemeClr val="tx1"/>
                          </a:solidFill>
                        </a:rPr>
                        <a:t> to 5)</a:t>
                      </a:r>
                    </a:p>
                    <a:p>
                      <a:pPr algn="l"/>
                      <a:r>
                        <a:rPr lang="en-GB" sz="800" b="0" i="1" baseline="0" dirty="0" smtClean="0">
                          <a:solidFill>
                            <a:schemeClr val="tx1"/>
                          </a:solidFill>
                        </a:rPr>
                        <a:t>1 being lowest, 5 being the highest</a:t>
                      </a:r>
                      <a:endParaRPr lang="en-GB" sz="800" b="0" i="1" dirty="0">
                        <a:solidFill>
                          <a:schemeClr val="tx1"/>
                        </a:solidFill>
                      </a:endParaRPr>
                    </a:p>
                  </a:txBody>
                  <a:tcPr>
                    <a:solidFill>
                      <a:srgbClr val="FFD200"/>
                    </a:solidFill>
                  </a:tcPr>
                </a:tc>
                <a:tc>
                  <a:txBody>
                    <a:bodyPr/>
                    <a:lstStyle/>
                    <a:p>
                      <a:pPr algn="l"/>
                      <a:r>
                        <a:rPr lang="en-GB" sz="1200" dirty="0" smtClean="0">
                          <a:solidFill>
                            <a:schemeClr val="tx1"/>
                          </a:solidFill>
                        </a:rPr>
                        <a:t>Estimated unmitigated probability</a:t>
                      </a:r>
                    </a:p>
                    <a:p>
                      <a:pPr marL="0" marR="0" indent="0" algn="l" defTabSz="1043056" rtl="0" eaLnBrk="1" fontAlgn="auto" latinLnBrk="0" hangingPunct="1">
                        <a:lnSpc>
                          <a:spcPct val="100000"/>
                        </a:lnSpc>
                        <a:spcBef>
                          <a:spcPts val="0"/>
                        </a:spcBef>
                        <a:spcAft>
                          <a:spcPts val="0"/>
                        </a:spcAft>
                        <a:buClrTx/>
                        <a:buSzTx/>
                        <a:buFontTx/>
                        <a:buNone/>
                        <a:tabLst/>
                        <a:defRPr/>
                      </a:pPr>
                      <a:r>
                        <a:rPr lang="en-GB" sz="800" b="0" i="1" baseline="0" dirty="0" smtClean="0">
                          <a:solidFill>
                            <a:schemeClr val="tx1"/>
                          </a:solidFill>
                        </a:rPr>
                        <a:t>As a percentage</a:t>
                      </a:r>
                      <a:endParaRPr lang="en-GB" sz="800" b="0" i="1" dirty="0" smtClean="0">
                        <a:solidFill>
                          <a:schemeClr val="tx1"/>
                        </a:solidFill>
                      </a:endParaRPr>
                    </a:p>
                    <a:p>
                      <a:pPr algn="l"/>
                      <a:endParaRPr lang="en-GB" sz="1200" dirty="0">
                        <a:solidFill>
                          <a:schemeClr val="tx1"/>
                        </a:solidFill>
                      </a:endParaRPr>
                    </a:p>
                  </a:txBody>
                  <a:tcPr>
                    <a:solidFill>
                      <a:srgbClr val="FFD200"/>
                    </a:solidFill>
                  </a:tcPr>
                </a:tc>
                <a:tc>
                  <a:txBody>
                    <a:bodyPr/>
                    <a:lstStyle/>
                    <a:p>
                      <a:pPr algn="l"/>
                      <a:r>
                        <a:rPr lang="en-GB" sz="1200" dirty="0" smtClean="0">
                          <a:solidFill>
                            <a:schemeClr val="tx1"/>
                          </a:solidFill>
                        </a:rPr>
                        <a:t>Risk</a:t>
                      </a:r>
                      <a:r>
                        <a:rPr lang="en-GB" sz="1200" baseline="0" dirty="0" smtClean="0">
                          <a:solidFill>
                            <a:schemeClr val="tx1"/>
                          </a:solidFill>
                        </a:rPr>
                        <a:t> Index (1 to 5) </a:t>
                      </a:r>
                    </a:p>
                    <a:p>
                      <a:pPr marL="0" marR="0" indent="0" algn="l" defTabSz="1043056" rtl="0" eaLnBrk="1" fontAlgn="auto" latinLnBrk="0" hangingPunct="1">
                        <a:lnSpc>
                          <a:spcPct val="100000"/>
                        </a:lnSpc>
                        <a:spcBef>
                          <a:spcPts val="0"/>
                        </a:spcBef>
                        <a:spcAft>
                          <a:spcPts val="0"/>
                        </a:spcAft>
                        <a:buClrTx/>
                        <a:buSzTx/>
                        <a:buFontTx/>
                        <a:buNone/>
                        <a:tabLst/>
                        <a:defRPr/>
                      </a:pPr>
                      <a:r>
                        <a:rPr lang="en-GB" sz="800" b="0" i="1" baseline="0" dirty="0" smtClean="0">
                          <a:solidFill>
                            <a:schemeClr val="tx1"/>
                          </a:solidFill>
                        </a:rPr>
                        <a:t>(Impact x unmitigated probability/100)</a:t>
                      </a:r>
                      <a:endParaRPr lang="en-GB" sz="800" b="0" i="1" dirty="0" smtClean="0">
                        <a:solidFill>
                          <a:schemeClr val="tx1"/>
                        </a:solidFill>
                      </a:endParaRPr>
                    </a:p>
                    <a:p>
                      <a:pPr algn="l"/>
                      <a:endParaRPr lang="en-GB" sz="1200" dirty="0">
                        <a:solidFill>
                          <a:schemeClr val="tx1"/>
                        </a:solidFill>
                      </a:endParaRPr>
                    </a:p>
                  </a:txBody>
                  <a:tcPr>
                    <a:solidFill>
                      <a:srgbClr val="FFD200"/>
                    </a:solidFill>
                  </a:tcPr>
                </a:tc>
                <a:tc>
                  <a:txBody>
                    <a:bodyPr/>
                    <a:lstStyle/>
                    <a:p>
                      <a:pPr algn="l"/>
                      <a:r>
                        <a:rPr lang="en-GB" sz="1200" dirty="0" smtClean="0">
                          <a:solidFill>
                            <a:schemeClr val="tx1"/>
                          </a:solidFill>
                        </a:rPr>
                        <a:t>Proposed Mitigating Actions</a:t>
                      </a:r>
                      <a:endParaRPr lang="en-GB" sz="1200" dirty="0">
                        <a:solidFill>
                          <a:schemeClr val="tx1"/>
                        </a:solidFill>
                      </a:endParaRPr>
                    </a:p>
                  </a:txBody>
                  <a:tcPr>
                    <a:solidFill>
                      <a:srgbClr val="FFD200"/>
                    </a:solidFill>
                  </a:tcPr>
                </a:tc>
              </a:tr>
              <a:tr h="59606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800" dirty="0" smtClean="0">
                          <a:latin typeface="+mj-lt"/>
                        </a:rPr>
                        <a:t>1</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800" i="1" dirty="0" smtClean="0">
                          <a:latin typeface="+mj-lt"/>
                        </a:rPr>
                        <a:t>Company</a:t>
                      </a:r>
                      <a:r>
                        <a:rPr lang="en-GB" sz="800" i="1" baseline="0" dirty="0" smtClean="0">
                          <a:latin typeface="+mj-lt"/>
                        </a:rPr>
                        <a:t> X </a:t>
                      </a:r>
                      <a:r>
                        <a:rPr lang="en-GB" sz="800" i="1" dirty="0" smtClean="0">
                          <a:latin typeface="+mj-lt"/>
                        </a:rPr>
                        <a:t>s unable</a:t>
                      </a:r>
                      <a:r>
                        <a:rPr lang="en-GB" sz="800" i="1" baseline="0" dirty="0" smtClean="0">
                          <a:latin typeface="+mj-lt"/>
                        </a:rPr>
                        <a:t> to develop new business at the same rate due to the loss of market and sales experience </a:t>
                      </a:r>
                      <a:endParaRPr lang="en-GB" sz="800" i="1" dirty="0" smtClean="0">
                        <a:latin typeface="+mj-lt"/>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800" i="1" dirty="0" smtClean="0">
                          <a:latin typeface="+mj-lt"/>
                        </a:rPr>
                        <a:t>Presently the company relies on</a:t>
                      </a:r>
                      <a:r>
                        <a:rPr lang="en-GB" sz="800" i="1" baseline="0" dirty="0" smtClean="0">
                          <a:latin typeface="+mj-lt"/>
                        </a:rPr>
                        <a:t> one person for all sales and business development activities and there is a skills gap in this area within the current team.</a:t>
                      </a:r>
                      <a:endParaRPr lang="en-GB" sz="800" i="1" dirty="0" smtClean="0">
                        <a:latin typeface="+mj-lt"/>
                      </a:endParaRPr>
                    </a:p>
                  </a:txBody>
                  <a:tcPr anchor="ctr"/>
                </a:tc>
                <a:tc>
                  <a:txBody>
                    <a:bodyPr/>
                    <a:lstStyle/>
                    <a:p>
                      <a:pPr algn="ctr" rtl="0" fontAlgn="b"/>
                      <a:r>
                        <a:rPr lang="en-GB" sz="800" b="0" i="1" u="none" strike="noStrike" dirty="0" smtClean="0">
                          <a:solidFill>
                            <a:schemeClr val="tx1"/>
                          </a:solidFill>
                          <a:effectLst/>
                          <a:latin typeface="+mj-lt"/>
                        </a:rPr>
                        <a:t>3</a:t>
                      </a:r>
                      <a:endParaRPr lang="en-GB" sz="800" b="0" i="1" u="none" strike="noStrike" dirty="0">
                        <a:solidFill>
                          <a:schemeClr val="tx1"/>
                        </a:solidFill>
                        <a:effectLst/>
                        <a:latin typeface="+mj-lt"/>
                      </a:endParaRPr>
                    </a:p>
                  </a:txBody>
                  <a:tcPr marL="9525" marR="9525" marT="9525" marB="0" anchor="ctr"/>
                </a:tc>
                <a:tc>
                  <a:txBody>
                    <a:bodyPr/>
                    <a:lstStyle/>
                    <a:p>
                      <a:pPr algn="ctr" rtl="0" fontAlgn="b"/>
                      <a:r>
                        <a:rPr lang="en-GB" sz="800" b="0" i="1" u="none" strike="noStrike" dirty="0" smtClean="0">
                          <a:solidFill>
                            <a:schemeClr val="tx1"/>
                          </a:solidFill>
                          <a:effectLst/>
                          <a:latin typeface="+mj-lt"/>
                        </a:rPr>
                        <a:t>100%</a:t>
                      </a:r>
                      <a:endParaRPr lang="en-GB" sz="800" b="0" i="1" u="none" strike="noStrike" dirty="0">
                        <a:solidFill>
                          <a:schemeClr val="tx1"/>
                        </a:solidFill>
                        <a:effectLst/>
                        <a:latin typeface="+mj-lt"/>
                      </a:endParaRPr>
                    </a:p>
                  </a:txBody>
                  <a:tcPr marL="9525" marR="9525" marT="9525" marB="0" anchor="ctr"/>
                </a:tc>
                <a:tc>
                  <a:txBody>
                    <a:bodyPr/>
                    <a:lstStyle/>
                    <a:p>
                      <a:pPr algn="ctr" rtl="0" fontAlgn="b"/>
                      <a:r>
                        <a:rPr lang="en-GB" sz="800" b="0" i="1" u="none" strike="noStrike" dirty="0" smtClean="0">
                          <a:solidFill>
                            <a:schemeClr val="tx1"/>
                          </a:solidFill>
                          <a:effectLst/>
                          <a:latin typeface="+mj-lt"/>
                        </a:rPr>
                        <a:t>3.0</a:t>
                      </a:r>
                      <a:endParaRPr lang="en-GB" sz="800" b="0" i="1" u="none" strike="noStrike" dirty="0">
                        <a:solidFill>
                          <a:schemeClr val="tx1"/>
                        </a:solidFill>
                        <a:effectLst/>
                        <a:latin typeface="+mj-lt"/>
                      </a:endParaRPr>
                    </a:p>
                  </a:txBody>
                  <a:tcPr marL="9525" marR="9525" marT="9525" marB="0" anchor="ctr"/>
                </a:tc>
                <a:tc>
                  <a:txBody>
                    <a:bodyPr/>
                    <a:lstStyle/>
                    <a:p>
                      <a:pPr marL="228600" marR="0" indent="-228600" algn="l" defTabSz="457200" rtl="0" eaLnBrk="1" fontAlgn="b" latinLnBrk="0" hangingPunct="1">
                        <a:lnSpc>
                          <a:spcPct val="100000"/>
                        </a:lnSpc>
                        <a:spcBef>
                          <a:spcPts val="0"/>
                        </a:spcBef>
                        <a:spcAft>
                          <a:spcPts val="0"/>
                        </a:spcAft>
                        <a:buClrTx/>
                        <a:buSzTx/>
                        <a:buFontTx/>
                        <a:buAutoNum type="arabicPeriod"/>
                        <a:tabLst/>
                        <a:defRPr/>
                      </a:pPr>
                      <a:r>
                        <a:rPr lang="en-GB" sz="800" b="0" i="1" u="none" strike="noStrike" baseline="0" dirty="0" smtClean="0">
                          <a:solidFill>
                            <a:schemeClr val="tx1"/>
                          </a:solidFill>
                          <a:effectLst/>
                          <a:latin typeface="+mj-lt"/>
                        </a:rPr>
                        <a:t>Explore feasibility of hiring an experienced business development manager</a:t>
                      </a:r>
                    </a:p>
                    <a:p>
                      <a:pPr marL="228600" marR="0" indent="-228600" algn="l" defTabSz="457200" rtl="0" eaLnBrk="1" fontAlgn="b" latinLnBrk="0" hangingPunct="1">
                        <a:lnSpc>
                          <a:spcPct val="100000"/>
                        </a:lnSpc>
                        <a:spcBef>
                          <a:spcPts val="0"/>
                        </a:spcBef>
                        <a:spcAft>
                          <a:spcPts val="0"/>
                        </a:spcAft>
                        <a:buClrTx/>
                        <a:buSzTx/>
                        <a:buFontTx/>
                        <a:buAutoNum type="arabicPeriod"/>
                        <a:tabLst/>
                        <a:defRPr/>
                      </a:pPr>
                      <a:r>
                        <a:rPr lang="en-GB" sz="800" b="0" i="1" u="none" strike="noStrike" baseline="0" dirty="0" smtClean="0">
                          <a:solidFill>
                            <a:schemeClr val="tx1"/>
                          </a:solidFill>
                          <a:effectLst/>
                          <a:latin typeface="+mj-lt"/>
                        </a:rPr>
                        <a:t>Engage key stakeholders to transfer key market knowledge and strategy</a:t>
                      </a:r>
                    </a:p>
                  </a:txBody>
                  <a:tcPr marL="9525" marR="9525" marT="9525" marB="0" anchor="ctr"/>
                </a:tc>
              </a:tr>
              <a:tr h="7425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800" dirty="0" smtClean="0">
                          <a:latin typeface="+mj-lt"/>
                        </a:rPr>
                        <a:t>2</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800" b="0" i="1" baseline="0" dirty="0" smtClean="0"/>
                        <a:t>Company X experiences lower growth rates owing to a loss of key innovators</a:t>
                      </a:r>
                      <a:endParaRPr lang="en-GB" sz="800" b="0" i="1" dirty="0" smtClean="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800" i="1" dirty="0" smtClean="0"/>
                        <a:t>Company</a:t>
                      </a:r>
                      <a:r>
                        <a:rPr lang="en-GB" sz="800" i="1" baseline="0" dirty="0" smtClean="0"/>
                        <a:t> </a:t>
                      </a:r>
                      <a:r>
                        <a:rPr lang="en-GB" sz="800" i="1" dirty="0" smtClean="0"/>
                        <a:t>relies on</a:t>
                      </a:r>
                      <a:r>
                        <a:rPr lang="en-GB" sz="800" i="1" baseline="0" dirty="0" smtClean="0"/>
                        <a:t> one person for most product innovation, from 1 June they are no longer available to support</a:t>
                      </a:r>
                      <a:endParaRPr lang="en-GB" sz="800" i="1" dirty="0" smtClean="0"/>
                    </a:p>
                  </a:txBody>
                  <a:tcPr anchor="ctr"/>
                </a:tc>
                <a:tc>
                  <a:txBody>
                    <a:bodyPr/>
                    <a:lstStyle/>
                    <a:p>
                      <a:pPr algn="ctr" rtl="0" fontAlgn="b"/>
                      <a:r>
                        <a:rPr lang="en-GB" sz="800" b="0" i="1" u="none" strike="noStrike" dirty="0" smtClean="0">
                          <a:solidFill>
                            <a:schemeClr val="tx1"/>
                          </a:solidFill>
                          <a:effectLst/>
                          <a:latin typeface="Verdana"/>
                        </a:rPr>
                        <a:t>5</a:t>
                      </a:r>
                      <a:endParaRPr lang="en-GB" sz="800" b="0" i="1" u="none" strike="noStrike" dirty="0">
                        <a:solidFill>
                          <a:schemeClr val="tx1"/>
                        </a:solidFill>
                        <a:effectLst/>
                        <a:latin typeface="Verdana"/>
                      </a:endParaRPr>
                    </a:p>
                  </a:txBody>
                  <a:tcPr marL="9525" marR="9525" marT="9525" marB="0" anchor="ctr"/>
                </a:tc>
                <a:tc>
                  <a:txBody>
                    <a:bodyPr/>
                    <a:lstStyle/>
                    <a:p>
                      <a:pPr algn="ctr" rtl="0" fontAlgn="b"/>
                      <a:r>
                        <a:rPr lang="en-GB" sz="800" b="0" i="1" u="none" strike="noStrike" dirty="0" smtClean="0">
                          <a:solidFill>
                            <a:schemeClr val="tx1"/>
                          </a:solidFill>
                          <a:effectLst/>
                          <a:latin typeface="Verdana"/>
                        </a:rPr>
                        <a:t>80%</a:t>
                      </a:r>
                      <a:endParaRPr lang="en-GB" sz="800" b="0" i="1" u="none" strike="noStrike" dirty="0">
                        <a:solidFill>
                          <a:schemeClr val="tx1"/>
                        </a:solidFill>
                        <a:effectLst/>
                        <a:latin typeface="Verdana"/>
                      </a:endParaRPr>
                    </a:p>
                  </a:txBody>
                  <a:tcPr marL="9525" marR="9525" marT="9525" marB="0" anchor="ctr"/>
                </a:tc>
                <a:tc>
                  <a:txBody>
                    <a:bodyPr/>
                    <a:lstStyle/>
                    <a:p>
                      <a:pPr algn="ctr" rtl="0" fontAlgn="b"/>
                      <a:r>
                        <a:rPr lang="en-GB" sz="800" b="0" i="1" u="none" strike="noStrike" dirty="0" smtClean="0">
                          <a:solidFill>
                            <a:schemeClr val="tx1"/>
                          </a:solidFill>
                          <a:effectLst/>
                          <a:latin typeface="Verdana"/>
                        </a:rPr>
                        <a:t>4.0</a:t>
                      </a:r>
                      <a:endParaRPr lang="en-GB" sz="800" b="0" i="1" u="none" strike="noStrike" dirty="0">
                        <a:solidFill>
                          <a:schemeClr val="tx1"/>
                        </a:solidFill>
                        <a:effectLst/>
                        <a:latin typeface="Verdana"/>
                      </a:endParaRPr>
                    </a:p>
                  </a:txBody>
                  <a:tcPr marL="9525" marR="9525" marT="9525" marB="0" anchor="ctr"/>
                </a:tc>
                <a:tc>
                  <a:txBody>
                    <a:bodyPr/>
                    <a:lstStyle/>
                    <a:p>
                      <a:pPr marL="228600" marR="0" indent="-228600" algn="l" defTabSz="457200" rtl="0" eaLnBrk="1" fontAlgn="b" latinLnBrk="0" hangingPunct="1">
                        <a:lnSpc>
                          <a:spcPct val="100000"/>
                        </a:lnSpc>
                        <a:spcBef>
                          <a:spcPts val="0"/>
                        </a:spcBef>
                        <a:spcAft>
                          <a:spcPts val="0"/>
                        </a:spcAft>
                        <a:buClrTx/>
                        <a:buSzTx/>
                        <a:buFontTx/>
                        <a:buAutoNum type="arabicPeriod"/>
                        <a:tabLst/>
                        <a:defRPr/>
                      </a:pPr>
                      <a:r>
                        <a:rPr lang="en-GB" sz="800" b="0" i="1" u="none" strike="noStrike" baseline="0" dirty="0" smtClean="0">
                          <a:solidFill>
                            <a:schemeClr val="tx1"/>
                          </a:solidFill>
                          <a:effectLst/>
                          <a:latin typeface="+mn-lt"/>
                        </a:rPr>
                        <a:t>Engage stakeholder to create a roadmap of ideas for product innovation.</a:t>
                      </a:r>
                    </a:p>
                    <a:p>
                      <a:pPr marL="228600" marR="0" indent="-228600" algn="l" defTabSz="457200" rtl="0" eaLnBrk="1" fontAlgn="b" latinLnBrk="0" hangingPunct="1">
                        <a:lnSpc>
                          <a:spcPct val="100000"/>
                        </a:lnSpc>
                        <a:spcBef>
                          <a:spcPts val="0"/>
                        </a:spcBef>
                        <a:spcAft>
                          <a:spcPts val="0"/>
                        </a:spcAft>
                        <a:buClrTx/>
                        <a:buSzTx/>
                        <a:buFontTx/>
                        <a:buAutoNum type="arabicPeriod"/>
                        <a:tabLst/>
                        <a:defRPr/>
                      </a:pPr>
                      <a:r>
                        <a:rPr lang="en-GB" sz="800" b="0" i="1" u="none" strike="noStrike" baseline="0" dirty="0" smtClean="0">
                          <a:solidFill>
                            <a:schemeClr val="tx1"/>
                          </a:solidFill>
                          <a:effectLst/>
                          <a:latin typeface="+mn-lt"/>
                        </a:rPr>
                        <a:t>Rely on stakeholder for on-going senior steer on innovation</a:t>
                      </a:r>
                    </a:p>
                    <a:p>
                      <a:pPr marL="228600" marR="0" indent="-228600" algn="l" defTabSz="457200" rtl="0" eaLnBrk="1" fontAlgn="b" latinLnBrk="0" hangingPunct="1">
                        <a:lnSpc>
                          <a:spcPct val="100000"/>
                        </a:lnSpc>
                        <a:spcBef>
                          <a:spcPts val="0"/>
                        </a:spcBef>
                        <a:spcAft>
                          <a:spcPts val="0"/>
                        </a:spcAft>
                        <a:buClrTx/>
                        <a:buSzTx/>
                        <a:buFontTx/>
                        <a:buAutoNum type="arabicPeriod"/>
                        <a:tabLst/>
                        <a:defRPr/>
                      </a:pPr>
                      <a:r>
                        <a:rPr lang="en-GB" sz="800" b="0" i="1" u="none" strike="noStrike" baseline="0" dirty="0" smtClean="0">
                          <a:solidFill>
                            <a:schemeClr val="tx1"/>
                          </a:solidFill>
                          <a:effectLst/>
                          <a:latin typeface="+mn-lt"/>
                        </a:rPr>
                        <a:t>Build and maintain networks with innovators</a:t>
                      </a:r>
                    </a:p>
                  </a:txBody>
                  <a:tcPr marL="9525" marR="9525" marT="9525" marB="0"/>
                </a:tc>
              </a:tr>
              <a:tr h="7425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800" dirty="0" smtClean="0">
                          <a:latin typeface="+mj-lt"/>
                        </a:rPr>
                        <a:t>3</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800" dirty="0" smtClean="0">
                        <a:latin typeface="+mj-lt"/>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800" dirty="0" smtClean="0">
                        <a:latin typeface="+mj-lt"/>
                      </a:endParaRPr>
                    </a:p>
                  </a:txBody>
                  <a:tcPr anchor="ctr"/>
                </a:tc>
                <a:tc>
                  <a:txBody>
                    <a:bodyPr/>
                    <a:lstStyle/>
                    <a:p>
                      <a:pPr algn="ctr" rtl="0" fontAlgn="b"/>
                      <a:endParaRPr lang="en-GB" sz="800" b="0" i="0" u="none" strike="noStrike" dirty="0">
                        <a:solidFill>
                          <a:srgbClr val="59595B"/>
                        </a:solidFill>
                        <a:effectLst/>
                        <a:latin typeface="+mj-lt"/>
                      </a:endParaRPr>
                    </a:p>
                  </a:txBody>
                  <a:tcPr marL="9525" marR="9525" marT="9525" marB="0" anchor="ctr"/>
                </a:tc>
                <a:tc>
                  <a:txBody>
                    <a:bodyPr/>
                    <a:lstStyle/>
                    <a:p>
                      <a:pPr algn="ctr" rtl="0" fontAlgn="b"/>
                      <a:endParaRPr lang="en-GB" sz="800" b="0" i="0" u="none" strike="noStrike" dirty="0">
                        <a:solidFill>
                          <a:srgbClr val="59595B"/>
                        </a:solidFill>
                        <a:effectLst/>
                        <a:latin typeface="+mj-lt"/>
                      </a:endParaRPr>
                    </a:p>
                  </a:txBody>
                  <a:tcPr marL="9525" marR="9525" marT="9525" marB="0" anchor="ctr"/>
                </a:tc>
                <a:tc>
                  <a:txBody>
                    <a:bodyPr/>
                    <a:lstStyle/>
                    <a:p>
                      <a:pPr algn="ctr" rtl="0" fontAlgn="b"/>
                      <a:endParaRPr lang="en-GB" sz="800" b="0" i="0" u="none" strike="noStrike" dirty="0">
                        <a:solidFill>
                          <a:srgbClr val="59595B"/>
                        </a:solidFill>
                        <a:effectLst/>
                        <a:latin typeface="+mj-lt"/>
                      </a:endParaRPr>
                    </a:p>
                  </a:txBody>
                  <a:tcPr marL="9525" marR="9525" marT="9525" marB="0" anchor="ctr"/>
                </a:tc>
                <a:tc>
                  <a:txBody>
                    <a:bodyPr/>
                    <a:lstStyle/>
                    <a:p>
                      <a:pPr marL="228600" marR="0" indent="-228600" algn="l" defTabSz="457200" rtl="0" eaLnBrk="1" fontAlgn="b" latinLnBrk="0" hangingPunct="1">
                        <a:lnSpc>
                          <a:spcPct val="100000"/>
                        </a:lnSpc>
                        <a:spcBef>
                          <a:spcPts val="0"/>
                        </a:spcBef>
                        <a:spcAft>
                          <a:spcPts val="0"/>
                        </a:spcAft>
                        <a:buClrTx/>
                        <a:buSzTx/>
                        <a:buFontTx/>
                        <a:buAutoNum type="arabicPeriod"/>
                        <a:tabLst/>
                        <a:defRPr/>
                      </a:pPr>
                      <a:endParaRPr lang="en-GB" sz="800" b="0" i="0" u="none" strike="noStrike" baseline="0" dirty="0" smtClean="0">
                        <a:solidFill>
                          <a:srgbClr val="59595B"/>
                        </a:solidFill>
                        <a:effectLst/>
                        <a:latin typeface="+mj-lt"/>
                      </a:endParaRPr>
                    </a:p>
                  </a:txBody>
                  <a:tcPr marL="9525" marR="9525" marT="9525" marB="0" anchor="ctr"/>
                </a:tc>
              </a:tr>
              <a:tr h="7425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800" dirty="0" smtClean="0">
                          <a:latin typeface="+mj-lt"/>
                        </a:rPr>
                        <a:t>4</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800" dirty="0" smtClean="0">
                        <a:latin typeface="+mj-lt"/>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800" dirty="0" smtClean="0">
                        <a:latin typeface="+mj-lt"/>
                      </a:endParaRPr>
                    </a:p>
                  </a:txBody>
                  <a:tcPr anchor="ctr"/>
                </a:tc>
                <a:tc>
                  <a:txBody>
                    <a:bodyPr/>
                    <a:lstStyle/>
                    <a:p>
                      <a:pPr algn="ctr" rtl="0" fontAlgn="b"/>
                      <a:endParaRPr lang="en-GB" sz="800" b="0" i="0" u="none" strike="noStrike" dirty="0">
                        <a:solidFill>
                          <a:srgbClr val="59595B"/>
                        </a:solidFill>
                        <a:effectLst/>
                        <a:latin typeface="+mj-lt"/>
                      </a:endParaRPr>
                    </a:p>
                  </a:txBody>
                  <a:tcPr marL="9525" marR="9525" marT="9525" marB="0" anchor="ctr"/>
                </a:tc>
                <a:tc>
                  <a:txBody>
                    <a:bodyPr/>
                    <a:lstStyle/>
                    <a:p>
                      <a:pPr algn="ctr" rtl="0" fontAlgn="b"/>
                      <a:endParaRPr lang="en-GB" sz="800" b="0" i="0" u="none" strike="noStrike" dirty="0">
                        <a:solidFill>
                          <a:srgbClr val="59595B"/>
                        </a:solidFill>
                        <a:effectLst/>
                        <a:latin typeface="+mj-lt"/>
                      </a:endParaRPr>
                    </a:p>
                  </a:txBody>
                  <a:tcPr marL="9525" marR="9525" marT="9525" marB="0" anchor="ctr"/>
                </a:tc>
                <a:tc>
                  <a:txBody>
                    <a:bodyPr/>
                    <a:lstStyle/>
                    <a:p>
                      <a:pPr algn="ctr" rtl="0" fontAlgn="b"/>
                      <a:endParaRPr lang="en-GB" sz="800" b="0" i="0" u="none" strike="noStrike" dirty="0">
                        <a:solidFill>
                          <a:srgbClr val="59595B"/>
                        </a:solidFill>
                        <a:effectLst/>
                        <a:latin typeface="+mj-lt"/>
                      </a:endParaRPr>
                    </a:p>
                  </a:txBody>
                  <a:tcPr marL="9525" marR="9525" marT="9525" marB="0" anchor="ctr"/>
                </a:tc>
                <a:tc>
                  <a:txBody>
                    <a:bodyPr/>
                    <a:lstStyle/>
                    <a:p>
                      <a:pPr marL="228600" marR="0" indent="-228600" algn="l" defTabSz="457200" rtl="0" eaLnBrk="1" fontAlgn="b" latinLnBrk="0" hangingPunct="1">
                        <a:lnSpc>
                          <a:spcPct val="100000"/>
                        </a:lnSpc>
                        <a:spcBef>
                          <a:spcPts val="0"/>
                        </a:spcBef>
                        <a:spcAft>
                          <a:spcPts val="0"/>
                        </a:spcAft>
                        <a:buClrTx/>
                        <a:buSzTx/>
                        <a:buFontTx/>
                        <a:buAutoNum type="arabicPeriod"/>
                        <a:tabLst/>
                        <a:defRPr/>
                      </a:pPr>
                      <a:endParaRPr lang="en-GB" sz="800" b="0" i="0" u="none" strike="noStrike" baseline="0" dirty="0" smtClean="0">
                        <a:solidFill>
                          <a:srgbClr val="59595B"/>
                        </a:solidFill>
                        <a:effectLst/>
                        <a:latin typeface="+mj-lt"/>
                      </a:endParaRPr>
                    </a:p>
                  </a:txBody>
                  <a:tcPr marL="9525" marR="9525" marT="9525" marB="0" anchor="ctr"/>
                </a:tc>
              </a:tr>
              <a:tr h="7425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800" dirty="0" smtClean="0">
                          <a:latin typeface="+mj-lt"/>
                        </a:rPr>
                        <a:t>5</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800" dirty="0" smtClean="0">
                        <a:latin typeface="+mj-lt"/>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800" dirty="0" smtClean="0">
                        <a:latin typeface="+mj-lt"/>
                      </a:endParaRPr>
                    </a:p>
                  </a:txBody>
                  <a:tcPr anchor="ctr"/>
                </a:tc>
                <a:tc>
                  <a:txBody>
                    <a:bodyPr/>
                    <a:lstStyle/>
                    <a:p>
                      <a:pPr algn="ctr" rtl="0" fontAlgn="b"/>
                      <a:endParaRPr lang="en-GB" sz="800" b="0" i="0" u="none" strike="noStrike" dirty="0">
                        <a:solidFill>
                          <a:srgbClr val="59595B"/>
                        </a:solidFill>
                        <a:effectLst/>
                        <a:latin typeface="+mj-lt"/>
                      </a:endParaRPr>
                    </a:p>
                  </a:txBody>
                  <a:tcPr marL="9525" marR="9525" marT="9525" marB="0" anchor="ctr"/>
                </a:tc>
                <a:tc>
                  <a:txBody>
                    <a:bodyPr/>
                    <a:lstStyle/>
                    <a:p>
                      <a:pPr algn="ctr" rtl="0" fontAlgn="b"/>
                      <a:endParaRPr lang="en-GB" sz="800" b="0" i="0" u="none" strike="noStrike" dirty="0">
                        <a:solidFill>
                          <a:srgbClr val="59595B"/>
                        </a:solidFill>
                        <a:effectLst/>
                        <a:latin typeface="+mj-lt"/>
                      </a:endParaRPr>
                    </a:p>
                  </a:txBody>
                  <a:tcPr marL="9525" marR="9525" marT="9525" marB="0" anchor="ctr"/>
                </a:tc>
                <a:tc>
                  <a:txBody>
                    <a:bodyPr/>
                    <a:lstStyle/>
                    <a:p>
                      <a:pPr algn="ctr" rtl="0" fontAlgn="b"/>
                      <a:endParaRPr lang="en-GB" sz="800" b="0" i="0" u="none" strike="noStrike" dirty="0">
                        <a:solidFill>
                          <a:srgbClr val="59595B"/>
                        </a:solidFill>
                        <a:effectLst/>
                        <a:latin typeface="+mj-lt"/>
                      </a:endParaRPr>
                    </a:p>
                  </a:txBody>
                  <a:tcPr marL="9525" marR="9525" marT="9525" marB="0" anchor="ctr"/>
                </a:tc>
                <a:tc>
                  <a:txBody>
                    <a:bodyPr/>
                    <a:lstStyle/>
                    <a:p>
                      <a:pPr marL="228600" marR="0" indent="-228600" algn="l" defTabSz="457200" rtl="0" eaLnBrk="1" fontAlgn="b" latinLnBrk="0" hangingPunct="1">
                        <a:lnSpc>
                          <a:spcPct val="100000"/>
                        </a:lnSpc>
                        <a:spcBef>
                          <a:spcPts val="0"/>
                        </a:spcBef>
                        <a:spcAft>
                          <a:spcPts val="0"/>
                        </a:spcAft>
                        <a:buClrTx/>
                        <a:buSzTx/>
                        <a:buFontTx/>
                        <a:buAutoNum type="arabicPeriod"/>
                        <a:tabLst/>
                        <a:defRPr/>
                      </a:pPr>
                      <a:endParaRPr lang="en-GB" sz="800" b="0" i="0" u="none" strike="noStrike" baseline="0" dirty="0" smtClean="0">
                        <a:solidFill>
                          <a:srgbClr val="59595B"/>
                        </a:solidFill>
                        <a:effectLst/>
                        <a:latin typeface="+mj-lt"/>
                      </a:endParaRPr>
                    </a:p>
                  </a:txBody>
                  <a:tcPr marL="9525" marR="9525" marT="9525" marB="0" anchor="ctr"/>
                </a:tc>
              </a:tr>
            </a:tbl>
          </a:graphicData>
        </a:graphic>
      </p:graphicFrame>
      <p:sp>
        <p:nvSpPr>
          <p:cNvPr id="9" name="Title 1"/>
          <p:cNvSpPr txBox="1">
            <a:spLocks/>
          </p:cNvSpPr>
          <p:nvPr/>
        </p:nvSpPr>
        <p:spPr bwMode="gray">
          <a:xfrm>
            <a:off x="809626" y="1080399"/>
            <a:ext cx="9577634" cy="395976"/>
          </a:xfrm>
          <a:prstGeom prst="rect">
            <a:avLst/>
          </a:prstGeom>
        </p:spPr>
        <p:txBody>
          <a:bodyPr vert="horz" lIns="0" tIns="0" rIns="0" bIns="0" rtlCol="0" anchor="b" anchorCtr="0">
            <a:noAutofit/>
          </a:bodyPr>
          <a:lstStyle>
            <a:lvl1pPr algn="l" defTabSz="1043056" rtl="0" eaLnBrk="1" latinLnBrk="0" hangingPunct="1">
              <a:lnSpc>
                <a:spcPct val="90000"/>
              </a:lnSpc>
              <a:spcBef>
                <a:spcPct val="0"/>
              </a:spcBef>
              <a:buNone/>
              <a:defRPr sz="2400" kern="1200">
                <a:solidFill>
                  <a:schemeClr val="accent1"/>
                </a:solidFill>
                <a:latin typeface="+mj-lt"/>
                <a:ea typeface="+mj-ea"/>
                <a:cs typeface="+mj-cs"/>
              </a:defRPr>
            </a:lvl1pPr>
          </a:lstStyle>
          <a:p>
            <a:r>
              <a:rPr lang="en-GB" sz="1600" dirty="0" smtClean="0">
                <a:solidFill>
                  <a:schemeClr val="tx1"/>
                </a:solidFill>
              </a:rPr>
              <a:t>Analyse the risk, assess the impact, probability and calculate the risk index before outlining mitigating actions. The outcome of the risk index will help to guide the greatest risks. </a:t>
            </a:r>
            <a:endParaRPr lang="en-GB" sz="1600" dirty="0">
              <a:solidFill>
                <a:schemeClr val="tx1"/>
              </a:solidFill>
            </a:endParaRPr>
          </a:p>
        </p:txBody>
      </p:sp>
    </p:spTree>
    <p:extLst>
      <p:ext uri="{BB962C8B-B14F-4D97-AF65-F5344CB8AC3E}">
        <p14:creationId xmlns:p14="http://schemas.microsoft.com/office/powerpoint/2010/main" val="235059224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1"/>
          <p:cNvSpPr txBox="1">
            <a:spLocks/>
          </p:cNvSpPr>
          <p:nvPr/>
        </p:nvSpPr>
        <p:spPr bwMode="gray">
          <a:xfrm>
            <a:off x="811324" y="290706"/>
            <a:ext cx="9070751" cy="612000"/>
          </a:xfrm>
          <a:prstGeom prst="rect">
            <a:avLst/>
          </a:prstGeom>
        </p:spPr>
        <p:txBody>
          <a:bodyPr vert="horz" lIns="0" tIns="0" rIns="0" bIns="0" rtlCol="0" anchor="b" anchorCtr="0">
            <a:noAutofit/>
          </a:bodyPr>
          <a:lstStyle>
            <a:lvl1pPr algn="l" defTabSz="1043056" rtl="0" eaLnBrk="1" latinLnBrk="0" hangingPunct="1">
              <a:lnSpc>
                <a:spcPct val="90000"/>
              </a:lnSpc>
              <a:spcBef>
                <a:spcPct val="0"/>
              </a:spcBef>
              <a:buNone/>
              <a:defRPr sz="2400" kern="1200">
                <a:solidFill>
                  <a:schemeClr val="accent1"/>
                </a:solidFill>
                <a:latin typeface="+mj-lt"/>
                <a:ea typeface="+mj-ea"/>
                <a:cs typeface="+mj-cs"/>
              </a:defRPr>
            </a:lvl1pPr>
          </a:lstStyle>
          <a:p>
            <a:r>
              <a:rPr lang="en-GB" dirty="0" smtClean="0"/>
              <a:t>Step 3: Plan the delivery and reporting of a priority project</a:t>
            </a:r>
            <a:endParaRPr lang="en-GB" dirty="0"/>
          </a:p>
        </p:txBody>
      </p:sp>
      <p:graphicFrame>
        <p:nvGraphicFramePr>
          <p:cNvPr id="33" name="Table 32"/>
          <p:cNvGraphicFramePr>
            <a:graphicFrameLocks noGrp="1"/>
          </p:cNvGraphicFramePr>
          <p:nvPr>
            <p:extLst>
              <p:ext uri="{D42A27DB-BD31-4B8C-83A1-F6EECF244321}">
                <p14:modId xmlns:p14="http://schemas.microsoft.com/office/powerpoint/2010/main" val="200536584"/>
              </p:ext>
            </p:extLst>
          </p:nvPr>
        </p:nvGraphicFramePr>
        <p:xfrm>
          <a:off x="819325" y="1188343"/>
          <a:ext cx="4455938" cy="1165944"/>
        </p:xfrm>
        <a:graphic>
          <a:graphicData uri="http://schemas.openxmlformats.org/drawingml/2006/table">
            <a:tbl>
              <a:tblPr>
                <a:tableStyleId>{5C22544A-7EE6-4342-B048-85BDC9FD1C3A}</a:tableStyleId>
              </a:tblPr>
              <a:tblGrid>
                <a:gridCol w="1073526"/>
                <a:gridCol w="3382412"/>
              </a:tblGrid>
              <a:tr h="216024">
                <a:tc gridSpan="2">
                  <a:txBody>
                    <a:bodyPr/>
                    <a:lstStyle/>
                    <a:p>
                      <a:pPr algn="l" fontAlgn="b"/>
                      <a:r>
                        <a:rPr lang="en-GB" sz="1000" b="1" u="none" strike="noStrike" dirty="0" smtClean="0">
                          <a:solidFill>
                            <a:schemeClr val="tx1"/>
                          </a:solidFill>
                          <a:effectLst/>
                          <a:latin typeface="+mj-lt"/>
                        </a:rPr>
                        <a:t>Project overview</a:t>
                      </a:r>
                      <a:endParaRPr lang="en-GB" sz="1000" b="1" i="0" u="none" strike="noStrike" dirty="0">
                        <a:solidFill>
                          <a:schemeClr val="tx1"/>
                        </a:solidFill>
                        <a:effectLst/>
                        <a:latin typeface="+mj-lt"/>
                      </a:endParaRPr>
                    </a:p>
                  </a:txBody>
                  <a:tcPr marL="5920" marR="5920" marT="5920" marB="0" anchor="b">
                    <a:solidFill>
                      <a:srgbClr val="FFD200"/>
                    </a:solidFill>
                  </a:tcPr>
                </a:tc>
                <a:tc hMerge="1">
                  <a:txBody>
                    <a:bodyPr/>
                    <a:lstStyle/>
                    <a:p>
                      <a:endParaRPr lang="en-GB"/>
                    </a:p>
                  </a:txBody>
                  <a:tcPr/>
                </a:tc>
              </a:tr>
              <a:tr h="100648">
                <a:tc>
                  <a:txBody>
                    <a:bodyPr/>
                    <a:lstStyle/>
                    <a:p>
                      <a:pPr algn="l" fontAlgn="ctr"/>
                      <a:r>
                        <a:rPr lang="en-GB" sz="1000" b="0" i="0" u="none" strike="noStrike" dirty="0" smtClean="0">
                          <a:effectLst/>
                          <a:latin typeface="+mj-lt"/>
                        </a:rPr>
                        <a:t>Project name</a:t>
                      </a:r>
                      <a:endParaRPr lang="en-GB" sz="1000" b="0" i="0" u="none" strike="noStrike" dirty="0">
                        <a:effectLst/>
                        <a:latin typeface="+mj-lt"/>
                      </a:endParaRPr>
                    </a:p>
                  </a:txBody>
                  <a:tcPr marL="5920" marR="5920" marT="5920" marB="0" anchor="ctr">
                    <a:solidFill>
                      <a:srgbClr val="FFD200"/>
                    </a:solidFill>
                  </a:tcPr>
                </a:tc>
                <a:tc>
                  <a:txBody>
                    <a:bodyPr/>
                    <a:lstStyle/>
                    <a:p>
                      <a:endParaRPr lang="en-GB" sz="1000" dirty="0">
                        <a:latin typeface="+mj-lt"/>
                      </a:endParaRPr>
                    </a:p>
                  </a:txBody>
                  <a:tcPr marL="5920" marR="5920" marT="5920" marB="0" anchor="b"/>
                </a:tc>
              </a:tr>
              <a:tr h="100648">
                <a:tc>
                  <a:txBody>
                    <a:bodyPr/>
                    <a:lstStyle/>
                    <a:p>
                      <a:pPr algn="l" fontAlgn="ctr"/>
                      <a:r>
                        <a:rPr lang="en-GB" sz="1000" b="0" i="0" u="none" strike="noStrike" dirty="0" smtClean="0">
                          <a:effectLst/>
                          <a:latin typeface="+mj-lt"/>
                        </a:rPr>
                        <a:t>Description</a:t>
                      </a:r>
                      <a:endParaRPr lang="en-GB" sz="1000" b="0" i="0" u="none" strike="noStrike" dirty="0">
                        <a:effectLst/>
                        <a:latin typeface="+mj-lt"/>
                      </a:endParaRPr>
                    </a:p>
                  </a:txBody>
                  <a:tcPr marL="5920" marR="5920" marT="5920" marB="0" anchor="ctr">
                    <a:solidFill>
                      <a:srgbClr val="FFD200"/>
                    </a:solidFill>
                  </a:tcPr>
                </a:tc>
                <a:tc>
                  <a:txBody>
                    <a:bodyPr/>
                    <a:lstStyle/>
                    <a:p>
                      <a:endParaRPr lang="en-GB" sz="1000" dirty="0">
                        <a:latin typeface="+mj-lt"/>
                      </a:endParaRPr>
                    </a:p>
                  </a:txBody>
                  <a:tcPr marL="5920" marR="5920" marT="5920" marB="0" anchor="b"/>
                </a:tc>
              </a:tr>
              <a:tr h="100648">
                <a:tc>
                  <a:txBody>
                    <a:bodyPr/>
                    <a:lstStyle/>
                    <a:p>
                      <a:pPr algn="l" fontAlgn="ctr"/>
                      <a:r>
                        <a:rPr lang="en-GB" sz="1000" b="0" i="0" u="none" strike="noStrike" dirty="0" smtClean="0">
                          <a:effectLst/>
                          <a:latin typeface="+mj-lt"/>
                        </a:rPr>
                        <a:t>Start date</a:t>
                      </a:r>
                      <a:endParaRPr lang="en-GB" sz="1000" b="0" i="0" u="none" strike="noStrike" dirty="0">
                        <a:effectLst/>
                        <a:latin typeface="+mj-lt"/>
                      </a:endParaRPr>
                    </a:p>
                  </a:txBody>
                  <a:tcPr marL="5920" marR="5920" marT="5920" marB="0" anchor="ctr">
                    <a:solidFill>
                      <a:srgbClr val="FFD200"/>
                    </a:solidFill>
                  </a:tcPr>
                </a:tc>
                <a:tc>
                  <a:txBody>
                    <a:bodyPr/>
                    <a:lstStyle/>
                    <a:p>
                      <a:endParaRPr lang="en-GB" sz="1000" dirty="0">
                        <a:latin typeface="+mj-lt"/>
                      </a:endParaRPr>
                    </a:p>
                  </a:txBody>
                  <a:tcPr marL="5920" marR="5920" marT="5920" marB="0" anchor="b"/>
                </a:tc>
              </a:tr>
              <a:tr h="100648">
                <a:tc>
                  <a:txBody>
                    <a:bodyPr/>
                    <a:lstStyle/>
                    <a:p>
                      <a:pPr algn="l" fontAlgn="ctr"/>
                      <a:r>
                        <a:rPr lang="en-GB" sz="1000" b="0" i="0" u="none" strike="noStrike" dirty="0" smtClean="0">
                          <a:effectLst/>
                          <a:latin typeface="+mj-lt"/>
                        </a:rPr>
                        <a:t>End Date</a:t>
                      </a:r>
                      <a:endParaRPr lang="en-GB" sz="1000" b="0" i="0" u="none" strike="noStrike" dirty="0">
                        <a:effectLst/>
                        <a:latin typeface="+mj-lt"/>
                      </a:endParaRPr>
                    </a:p>
                  </a:txBody>
                  <a:tcPr marL="5920" marR="5920" marT="5920" marB="0" anchor="ctr">
                    <a:solidFill>
                      <a:srgbClr val="FFD200"/>
                    </a:solidFill>
                  </a:tcPr>
                </a:tc>
                <a:tc>
                  <a:txBody>
                    <a:bodyPr/>
                    <a:lstStyle/>
                    <a:p>
                      <a:endParaRPr lang="en-GB" sz="1000" dirty="0">
                        <a:latin typeface="+mj-lt"/>
                      </a:endParaRPr>
                    </a:p>
                  </a:txBody>
                  <a:tcPr marL="5920" marR="5920" marT="5920" marB="0" anchor="b"/>
                </a:tc>
              </a:tr>
              <a:tr h="100648">
                <a:tc>
                  <a:txBody>
                    <a:bodyPr/>
                    <a:lstStyle/>
                    <a:p>
                      <a:pPr algn="l" fontAlgn="ctr"/>
                      <a:r>
                        <a:rPr lang="en-GB" sz="1000" b="0" i="0" u="none" strike="noStrike" dirty="0" smtClean="0">
                          <a:effectLst/>
                          <a:latin typeface="+mj-lt"/>
                        </a:rPr>
                        <a:t>Reporting period</a:t>
                      </a:r>
                      <a:endParaRPr lang="en-GB" sz="1000" b="0" i="0" u="none" strike="noStrike" dirty="0">
                        <a:effectLst/>
                        <a:latin typeface="+mj-lt"/>
                      </a:endParaRPr>
                    </a:p>
                  </a:txBody>
                  <a:tcPr marL="5920" marR="5920" marT="5920" marB="0" anchor="ctr">
                    <a:solidFill>
                      <a:srgbClr val="FFD200"/>
                    </a:solidFill>
                  </a:tcPr>
                </a:tc>
                <a:tc>
                  <a:txBody>
                    <a:bodyPr/>
                    <a:lstStyle/>
                    <a:p>
                      <a:endParaRPr lang="en-GB" sz="1000" dirty="0">
                        <a:latin typeface="+mj-lt"/>
                      </a:endParaRPr>
                    </a:p>
                  </a:txBody>
                  <a:tcPr marL="5920" marR="5920" marT="5920" marB="0" anchor="b"/>
                </a:tc>
              </a:tr>
              <a:tr h="100648">
                <a:tc>
                  <a:txBody>
                    <a:bodyPr/>
                    <a:lstStyle/>
                    <a:p>
                      <a:pPr algn="l" fontAlgn="ctr"/>
                      <a:r>
                        <a:rPr lang="en-GB" sz="1000" b="0" i="0" u="none" strike="noStrike" dirty="0" smtClean="0">
                          <a:effectLst/>
                          <a:latin typeface="+mj-lt"/>
                        </a:rPr>
                        <a:t>Owner</a:t>
                      </a:r>
                      <a:endParaRPr lang="en-GB" sz="1000" b="0" i="0" u="none" strike="noStrike" dirty="0">
                        <a:effectLst/>
                        <a:latin typeface="+mj-lt"/>
                      </a:endParaRPr>
                    </a:p>
                  </a:txBody>
                  <a:tcPr marL="5920" marR="5920" marT="5920" marB="0" anchor="ctr">
                    <a:solidFill>
                      <a:srgbClr val="FFD200"/>
                    </a:solidFill>
                  </a:tcPr>
                </a:tc>
                <a:tc>
                  <a:txBody>
                    <a:bodyPr/>
                    <a:lstStyle/>
                    <a:p>
                      <a:endParaRPr lang="en-GB" sz="1000" dirty="0">
                        <a:latin typeface="+mj-lt"/>
                      </a:endParaRPr>
                    </a:p>
                  </a:txBody>
                  <a:tcPr marL="5920" marR="5920" marT="5920" marB="0" anchor="b"/>
                </a:tc>
              </a:tr>
            </a:tbl>
          </a:graphicData>
        </a:graphic>
      </p:graphicFrame>
      <p:graphicFrame>
        <p:nvGraphicFramePr>
          <p:cNvPr id="37" name="Table 36"/>
          <p:cNvGraphicFramePr>
            <a:graphicFrameLocks noGrp="1"/>
          </p:cNvGraphicFramePr>
          <p:nvPr>
            <p:extLst>
              <p:ext uri="{D42A27DB-BD31-4B8C-83A1-F6EECF244321}">
                <p14:modId xmlns:p14="http://schemas.microsoft.com/office/powerpoint/2010/main" val="1430819405"/>
              </p:ext>
            </p:extLst>
          </p:nvPr>
        </p:nvGraphicFramePr>
        <p:xfrm>
          <a:off x="5519673" y="1188344"/>
          <a:ext cx="4455938" cy="1167546"/>
        </p:xfrm>
        <a:graphic>
          <a:graphicData uri="http://schemas.openxmlformats.org/drawingml/2006/table">
            <a:tbl>
              <a:tblPr>
                <a:tableStyleId>{5C22544A-7EE6-4342-B048-85BDC9FD1C3A}</a:tableStyleId>
              </a:tblPr>
              <a:tblGrid>
                <a:gridCol w="1367705"/>
                <a:gridCol w="3088233"/>
              </a:tblGrid>
              <a:tr h="183877">
                <a:tc gridSpan="2">
                  <a:txBody>
                    <a:bodyPr/>
                    <a:lstStyle/>
                    <a:p>
                      <a:pPr algn="l" fontAlgn="b"/>
                      <a:r>
                        <a:rPr lang="en-GB" sz="1000" b="1" i="0" u="none" strike="noStrike" dirty="0" smtClean="0">
                          <a:solidFill>
                            <a:schemeClr val="tx1"/>
                          </a:solidFill>
                          <a:effectLst/>
                          <a:latin typeface="+mj-lt"/>
                        </a:rPr>
                        <a:t>Summary</a:t>
                      </a:r>
                      <a:r>
                        <a:rPr lang="en-GB" sz="1000" b="1" i="0" u="none" strike="noStrike" baseline="0" dirty="0" smtClean="0">
                          <a:solidFill>
                            <a:schemeClr val="tx1"/>
                          </a:solidFill>
                          <a:effectLst/>
                          <a:latin typeface="+mj-lt"/>
                        </a:rPr>
                        <a:t> of project status/Headline progress</a:t>
                      </a:r>
                      <a:endParaRPr lang="en-GB" sz="1000" b="1" i="0" u="none" strike="noStrike" dirty="0">
                        <a:solidFill>
                          <a:schemeClr val="tx1"/>
                        </a:solidFill>
                        <a:effectLst/>
                        <a:latin typeface="+mj-lt"/>
                      </a:endParaRPr>
                    </a:p>
                  </a:txBody>
                  <a:tcPr marL="5920" marR="5920" marT="5920" marB="0" anchor="b">
                    <a:solidFill>
                      <a:srgbClr val="FFD200"/>
                    </a:solidFill>
                  </a:tcPr>
                </a:tc>
                <a:tc hMerge="1">
                  <a:txBody>
                    <a:bodyPr/>
                    <a:lstStyle/>
                    <a:p>
                      <a:endParaRPr lang="en-GB"/>
                    </a:p>
                  </a:txBody>
                  <a:tcPr/>
                </a:tc>
              </a:tr>
              <a:tr h="142902">
                <a:tc>
                  <a:txBody>
                    <a:bodyPr/>
                    <a:lstStyle/>
                    <a:p>
                      <a:pPr algn="l" fontAlgn="ctr"/>
                      <a:r>
                        <a:rPr lang="en-GB" sz="1000" b="1" i="0" u="none" strike="noStrike" dirty="0" smtClean="0">
                          <a:effectLst/>
                          <a:latin typeface="+mj-lt"/>
                        </a:rPr>
                        <a:t>RAG Status</a:t>
                      </a:r>
                      <a:endParaRPr lang="en-GB" sz="1000" b="1" i="0" u="none" strike="noStrike" dirty="0">
                        <a:effectLst/>
                        <a:latin typeface="+mj-lt"/>
                      </a:endParaRPr>
                    </a:p>
                  </a:txBody>
                  <a:tcPr marL="5920" marR="5920" marT="5920" marB="0" anchor="ctr">
                    <a:solidFill>
                      <a:srgbClr val="FFD200"/>
                    </a:solidFill>
                  </a:tcPr>
                </a:tc>
                <a:tc rowSpan="2">
                  <a:txBody>
                    <a:bodyPr/>
                    <a:lstStyle/>
                    <a:p>
                      <a:r>
                        <a:rPr lang="en-GB" sz="1000" dirty="0" smtClean="0">
                          <a:latin typeface="+mj-lt"/>
                        </a:rPr>
                        <a:t>Description</a:t>
                      </a:r>
                      <a:r>
                        <a:rPr lang="en-GB" sz="1000" baseline="0" dirty="0" smtClean="0">
                          <a:latin typeface="+mj-lt"/>
                        </a:rPr>
                        <a:t> of the project status and commentary on the RAG status</a:t>
                      </a:r>
                    </a:p>
                    <a:p>
                      <a:endParaRPr lang="en-GB" sz="1000" baseline="0" dirty="0" smtClean="0">
                        <a:latin typeface="+mj-lt"/>
                      </a:endParaRPr>
                    </a:p>
                    <a:p>
                      <a:r>
                        <a:rPr lang="en-GB" sz="1000" baseline="0" dirty="0" smtClean="0">
                          <a:latin typeface="+mj-lt"/>
                        </a:rPr>
                        <a:t>Green: On track </a:t>
                      </a:r>
                    </a:p>
                    <a:p>
                      <a:r>
                        <a:rPr lang="en-GB" sz="1000" baseline="0" dirty="0" smtClean="0">
                          <a:latin typeface="+mj-lt"/>
                        </a:rPr>
                        <a:t>Amber: In progress but with some delays</a:t>
                      </a:r>
                    </a:p>
                    <a:p>
                      <a:r>
                        <a:rPr lang="en-GB" sz="1000" baseline="0" dirty="0" smtClean="0">
                          <a:latin typeface="+mj-lt"/>
                        </a:rPr>
                        <a:t>Red: Significant delays, accomplishment in doubt</a:t>
                      </a:r>
                    </a:p>
                  </a:txBody>
                  <a:tcPr marL="5920" marR="5920" marT="5920" marB="0" anchor="b"/>
                </a:tc>
              </a:tr>
              <a:tr h="825349">
                <a:tc>
                  <a:txBody>
                    <a:bodyPr/>
                    <a:lstStyle/>
                    <a:p>
                      <a:pPr algn="l" fontAlgn="ctr"/>
                      <a:r>
                        <a:rPr lang="en-GB" sz="1000" b="0" i="0" u="none" strike="noStrike" dirty="0" smtClean="0">
                          <a:effectLst/>
                          <a:latin typeface="+mj-lt"/>
                        </a:rPr>
                        <a:t>RED/AMBER/GREEN</a:t>
                      </a:r>
                      <a:endParaRPr lang="en-GB" sz="1000" b="0" i="0" u="none" strike="noStrike" dirty="0">
                        <a:effectLst/>
                        <a:latin typeface="+mj-lt"/>
                      </a:endParaRPr>
                    </a:p>
                  </a:txBody>
                  <a:tcPr marL="5920" marR="5920" marT="5920" marB="0" anchor="ctr">
                    <a:solidFill>
                      <a:srgbClr val="95CB89"/>
                    </a:solidFill>
                  </a:tcPr>
                </a:tc>
                <a:tc vMerge="1">
                  <a:txBody>
                    <a:bodyPr/>
                    <a:lstStyle/>
                    <a:p>
                      <a:endParaRPr lang="en-GB" sz="1000" dirty="0">
                        <a:latin typeface="+mj-lt"/>
                      </a:endParaRPr>
                    </a:p>
                  </a:txBody>
                  <a:tcPr marL="5920" marR="5920" marT="5920" marB="0" anchor="b"/>
                </a:tc>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1619952186"/>
              </p:ext>
            </p:extLst>
          </p:nvPr>
        </p:nvGraphicFramePr>
        <p:xfrm>
          <a:off x="819325" y="2484487"/>
          <a:ext cx="4455938" cy="1152127"/>
        </p:xfrm>
        <a:graphic>
          <a:graphicData uri="http://schemas.openxmlformats.org/drawingml/2006/table">
            <a:tbl>
              <a:tblPr>
                <a:tableStyleId>{5C22544A-7EE6-4342-B048-85BDC9FD1C3A}</a:tableStyleId>
              </a:tblPr>
              <a:tblGrid>
                <a:gridCol w="4455938"/>
              </a:tblGrid>
              <a:tr h="230417">
                <a:tc>
                  <a:txBody>
                    <a:bodyPr/>
                    <a:lstStyle/>
                    <a:p>
                      <a:pPr algn="l" fontAlgn="b"/>
                      <a:r>
                        <a:rPr lang="en-GB" sz="1000" b="1" i="0" u="none" strike="noStrike" dirty="0" smtClean="0">
                          <a:solidFill>
                            <a:schemeClr val="tx1"/>
                          </a:solidFill>
                          <a:effectLst/>
                          <a:latin typeface="+mj-lt"/>
                        </a:rPr>
                        <a:t>Progress </a:t>
                      </a:r>
                      <a:r>
                        <a:rPr lang="en-GB" sz="1000" b="1" i="0" u="none" strike="noStrike" baseline="0" dirty="0" smtClean="0">
                          <a:solidFill>
                            <a:schemeClr val="tx1"/>
                          </a:solidFill>
                          <a:effectLst/>
                          <a:latin typeface="+mj-lt"/>
                        </a:rPr>
                        <a:t> on deliverables and milestones since last reporting period</a:t>
                      </a:r>
                      <a:endParaRPr lang="en-GB" sz="1000" b="1" i="0" u="none" strike="noStrike" dirty="0">
                        <a:solidFill>
                          <a:schemeClr val="tx1"/>
                        </a:solidFill>
                        <a:effectLst/>
                        <a:latin typeface="+mj-lt"/>
                      </a:endParaRPr>
                    </a:p>
                  </a:txBody>
                  <a:tcPr marL="5920" marR="5920" marT="5920" marB="0" anchor="b">
                    <a:solidFill>
                      <a:srgbClr val="FFD200"/>
                    </a:solidFill>
                  </a:tcPr>
                </a:tc>
              </a:tr>
              <a:tr h="921710">
                <a:tc>
                  <a:txBody>
                    <a:bodyPr/>
                    <a:lstStyle/>
                    <a:p>
                      <a:pPr marL="171450" indent="-171450">
                        <a:buFont typeface="Wingdings" panose="05000000000000000000" pitchFamily="2" charset="2"/>
                        <a:buChar char="§"/>
                      </a:pPr>
                      <a:r>
                        <a:rPr lang="en-GB" sz="1000" baseline="0" dirty="0" smtClean="0">
                          <a:latin typeface="+mj-lt"/>
                        </a:rPr>
                        <a:t>X</a:t>
                      </a:r>
                    </a:p>
                    <a:p>
                      <a:pPr marL="171450" indent="-171450">
                        <a:buFont typeface="Wingdings" panose="05000000000000000000" pitchFamily="2" charset="2"/>
                        <a:buChar char="§"/>
                      </a:pPr>
                      <a:r>
                        <a:rPr lang="en-GB" sz="1000" baseline="0" dirty="0" smtClean="0">
                          <a:latin typeface="+mj-lt"/>
                        </a:rPr>
                        <a:t>X</a:t>
                      </a:r>
                    </a:p>
                    <a:p>
                      <a:pPr marL="171450" indent="-171450">
                        <a:buFont typeface="Wingdings" panose="05000000000000000000" pitchFamily="2" charset="2"/>
                        <a:buChar char="§"/>
                      </a:pPr>
                      <a:r>
                        <a:rPr lang="en-GB" sz="1000" baseline="0" dirty="0" smtClean="0">
                          <a:latin typeface="+mj-lt"/>
                        </a:rPr>
                        <a:t>X</a:t>
                      </a:r>
                    </a:p>
                    <a:p>
                      <a:pPr marL="171450" indent="-171450">
                        <a:buFont typeface="Wingdings" panose="05000000000000000000" pitchFamily="2" charset="2"/>
                        <a:buChar char="§"/>
                      </a:pPr>
                      <a:r>
                        <a:rPr lang="en-GB" sz="1000" baseline="0" dirty="0" smtClean="0">
                          <a:latin typeface="+mj-lt"/>
                        </a:rPr>
                        <a:t>X</a:t>
                      </a:r>
                    </a:p>
                    <a:p>
                      <a:endParaRPr lang="en-GB" sz="1000" baseline="0" dirty="0" smtClean="0">
                        <a:latin typeface="+mj-lt"/>
                      </a:endParaRPr>
                    </a:p>
                  </a:txBody>
                  <a:tcPr marL="5920" marR="5920" marT="5920" marB="0" anchor="b"/>
                </a:tc>
              </a:tr>
            </a:tbl>
          </a:graphicData>
        </a:graphic>
      </p:graphicFrame>
      <p:graphicFrame>
        <p:nvGraphicFramePr>
          <p:cNvPr id="41" name="Table 40"/>
          <p:cNvGraphicFramePr>
            <a:graphicFrameLocks noGrp="1"/>
          </p:cNvGraphicFramePr>
          <p:nvPr>
            <p:extLst>
              <p:ext uri="{D42A27DB-BD31-4B8C-83A1-F6EECF244321}">
                <p14:modId xmlns:p14="http://schemas.microsoft.com/office/powerpoint/2010/main" val="3434359416"/>
              </p:ext>
            </p:extLst>
          </p:nvPr>
        </p:nvGraphicFramePr>
        <p:xfrm>
          <a:off x="5490716" y="2484487"/>
          <a:ext cx="4455938" cy="1152127"/>
        </p:xfrm>
        <a:graphic>
          <a:graphicData uri="http://schemas.openxmlformats.org/drawingml/2006/table">
            <a:tbl>
              <a:tblPr>
                <a:tableStyleId>{5C22544A-7EE6-4342-B048-85BDC9FD1C3A}</a:tableStyleId>
              </a:tblPr>
              <a:tblGrid>
                <a:gridCol w="4455938"/>
              </a:tblGrid>
              <a:tr h="230417">
                <a:tc>
                  <a:txBody>
                    <a:bodyPr/>
                    <a:lstStyle/>
                    <a:p>
                      <a:pPr algn="l" fontAlgn="b"/>
                      <a:r>
                        <a:rPr lang="en-GB" sz="1000" b="1" i="0" u="none" strike="noStrike" dirty="0" smtClean="0">
                          <a:solidFill>
                            <a:schemeClr val="tx1"/>
                          </a:solidFill>
                          <a:effectLst/>
                          <a:latin typeface="+mj-lt"/>
                        </a:rPr>
                        <a:t>Next</a:t>
                      </a:r>
                      <a:r>
                        <a:rPr lang="en-GB" sz="1000" b="1" i="0" u="none" strike="noStrike" baseline="0" dirty="0" smtClean="0">
                          <a:solidFill>
                            <a:schemeClr val="tx1"/>
                          </a:solidFill>
                          <a:effectLst/>
                          <a:latin typeface="+mj-lt"/>
                        </a:rPr>
                        <a:t> key activities</a:t>
                      </a:r>
                      <a:endParaRPr lang="en-GB" sz="1000" b="1" i="0" u="none" strike="noStrike" dirty="0">
                        <a:solidFill>
                          <a:schemeClr val="tx1"/>
                        </a:solidFill>
                        <a:effectLst/>
                        <a:latin typeface="+mj-lt"/>
                      </a:endParaRPr>
                    </a:p>
                  </a:txBody>
                  <a:tcPr marL="5920" marR="5920" marT="5920" marB="0" anchor="b">
                    <a:solidFill>
                      <a:srgbClr val="FFD200"/>
                    </a:solidFill>
                  </a:tcPr>
                </a:tc>
              </a:tr>
              <a:tr h="921710">
                <a:tc>
                  <a:txBody>
                    <a:bodyPr/>
                    <a:lstStyle/>
                    <a:p>
                      <a:pPr marL="171450" indent="-171450">
                        <a:buFont typeface="Wingdings" panose="05000000000000000000" pitchFamily="2" charset="2"/>
                        <a:buChar char="§"/>
                      </a:pPr>
                      <a:r>
                        <a:rPr lang="en-GB" sz="1000" baseline="0" dirty="0" smtClean="0">
                          <a:latin typeface="+mj-lt"/>
                        </a:rPr>
                        <a:t>X</a:t>
                      </a:r>
                    </a:p>
                    <a:p>
                      <a:pPr marL="171450" indent="-171450">
                        <a:buFont typeface="Wingdings" panose="05000000000000000000" pitchFamily="2" charset="2"/>
                        <a:buChar char="§"/>
                      </a:pPr>
                      <a:r>
                        <a:rPr lang="en-GB" sz="1000" baseline="0" dirty="0" smtClean="0">
                          <a:latin typeface="+mj-lt"/>
                        </a:rPr>
                        <a:t>X</a:t>
                      </a:r>
                    </a:p>
                    <a:p>
                      <a:pPr marL="171450" indent="-171450">
                        <a:buFont typeface="Wingdings" panose="05000000000000000000" pitchFamily="2" charset="2"/>
                        <a:buChar char="§"/>
                      </a:pPr>
                      <a:r>
                        <a:rPr lang="en-GB" sz="1000" baseline="0" dirty="0" smtClean="0">
                          <a:latin typeface="+mj-lt"/>
                        </a:rPr>
                        <a:t>X</a:t>
                      </a:r>
                    </a:p>
                    <a:p>
                      <a:pPr marL="171450" indent="-171450">
                        <a:buFont typeface="Wingdings" panose="05000000000000000000" pitchFamily="2" charset="2"/>
                        <a:buChar char="§"/>
                      </a:pPr>
                      <a:r>
                        <a:rPr lang="en-GB" sz="1000" baseline="0" dirty="0" smtClean="0">
                          <a:latin typeface="+mj-lt"/>
                        </a:rPr>
                        <a:t>X</a:t>
                      </a:r>
                    </a:p>
                    <a:p>
                      <a:endParaRPr lang="en-GB" sz="1000" baseline="0" dirty="0" smtClean="0">
                        <a:latin typeface="+mj-lt"/>
                      </a:endParaRPr>
                    </a:p>
                  </a:txBody>
                  <a:tcPr marL="5920" marR="5920" marT="5920" marB="0" anchor="b"/>
                </a:tc>
              </a:tr>
            </a:tbl>
          </a:graphicData>
        </a:graphic>
      </p:graphicFrame>
      <p:graphicFrame>
        <p:nvGraphicFramePr>
          <p:cNvPr id="42" name="Table 41"/>
          <p:cNvGraphicFramePr>
            <a:graphicFrameLocks noGrp="1"/>
          </p:cNvGraphicFramePr>
          <p:nvPr>
            <p:extLst>
              <p:ext uri="{D42A27DB-BD31-4B8C-83A1-F6EECF244321}">
                <p14:modId xmlns:p14="http://schemas.microsoft.com/office/powerpoint/2010/main" val="2118075652"/>
              </p:ext>
            </p:extLst>
          </p:nvPr>
        </p:nvGraphicFramePr>
        <p:xfrm>
          <a:off x="811324" y="4860751"/>
          <a:ext cx="9135888" cy="1631572"/>
        </p:xfrm>
        <a:graphic>
          <a:graphicData uri="http://schemas.openxmlformats.org/drawingml/2006/table">
            <a:tbl>
              <a:tblPr>
                <a:tableStyleId>{5C22544A-7EE6-4342-B048-85BDC9FD1C3A}</a:tableStyleId>
              </a:tblPr>
              <a:tblGrid>
                <a:gridCol w="1279732"/>
                <a:gridCol w="1663468"/>
                <a:gridCol w="902934"/>
                <a:gridCol w="610952"/>
                <a:gridCol w="1197941"/>
                <a:gridCol w="1549019"/>
                <a:gridCol w="965921"/>
                <a:gridCol w="965921"/>
              </a:tblGrid>
              <a:tr h="169412">
                <a:tc gridSpan="8">
                  <a:txBody>
                    <a:bodyPr/>
                    <a:lstStyle/>
                    <a:p>
                      <a:pPr algn="l" fontAlgn="b"/>
                      <a:r>
                        <a:rPr lang="en-GB" sz="1000" b="1" u="none" strike="noStrike" dirty="0" smtClean="0">
                          <a:solidFill>
                            <a:schemeClr val="tx1"/>
                          </a:solidFill>
                          <a:effectLst/>
                          <a:latin typeface="+mj-lt"/>
                        </a:rPr>
                        <a:t>Deliverables/Milestones</a:t>
                      </a:r>
                      <a:endParaRPr lang="en-GB" sz="1000" b="1" i="0" u="none" strike="noStrike" dirty="0">
                        <a:solidFill>
                          <a:schemeClr val="tx1"/>
                        </a:solidFill>
                        <a:effectLst/>
                        <a:latin typeface="+mj-lt"/>
                      </a:endParaRPr>
                    </a:p>
                  </a:txBody>
                  <a:tcPr marL="5920" marR="5920" marT="5920" marB="0" anchor="b">
                    <a:solidFill>
                      <a:srgbClr val="FFD200"/>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l" fontAlgn="b"/>
                      <a:endParaRPr lang="en-GB" sz="1000" b="1" i="0" u="none" strike="noStrike" dirty="0">
                        <a:solidFill>
                          <a:schemeClr val="tx1"/>
                        </a:solidFill>
                        <a:effectLst/>
                        <a:latin typeface="+mj-lt"/>
                      </a:endParaRPr>
                    </a:p>
                  </a:txBody>
                  <a:tcPr marL="5920" marR="5920" marT="5920" marB="0" anchor="b">
                    <a:solidFill>
                      <a:srgbClr val="FFD200"/>
                    </a:solidFill>
                  </a:tcPr>
                </a:tc>
              </a:tr>
              <a:tr h="46612">
                <a:tc>
                  <a:txBody>
                    <a:bodyPr/>
                    <a:lstStyle/>
                    <a:p>
                      <a:pPr algn="l" fontAlgn="ctr"/>
                      <a:r>
                        <a:rPr lang="en-GB" sz="1000" b="0" i="0" u="none" strike="noStrike" dirty="0" smtClean="0">
                          <a:effectLst/>
                          <a:latin typeface="+mj-lt"/>
                        </a:rPr>
                        <a:t>Deliverable/Milestone</a:t>
                      </a:r>
                      <a:endParaRPr lang="en-GB" sz="1000" b="0" i="0" u="none" strike="noStrike" dirty="0">
                        <a:effectLst/>
                        <a:latin typeface="+mj-lt"/>
                      </a:endParaRPr>
                    </a:p>
                  </a:txBody>
                  <a:tcPr marL="5920" marR="5920" marT="5920" marB="0" anchor="ctr">
                    <a:solidFill>
                      <a:srgbClr val="FFD200"/>
                    </a:solidFill>
                  </a:tcPr>
                </a:tc>
                <a:tc>
                  <a:txBody>
                    <a:bodyPr/>
                    <a:lstStyle/>
                    <a:p>
                      <a:pPr algn="l" fontAlgn="ctr"/>
                      <a:r>
                        <a:rPr lang="en-GB" sz="1000" b="0" i="0" u="none" strike="noStrike" dirty="0" smtClean="0">
                          <a:effectLst/>
                          <a:latin typeface="+mj-lt"/>
                        </a:rPr>
                        <a:t>Description</a:t>
                      </a:r>
                      <a:endParaRPr lang="en-GB" sz="1000" b="0" i="0" u="none" strike="noStrike" dirty="0">
                        <a:effectLst/>
                        <a:latin typeface="+mj-lt"/>
                      </a:endParaRPr>
                    </a:p>
                  </a:txBody>
                  <a:tcPr marL="5920" marR="5920" marT="5920" marB="0" anchor="ctr">
                    <a:solidFill>
                      <a:srgbClr val="FFD200"/>
                    </a:solidFill>
                  </a:tcPr>
                </a:tc>
                <a:tc>
                  <a:txBody>
                    <a:bodyPr/>
                    <a:lstStyle/>
                    <a:p>
                      <a:pPr algn="l" fontAlgn="ctr"/>
                      <a:r>
                        <a:rPr lang="en-GB" sz="1000" b="0" i="0" u="none" strike="noStrike" dirty="0" smtClean="0">
                          <a:effectLst/>
                          <a:latin typeface="+mj-lt"/>
                        </a:rPr>
                        <a:t>Dependency</a:t>
                      </a:r>
                      <a:endParaRPr lang="en-GB" sz="1000" b="0" i="0" u="none" strike="noStrike" dirty="0">
                        <a:effectLst/>
                        <a:latin typeface="+mj-lt"/>
                      </a:endParaRPr>
                    </a:p>
                  </a:txBody>
                  <a:tcPr marL="5920" marR="5920" marT="5920" marB="0" anchor="ctr">
                    <a:solidFill>
                      <a:srgbClr val="FFD200"/>
                    </a:solidFill>
                  </a:tcPr>
                </a:tc>
                <a:tc>
                  <a:txBody>
                    <a:bodyPr/>
                    <a:lstStyle/>
                    <a:p>
                      <a:pPr algn="l" fontAlgn="ctr"/>
                      <a:r>
                        <a:rPr lang="en-GB" sz="1000" b="0" i="0" u="none" strike="noStrike" dirty="0" smtClean="0">
                          <a:effectLst/>
                          <a:latin typeface="+mj-lt"/>
                        </a:rPr>
                        <a:t>Owner</a:t>
                      </a:r>
                      <a:endParaRPr lang="en-GB" sz="1000" b="0" i="0" u="none" strike="noStrike" dirty="0">
                        <a:effectLst/>
                        <a:latin typeface="+mj-lt"/>
                      </a:endParaRPr>
                    </a:p>
                  </a:txBody>
                  <a:tcPr marL="5920" marR="5920" marT="5920" marB="0" anchor="ctr">
                    <a:solidFill>
                      <a:srgbClr val="FFD200"/>
                    </a:solidFill>
                  </a:tcPr>
                </a:tc>
                <a:tc>
                  <a:txBody>
                    <a:bodyPr/>
                    <a:lstStyle/>
                    <a:p>
                      <a:pPr algn="l" fontAlgn="ctr"/>
                      <a:r>
                        <a:rPr lang="en-GB" sz="1000" b="0" i="0" u="none" strike="noStrike" dirty="0" smtClean="0">
                          <a:effectLst/>
                          <a:latin typeface="+mj-lt"/>
                        </a:rPr>
                        <a:t>Target</a:t>
                      </a:r>
                      <a:r>
                        <a:rPr lang="en-GB" sz="1000" b="0" i="0" u="none" strike="noStrike" baseline="0" dirty="0" smtClean="0">
                          <a:effectLst/>
                          <a:latin typeface="+mj-lt"/>
                        </a:rPr>
                        <a:t> date</a:t>
                      </a:r>
                      <a:endParaRPr lang="en-GB" sz="1000" b="0" i="0" u="none" strike="noStrike" dirty="0">
                        <a:effectLst/>
                        <a:latin typeface="+mj-lt"/>
                      </a:endParaRPr>
                    </a:p>
                  </a:txBody>
                  <a:tcPr marL="5920" marR="5920" marT="5920" marB="0" anchor="ctr">
                    <a:solidFill>
                      <a:srgbClr val="FFD200"/>
                    </a:solidFill>
                  </a:tcPr>
                </a:tc>
                <a:tc>
                  <a:txBody>
                    <a:bodyPr/>
                    <a:lstStyle/>
                    <a:p>
                      <a:pPr algn="l" fontAlgn="ctr"/>
                      <a:r>
                        <a:rPr lang="en-GB" sz="1000" b="0" i="0" u="none" strike="noStrike" dirty="0" smtClean="0">
                          <a:effectLst/>
                          <a:latin typeface="+mj-lt"/>
                        </a:rPr>
                        <a:t>Revised date</a:t>
                      </a:r>
                      <a:endParaRPr lang="en-GB" sz="1000" b="0" i="0" u="none" strike="noStrike" dirty="0">
                        <a:effectLst/>
                        <a:latin typeface="+mj-lt"/>
                      </a:endParaRPr>
                    </a:p>
                  </a:txBody>
                  <a:tcPr marL="5920" marR="5920" marT="5920" marB="0" anchor="ctr">
                    <a:solidFill>
                      <a:srgbClr val="FFD200"/>
                    </a:solidFill>
                  </a:tcPr>
                </a:tc>
                <a:tc>
                  <a:txBody>
                    <a:bodyPr/>
                    <a:lstStyle/>
                    <a:p>
                      <a:pPr algn="l" fontAlgn="ctr"/>
                      <a:r>
                        <a:rPr lang="en-GB" sz="1000" b="0" i="0" u="none" strike="noStrike" dirty="0" smtClean="0">
                          <a:effectLst/>
                          <a:latin typeface="+mj-lt"/>
                        </a:rPr>
                        <a:t>Actual date</a:t>
                      </a:r>
                      <a:endParaRPr lang="en-GB" sz="1000" b="0" i="0" u="none" strike="noStrike" dirty="0">
                        <a:effectLst/>
                        <a:latin typeface="+mj-lt"/>
                      </a:endParaRPr>
                    </a:p>
                  </a:txBody>
                  <a:tcPr marL="5920" marR="5920" marT="5920" marB="0" anchor="ctr">
                    <a:solidFill>
                      <a:srgbClr val="FFD200"/>
                    </a:solidFill>
                  </a:tcPr>
                </a:tc>
                <a:tc>
                  <a:txBody>
                    <a:bodyPr/>
                    <a:lstStyle/>
                    <a:p>
                      <a:pPr algn="l" fontAlgn="ctr"/>
                      <a:r>
                        <a:rPr lang="en-GB" sz="1000" b="0" i="0" u="none" strike="noStrike" dirty="0" smtClean="0">
                          <a:effectLst/>
                          <a:latin typeface="+mj-lt"/>
                        </a:rPr>
                        <a:t>RAG Status</a:t>
                      </a:r>
                      <a:endParaRPr lang="en-GB" sz="1000" b="0" i="0" u="none" strike="noStrike" dirty="0">
                        <a:effectLst/>
                        <a:latin typeface="+mj-lt"/>
                      </a:endParaRPr>
                    </a:p>
                  </a:txBody>
                  <a:tcPr marL="5920" marR="5920" marT="5920" marB="0" anchor="ctr">
                    <a:solidFill>
                      <a:srgbClr val="FFD200"/>
                    </a:solidFill>
                  </a:tcPr>
                </a:tc>
              </a:tr>
              <a:tr h="306226">
                <a:tc>
                  <a:txBody>
                    <a:bodyPr/>
                    <a:lstStyle/>
                    <a:p>
                      <a:endParaRPr lang="en-GB" dirty="0"/>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endParaRPr lang="en-GB" dirty="0"/>
                    </a:p>
                  </a:txBody>
                  <a:tcPr marL="5920" marR="5920" marT="5920" marB="0" anchor="ctr">
                    <a:solidFill>
                      <a:schemeClr val="bg1">
                        <a:lumMod val="95000"/>
                      </a:schemeClr>
                    </a:solidFill>
                  </a:tcPr>
                </a:tc>
                <a:tc>
                  <a:txBody>
                    <a:bodyPr/>
                    <a:lstStyle/>
                    <a:p>
                      <a:endParaRPr lang="en-GB" dirty="0"/>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r>
              <a:tr h="306226">
                <a:tc>
                  <a:txBody>
                    <a:bodyPr/>
                    <a:lstStyle/>
                    <a:p>
                      <a:endParaRPr lang="en-GB"/>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endParaRPr lang="en-GB" dirty="0"/>
                    </a:p>
                  </a:txBody>
                  <a:tcPr marL="5920" marR="5920" marT="5920" marB="0" anchor="ctr">
                    <a:solidFill>
                      <a:schemeClr val="bg1">
                        <a:lumMod val="95000"/>
                      </a:schemeClr>
                    </a:solidFill>
                  </a:tcPr>
                </a:tc>
                <a:tc>
                  <a:txBody>
                    <a:bodyPr/>
                    <a:lstStyle/>
                    <a:p>
                      <a:endParaRPr lang="en-GB" dirty="0"/>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r>
              <a:tr h="306226">
                <a:tc>
                  <a:txBody>
                    <a:bodyPr/>
                    <a:lstStyle/>
                    <a:p>
                      <a:endParaRPr lang="en-GB"/>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endParaRPr lang="en-GB" dirty="0"/>
                    </a:p>
                  </a:txBody>
                  <a:tcPr marL="5920" marR="5920" marT="5920" marB="0" anchor="ctr">
                    <a:solidFill>
                      <a:schemeClr val="bg1">
                        <a:lumMod val="95000"/>
                      </a:schemeClr>
                    </a:solidFill>
                  </a:tcPr>
                </a:tc>
                <a:tc>
                  <a:txBody>
                    <a:bodyPr/>
                    <a:lstStyle/>
                    <a:p>
                      <a:endParaRPr lang="en-GB" dirty="0"/>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r>
              <a:tr h="306226">
                <a:tc>
                  <a:txBody>
                    <a:bodyPr/>
                    <a:lstStyle/>
                    <a:p>
                      <a:endParaRPr lang="en-GB"/>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endParaRPr lang="en-GB" dirty="0"/>
                    </a:p>
                  </a:txBody>
                  <a:tcPr marL="5920" marR="5920" marT="5920" marB="0" anchor="ctr">
                    <a:solidFill>
                      <a:schemeClr val="bg1">
                        <a:lumMod val="95000"/>
                      </a:schemeClr>
                    </a:solidFill>
                  </a:tcPr>
                </a:tc>
                <a:tc>
                  <a:txBody>
                    <a:bodyPr/>
                    <a:lstStyle/>
                    <a:p>
                      <a:endParaRPr lang="en-GB" dirty="0"/>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r>
            </a:tbl>
          </a:graphicData>
        </a:graphic>
      </p:graphicFrame>
      <p:graphicFrame>
        <p:nvGraphicFramePr>
          <p:cNvPr id="43" name="Table 42"/>
          <p:cNvGraphicFramePr>
            <a:graphicFrameLocks noGrp="1"/>
          </p:cNvGraphicFramePr>
          <p:nvPr>
            <p:extLst>
              <p:ext uri="{D42A27DB-BD31-4B8C-83A1-F6EECF244321}">
                <p14:modId xmlns:p14="http://schemas.microsoft.com/office/powerpoint/2010/main" val="902035959"/>
              </p:ext>
            </p:extLst>
          </p:nvPr>
        </p:nvGraphicFramePr>
        <p:xfrm>
          <a:off x="828584" y="3723737"/>
          <a:ext cx="9126628" cy="1065006"/>
        </p:xfrm>
        <a:graphic>
          <a:graphicData uri="http://schemas.openxmlformats.org/drawingml/2006/table">
            <a:tbl>
              <a:tblPr>
                <a:tableStyleId>{5C22544A-7EE6-4342-B048-85BDC9FD1C3A}</a:tableStyleId>
              </a:tblPr>
              <a:tblGrid>
                <a:gridCol w="4590124"/>
                <a:gridCol w="4536504"/>
              </a:tblGrid>
              <a:tr h="169412">
                <a:tc gridSpan="2">
                  <a:txBody>
                    <a:bodyPr/>
                    <a:lstStyle/>
                    <a:p>
                      <a:pPr algn="l" fontAlgn="b"/>
                      <a:r>
                        <a:rPr lang="en-GB" sz="1000" b="1" u="none" strike="noStrike" dirty="0" smtClean="0">
                          <a:solidFill>
                            <a:schemeClr val="tx1"/>
                          </a:solidFill>
                          <a:effectLst/>
                          <a:latin typeface="+mj-lt"/>
                        </a:rPr>
                        <a:t>Risks</a:t>
                      </a:r>
                      <a:r>
                        <a:rPr lang="en-GB" sz="1000" b="1" u="none" strike="noStrike" baseline="0" dirty="0" smtClean="0">
                          <a:solidFill>
                            <a:schemeClr val="tx1"/>
                          </a:solidFill>
                          <a:effectLst/>
                          <a:latin typeface="+mj-lt"/>
                        </a:rPr>
                        <a:t> and mitigating actions</a:t>
                      </a:r>
                      <a:endParaRPr lang="en-GB" sz="1000" b="1" i="0" u="none" strike="noStrike" dirty="0">
                        <a:solidFill>
                          <a:schemeClr val="tx1"/>
                        </a:solidFill>
                        <a:effectLst/>
                        <a:latin typeface="+mj-lt"/>
                      </a:endParaRPr>
                    </a:p>
                  </a:txBody>
                  <a:tcPr marL="5920" marR="5920" marT="5920" marB="0" anchor="b">
                    <a:solidFill>
                      <a:srgbClr val="FFD200"/>
                    </a:solidFill>
                  </a:tcPr>
                </a:tc>
                <a:tc hMerge="1">
                  <a:txBody>
                    <a:bodyPr/>
                    <a:lstStyle/>
                    <a:p>
                      <a:endParaRPr lang="en-GB"/>
                    </a:p>
                  </a:txBody>
                  <a:tcPr/>
                </a:tc>
              </a:tr>
              <a:tr h="243674">
                <a:tc>
                  <a:txBody>
                    <a:bodyPr/>
                    <a:lstStyle/>
                    <a:p>
                      <a:pPr algn="l" fontAlgn="ctr"/>
                      <a:r>
                        <a:rPr lang="en-GB" sz="1000" b="1" i="0" u="none" strike="noStrike" dirty="0" smtClean="0">
                          <a:effectLst/>
                          <a:latin typeface="+mj-lt"/>
                        </a:rPr>
                        <a:t>Risk</a:t>
                      </a:r>
                      <a:endParaRPr lang="en-GB" sz="1000" b="1" i="0" u="none" strike="noStrike" dirty="0">
                        <a:effectLst/>
                        <a:latin typeface="+mj-lt"/>
                      </a:endParaRPr>
                    </a:p>
                  </a:txBody>
                  <a:tcPr marL="5920" marR="5920" marT="5920" marB="0" anchor="ctr">
                    <a:solidFill>
                      <a:srgbClr val="FFD200"/>
                    </a:solidFill>
                  </a:tcPr>
                </a:tc>
                <a:tc>
                  <a:txBody>
                    <a:bodyPr/>
                    <a:lstStyle/>
                    <a:p>
                      <a:pPr algn="l" fontAlgn="ctr"/>
                      <a:r>
                        <a:rPr lang="en-GB" sz="1000" b="1" i="0" u="none" strike="noStrike" dirty="0" smtClean="0">
                          <a:effectLst/>
                          <a:latin typeface="+mj-lt"/>
                        </a:rPr>
                        <a:t>Mitigating action</a:t>
                      </a:r>
                      <a:endParaRPr lang="en-GB" sz="1000" b="1" i="0" u="none" strike="noStrike" dirty="0">
                        <a:effectLst/>
                        <a:latin typeface="+mj-lt"/>
                      </a:endParaRPr>
                    </a:p>
                  </a:txBody>
                  <a:tcPr marL="5920" marR="5920" marT="5920" marB="0" anchor="ctr">
                    <a:solidFill>
                      <a:srgbClr val="FFD200"/>
                    </a:solidFill>
                  </a:tcPr>
                </a:tc>
              </a:tr>
              <a:tr h="306226">
                <a:tc>
                  <a:txBody>
                    <a:bodyPr/>
                    <a:lstStyle/>
                    <a:p>
                      <a:endParaRPr lang="en-GB" dirty="0"/>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r>
              <a:tr h="306226">
                <a:tc>
                  <a:txBody>
                    <a:bodyPr/>
                    <a:lstStyle/>
                    <a:p>
                      <a:endParaRPr lang="en-GB" dirty="0"/>
                    </a:p>
                  </a:txBody>
                  <a:tcPr marL="5920" marR="5920" marT="5920" marB="0" anchor="ctr">
                    <a:solidFill>
                      <a:schemeClr val="bg1">
                        <a:lumMod val="95000"/>
                      </a:schemeClr>
                    </a:solidFill>
                  </a:tcPr>
                </a:tc>
                <a:tc>
                  <a:txBody>
                    <a:bodyPr/>
                    <a:lstStyle/>
                    <a:p>
                      <a:pPr algn="l" fontAlgn="ctr"/>
                      <a:endParaRPr lang="en-GB" sz="1000" b="0" i="0" u="none" strike="noStrike" dirty="0">
                        <a:effectLst/>
                        <a:latin typeface="+mj-lt"/>
                      </a:endParaRPr>
                    </a:p>
                  </a:txBody>
                  <a:tcPr marL="5920" marR="5920" marT="5920" marB="0" anchor="ctr">
                    <a:solidFill>
                      <a:schemeClr val="bg1">
                        <a:lumMod val="95000"/>
                      </a:schemeClr>
                    </a:solidFill>
                  </a:tcPr>
                </a:tc>
              </a:tr>
            </a:tbl>
          </a:graphicData>
        </a:graphic>
      </p:graphicFrame>
      <p:graphicFrame>
        <p:nvGraphicFramePr>
          <p:cNvPr id="44" name="Table 43"/>
          <p:cNvGraphicFramePr>
            <a:graphicFrameLocks noGrp="1"/>
          </p:cNvGraphicFramePr>
          <p:nvPr>
            <p:extLst>
              <p:ext uri="{D42A27DB-BD31-4B8C-83A1-F6EECF244321}">
                <p14:modId xmlns:p14="http://schemas.microsoft.com/office/powerpoint/2010/main" val="1780960531"/>
              </p:ext>
            </p:extLst>
          </p:nvPr>
        </p:nvGraphicFramePr>
        <p:xfrm>
          <a:off x="809624" y="6588943"/>
          <a:ext cx="9145587" cy="676781"/>
        </p:xfrm>
        <a:graphic>
          <a:graphicData uri="http://schemas.openxmlformats.org/drawingml/2006/table">
            <a:tbl>
              <a:tblPr>
                <a:tableStyleId>{5C22544A-7EE6-4342-B048-85BDC9FD1C3A}</a:tableStyleId>
              </a:tblPr>
              <a:tblGrid>
                <a:gridCol w="9145587"/>
              </a:tblGrid>
              <a:tr h="129610">
                <a:tc>
                  <a:txBody>
                    <a:bodyPr/>
                    <a:lstStyle/>
                    <a:p>
                      <a:pPr algn="l" fontAlgn="b"/>
                      <a:r>
                        <a:rPr lang="en-GB" sz="1000" b="1" i="0" u="none" strike="noStrike" dirty="0" smtClean="0">
                          <a:solidFill>
                            <a:schemeClr val="tx1"/>
                          </a:solidFill>
                          <a:effectLst/>
                          <a:latin typeface="+mj-lt"/>
                        </a:rPr>
                        <a:t>Key decisions needed</a:t>
                      </a:r>
                      <a:endParaRPr lang="en-GB" sz="1000" b="1" i="0" u="none" strike="noStrike" dirty="0">
                        <a:solidFill>
                          <a:schemeClr val="tx1"/>
                        </a:solidFill>
                        <a:effectLst/>
                        <a:latin typeface="+mj-lt"/>
                      </a:endParaRPr>
                    </a:p>
                  </a:txBody>
                  <a:tcPr marL="5920" marR="5920" marT="5920" marB="0" anchor="b">
                    <a:solidFill>
                      <a:srgbClr val="FFD200"/>
                    </a:solidFill>
                  </a:tcPr>
                </a:tc>
              </a:tr>
              <a:tr h="518461">
                <a:tc>
                  <a:txBody>
                    <a:bodyPr/>
                    <a:lstStyle/>
                    <a:p>
                      <a:pPr marL="171450" indent="-171450">
                        <a:buFont typeface="Wingdings" panose="05000000000000000000" pitchFamily="2" charset="2"/>
                        <a:buChar char="§"/>
                      </a:pPr>
                      <a:r>
                        <a:rPr lang="en-GB" sz="1000" baseline="0" dirty="0" smtClean="0">
                          <a:latin typeface="+mj-lt"/>
                        </a:rPr>
                        <a:t>X</a:t>
                      </a:r>
                    </a:p>
                    <a:p>
                      <a:pPr marL="0" indent="0">
                        <a:buFont typeface="Wingdings" panose="05000000000000000000" pitchFamily="2" charset="2"/>
                        <a:buNone/>
                      </a:pPr>
                      <a:endParaRPr lang="en-GB" sz="1000" baseline="0" dirty="0" smtClean="0">
                        <a:latin typeface="+mj-lt"/>
                      </a:endParaRPr>
                    </a:p>
                  </a:txBody>
                  <a:tcPr marL="5920" marR="5920" marT="5920" marB="0" anchor="b"/>
                </a:tc>
              </a:tr>
            </a:tbl>
          </a:graphicData>
        </a:graphic>
      </p:graphicFrame>
    </p:spTree>
    <p:extLst>
      <p:ext uri="{BB962C8B-B14F-4D97-AF65-F5344CB8AC3E}">
        <p14:creationId xmlns:p14="http://schemas.microsoft.com/office/powerpoint/2010/main" val="272768214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smtClean="0"/>
              <a:t>Group 7</a:t>
            </a:r>
            <a:endParaRPr lang="en-GB" dirty="0"/>
          </a:p>
        </p:txBody>
      </p:sp>
      <p:sp>
        <p:nvSpPr>
          <p:cNvPr id="3" name="Text Placeholder 2"/>
          <p:cNvSpPr>
            <a:spLocks noGrp="1"/>
          </p:cNvSpPr>
          <p:nvPr>
            <p:ph type="body" sz="quarter" idx="11"/>
          </p:nvPr>
        </p:nvSpPr>
        <p:spPr>
          <a:xfrm>
            <a:off x="882206" y="1581150"/>
            <a:ext cx="4320478" cy="781050"/>
          </a:xfrm>
        </p:spPr>
        <p:txBody>
          <a:bodyPr/>
          <a:lstStyle/>
          <a:p>
            <a:r>
              <a:rPr lang="en-GB" dirty="0" smtClean="0"/>
              <a:t>Stakeholder Management</a:t>
            </a:r>
            <a:endParaRPr lang="en-GB" dirty="0"/>
          </a:p>
        </p:txBody>
      </p:sp>
      <p:sp>
        <p:nvSpPr>
          <p:cNvPr id="4" name="Text Placeholder 1"/>
          <p:cNvSpPr txBox="1">
            <a:spLocks/>
          </p:cNvSpPr>
          <p:nvPr/>
        </p:nvSpPr>
        <p:spPr bwMode="gray">
          <a:xfrm>
            <a:off x="882206" y="2484487"/>
            <a:ext cx="3923999" cy="720080"/>
          </a:xfrm>
          <a:prstGeom prst="rect">
            <a:avLst/>
          </a:prstGeom>
        </p:spPr>
        <p:txBody>
          <a:bodyPr vert="horz" wrap="none" lIns="0" tIns="0" rIns="0" bIns="0" rtlCol="0" anchor="ctr" anchorCtr="0">
            <a:noAutofit/>
          </a:bodyPr>
          <a:lstStyle>
            <a:lvl1pPr marL="0" indent="0" algn="l" defTabSz="1042688" rtl="0" eaLnBrk="1" latinLnBrk="0" hangingPunct="1">
              <a:spcBef>
                <a:spcPts val="0"/>
              </a:spcBef>
              <a:spcAft>
                <a:spcPts val="500"/>
              </a:spcAft>
              <a:buFont typeface="Arial" pitchFamily="34" charset="0"/>
              <a:buNone/>
              <a:defRPr lang="en-US" sz="1400" b="1" kern="1200" dirty="0" smtClean="0">
                <a:solidFill>
                  <a:schemeClr val="accent1"/>
                </a:solidFill>
                <a:latin typeface="+mj-lt"/>
                <a:ea typeface="+mn-ea"/>
                <a:cs typeface="Arial" charset="0"/>
              </a:defRPr>
            </a:lvl1pPr>
            <a:lvl2pPr marL="0" indent="0" algn="l" defTabSz="1042688" rtl="0" eaLnBrk="1" latinLnBrk="0" hangingPunct="1">
              <a:spcBef>
                <a:spcPts val="200"/>
              </a:spcBef>
              <a:spcAft>
                <a:spcPts val="500"/>
              </a:spcAft>
              <a:buFontTx/>
              <a:buNone/>
              <a:defRPr sz="1400" b="1" kern="1200">
                <a:solidFill>
                  <a:schemeClr val="tx1"/>
                </a:solidFill>
                <a:latin typeface="+mn-lt"/>
                <a:ea typeface="+mn-ea"/>
                <a:cs typeface="+mn-cs"/>
              </a:defRPr>
            </a:lvl2pPr>
            <a:lvl3pPr marL="0" indent="0" algn="l" defTabSz="1042688" rtl="0" eaLnBrk="1" latinLnBrk="0" hangingPunct="1">
              <a:spcBef>
                <a:spcPts val="200"/>
              </a:spcBef>
              <a:spcAft>
                <a:spcPts val="500"/>
              </a:spcAft>
              <a:buFontTx/>
              <a:buNone/>
              <a:defRPr sz="1300" b="1" kern="1200">
                <a:solidFill>
                  <a:schemeClr val="accent1"/>
                </a:solidFill>
                <a:latin typeface="+mn-lt"/>
                <a:ea typeface="+mn-ea"/>
                <a:cs typeface="+mn-cs"/>
              </a:defRPr>
            </a:lvl3pPr>
            <a:lvl4pPr marL="177738" indent="-177738"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4pPr>
            <a:lvl5pPr marL="342779" indent="-165042" algn="l" defTabSz="1042688" rtl="0" eaLnBrk="1" latinLnBrk="0" hangingPunct="1">
              <a:spcBef>
                <a:spcPts val="0"/>
              </a:spcBef>
              <a:spcAft>
                <a:spcPts val="500"/>
              </a:spcAft>
              <a:buSzPct val="70000"/>
              <a:buFont typeface="Arial" pitchFamily="34" charset="0"/>
              <a:buChar char="►"/>
              <a:defRPr sz="1000" kern="1200">
                <a:solidFill>
                  <a:schemeClr val="tx1"/>
                </a:solidFill>
                <a:latin typeface="+mn-lt"/>
                <a:ea typeface="+mn-ea"/>
                <a:cs typeface="+mn-cs"/>
              </a:defRPr>
            </a:lvl5pPr>
            <a:lvl6pPr marL="2867392"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735"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0080"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1424" indent="-260672" algn="l" defTabSz="1042688"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en-GB" dirty="0" smtClean="0"/>
              <a:t>Session Aim: Plan </a:t>
            </a:r>
            <a:r>
              <a:rPr lang="en-GB" dirty="0"/>
              <a:t>how to identify, analyse </a:t>
            </a:r>
            <a:endParaRPr lang="en-GB" dirty="0" smtClean="0"/>
          </a:p>
          <a:p>
            <a:r>
              <a:rPr lang="en-GB" dirty="0" smtClean="0"/>
              <a:t>and </a:t>
            </a:r>
            <a:r>
              <a:rPr lang="en-GB" dirty="0"/>
              <a:t>engage key </a:t>
            </a:r>
            <a:r>
              <a:rPr lang="en-GB" dirty="0" smtClean="0"/>
              <a:t>stakeholders </a:t>
            </a:r>
            <a:r>
              <a:rPr lang="en-GB" dirty="0"/>
              <a:t>to enable them </a:t>
            </a:r>
            <a:endParaRPr lang="en-GB" dirty="0" smtClean="0"/>
          </a:p>
          <a:p>
            <a:r>
              <a:rPr lang="en-GB" dirty="0" smtClean="0"/>
              <a:t>to </a:t>
            </a:r>
            <a:r>
              <a:rPr lang="en-GB" dirty="0"/>
              <a:t>better support </a:t>
            </a:r>
            <a:r>
              <a:rPr lang="en-GB" dirty="0" smtClean="0"/>
              <a:t>your </a:t>
            </a:r>
            <a:r>
              <a:rPr lang="en-GB" dirty="0"/>
              <a:t>business</a:t>
            </a:r>
          </a:p>
        </p:txBody>
      </p:sp>
    </p:spTree>
    <p:extLst>
      <p:ext uri="{BB962C8B-B14F-4D97-AF65-F5344CB8AC3E}">
        <p14:creationId xmlns:p14="http://schemas.microsoft.com/office/powerpoint/2010/main" val="183839258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29363705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8132"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738188" y="252239"/>
            <a:ext cx="9504363" cy="612000"/>
          </a:xfrm>
        </p:spPr>
        <p:txBody>
          <a:bodyPr/>
          <a:lstStyle/>
          <a:p>
            <a:r>
              <a:rPr lang="en-GB" dirty="0" smtClean="0"/>
              <a:t>Stakeholder Management</a:t>
            </a:r>
            <a:endParaRPr lang="en-GB" dirty="0"/>
          </a:p>
        </p:txBody>
      </p:sp>
      <p:sp>
        <p:nvSpPr>
          <p:cNvPr id="15"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35</a:t>
            </a:fld>
            <a:endParaRPr lang="en-GB" sz="800" dirty="0">
              <a:solidFill>
                <a:srgbClr val="808080"/>
              </a:solidFill>
            </a:endParaRPr>
          </a:p>
        </p:txBody>
      </p:sp>
      <p:sp>
        <p:nvSpPr>
          <p:cNvPr id="11" name="Rectangle 10"/>
          <p:cNvSpPr/>
          <p:nvPr/>
        </p:nvSpPr>
        <p:spPr>
          <a:xfrm>
            <a:off x="666180" y="1035616"/>
            <a:ext cx="9361611" cy="584775"/>
          </a:xfrm>
          <a:prstGeom prst="rect">
            <a:avLst/>
          </a:prstGeom>
        </p:spPr>
        <p:txBody>
          <a:bodyPr wrap="square">
            <a:spAutoFit/>
          </a:bodyPr>
          <a:lstStyle/>
          <a:p>
            <a:pPr lvl="0"/>
            <a:r>
              <a:rPr lang="en-GB" sz="1600" b="1" dirty="0" smtClean="0">
                <a:solidFill>
                  <a:schemeClr val="bg1">
                    <a:lumMod val="50000"/>
                  </a:schemeClr>
                </a:solidFill>
              </a:rPr>
              <a:t>Session Aim: </a:t>
            </a:r>
            <a:r>
              <a:rPr lang="en-GB" sz="1600" dirty="0" smtClean="0">
                <a:solidFill>
                  <a:schemeClr val="bg1">
                    <a:lumMod val="50000"/>
                  </a:schemeClr>
                </a:solidFill>
              </a:rPr>
              <a:t>Plan </a:t>
            </a:r>
            <a:r>
              <a:rPr lang="en-GB" sz="1600" dirty="0">
                <a:solidFill>
                  <a:schemeClr val="bg1">
                    <a:lumMod val="50000"/>
                  </a:schemeClr>
                </a:solidFill>
              </a:rPr>
              <a:t>how to identify, analyse and engage key stakeholders to enable them to better support your business</a:t>
            </a:r>
          </a:p>
        </p:txBody>
      </p:sp>
      <p:sp>
        <p:nvSpPr>
          <p:cNvPr id="3" name="Rectangle 2"/>
          <p:cNvSpPr/>
          <p:nvPr/>
        </p:nvSpPr>
        <p:spPr>
          <a:xfrm>
            <a:off x="738187" y="2417990"/>
            <a:ext cx="9289603" cy="3954929"/>
          </a:xfrm>
          <a:prstGeom prst="rect">
            <a:avLst/>
          </a:prstGeom>
        </p:spPr>
        <p:txBody>
          <a:bodyPr wrap="square">
            <a:spAutoFit/>
          </a:bodyPr>
          <a:lstStyle/>
          <a:p>
            <a:pPr marL="0" lvl="1">
              <a:spcAft>
                <a:spcPts val="600"/>
              </a:spcAft>
            </a:pPr>
            <a:r>
              <a:rPr lang="en-GB" sz="1400" b="1" dirty="0"/>
              <a:t>Stakeholders</a:t>
            </a:r>
          </a:p>
          <a:p>
            <a:pPr>
              <a:spcAft>
                <a:spcPts val="600"/>
              </a:spcAft>
            </a:pPr>
            <a:r>
              <a:rPr lang="en-GB" sz="1400" i="1" dirty="0"/>
              <a:t>“Those individuals or groups who depend on the </a:t>
            </a:r>
            <a:r>
              <a:rPr lang="en-GB" sz="1400" i="1" dirty="0" smtClean="0"/>
              <a:t>business/organisation </a:t>
            </a:r>
            <a:r>
              <a:rPr lang="en-GB" sz="1400" i="1" dirty="0"/>
              <a:t>to fulfil their own goals and on whom, in turn, the </a:t>
            </a:r>
            <a:r>
              <a:rPr lang="en-GB" sz="1400" i="1" dirty="0" smtClean="0"/>
              <a:t>business/organisation </a:t>
            </a:r>
            <a:r>
              <a:rPr lang="en-GB" sz="1400" i="1" dirty="0"/>
              <a:t>depends.” </a:t>
            </a:r>
          </a:p>
          <a:p>
            <a:pPr algn="r">
              <a:spcAft>
                <a:spcPts val="600"/>
              </a:spcAft>
            </a:pPr>
            <a:r>
              <a:rPr lang="en-GB" sz="1400" b="1" dirty="0">
                <a:solidFill>
                  <a:srgbClr val="FFC000"/>
                </a:solidFill>
              </a:rPr>
              <a:t>Johnson &amp; Scholes</a:t>
            </a:r>
          </a:p>
          <a:p>
            <a:pPr marL="1588" lvl="1">
              <a:spcAft>
                <a:spcPts val="600"/>
              </a:spcAft>
            </a:pPr>
            <a:endParaRPr lang="en-GB" sz="1400" b="1" dirty="0" smtClean="0"/>
          </a:p>
          <a:p>
            <a:pPr marL="1588" lvl="1">
              <a:spcAft>
                <a:spcPts val="600"/>
              </a:spcAft>
            </a:pPr>
            <a:r>
              <a:rPr lang="en-GB" sz="1400" b="1" dirty="0" smtClean="0"/>
              <a:t>Stakeholder </a:t>
            </a:r>
            <a:r>
              <a:rPr lang="en-GB" sz="1400" b="1" dirty="0"/>
              <a:t>management</a:t>
            </a:r>
          </a:p>
          <a:p>
            <a:pPr>
              <a:spcAft>
                <a:spcPts val="600"/>
              </a:spcAft>
            </a:pPr>
            <a:r>
              <a:rPr lang="en-GB" sz="1400" i="1" dirty="0"/>
              <a:t>“The action that establishes and maintains mutually beneficial relationships between </a:t>
            </a:r>
            <a:r>
              <a:rPr lang="en-GB" sz="1400" i="1" dirty="0" smtClean="0"/>
              <a:t>a business/organisation </a:t>
            </a:r>
            <a:r>
              <a:rPr lang="en-GB" sz="1400" i="1" dirty="0"/>
              <a:t>[or programme] and the </a:t>
            </a:r>
            <a:r>
              <a:rPr lang="en-GB" sz="1400" i="1" dirty="0" smtClean="0"/>
              <a:t>stakeholders </a:t>
            </a:r>
            <a:r>
              <a:rPr lang="en-GB" sz="1400" i="1" dirty="0"/>
              <a:t>on whom its success or failure depends.”</a:t>
            </a:r>
          </a:p>
          <a:p>
            <a:pPr algn="r">
              <a:spcAft>
                <a:spcPts val="600"/>
              </a:spcAft>
            </a:pPr>
            <a:r>
              <a:rPr lang="en-GB" sz="1400" b="1" dirty="0" err="1">
                <a:solidFill>
                  <a:srgbClr val="FFC000"/>
                </a:solidFill>
              </a:rPr>
              <a:t>Cutlip</a:t>
            </a:r>
            <a:r>
              <a:rPr lang="en-GB" sz="1400" b="1" dirty="0">
                <a:solidFill>
                  <a:srgbClr val="FFC000"/>
                </a:solidFill>
              </a:rPr>
              <a:t> et al, 2000</a:t>
            </a:r>
          </a:p>
          <a:p>
            <a:pPr marL="1588" lvl="1">
              <a:spcAft>
                <a:spcPts val="600"/>
              </a:spcAft>
            </a:pPr>
            <a:endParaRPr lang="en-GB" sz="1400" b="1" dirty="0" smtClean="0"/>
          </a:p>
          <a:p>
            <a:pPr marL="1588" lvl="1">
              <a:spcAft>
                <a:spcPts val="600"/>
              </a:spcAft>
            </a:pPr>
            <a:r>
              <a:rPr lang="en-GB" sz="1400" b="1" dirty="0" smtClean="0"/>
              <a:t>Communications</a:t>
            </a:r>
            <a:endParaRPr lang="en-GB" sz="1400" b="1" dirty="0"/>
          </a:p>
          <a:p>
            <a:pPr>
              <a:spcAft>
                <a:spcPts val="600"/>
              </a:spcAft>
            </a:pPr>
            <a:r>
              <a:rPr lang="en-GB" sz="1400" dirty="0"/>
              <a:t>Leaders </a:t>
            </a:r>
            <a:r>
              <a:rPr lang="en-GB" sz="1400" dirty="0" smtClean="0"/>
              <a:t>must </a:t>
            </a:r>
            <a:r>
              <a:rPr lang="en-GB" sz="1400" dirty="0"/>
              <a:t>be visible and communicate consistently and frequently with those affected by the </a:t>
            </a:r>
            <a:r>
              <a:rPr lang="en-GB" sz="1400" dirty="0" smtClean="0"/>
              <a:t>change [growth].</a:t>
            </a:r>
            <a:endParaRPr lang="en-GB" sz="1400" dirty="0"/>
          </a:p>
          <a:p>
            <a:pPr>
              <a:spcAft>
                <a:spcPts val="600"/>
              </a:spcAft>
            </a:pPr>
            <a:r>
              <a:rPr lang="en-GB" sz="1400" i="1" dirty="0"/>
              <a:t>“Visibility cannot be delegated. Leadership cannot be delegated. The two go together.”</a:t>
            </a:r>
          </a:p>
          <a:p>
            <a:pPr algn="r">
              <a:spcAft>
                <a:spcPts val="600"/>
              </a:spcAft>
            </a:pPr>
            <a:r>
              <a:rPr lang="en-GB" sz="1400" b="1" dirty="0">
                <a:solidFill>
                  <a:srgbClr val="FFC000"/>
                </a:solidFill>
              </a:rPr>
              <a:t>Loretta </a:t>
            </a:r>
            <a:r>
              <a:rPr lang="en-GB" sz="1400" b="1" dirty="0" err="1">
                <a:solidFill>
                  <a:srgbClr val="FFC000"/>
                </a:solidFill>
              </a:rPr>
              <a:t>Ucelli</a:t>
            </a:r>
            <a:r>
              <a:rPr lang="en-GB" sz="1400" b="1" dirty="0">
                <a:solidFill>
                  <a:srgbClr val="FFC000"/>
                </a:solidFill>
              </a:rPr>
              <a:t>, Director of Communications, Clinton administration</a:t>
            </a:r>
          </a:p>
        </p:txBody>
      </p:sp>
      <p:sp>
        <p:nvSpPr>
          <p:cNvPr id="8" name="Rectangle 7"/>
          <p:cNvSpPr/>
          <p:nvPr/>
        </p:nvSpPr>
        <p:spPr>
          <a:xfrm>
            <a:off x="738188" y="1911278"/>
            <a:ext cx="9649072" cy="338554"/>
          </a:xfrm>
          <a:prstGeom prst="rect">
            <a:avLst/>
          </a:prstGeom>
        </p:spPr>
        <p:txBody>
          <a:bodyPr wrap="square">
            <a:spAutoFit/>
          </a:bodyPr>
          <a:lstStyle/>
          <a:p>
            <a:pPr lvl="0"/>
            <a:r>
              <a:rPr lang="en-GB" sz="1600" b="1" dirty="0" smtClean="0"/>
              <a:t>What is stakeholder management and communications?</a:t>
            </a:r>
            <a:endParaRPr lang="en-GB" sz="1600" b="1" dirty="0"/>
          </a:p>
        </p:txBody>
      </p:sp>
    </p:spTree>
    <p:extLst>
      <p:ext uri="{BB962C8B-B14F-4D97-AF65-F5344CB8AC3E}">
        <p14:creationId xmlns:p14="http://schemas.microsoft.com/office/powerpoint/2010/main" val="83055103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Group 4"/>
          <p:cNvGraphicFramePr>
            <a:graphicFrameLocks noGrp="1"/>
          </p:cNvGraphicFramePr>
          <p:nvPr>
            <p:extLst>
              <p:ext uri="{D42A27DB-BD31-4B8C-83A1-F6EECF244321}">
                <p14:modId xmlns:p14="http://schemas.microsoft.com/office/powerpoint/2010/main" val="2331226204"/>
              </p:ext>
            </p:extLst>
          </p:nvPr>
        </p:nvGraphicFramePr>
        <p:xfrm>
          <a:off x="809625" y="1276597"/>
          <a:ext cx="9337967" cy="5312345"/>
        </p:xfrm>
        <a:graphic>
          <a:graphicData uri="http://schemas.openxmlformats.org/drawingml/2006/table">
            <a:tbl>
              <a:tblPr/>
              <a:tblGrid>
                <a:gridCol w="4527446"/>
                <a:gridCol w="4810521"/>
              </a:tblGrid>
              <a:tr h="414823">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US" sz="1300" b="1" i="0" u="none" strike="noStrike" cap="none" normalizeH="0" baseline="0" noProof="0" dirty="0" smtClean="0">
                          <a:ln>
                            <a:noFill/>
                          </a:ln>
                          <a:solidFill>
                            <a:schemeClr val="bg2"/>
                          </a:solidFill>
                          <a:effectLst/>
                          <a:latin typeface="Arial" charset="0"/>
                          <a:cs typeface="Arial" charset="0"/>
                        </a:rPr>
                        <a:t>What is it?</a:t>
                      </a:r>
                      <a:endParaRPr kumimoji="0" lang="en-US" sz="1300" b="0" i="0" u="none" strike="noStrike" cap="none" normalizeH="0" baseline="0" noProof="0" dirty="0">
                        <a:ln>
                          <a:noFill/>
                        </a:ln>
                        <a:solidFill>
                          <a:schemeClr val="bg2"/>
                        </a:solidFill>
                        <a:effectLst/>
                        <a:latin typeface="Arial" charset="0"/>
                        <a:cs typeface="Arial" charset="0"/>
                      </a:endParaRPr>
                    </a:p>
                  </a:txBody>
                  <a:tcPr marL="84200" marR="84200" marT="79383" marB="79383" anchor="ctr" horzOverflow="overflow">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US" sz="1300" b="1" i="0" u="none" strike="noStrike" cap="none" normalizeH="0" baseline="0" noProof="0" dirty="0" smtClean="0">
                          <a:ln>
                            <a:noFill/>
                          </a:ln>
                          <a:solidFill>
                            <a:schemeClr val="bg2"/>
                          </a:solidFill>
                          <a:effectLst/>
                          <a:latin typeface="Arial" charset="0"/>
                          <a:cs typeface="Arial" charset="0"/>
                        </a:rPr>
                        <a:t>Why have an approach?</a:t>
                      </a:r>
                      <a:endParaRPr kumimoji="0" lang="en-US" sz="1300" b="1" i="0" u="none" strike="noStrike" cap="none" normalizeH="0" baseline="0" noProof="0" dirty="0">
                        <a:ln>
                          <a:noFill/>
                        </a:ln>
                        <a:solidFill>
                          <a:schemeClr val="bg2"/>
                        </a:solidFill>
                        <a:effectLst/>
                        <a:latin typeface="Arial" charset="0"/>
                        <a:cs typeface="Arial" charset="0"/>
                      </a:endParaRPr>
                    </a:p>
                  </a:txBody>
                  <a:tcPr marL="84200" marR="84200" marT="79383" marB="79383" anchor="ctr" horzOverflow="overflow">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808080"/>
                    </a:solidFill>
                  </a:tcPr>
                </a:tc>
              </a:tr>
              <a:tr h="1371696">
                <a:tc rowSpan="3">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975" marR="0" lvl="0" indent="-180975" algn="l" defTabSz="914400" rtl="0" eaLnBrk="1" fontAlgn="auto" latinLnBrk="0" hangingPunct="1">
                        <a:lnSpc>
                          <a:spcPct val="100000"/>
                        </a:lnSpc>
                        <a:spcBef>
                          <a:spcPts val="600"/>
                        </a:spcBef>
                        <a:spcAft>
                          <a:spcPts val="0"/>
                        </a:spcAft>
                        <a:buClr>
                          <a:srgbClr val="FFC000"/>
                        </a:buClr>
                        <a:buSzTx/>
                        <a:buFont typeface="Arial" pitchFamily="34" charset="0"/>
                        <a:buChar char="►"/>
                        <a:tabLst/>
                        <a:defRPr/>
                      </a:pPr>
                      <a:r>
                        <a:rPr lang="en-US" sz="1200" kern="1200" noProof="0" dirty="0" smtClean="0">
                          <a:solidFill>
                            <a:schemeClr val="tx1"/>
                          </a:solidFill>
                          <a:latin typeface="+mn-lt"/>
                          <a:ea typeface="+mn-ea"/>
                          <a:cs typeface="+mn-cs"/>
                        </a:rPr>
                        <a:t>A six step approach to understanding and managing stakeholders…</a:t>
                      </a:r>
                      <a:endParaRPr lang="en-US" sz="1200" kern="1200" noProof="0" dirty="0">
                        <a:solidFill>
                          <a:schemeClr val="tx1"/>
                        </a:solidFill>
                        <a:latin typeface="+mn-lt"/>
                        <a:ea typeface="+mn-ea"/>
                        <a:cs typeface="+mn-cs"/>
                      </a:endParaRPr>
                    </a:p>
                  </a:txBody>
                  <a:tcPr marL="84200" marR="84200" marT="79383" marB="79383" horzOverflow="overflow">
                    <a:lnL w="12700" cap="flat" cmpd="sng" algn="ctr">
                      <a:noFill/>
                      <a:prstDash val="solid"/>
                      <a:round/>
                      <a:headEnd type="none" w="med" len="med"/>
                      <a:tailEnd type="none" w="med" len="med"/>
                    </a:lnL>
                    <a:lnR w="12700" cap="flat" cmpd="sng" algn="ctr">
                      <a:solidFill>
                        <a:srgbClr val="646464"/>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975" marR="0" lvl="0" indent="-180975" algn="l" defTabSz="914400" rtl="0" eaLnBrk="1" fontAlgn="auto" latinLnBrk="0" hangingPunct="1">
                        <a:lnSpc>
                          <a:spcPct val="100000"/>
                        </a:lnSpc>
                        <a:spcBef>
                          <a:spcPts val="600"/>
                        </a:spcBef>
                        <a:spcAft>
                          <a:spcPts val="0"/>
                        </a:spcAft>
                        <a:buClr>
                          <a:srgbClr val="FFC000"/>
                        </a:buClr>
                        <a:buSzTx/>
                        <a:buFont typeface="Arial" pitchFamily="34" charset="0"/>
                        <a:buChar char="►"/>
                        <a:tabLst/>
                        <a:defRPr/>
                      </a:pPr>
                      <a:r>
                        <a:rPr lang="en-US" sz="1200" kern="1200" noProof="0" dirty="0" smtClean="0">
                          <a:solidFill>
                            <a:schemeClr val="tx1"/>
                          </a:solidFill>
                          <a:latin typeface="+mn-lt"/>
                          <a:ea typeface="+mn-ea"/>
                          <a:cs typeface="+mn-cs"/>
                        </a:rPr>
                        <a:t>It ensures we proactively manage stakeholders with a consistent approach using a common language</a:t>
                      </a:r>
                    </a:p>
                    <a:p>
                      <a:pPr marL="180975" marR="0" lvl="0" indent="-180975" algn="l" defTabSz="914400" rtl="0" eaLnBrk="1" fontAlgn="auto" latinLnBrk="0" hangingPunct="1">
                        <a:lnSpc>
                          <a:spcPct val="100000"/>
                        </a:lnSpc>
                        <a:spcBef>
                          <a:spcPts val="600"/>
                        </a:spcBef>
                        <a:spcAft>
                          <a:spcPts val="0"/>
                        </a:spcAft>
                        <a:buClr>
                          <a:srgbClr val="FFC000"/>
                        </a:buClr>
                        <a:buSzTx/>
                        <a:buFont typeface="Arial" pitchFamily="34" charset="0"/>
                        <a:buChar char="►"/>
                        <a:tabLst/>
                        <a:defRPr/>
                      </a:pPr>
                      <a:r>
                        <a:rPr lang="en-US" sz="1200" kern="1200" noProof="0" dirty="0" smtClean="0">
                          <a:solidFill>
                            <a:schemeClr val="tx1"/>
                          </a:solidFill>
                          <a:latin typeface="+mn-lt"/>
                          <a:ea typeface="+mn-ea"/>
                          <a:cs typeface="+mn-cs"/>
                        </a:rPr>
                        <a:t>Understanding, managing and influencing people is an essential part of any successful business</a:t>
                      </a:r>
                      <a:r>
                        <a:rPr lang="en-US" sz="1200" kern="1200" baseline="0" noProof="0" dirty="0" smtClean="0">
                          <a:solidFill>
                            <a:schemeClr val="tx1"/>
                          </a:solidFill>
                          <a:latin typeface="+mn-lt"/>
                          <a:ea typeface="+mn-ea"/>
                          <a:cs typeface="+mn-cs"/>
                        </a:rPr>
                        <a:t> and </a:t>
                      </a:r>
                      <a:r>
                        <a:rPr lang="en-US" sz="1200" kern="1200" noProof="0" dirty="0" smtClean="0">
                          <a:solidFill>
                            <a:schemeClr val="tx1"/>
                          </a:solidFill>
                          <a:latin typeface="+mn-lt"/>
                          <a:ea typeface="+mn-ea"/>
                          <a:cs typeface="+mn-cs"/>
                        </a:rPr>
                        <a:t>shouldn’t be left to chance or individual experience</a:t>
                      </a:r>
                      <a:endParaRPr lang="en-US" sz="1200" kern="1200" noProof="0" dirty="0">
                        <a:solidFill>
                          <a:schemeClr val="tx1"/>
                        </a:solidFill>
                        <a:latin typeface="+mn-lt"/>
                        <a:ea typeface="+mn-ea"/>
                        <a:cs typeface="+mn-cs"/>
                      </a:endParaRPr>
                    </a:p>
                  </a:txBody>
                  <a:tcPr marL="84200" marR="84200" marT="79383" marB="79383" horzOverflow="overflow">
                    <a:lnL w="12700" cap="flat" cmpd="sng" algn="ctr">
                      <a:solidFill>
                        <a:srgbClr val="646464"/>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r>
              <a:tr h="414823">
                <a:tc vMerge="1">
                  <a:txBody>
                    <a:bodyPr/>
                    <a:lstStyle/>
                    <a:p>
                      <a:endParaRPr lang="en-GB"/>
                    </a:p>
                  </a:txBody>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US" sz="1300" b="1" i="0" u="none" strike="noStrike" cap="none" normalizeH="0" baseline="0" noProof="0" dirty="0" smtClean="0">
                          <a:ln>
                            <a:noFill/>
                          </a:ln>
                          <a:solidFill>
                            <a:schemeClr val="bg2"/>
                          </a:solidFill>
                          <a:effectLst/>
                          <a:latin typeface="Arial" charset="0"/>
                          <a:cs typeface="Arial" charset="0"/>
                        </a:rPr>
                        <a:t>Benefits of this approach?</a:t>
                      </a:r>
                      <a:endParaRPr kumimoji="0" lang="en-US" sz="1300" b="0" i="0" u="none" strike="noStrike" cap="none" normalizeH="0" baseline="0" noProof="0" dirty="0">
                        <a:ln>
                          <a:noFill/>
                        </a:ln>
                        <a:solidFill>
                          <a:schemeClr val="bg2"/>
                        </a:solidFill>
                        <a:effectLst/>
                        <a:latin typeface="Arial" charset="0"/>
                        <a:cs typeface="Arial" charset="0"/>
                      </a:endParaRPr>
                    </a:p>
                  </a:txBody>
                  <a:tcPr marL="84200" marR="84200" marT="79383" marB="79383" anchor="ctr" horzOverflow="overflow">
                    <a:lnL w="12700" cap="flat" cmpd="sng" algn="ctr">
                      <a:solidFill>
                        <a:srgbClr val="646464"/>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808080"/>
                    </a:solidFill>
                  </a:tcPr>
                </a:tc>
              </a:tr>
              <a:tr h="1620113">
                <a:tc vMerge="1">
                  <a:txBody>
                    <a:bodyPr/>
                    <a:lstStyle/>
                    <a:p>
                      <a:endParaRPr lang="en-GB"/>
                    </a:p>
                  </a:txBody>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975" marR="0" lvl="0" indent="-180975" algn="l" defTabSz="914400" rtl="0" eaLnBrk="1" fontAlgn="auto" latinLnBrk="0" hangingPunct="1">
                        <a:lnSpc>
                          <a:spcPct val="100000"/>
                        </a:lnSpc>
                        <a:spcBef>
                          <a:spcPts val="600"/>
                        </a:spcBef>
                        <a:spcAft>
                          <a:spcPts val="0"/>
                        </a:spcAft>
                        <a:buClr>
                          <a:srgbClr val="FFC000"/>
                        </a:buClr>
                        <a:buSzTx/>
                        <a:buFont typeface="Arial" pitchFamily="34" charset="0"/>
                        <a:buChar char="►"/>
                        <a:tabLst/>
                        <a:defRPr/>
                      </a:pPr>
                      <a:r>
                        <a:rPr lang="en-US" sz="1200" kern="1200" noProof="0" dirty="0" smtClean="0">
                          <a:solidFill>
                            <a:schemeClr val="tx1"/>
                          </a:solidFill>
                          <a:latin typeface="+mn-lt"/>
                          <a:ea typeface="+mn-ea"/>
                          <a:cs typeface="+mn-cs"/>
                        </a:rPr>
                        <a:t>It is a goals and objectives led approach</a:t>
                      </a:r>
                    </a:p>
                    <a:p>
                      <a:pPr marL="180975" marR="0" lvl="0" indent="-180975" algn="l" defTabSz="914400" rtl="0" eaLnBrk="1" fontAlgn="auto" latinLnBrk="0" hangingPunct="1">
                        <a:lnSpc>
                          <a:spcPct val="100000"/>
                        </a:lnSpc>
                        <a:spcBef>
                          <a:spcPts val="600"/>
                        </a:spcBef>
                        <a:spcAft>
                          <a:spcPts val="0"/>
                        </a:spcAft>
                        <a:buClr>
                          <a:srgbClr val="FFC000"/>
                        </a:buClr>
                        <a:buSzTx/>
                        <a:buFont typeface="Arial" pitchFamily="34" charset="0"/>
                        <a:buChar char="►"/>
                        <a:tabLst/>
                        <a:defRPr/>
                      </a:pPr>
                      <a:r>
                        <a:rPr lang="en-US" sz="1200" kern="1200" noProof="0" dirty="0" smtClean="0">
                          <a:solidFill>
                            <a:schemeClr val="tx1"/>
                          </a:solidFill>
                          <a:latin typeface="+mn-lt"/>
                          <a:ea typeface="+mn-ea"/>
                          <a:cs typeface="+mn-cs"/>
                        </a:rPr>
                        <a:t>It is a process that explicitly makes you think through your stakeholders’ positions, which helps you understand them better and create a tailored management plan</a:t>
                      </a:r>
                    </a:p>
                    <a:p>
                      <a:pPr marL="180975" marR="0" lvl="0" indent="-180975" algn="l" defTabSz="914400" rtl="0" eaLnBrk="1" fontAlgn="auto" latinLnBrk="0" hangingPunct="1">
                        <a:lnSpc>
                          <a:spcPct val="100000"/>
                        </a:lnSpc>
                        <a:spcBef>
                          <a:spcPts val="600"/>
                        </a:spcBef>
                        <a:spcAft>
                          <a:spcPts val="0"/>
                        </a:spcAft>
                        <a:buClr>
                          <a:srgbClr val="FFC000"/>
                        </a:buClr>
                        <a:buSzTx/>
                        <a:buFont typeface="Arial" pitchFamily="34" charset="0"/>
                        <a:buChar char="►"/>
                        <a:tabLst/>
                        <a:defRPr/>
                      </a:pPr>
                      <a:r>
                        <a:rPr lang="en-US" sz="1200" kern="1200" noProof="0" dirty="0" smtClean="0">
                          <a:solidFill>
                            <a:schemeClr val="tx1"/>
                          </a:solidFill>
                          <a:latin typeface="+mn-lt"/>
                          <a:ea typeface="+mn-ea"/>
                          <a:cs typeface="+mn-cs"/>
                        </a:rPr>
                        <a:t>This will help you maintain and improve relationships</a:t>
                      </a:r>
                      <a:endParaRPr lang="en-US" sz="1200" kern="1200" noProof="0" dirty="0">
                        <a:solidFill>
                          <a:schemeClr val="tx1"/>
                        </a:solidFill>
                        <a:latin typeface="+mn-lt"/>
                        <a:ea typeface="+mn-ea"/>
                        <a:cs typeface="+mn-cs"/>
                      </a:endParaRPr>
                    </a:p>
                  </a:txBody>
                  <a:tcPr marL="84200" marR="84200" marT="79383" marB="79383" horzOverflow="overflow">
                    <a:lnL w="12700" cap="flat" cmpd="sng" algn="ctr">
                      <a:solidFill>
                        <a:srgbClr val="646464"/>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r>
              <a:tr h="414823">
                <a:tc gridSpan="2">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US" sz="1300" b="1" i="0" u="none" strike="noStrike" cap="none" normalizeH="0" baseline="0" noProof="0" dirty="0" smtClean="0">
                          <a:ln>
                            <a:noFill/>
                          </a:ln>
                          <a:solidFill>
                            <a:schemeClr val="bg2"/>
                          </a:solidFill>
                          <a:effectLst/>
                          <a:latin typeface="Arial" charset="0"/>
                          <a:cs typeface="Arial" charset="0"/>
                        </a:rPr>
                        <a:t>How and when to use it?</a:t>
                      </a:r>
                      <a:endParaRPr kumimoji="0" lang="en-US" sz="1300" b="1" i="0" u="none" strike="noStrike" cap="none" normalizeH="0" baseline="0" noProof="0" dirty="0">
                        <a:ln>
                          <a:noFill/>
                        </a:ln>
                        <a:solidFill>
                          <a:schemeClr val="bg2"/>
                        </a:solidFill>
                        <a:effectLst/>
                        <a:latin typeface="Arial" charset="0"/>
                        <a:cs typeface="Arial" charset="0"/>
                      </a:endParaRPr>
                    </a:p>
                  </a:txBody>
                  <a:tcPr marL="84200" marR="84200" marT="79383" marB="79383"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808080"/>
                    </a:solidFill>
                  </a:tcPr>
                </a:tc>
                <a:tc hMerge="1">
                  <a:txBody>
                    <a:bodyPr/>
                    <a:lstStyle/>
                    <a:p>
                      <a:endParaRPr lang="en-GB"/>
                    </a:p>
                  </a:txBody>
                  <a:tcPr/>
                </a:tc>
              </a:tr>
              <a:tr h="1076067">
                <a:tc gridSpan="2">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975" marR="0" lvl="0" indent="-180975" algn="l" defTabSz="914400" rtl="0" eaLnBrk="1" fontAlgn="auto" latinLnBrk="0" hangingPunct="1">
                        <a:lnSpc>
                          <a:spcPct val="100000"/>
                        </a:lnSpc>
                        <a:spcBef>
                          <a:spcPts val="600"/>
                        </a:spcBef>
                        <a:spcAft>
                          <a:spcPts val="0"/>
                        </a:spcAft>
                        <a:buClr>
                          <a:srgbClr val="FFC000"/>
                        </a:buClr>
                        <a:buSzTx/>
                        <a:buFont typeface="Arial" pitchFamily="34" charset="0"/>
                        <a:buChar char="►"/>
                        <a:tabLst/>
                        <a:defRPr/>
                      </a:pPr>
                      <a:r>
                        <a:rPr lang="en-US" sz="1200" kern="1200" noProof="0" dirty="0" smtClean="0">
                          <a:solidFill>
                            <a:schemeClr val="tx1"/>
                          </a:solidFill>
                          <a:latin typeface="+mn-lt"/>
                          <a:ea typeface="+mn-ea"/>
                          <a:cs typeface="+mn-cs"/>
                        </a:rPr>
                        <a:t>Use it wisely and carefully and make sure it is sponsored by all key</a:t>
                      </a:r>
                      <a:r>
                        <a:rPr lang="en-US" sz="1200" kern="1200" baseline="0" noProof="0" dirty="0" smtClean="0">
                          <a:solidFill>
                            <a:schemeClr val="tx1"/>
                          </a:solidFill>
                          <a:latin typeface="+mn-lt"/>
                          <a:ea typeface="+mn-ea"/>
                          <a:cs typeface="+mn-cs"/>
                        </a:rPr>
                        <a:t> stakeholders</a:t>
                      </a:r>
                      <a:endParaRPr lang="en-US" sz="1200" kern="1200" noProof="0" dirty="0" smtClean="0">
                        <a:solidFill>
                          <a:schemeClr val="tx1"/>
                        </a:solidFill>
                        <a:latin typeface="+mn-lt"/>
                        <a:ea typeface="+mn-ea"/>
                        <a:cs typeface="+mn-cs"/>
                      </a:endParaRPr>
                    </a:p>
                    <a:p>
                      <a:pPr marL="180975" marR="0" lvl="0" indent="-180975" algn="l" defTabSz="914400" rtl="0" eaLnBrk="1" fontAlgn="auto" latinLnBrk="0" hangingPunct="1">
                        <a:lnSpc>
                          <a:spcPct val="100000"/>
                        </a:lnSpc>
                        <a:spcBef>
                          <a:spcPts val="600"/>
                        </a:spcBef>
                        <a:spcAft>
                          <a:spcPts val="0"/>
                        </a:spcAft>
                        <a:buClr>
                          <a:srgbClr val="FFC000"/>
                        </a:buClr>
                        <a:buSzTx/>
                        <a:buFont typeface="Arial" pitchFamily="34" charset="0"/>
                        <a:buChar char="►"/>
                        <a:tabLst/>
                        <a:defRPr/>
                      </a:pPr>
                      <a:r>
                        <a:rPr lang="en-US" sz="1200" kern="1200" noProof="0" dirty="0" smtClean="0">
                          <a:solidFill>
                            <a:schemeClr val="tx1"/>
                          </a:solidFill>
                          <a:latin typeface="+mn-lt"/>
                          <a:ea typeface="+mn-ea"/>
                          <a:cs typeface="+mn-cs"/>
                        </a:rPr>
                        <a:t>Use it appropriately across the business</a:t>
                      </a:r>
                      <a:r>
                        <a:rPr lang="en-US" sz="1200" kern="1200" baseline="0" noProof="0" dirty="0" smtClean="0">
                          <a:solidFill>
                            <a:schemeClr val="tx1"/>
                          </a:solidFill>
                          <a:latin typeface="+mn-lt"/>
                          <a:ea typeface="+mn-ea"/>
                          <a:cs typeface="+mn-cs"/>
                        </a:rPr>
                        <a:t> </a:t>
                      </a:r>
                      <a:r>
                        <a:rPr lang="en-US" sz="1200" kern="1200" noProof="0" dirty="0" smtClean="0">
                          <a:solidFill>
                            <a:schemeClr val="tx1"/>
                          </a:solidFill>
                          <a:latin typeface="+mn-lt"/>
                          <a:ea typeface="+mn-ea"/>
                          <a:cs typeface="+mn-cs"/>
                        </a:rPr>
                        <a:t>lifecycle or when there is a big change for </a:t>
                      </a:r>
                      <a:r>
                        <a:rPr lang="en-US" sz="1200" kern="1200" baseline="0" noProof="0" dirty="0" smtClean="0">
                          <a:solidFill>
                            <a:schemeClr val="tx1"/>
                          </a:solidFill>
                          <a:latin typeface="+mn-lt"/>
                          <a:ea typeface="+mn-ea"/>
                          <a:cs typeface="+mn-cs"/>
                        </a:rPr>
                        <a:t> key </a:t>
                      </a:r>
                      <a:r>
                        <a:rPr lang="en-US" sz="1200" kern="1200" noProof="0" dirty="0" smtClean="0">
                          <a:solidFill>
                            <a:schemeClr val="tx1"/>
                          </a:solidFill>
                          <a:latin typeface="+mn-lt"/>
                          <a:ea typeface="+mn-ea"/>
                          <a:cs typeface="+mn-cs"/>
                        </a:rPr>
                        <a:t>stakeholders, business objectives or risks, such as a growth plan</a:t>
                      </a:r>
                      <a:endParaRPr lang="en-US" sz="1200" kern="1200" noProof="0" dirty="0">
                        <a:solidFill>
                          <a:schemeClr val="tx1"/>
                        </a:solidFill>
                        <a:latin typeface="+mn-lt"/>
                        <a:ea typeface="+mn-ea"/>
                        <a:cs typeface="+mn-cs"/>
                      </a:endParaRPr>
                    </a:p>
                  </a:txBody>
                  <a:tcPr marL="84200" marR="84200" marT="79383" marB="79383"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FD200"/>
                      </a:solidFill>
                      <a:prstDash val="solid"/>
                      <a:round/>
                      <a:headEnd type="none" w="med" len="med"/>
                      <a:tailEnd type="none" w="med" len="med"/>
                    </a:lnB>
                    <a:lnTlToBr>
                      <a:noFill/>
                    </a:lnTlToBr>
                    <a:lnBlToTr>
                      <a:noFill/>
                    </a:lnBlToTr>
                    <a:noFill/>
                  </a:tcPr>
                </a:tc>
                <a:tc hMerge="1">
                  <a:txBody>
                    <a:bodyPr/>
                    <a:lstStyle/>
                    <a:p>
                      <a:endParaRPr lang="en-GB"/>
                    </a:p>
                  </a:txBody>
                  <a:tcPr/>
                </a:tc>
              </a:tr>
            </a:tbl>
          </a:graphicData>
        </a:graphic>
      </p:graphicFrame>
      <p:grpSp>
        <p:nvGrpSpPr>
          <p:cNvPr id="2" name="Group 23"/>
          <p:cNvGrpSpPr>
            <a:grpSpLocks noChangeAspect="1"/>
          </p:cNvGrpSpPr>
          <p:nvPr/>
        </p:nvGrpSpPr>
        <p:grpSpPr bwMode="gray">
          <a:xfrm>
            <a:off x="1530276" y="2196455"/>
            <a:ext cx="2886380" cy="2592231"/>
            <a:chOff x="3214" y="1402"/>
            <a:chExt cx="2245" cy="1968"/>
          </a:xfrm>
        </p:grpSpPr>
        <p:sp>
          <p:nvSpPr>
            <p:cNvPr id="22" name="Freeform 4"/>
            <p:cNvSpPr>
              <a:spLocks noChangeAspect="1"/>
            </p:cNvSpPr>
            <p:nvPr/>
          </p:nvSpPr>
          <p:spPr bwMode="gray">
            <a:xfrm>
              <a:off x="3214" y="2129"/>
              <a:ext cx="733" cy="962"/>
            </a:xfrm>
            <a:custGeom>
              <a:avLst/>
              <a:gdLst>
                <a:gd name="T0" fmla="*/ 1028 w 474"/>
                <a:gd name="T1" fmla="*/ 376 h 667"/>
                <a:gd name="T2" fmla="*/ 600 w 474"/>
                <a:gd name="T3" fmla="*/ 0 h 667"/>
                <a:gd name="T4" fmla="*/ 0 w 474"/>
                <a:gd name="T5" fmla="*/ 150 h 667"/>
                <a:gd name="T6" fmla="*/ 127 w 474"/>
                <a:gd name="T7" fmla="*/ 177 h 667"/>
                <a:gd name="T8" fmla="*/ 114 w 474"/>
                <a:gd name="T9" fmla="*/ 270 h 667"/>
                <a:gd name="T10" fmla="*/ 110 w 474"/>
                <a:gd name="T11" fmla="*/ 368 h 667"/>
                <a:gd name="T12" fmla="*/ 114 w 474"/>
                <a:gd name="T13" fmla="*/ 443 h 667"/>
                <a:gd name="T14" fmla="*/ 119 w 474"/>
                <a:gd name="T15" fmla="*/ 516 h 667"/>
                <a:gd name="T16" fmla="*/ 131 w 474"/>
                <a:gd name="T17" fmla="*/ 588 h 667"/>
                <a:gd name="T18" fmla="*/ 145 w 474"/>
                <a:gd name="T19" fmla="*/ 659 h 667"/>
                <a:gd name="T20" fmla="*/ 165 w 474"/>
                <a:gd name="T21" fmla="*/ 728 h 667"/>
                <a:gd name="T22" fmla="*/ 189 w 474"/>
                <a:gd name="T23" fmla="*/ 796 h 667"/>
                <a:gd name="T24" fmla="*/ 218 w 474"/>
                <a:gd name="T25" fmla="*/ 865 h 667"/>
                <a:gd name="T26" fmla="*/ 246 w 474"/>
                <a:gd name="T27" fmla="*/ 930 h 667"/>
                <a:gd name="T28" fmla="*/ 319 w 474"/>
                <a:gd name="T29" fmla="*/ 1054 h 667"/>
                <a:gd name="T30" fmla="*/ 362 w 474"/>
                <a:gd name="T31" fmla="*/ 1115 h 667"/>
                <a:gd name="T32" fmla="*/ 404 w 474"/>
                <a:gd name="T33" fmla="*/ 1173 h 667"/>
                <a:gd name="T34" fmla="*/ 503 w 474"/>
                <a:gd name="T35" fmla="*/ 1284 h 667"/>
                <a:gd name="T36" fmla="*/ 609 w 474"/>
                <a:gd name="T37" fmla="*/ 1386 h 667"/>
                <a:gd name="T38" fmla="*/ 730 w 474"/>
                <a:gd name="T39" fmla="*/ 965 h 667"/>
                <a:gd name="T40" fmla="*/ 1130 w 474"/>
                <a:gd name="T41" fmla="*/ 871 h 667"/>
                <a:gd name="T42" fmla="*/ 1081 w 474"/>
                <a:gd name="T43" fmla="*/ 819 h 667"/>
                <a:gd name="T44" fmla="*/ 1033 w 474"/>
                <a:gd name="T45" fmla="*/ 767 h 667"/>
                <a:gd name="T46" fmla="*/ 994 w 474"/>
                <a:gd name="T47" fmla="*/ 707 h 667"/>
                <a:gd name="T48" fmla="*/ 962 w 474"/>
                <a:gd name="T49" fmla="*/ 643 h 667"/>
                <a:gd name="T50" fmla="*/ 936 w 474"/>
                <a:gd name="T51" fmla="*/ 580 h 667"/>
                <a:gd name="T52" fmla="*/ 914 w 474"/>
                <a:gd name="T53" fmla="*/ 512 h 667"/>
                <a:gd name="T54" fmla="*/ 905 w 474"/>
                <a:gd name="T55" fmla="*/ 441 h 667"/>
                <a:gd name="T56" fmla="*/ 898 w 474"/>
                <a:gd name="T57" fmla="*/ 368 h 667"/>
                <a:gd name="T58" fmla="*/ 898 w 474"/>
                <a:gd name="T59" fmla="*/ 348 h 667"/>
                <a:gd name="T60" fmla="*/ 1028 w 474"/>
                <a:gd name="T61" fmla="*/ 376 h 66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74"/>
                <a:gd name="T94" fmla="*/ 0 h 667"/>
                <a:gd name="T95" fmla="*/ 474 w 474"/>
                <a:gd name="T96" fmla="*/ 667 h 66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74" h="667">
                  <a:moveTo>
                    <a:pt x="430" y="181"/>
                  </a:moveTo>
                  <a:lnTo>
                    <a:pt x="251" y="0"/>
                  </a:lnTo>
                  <a:lnTo>
                    <a:pt x="0" y="72"/>
                  </a:lnTo>
                  <a:lnTo>
                    <a:pt x="53" y="85"/>
                  </a:lnTo>
                  <a:lnTo>
                    <a:pt x="48" y="130"/>
                  </a:lnTo>
                  <a:lnTo>
                    <a:pt x="46" y="177"/>
                  </a:lnTo>
                  <a:lnTo>
                    <a:pt x="48" y="213"/>
                  </a:lnTo>
                  <a:lnTo>
                    <a:pt x="50" y="248"/>
                  </a:lnTo>
                  <a:lnTo>
                    <a:pt x="55" y="283"/>
                  </a:lnTo>
                  <a:lnTo>
                    <a:pt x="61" y="317"/>
                  </a:lnTo>
                  <a:lnTo>
                    <a:pt x="69" y="350"/>
                  </a:lnTo>
                  <a:lnTo>
                    <a:pt x="79" y="383"/>
                  </a:lnTo>
                  <a:lnTo>
                    <a:pt x="91" y="416"/>
                  </a:lnTo>
                  <a:lnTo>
                    <a:pt x="103" y="447"/>
                  </a:lnTo>
                  <a:lnTo>
                    <a:pt x="133" y="507"/>
                  </a:lnTo>
                  <a:lnTo>
                    <a:pt x="151" y="536"/>
                  </a:lnTo>
                  <a:lnTo>
                    <a:pt x="169" y="564"/>
                  </a:lnTo>
                  <a:lnTo>
                    <a:pt x="210" y="617"/>
                  </a:lnTo>
                  <a:lnTo>
                    <a:pt x="255" y="666"/>
                  </a:lnTo>
                  <a:lnTo>
                    <a:pt x="305" y="464"/>
                  </a:lnTo>
                  <a:lnTo>
                    <a:pt x="473" y="419"/>
                  </a:lnTo>
                  <a:lnTo>
                    <a:pt x="452" y="394"/>
                  </a:lnTo>
                  <a:lnTo>
                    <a:pt x="432" y="369"/>
                  </a:lnTo>
                  <a:lnTo>
                    <a:pt x="416" y="340"/>
                  </a:lnTo>
                  <a:lnTo>
                    <a:pt x="402" y="309"/>
                  </a:lnTo>
                  <a:lnTo>
                    <a:pt x="391" y="279"/>
                  </a:lnTo>
                  <a:lnTo>
                    <a:pt x="382" y="246"/>
                  </a:lnTo>
                  <a:lnTo>
                    <a:pt x="378" y="212"/>
                  </a:lnTo>
                  <a:lnTo>
                    <a:pt x="376" y="177"/>
                  </a:lnTo>
                  <a:lnTo>
                    <a:pt x="376" y="167"/>
                  </a:lnTo>
                  <a:lnTo>
                    <a:pt x="430" y="181"/>
                  </a:lnTo>
                </a:path>
              </a:pathLst>
            </a:custGeom>
            <a:solidFill>
              <a:srgbClr val="FFD200"/>
            </a:solidFill>
            <a:ln w="19050" cap="rnd" algn="ctr">
              <a:solidFill>
                <a:srgbClr val="FFD200"/>
              </a:solidFill>
              <a:prstDash val="solid"/>
              <a:round/>
              <a:headEnd/>
              <a:tailEnd/>
            </a:ln>
          </p:spPr>
          <p:txBody>
            <a:bodyPr lIns="36000" tIns="36000" rIns="36000" bIns="36000" anchor="ctr"/>
            <a:lstStyle/>
            <a:p>
              <a:pPr algn="ctr" eaLnBrk="0" hangingPunct="0">
                <a:lnSpc>
                  <a:spcPct val="95000"/>
                </a:lnSpc>
                <a:defRPr/>
              </a:pPr>
              <a:r>
                <a:rPr lang="en-US" sz="1000" b="1" kern="0" dirty="0">
                  <a:solidFill>
                    <a:srgbClr val="000000"/>
                  </a:solidFill>
                  <a:latin typeface="+mj-lt"/>
                  <a:ea typeface="MS PGothic" pitchFamily="34" charset="-128"/>
                </a:rPr>
                <a:t>5. Develop</a:t>
              </a:r>
              <a:br>
                <a:rPr lang="en-US" sz="1000" b="1" kern="0" dirty="0">
                  <a:solidFill>
                    <a:srgbClr val="000000"/>
                  </a:solidFill>
                  <a:latin typeface="+mj-lt"/>
                  <a:ea typeface="MS PGothic" pitchFamily="34" charset="-128"/>
                </a:rPr>
              </a:br>
              <a:r>
                <a:rPr lang="en-US" sz="1000" b="1" kern="0" dirty="0">
                  <a:solidFill>
                    <a:srgbClr val="000000"/>
                  </a:solidFill>
                  <a:latin typeface="+mj-lt"/>
                  <a:ea typeface="MS PGothic" pitchFamily="34" charset="-128"/>
                </a:rPr>
                <a:t>plan</a:t>
              </a:r>
            </a:p>
            <a:p>
              <a:pPr algn="ctr" eaLnBrk="0" hangingPunct="0">
                <a:lnSpc>
                  <a:spcPct val="95000"/>
                </a:lnSpc>
                <a:defRPr/>
              </a:pPr>
              <a:endParaRPr lang="en-US" sz="1000" b="1" kern="0" dirty="0">
                <a:solidFill>
                  <a:srgbClr val="000000"/>
                </a:solidFill>
                <a:latin typeface="+mj-lt"/>
                <a:ea typeface="MS PGothic" pitchFamily="34" charset="-128"/>
              </a:endParaRPr>
            </a:p>
          </p:txBody>
        </p:sp>
        <p:sp>
          <p:nvSpPr>
            <p:cNvPr id="23" name="Freeform 5"/>
            <p:cNvSpPr>
              <a:spLocks noChangeAspect="1"/>
            </p:cNvSpPr>
            <p:nvPr/>
          </p:nvSpPr>
          <p:spPr bwMode="gray">
            <a:xfrm>
              <a:off x="3633" y="2759"/>
              <a:ext cx="991" cy="604"/>
            </a:xfrm>
            <a:custGeom>
              <a:avLst/>
              <a:gdLst>
                <a:gd name="T0" fmla="*/ 736 w 640"/>
                <a:gd name="T1" fmla="*/ 0 h 418"/>
                <a:gd name="T2" fmla="*/ 152 w 640"/>
                <a:gd name="T3" fmla="*/ 133 h 418"/>
                <a:gd name="T4" fmla="*/ 0 w 640"/>
                <a:gd name="T5" fmla="*/ 660 h 418"/>
                <a:gd name="T6" fmla="*/ 96 w 640"/>
                <a:gd name="T7" fmla="*/ 574 h 418"/>
                <a:gd name="T8" fmla="*/ 201 w 640"/>
                <a:gd name="T9" fmla="*/ 642 h 418"/>
                <a:gd name="T10" fmla="*/ 311 w 640"/>
                <a:gd name="T11" fmla="*/ 699 h 418"/>
                <a:gd name="T12" fmla="*/ 432 w 640"/>
                <a:gd name="T13" fmla="*/ 750 h 418"/>
                <a:gd name="T14" fmla="*/ 554 w 640"/>
                <a:gd name="T15" fmla="*/ 792 h 418"/>
                <a:gd name="T16" fmla="*/ 681 w 640"/>
                <a:gd name="T17" fmla="*/ 825 h 418"/>
                <a:gd name="T18" fmla="*/ 813 w 640"/>
                <a:gd name="T19" fmla="*/ 850 h 418"/>
                <a:gd name="T20" fmla="*/ 948 w 640"/>
                <a:gd name="T21" fmla="*/ 864 h 418"/>
                <a:gd name="T22" fmla="*/ 1085 w 640"/>
                <a:gd name="T23" fmla="*/ 871 h 418"/>
                <a:gd name="T24" fmla="*/ 1202 w 640"/>
                <a:gd name="T25" fmla="*/ 864 h 418"/>
                <a:gd name="T26" fmla="*/ 1316 w 640"/>
                <a:gd name="T27" fmla="*/ 858 h 418"/>
                <a:gd name="T28" fmla="*/ 1426 w 640"/>
                <a:gd name="T29" fmla="*/ 837 h 418"/>
                <a:gd name="T30" fmla="*/ 1531 w 640"/>
                <a:gd name="T31" fmla="*/ 816 h 418"/>
                <a:gd name="T32" fmla="*/ 1177 w 640"/>
                <a:gd name="T33" fmla="*/ 517 h 418"/>
                <a:gd name="T34" fmla="*/ 1290 w 640"/>
                <a:gd name="T35" fmla="*/ 163 h 418"/>
                <a:gd name="T36" fmla="*/ 1192 w 640"/>
                <a:gd name="T37" fmla="*/ 179 h 418"/>
                <a:gd name="T38" fmla="*/ 1085 w 640"/>
                <a:gd name="T39" fmla="*/ 184 h 418"/>
                <a:gd name="T40" fmla="*/ 969 w 640"/>
                <a:gd name="T41" fmla="*/ 178 h 418"/>
                <a:gd name="T42" fmla="*/ 910 w 640"/>
                <a:gd name="T43" fmla="*/ 169 h 418"/>
                <a:gd name="T44" fmla="*/ 856 w 640"/>
                <a:gd name="T45" fmla="*/ 156 h 418"/>
                <a:gd name="T46" fmla="*/ 801 w 640"/>
                <a:gd name="T47" fmla="*/ 142 h 418"/>
                <a:gd name="T48" fmla="*/ 751 w 640"/>
                <a:gd name="T49" fmla="*/ 126 h 418"/>
                <a:gd name="T50" fmla="*/ 650 w 640"/>
                <a:gd name="T51" fmla="*/ 79 h 418"/>
                <a:gd name="T52" fmla="*/ 736 w 640"/>
                <a:gd name="T53" fmla="*/ 0 h 4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40"/>
                <a:gd name="T82" fmla="*/ 0 h 418"/>
                <a:gd name="T83" fmla="*/ 640 w 640"/>
                <a:gd name="T84" fmla="*/ 418 h 4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40" h="418">
                  <a:moveTo>
                    <a:pt x="307" y="0"/>
                  </a:moveTo>
                  <a:lnTo>
                    <a:pt x="63" y="64"/>
                  </a:lnTo>
                  <a:lnTo>
                    <a:pt x="0" y="316"/>
                  </a:lnTo>
                  <a:lnTo>
                    <a:pt x="40" y="275"/>
                  </a:lnTo>
                  <a:lnTo>
                    <a:pt x="84" y="307"/>
                  </a:lnTo>
                  <a:lnTo>
                    <a:pt x="130" y="335"/>
                  </a:lnTo>
                  <a:lnTo>
                    <a:pt x="180" y="359"/>
                  </a:lnTo>
                  <a:lnTo>
                    <a:pt x="231" y="379"/>
                  </a:lnTo>
                  <a:lnTo>
                    <a:pt x="284" y="395"/>
                  </a:lnTo>
                  <a:lnTo>
                    <a:pt x="339" y="407"/>
                  </a:lnTo>
                  <a:lnTo>
                    <a:pt x="395" y="414"/>
                  </a:lnTo>
                  <a:lnTo>
                    <a:pt x="453" y="417"/>
                  </a:lnTo>
                  <a:lnTo>
                    <a:pt x="501" y="414"/>
                  </a:lnTo>
                  <a:lnTo>
                    <a:pt x="549" y="411"/>
                  </a:lnTo>
                  <a:lnTo>
                    <a:pt x="595" y="401"/>
                  </a:lnTo>
                  <a:lnTo>
                    <a:pt x="639" y="391"/>
                  </a:lnTo>
                  <a:lnTo>
                    <a:pt x="491" y="248"/>
                  </a:lnTo>
                  <a:lnTo>
                    <a:pt x="538" y="78"/>
                  </a:lnTo>
                  <a:lnTo>
                    <a:pt x="497" y="86"/>
                  </a:lnTo>
                  <a:lnTo>
                    <a:pt x="453" y="88"/>
                  </a:lnTo>
                  <a:lnTo>
                    <a:pt x="404" y="85"/>
                  </a:lnTo>
                  <a:lnTo>
                    <a:pt x="380" y="81"/>
                  </a:lnTo>
                  <a:lnTo>
                    <a:pt x="357" y="75"/>
                  </a:lnTo>
                  <a:lnTo>
                    <a:pt x="334" y="68"/>
                  </a:lnTo>
                  <a:lnTo>
                    <a:pt x="313" y="60"/>
                  </a:lnTo>
                  <a:lnTo>
                    <a:pt x="271" y="38"/>
                  </a:lnTo>
                  <a:lnTo>
                    <a:pt x="307" y="0"/>
                  </a:lnTo>
                </a:path>
              </a:pathLst>
            </a:custGeom>
            <a:solidFill>
              <a:srgbClr val="FFD200"/>
            </a:solidFill>
            <a:ln w="19050" cap="rnd" algn="ctr">
              <a:solidFill>
                <a:srgbClr val="FFD200"/>
              </a:solidFill>
              <a:prstDash val="solid"/>
              <a:round/>
              <a:headEnd/>
              <a:tailEnd/>
            </a:ln>
          </p:spPr>
          <p:txBody>
            <a:bodyPr lIns="36000" tIns="36000" rIns="36000" bIns="36000" anchor="ctr"/>
            <a:lstStyle/>
            <a:p>
              <a:pPr algn="ctr" eaLnBrk="0" hangingPunct="0">
                <a:lnSpc>
                  <a:spcPct val="95000"/>
                </a:lnSpc>
                <a:defRPr/>
              </a:pPr>
              <a:endParaRPr lang="en-US" sz="1000" b="1" kern="0" dirty="0">
                <a:solidFill>
                  <a:srgbClr val="000000"/>
                </a:solidFill>
                <a:latin typeface="+mj-lt"/>
                <a:ea typeface="MS PGothic" pitchFamily="34" charset="-128"/>
              </a:endParaRPr>
            </a:p>
            <a:p>
              <a:pPr algn="ctr" eaLnBrk="0" hangingPunct="0">
                <a:lnSpc>
                  <a:spcPct val="95000"/>
                </a:lnSpc>
                <a:defRPr/>
              </a:pPr>
              <a:endParaRPr lang="en-US" sz="1000" b="1" kern="0" dirty="0">
                <a:solidFill>
                  <a:srgbClr val="000000"/>
                </a:solidFill>
                <a:latin typeface="+mj-lt"/>
                <a:ea typeface="MS PGothic" pitchFamily="34" charset="-128"/>
              </a:endParaRPr>
            </a:p>
            <a:p>
              <a:pPr algn="ctr" eaLnBrk="0" hangingPunct="0">
                <a:lnSpc>
                  <a:spcPct val="95000"/>
                </a:lnSpc>
                <a:defRPr/>
              </a:pPr>
              <a:r>
                <a:rPr lang="en-US" sz="1000" b="1" kern="0" dirty="0">
                  <a:solidFill>
                    <a:srgbClr val="000000"/>
                  </a:solidFill>
                  <a:latin typeface="+mj-lt"/>
                  <a:ea typeface="MS PGothic" pitchFamily="34" charset="-128"/>
                </a:rPr>
                <a:t>4. Understand </a:t>
              </a:r>
              <a:br>
                <a:rPr lang="en-US" sz="1000" b="1" kern="0" dirty="0">
                  <a:solidFill>
                    <a:srgbClr val="000000"/>
                  </a:solidFill>
                  <a:latin typeface="+mj-lt"/>
                  <a:ea typeface="MS PGothic" pitchFamily="34" charset="-128"/>
                </a:rPr>
              </a:br>
              <a:r>
                <a:rPr lang="en-US" sz="1000" b="1" kern="0" dirty="0">
                  <a:solidFill>
                    <a:srgbClr val="000000"/>
                  </a:solidFill>
                  <a:latin typeface="+mj-lt"/>
                  <a:ea typeface="MS PGothic" pitchFamily="34" charset="-128"/>
                </a:rPr>
                <a:t>the </a:t>
              </a:r>
              <a:br>
                <a:rPr lang="en-US" sz="1000" b="1" kern="0" dirty="0">
                  <a:solidFill>
                    <a:srgbClr val="000000"/>
                  </a:solidFill>
                  <a:latin typeface="+mj-lt"/>
                  <a:ea typeface="MS PGothic" pitchFamily="34" charset="-128"/>
                </a:rPr>
              </a:br>
              <a:r>
                <a:rPr lang="en-US" sz="1000" b="1" kern="0" dirty="0">
                  <a:solidFill>
                    <a:srgbClr val="000000"/>
                  </a:solidFill>
                  <a:latin typeface="+mj-lt"/>
                  <a:ea typeface="MS PGothic" pitchFamily="34" charset="-128"/>
                </a:rPr>
                <a:t>stakeholders</a:t>
              </a:r>
            </a:p>
            <a:p>
              <a:pPr algn="ctr" eaLnBrk="0" hangingPunct="0">
                <a:lnSpc>
                  <a:spcPct val="95000"/>
                </a:lnSpc>
                <a:defRPr/>
              </a:pPr>
              <a:endParaRPr lang="en-US" sz="1000" b="1" kern="0" dirty="0">
                <a:solidFill>
                  <a:srgbClr val="000000"/>
                </a:solidFill>
                <a:latin typeface="+mj-lt"/>
                <a:ea typeface="MS PGothic" pitchFamily="34" charset="-128"/>
              </a:endParaRPr>
            </a:p>
          </p:txBody>
        </p:sp>
        <p:sp>
          <p:nvSpPr>
            <p:cNvPr id="24" name="Freeform 6"/>
            <p:cNvSpPr>
              <a:spLocks noChangeAspect="1"/>
            </p:cNvSpPr>
            <p:nvPr/>
          </p:nvSpPr>
          <p:spPr bwMode="gray">
            <a:xfrm>
              <a:off x="4464" y="2525"/>
              <a:ext cx="890" cy="845"/>
            </a:xfrm>
            <a:custGeom>
              <a:avLst/>
              <a:gdLst>
                <a:gd name="T0" fmla="*/ 161 w 575"/>
                <a:gd name="T1" fmla="*/ 337 h 585"/>
                <a:gd name="T2" fmla="*/ 0 w 575"/>
                <a:gd name="T3" fmla="*/ 844 h 585"/>
                <a:gd name="T4" fmla="*/ 450 w 575"/>
                <a:gd name="T5" fmla="*/ 1219 h 585"/>
                <a:gd name="T6" fmla="*/ 412 w 575"/>
                <a:gd name="T7" fmla="*/ 1104 h 585"/>
                <a:gd name="T8" fmla="*/ 500 w 575"/>
                <a:gd name="T9" fmla="*/ 1070 h 585"/>
                <a:gd name="T10" fmla="*/ 582 w 575"/>
                <a:gd name="T11" fmla="*/ 1033 h 585"/>
                <a:gd name="T12" fmla="*/ 666 w 575"/>
                <a:gd name="T13" fmla="*/ 989 h 585"/>
                <a:gd name="T14" fmla="*/ 743 w 575"/>
                <a:gd name="T15" fmla="*/ 943 h 585"/>
                <a:gd name="T16" fmla="*/ 819 w 575"/>
                <a:gd name="T17" fmla="*/ 893 h 585"/>
                <a:gd name="T18" fmla="*/ 888 w 575"/>
                <a:gd name="T19" fmla="*/ 841 h 585"/>
                <a:gd name="T20" fmla="*/ 958 w 575"/>
                <a:gd name="T21" fmla="*/ 783 h 585"/>
                <a:gd name="T22" fmla="*/ 1023 w 575"/>
                <a:gd name="T23" fmla="*/ 727 h 585"/>
                <a:gd name="T24" fmla="*/ 1083 w 575"/>
                <a:gd name="T25" fmla="*/ 662 h 585"/>
                <a:gd name="T26" fmla="*/ 1138 w 575"/>
                <a:gd name="T27" fmla="*/ 595 h 585"/>
                <a:gd name="T28" fmla="*/ 1189 w 575"/>
                <a:gd name="T29" fmla="*/ 526 h 585"/>
                <a:gd name="T30" fmla="*/ 1237 w 575"/>
                <a:gd name="T31" fmla="*/ 455 h 585"/>
                <a:gd name="T32" fmla="*/ 1277 w 575"/>
                <a:gd name="T33" fmla="*/ 381 h 585"/>
                <a:gd name="T34" fmla="*/ 1316 w 575"/>
                <a:gd name="T35" fmla="*/ 305 h 585"/>
                <a:gd name="T36" fmla="*/ 1348 w 575"/>
                <a:gd name="T37" fmla="*/ 225 h 585"/>
                <a:gd name="T38" fmla="*/ 1374 w 575"/>
                <a:gd name="T39" fmla="*/ 146 h 585"/>
                <a:gd name="T40" fmla="*/ 898 w 575"/>
                <a:gd name="T41" fmla="*/ 263 h 585"/>
                <a:gd name="T42" fmla="*/ 599 w 575"/>
                <a:gd name="T43" fmla="*/ 0 h 585"/>
                <a:gd name="T44" fmla="*/ 573 w 575"/>
                <a:gd name="T45" fmla="*/ 69 h 585"/>
                <a:gd name="T46" fmla="*/ 537 w 575"/>
                <a:gd name="T47" fmla="*/ 136 h 585"/>
                <a:gd name="T48" fmla="*/ 494 w 575"/>
                <a:gd name="T49" fmla="*/ 196 h 585"/>
                <a:gd name="T50" fmla="*/ 443 w 575"/>
                <a:gd name="T51" fmla="*/ 254 h 585"/>
                <a:gd name="T52" fmla="*/ 390 w 575"/>
                <a:gd name="T53" fmla="*/ 306 h 585"/>
                <a:gd name="T54" fmla="*/ 328 w 575"/>
                <a:gd name="T55" fmla="*/ 357 h 585"/>
                <a:gd name="T56" fmla="*/ 263 w 575"/>
                <a:gd name="T57" fmla="*/ 399 h 585"/>
                <a:gd name="T58" fmla="*/ 193 w 575"/>
                <a:gd name="T59" fmla="*/ 436 h 585"/>
                <a:gd name="T60" fmla="*/ 161 w 575"/>
                <a:gd name="T61" fmla="*/ 337 h 58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75"/>
                <a:gd name="T94" fmla="*/ 0 h 585"/>
                <a:gd name="T95" fmla="*/ 575 w 575"/>
                <a:gd name="T96" fmla="*/ 585 h 58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75" h="585">
                  <a:moveTo>
                    <a:pt x="67" y="161"/>
                  </a:moveTo>
                  <a:lnTo>
                    <a:pt x="0" y="404"/>
                  </a:lnTo>
                  <a:lnTo>
                    <a:pt x="188" y="584"/>
                  </a:lnTo>
                  <a:lnTo>
                    <a:pt x="172" y="529"/>
                  </a:lnTo>
                  <a:lnTo>
                    <a:pt x="209" y="513"/>
                  </a:lnTo>
                  <a:lnTo>
                    <a:pt x="243" y="495"/>
                  </a:lnTo>
                  <a:lnTo>
                    <a:pt x="278" y="474"/>
                  </a:lnTo>
                  <a:lnTo>
                    <a:pt x="310" y="452"/>
                  </a:lnTo>
                  <a:lnTo>
                    <a:pt x="342" y="428"/>
                  </a:lnTo>
                  <a:lnTo>
                    <a:pt x="371" y="403"/>
                  </a:lnTo>
                  <a:lnTo>
                    <a:pt x="400" y="375"/>
                  </a:lnTo>
                  <a:lnTo>
                    <a:pt x="427" y="348"/>
                  </a:lnTo>
                  <a:lnTo>
                    <a:pt x="452" y="317"/>
                  </a:lnTo>
                  <a:lnTo>
                    <a:pt x="475" y="285"/>
                  </a:lnTo>
                  <a:lnTo>
                    <a:pt x="496" y="252"/>
                  </a:lnTo>
                  <a:lnTo>
                    <a:pt x="516" y="218"/>
                  </a:lnTo>
                  <a:lnTo>
                    <a:pt x="533" y="183"/>
                  </a:lnTo>
                  <a:lnTo>
                    <a:pt x="549" y="146"/>
                  </a:lnTo>
                  <a:lnTo>
                    <a:pt x="563" y="108"/>
                  </a:lnTo>
                  <a:lnTo>
                    <a:pt x="574" y="70"/>
                  </a:lnTo>
                  <a:lnTo>
                    <a:pt x="375" y="126"/>
                  </a:lnTo>
                  <a:lnTo>
                    <a:pt x="250" y="0"/>
                  </a:lnTo>
                  <a:lnTo>
                    <a:pt x="239" y="33"/>
                  </a:lnTo>
                  <a:lnTo>
                    <a:pt x="224" y="65"/>
                  </a:lnTo>
                  <a:lnTo>
                    <a:pt x="206" y="94"/>
                  </a:lnTo>
                  <a:lnTo>
                    <a:pt x="185" y="122"/>
                  </a:lnTo>
                  <a:lnTo>
                    <a:pt x="163" y="147"/>
                  </a:lnTo>
                  <a:lnTo>
                    <a:pt x="137" y="171"/>
                  </a:lnTo>
                  <a:lnTo>
                    <a:pt x="110" y="191"/>
                  </a:lnTo>
                  <a:lnTo>
                    <a:pt x="81" y="209"/>
                  </a:lnTo>
                  <a:lnTo>
                    <a:pt x="67" y="161"/>
                  </a:lnTo>
                </a:path>
              </a:pathLst>
            </a:custGeom>
            <a:solidFill>
              <a:srgbClr val="FFD200"/>
            </a:solidFill>
            <a:ln w="19050" cap="rnd" algn="ctr">
              <a:solidFill>
                <a:srgbClr val="FFD200"/>
              </a:solidFill>
              <a:prstDash val="solid"/>
              <a:round/>
              <a:headEnd/>
              <a:tailEnd/>
            </a:ln>
          </p:spPr>
          <p:txBody>
            <a:bodyPr lIns="36000" tIns="36000" rIns="36000" bIns="36000" anchor="ctr"/>
            <a:lstStyle/>
            <a:p>
              <a:pPr algn="ctr" eaLnBrk="0" hangingPunct="0">
                <a:lnSpc>
                  <a:spcPct val="95000"/>
                </a:lnSpc>
                <a:defRPr/>
              </a:pPr>
              <a:r>
                <a:rPr lang="en-US" sz="1000" b="1" kern="0" dirty="0">
                  <a:solidFill>
                    <a:srgbClr val="000000"/>
                  </a:solidFill>
                  <a:latin typeface="+mj-lt"/>
                  <a:ea typeface="MS PGothic" pitchFamily="34" charset="-128"/>
                </a:rPr>
                <a:t>3. Build </a:t>
              </a:r>
              <a:br>
                <a:rPr lang="en-US" sz="1000" b="1" kern="0" dirty="0">
                  <a:solidFill>
                    <a:srgbClr val="000000"/>
                  </a:solidFill>
                  <a:latin typeface="+mj-lt"/>
                  <a:ea typeface="MS PGothic" pitchFamily="34" charset="-128"/>
                </a:rPr>
              </a:br>
              <a:r>
                <a:rPr lang="en-US" sz="1000" b="1" kern="0" dirty="0">
                  <a:solidFill>
                    <a:srgbClr val="000000"/>
                  </a:solidFill>
                  <a:latin typeface="+mj-lt"/>
                  <a:ea typeface="MS PGothic" pitchFamily="34" charset="-128"/>
                </a:rPr>
                <a:t>the map</a:t>
              </a:r>
            </a:p>
          </p:txBody>
        </p:sp>
        <p:sp>
          <p:nvSpPr>
            <p:cNvPr id="25" name="Freeform 7"/>
            <p:cNvSpPr>
              <a:spLocks noChangeAspect="1"/>
            </p:cNvSpPr>
            <p:nvPr/>
          </p:nvSpPr>
          <p:spPr bwMode="gray">
            <a:xfrm>
              <a:off x="4727" y="1687"/>
              <a:ext cx="732" cy="961"/>
            </a:xfrm>
            <a:custGeom>
              <a:avLst/>
              <a:gdLst>
                <a:gd name="T0" fmla="*/ 105 w 473"/>
                <a:gd name="T1" fmla="*/ 1007 h 666"/>
                <a:gd name="T2" fmla="*/ 534 w 473"/>
                <a:gd name="T3" fmla="*/ 1385 h 666"/>
                <a:gd name="T4" fmla="*/ 1130 w 473"/>
                <a:gd name="T5" fmla="*/ 1235 h 666"/>
                <a:gd name="T6" fmla="*/ 998 w 473"/>
                <a:gd name="T7" fmla="*/ 1203 h 666"/>
                <a:gd name="T8" fmla="*/ 1011 w 473"/>
                <a:gd name="T9" fmla="*/ 1105 h 666"/>
                <a:gd name="T10" fmla="*/ 1015 w 473"/>
                <a:gd name="T11" fmla="*/ 1006 h 666"/>
                <a:gd name="T12" fmla="*/ 1006 w 473"/>
                <a:gd name="T13" fmla="*/ 860 h 666"/>
                <a:gd name="T14" fmla="*/ 980 w 473"/>
                <a:gd name="T15" fmla="*/ 719 h 666"/>
                <a:gd name="T16" fmla="*/ 939 w 473"/>
                <a:gd name="T17" fmla="*/ 582 h 666"/>
                <a:gd name="T18" fmla="*/ 884 w 473"/>
                <a:gd name="T19" fmla="*/ 452 h 666"/>
                <a:gd name="T20" fmla="*/ 850 w 473"/>
                <a:gd name="T21" fmla="*/ 387 h 666"/>
                <a:gd name="T22" fmla="*/ 812 w 473"/>
                <a:gd name="T23" fmla="*/ 328 h 666"/>
                <a:gd name="T24" fmla="*/ 774 w 473"/>
                <a:gd name="T25" fmla="*/ 264 h 666"/>
                <a:gd name="T26" fmla="*/ 730 w 473"/>
                <a:gd name="T27" fmla="*/ 211 h 666"/>
                <a:gd name="T28" fmla="*/ 682 w 473"/>
                <a:gd name="T29" fmla="*/ 154 h 666"/>
                <a:gd name="T30" fmla="*/ 633 w 473"/>
                <a:gd name="T31" fmla="*/ 100 h 666"/>
                <a:gd name="T32" fmla="*/ 525 w 473"/>
                <a:gd name="T33" fmla="*/ 0 h 666"/>
                <a:gd name="T34" fmla="*/ 405 w 473"/>
                <a:gd name="T35" fmla="*/ 420 h 666"/>
                <a:gd name="T36" fmla="*/ 0 w 473"/>
                <a:gd name="T37" fmla="*/ 511 h 666"/>
                <a:gd name="T38" fmla="*/ 48 w 473"/>
                <a:gd name="T39" fmla="*/ 563 h 666"/>
                <a:gd name="T40" fmla="*/ 93 w 473"/>
                <a:gd name="T41" fmla="*/ 616 h 666"/>
                <a:gd name="T42" fmla="*/ 132 w 473"/>
                <a:gd name="T43" fmla="*/ 675 h 666"/>
                <a:gd name="T44" fmla="*/ 166 w 473"/>
                <a:gd name="T45" fmla="*/ 734 h 666"/>
                <a:gd name="T46" fmla="*/ 189 w 473"/>
                <a:gd name="T47" fmla="*/ 799 h 666"/>
                <a:gd name="T48" fmla="*/ 210 w 473"/>
                <a:gd name="T49" fmla="*/ 866 h 666"/>
                <a:gd name="T50" fmla="*/ 220 w 473"/>
                <a:gd name="T51" fmla="*/ 935 h 666"/>
                <a:gd name="T52" fmla="*/ 224 w 473"/>
                <a:gd name="T53" fmla="*/ 1006 h 666"/>
                <a:gd name="T54" fmla="*/ 223 w 473"/>
                <a:gd name="T55" fmla="*/ 1033 h 666"/>
                <a:gd name="T56" fmla="*/ 105 w 473"/>
                <a:gd name="T57" fmla="*/ 1007 h 66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3"/>
                <a:gd name="T88" fmla="*/ 0 h 666"/>
                <a:gd name="T89" fmla="*/ 473 w 473"/>
                <a:gd name="T90" fmla="*/ 666 h 66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3" h="666">
                  <a:moveTo>
                    <a:pt x="44" y="484"/>
                  </a:moveTo>
                  <a:lnTo>
                    <a:pt x="223" y="665"/>
                  </a:lnTo>
                  <a:lnTo>
                    <a:pt x="472" y="593"/>
                  </a:lnTo>
                  <a:lnTo>
                    <a:pt x="417" y="578"/>
                  </a:lnTo>
                  <a:lnTo>
                    <a:pt x="422" y="531"/>
                  </a:lnTo>
                  <a:lnTo>
                    <a:pt x="424" y="483"/>
                  </a:lnTo>
                  <a:lnTo>
                    <a:pt x="420" y="413"/>
                  </a:lnTo>
                  <a:lnTo>
                    <a:pt x="409" y="345"/>
                  </a:lnTo>
                  <a:lnTo>
                    <a:pt x="392" y="279"/>
                  </a:lnTo>
                  <a:lnTo>
                    <a:pt x="369" y="217"/>
                  </a:lnTo>
                  <a:lnTo>
                    <a:pt x="355" y="186"/>
                  </a:lnTo>
                  <a:lnTo>
                    <a:pt x="339" y="157"/>
                  </a:lnTo>
                  <a:lnTo>
                    <a:pt x="323" y="127"/>
                  </a:lnTo>
                  <a:lnTo>
                    <a:pt x="305" y="101"/>
                  </a:lnTo>
                  <a:lnTo>
                    <a:pt x="285" y="74"/>
                  </a:lnTo>
                  <a:lnTo>
                    <a:pt x="264" y="48"/>
                  </a:lnTo>
                  <a:lnTo>
                    <a:pt x="219" y="0"/>
                  </a:lnTo>
                  <a:lnTo>
                    <a:pt x="169" y="202"/>
                  </a:lnTo>
                  <a:lnTo>
                    <a:pt x="0" y="245"/>
                  </a:lnTo>
                  <a:lnTo>
                    <a:pt x="20" y="270"/>
                  </a:lnTo>
                  <a:lnTo>
                    <a:pt x="39" y="296"/>
                  </a:lnTo>
                  <a:lnTo>
                    <a:pt x="55" y="324"/>
                  </a:lnTo>
                  <a:lnTo>
                    <a:pt x="69" y="353"/>
                  </a:lnTo>
                  <a:lnTo>
                    <a:pt x="79" y="384"/>
                  </a:lnTo>
                  <a:lnTo>
                    <a:pt x="88" y="416"/>
                  </a:lnTo>
                  <a:lnTo>
                    <a:pt x="92" y="449"/>
                  </a:lnTo>
                  <a:lnTo>
                    <a:pt x="94" y="483"/>
                  </a:lnTo>
                  <a:lnTo>
                    <a:pt x="93" y="496"/>
                  </a:lnTo>
                  <a:lnTo>
                    <a:pt x="44" y="484"/>
                  </a:lnTo>
                </a:path>
              </a:pathLst>
            </a:custGeom>
            <a:solidFill>
              <a:srgbClr val="FFD200"/>
            </a:solidFill>
            <a:ln w="19050" cap="rnd" algn="ctr">
              <a:solidFill>
                <a:srgbClr val="FFD200"/>
              </a:solidFill>
              <a:prstDash val="solid"/>
              <a:round/>
              <a:headEnd/>
              <a:tailEnd/>
            </a:ln>
          </p:spPr>
          <p:txBody>
            <a:bodyPr lIns="36000" tIns="36000" rIns="36000" bIns="36000" anchor="ctr"/>
            <a:lstStyle/>
            <a:p>
              <a:pPr algn="ctr">
                <a:lnSpc>
                  <a:spcPct val="95000"/>
                </a:lnSpc>
                <a:defRPr/>
              </a:pPr>
              <a:endParaRPr lang="en-US" sz="1000" b="1" kern="0" dirty="0">
                <a:solidFill>
                  <a:srgbClr val="000000"/>
                </a:solidFill>
                <a:latin typeface="+mj-lt"/>
                <a:ea typeface="MS PGothic" pitchFamily="34" charset="-128"/>
              </a:endParaRPr>
            </a:p>
            <a:p>
              <a:pPr algn="ctr">
                <a:lnSpc>
                  <a:spcPct val="95000"/>
                </a:lnSpc>
                <a:defRPr/>
              </a:pPr>
              <a:endParaRPr lang="en-US" sz="1000" b="1" kern="0" dirty="0">
                <a:solidFill>
                  <a:srgbClr val="000000"/>
                </a:solidFill>
                <a:latin typeface="+mj-lt"/>
                <a:ea typeface="MS PGothic" pitchFamily="34" charset="-128"/>
              </a:endParaRPr>
            </a:p>
            <a:p>
              <a:pPr algn="ctr">
                <a:lnSpc>
                  <a:spcPct val="95000"/>
                </a:lnSpc>
                <a:defRPr/>
              </a:pPr>
              <a:r>
                <a:rPr lang="en-US" sz="1000" b="1" kern="0" dirty="0">
                  <a:solidFill>
                    <a:srgbClr val="000000"/>
                  </a:solidFill>
                  <a:latin typeface="+mj-lt"/>
                  <a:ea typeface="MS PGothic" pitchFamily="34" charset="-128"/>
                </a:rPr>
                <a:t>2. Identify</a:t>
              </a:r>
              <a:br>
                <a:rPr lang="en-US" sz="1000" b="1" kern="0" dirty="0">
                  <a:solidFill>
                    <a:srgbClr val="000000"/>
                  </a:solidFill>
                  <a:latin typeface="+mj-lt"/>
                  <a:ea typeface="MS PGothic" pitchFamily="34" charset="-128"/>
                </a:rPr>
              </a:br>
              <a:r>
                <a:rPr lang="en-US" sz="1000" b="1" kern="0" dirty="0">
                  <a:solidFill>
                    <a:srgbClr val="000000"/>
                  </a:solidFill>
                  <a:latin typeface="+mj-lt"/>
                  <a:ea typeface="MS PGothic" pitchFamily="34" charset="-128"/>
                </a:rPr>
                <a:t>the stake-</a:t>
              </a:r>
              <a:br>
                <a:rPr lang="en-US" sz="1000" b="1" kern="0" dirty="0">
                  <a:solidFill>
                    <a:srgbClr val="000000"/>
                  </a:solidFill>
                  <a:latin typeface="+mj-lt"/>
                  <a:ea typeface="MS PGothic" pitchFamily="34" charset="-128"/>
                </a:rPr>
              </a:br>
              <a:r>
                <a:rPr lang="en-US" sz="1000" b="1" kern="0" dirty="0">
                  <a:solidFill>
                    <a:srgbClr val="000000"/>
                  </a:solidFill>
                  <a:latin typeface="+mj-lt"/>
                  <a:ea typeface="MS PGothic" pitchFamily="34" charset="-128"/>
                </a:rPr>
                <a:t>holders</a:t>
              </a:r>
            </a:p>
          </p:txBody>
        </p:sp>
        <p:sp>
          <p:nvSpPr>
            <p:cNvPr id="26" name="Freeform 8"/>
            <p:cNvSpPr>
              <a:spLocks noChangeAspect="1"/>
            </p:cNvSpPr>
            <p:nvPr/>
          </p:nvSpPr>
          <p:spPr bwMode="gray">
            <a:xfrm>
              <a:off x="4047" y="1408"/>
              <a:ext cx="997" cy="609"/>
            </a:xfrm>
            <a:custGeom>
              <a:avLst/>
              <a:gdLst>
                <a:gd name="T0" fmla="*/ 801 w 645"/>
                <a:gd name="T1" fmla="*/ 877 h 422"/>
                <a:gd name="T2" fmla="*/ 1387 w 645"/>
                <a:gd name="T3" fmla="*/ 746 h 422"/>
                <a:gd name="T4" fmla="*/ 1538 w 645"/>
                <a:gd name="T5" fmla="*/ 219 h 422"/>
                <a:gd name="T6" fmla="*/ 1444 w 645"/>
                <a:gd name="T7" fmla="*/ 302 h 422"/>
                <a:gd name="T8" fmla="*/ 1336 w 645"/>
                <a:gd name="T9" fmla="*/ 235 h 422"/>
                <a:gd name="T10" fmla="*/ 1223 w 645"/>
                <a:gd name="T11" fmla="*/ 178 h 422"/>
                <a:gd name="T12" fmla="*/ 1107 w 645"/>
                <a:gd name="T13" fmla="*/ 123 h 422"/>
                <a:gd name="T14" fmla="*/ 982 w 645"/>
                <a:gd name="T15" fmla="*/ 81 h 422"/>
                <a:gd name="T16" fmla="*/ 853 w 645"/>
                <a:gd name="T17" fmla="*/ 43 h 422"/>
                <a:gd name="T18" fmla="*/ 722 w 645"/>
                <a:gd name="T19" fmla="*/ 19 h 422"/>
                <a:gd name="T20" fmla="*/ 583 w 645"/>
                <a:gd name="T21" fmla="*/ 4 h 422"/>
                <a:gd name="T22" fmla="*/ 445 w 645"/>
                <a:gd name="T23" fmla="*/ 0 h 422"/>
                <a:gd name="T24" fmla="*/ 329 w 645"/>
                <a:gd name="T25" fmla="*/ 4 h 422"/>
                <a:gd name="T26" fmla="*/ 218 w 645"/>
                <a:gd name="T27" fmla="*/ 13 h 422"/>
                <a:gd name="T28" fmla="*/ 108 w 645"/>
                <a:gd name="T29" fmla="*/ 32 h 422"/>
                <a:gd name="T30" fmla="*/ 0 w 645"/>
                <a:gd name="T31" fmla="*/ 55 h 422"/>
                <a:gd name="T32" fmla="*/ 363 w 645"/>
                <a:gd name="T33" fmla="*/ 361 h 422"/>
                <a:gd name="T34" fmla="*/ 255 w 645"/>
                <a:gd name="T35" fmla="*/ 700 h 422"/>
                <a:gd name="T36" fmla="*/ 349 w 645"/>
                <a:gd name="T37" fmla="*/ 687 h 422"/>
                <a:gd name="T38" fmla="*/ 445 w 645"/>
                <a:gd name="T39" fmla="*/ 683 h 422"/>
                <a:gd name="T40" fmla="*/ 566 w 645"/>
                <a:gd name="T41" fmla="*/ 690 h 422"/>
                <a:gd name="T42" fmla="*/ 682 w 645"/>
                <a:gd name="T43" fmla="*/ 713 h 422"/>
                <a:gd name="T44" fmla="*/ 788 w 645"/>
                <a:gd name="T45" fmla="*/ 748 h 422"/>
                <a:gd name="T46" fmla="*/ 892 w 645"/>
                <a:gd name="T47" fmla="*/ 795 h 422"/>
                <a:gd name="T48" fmla="*/ 801 w 645"/>
                <a:gd name="T49" fmla="*/ 877 h 42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5"/>
                <a:gd name="T76" fmla="*/ 0 h 422"/>
                <a:gd name="T77" fmla="*/ 645 w 645"/>
                <a:gd name="T78" fmla="*/ 422 h 42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5" h="422">
                  <a:moveTo>
                    <a:pt x="335" y="421"/>
                  </a:moveTo>
                  <a:lnTo>
                    <a:pt x="580" y="358"/>
                  </a:lnTo>
                  <a:lnTo>
                    <a:pt x="644" y="105"/>
                  </a:lnTo>
                  <a:lnTo>
                    <a:pt x="604" y="145"/>
                  </a:lnTo>
                  <a:lnTo>
                    <a:pt x="559" y="113"/>
                  </a:lnTo>
                  <a:lnTo>
                    <a:pt x="512" y="85"/>
                  </a:lnTo>
                  <a:lnTo>
                    <a:pt x="463" y="59"/>
                  </a:lnTo>
                  <a:lnTo>
                    <a:pt x="411" y="39"/>
                  </a:lnTo>
                  <a:lnTo>
                    <a:pt x="357" y="21"/>
                  </a:lnTo>
                  <a:lnTo>
                    <a:pt x="302" y="9"/>
                  </a:lnTo>
                  <a:lnTo>
                    <a:pt x="244" y="2"/>
                  </a:lnTo>
                  <a:lnTo>
                    <a:pt x="186" y="0"/>
                  </a:lnTo>
                  <a:lnTo>
                    <a:pt x="138" y="2"/>
                  </a:lnTo>
                  <a:lnTo>
                    <a:pt x="91" y="6"/>
                  </a:lnTo>
                  <a:lnTo>
                    <a:pt x="45" y="15"/>
                  </a:lnTo>
                  <a:lnTo>
                    <a:pt x="0" y="26"/>
                  </a:lnTo>
                  <a:lnTo>
                    <a:pt x="152" y="173"/>
                  </a:lnTo>
                  <a:lnTo>
                    <a:pt x="107" y="336"/>
                  </a:lnTo>
                  <a:lnTo>
                    <a:pt x="146" y="330"/>
                  </a:lnTo>
                  <a:lnTo>
                    <a:pt x="186" y="328"/>
                  </a:lnTo>
                  <a:lnTo>
                    <a:pt x="237" y="331"/>
                  </a:lnTo>
                  <a:lnTo>
                    <a:pt x="285" y="342"/>
                  </a:lnTo>
                  <a:lnTo>
                    <a:pt x="330" y="359"/>
                  </a:lnTo>
                  <a:lnTo>
                    <a:pt x="373" y="382"/>
                  </a:lnTo>
                  <a:lnTo>
                    <a:pt x="335" y="421"/>
                  </a:lnTo>
                </a:path>
              </a:pathLst>
            </a:custGeom>
            <a:solidFill>
              <a:srgbClr val="FFD200"/>
            </a:solidFill>
            <a:ln w="19050" cap="rnd">
              <a:solidFill>
                <a:srgbClr val="FFD200"/>
              </a:solidFill>
              <a:prstDash val="solid"/>
              <a:round/>
              <a:headEnd/>
              <a:tailEnd/>
            </a:ln>
          </p:spPr>
          <p:txBody>
            <a:bodyPr lIns="36000" tIns="36000" rIns="36000" bIns="36000" anchor="ctr"/>
            <a:lstStyle/>
            <a:p>
              <a:pPr marL="206438" algn="ctr" eaLnBrk="0" hangingPunct="0">
                <a:lnSpc>
                  <a:spcPct val="95000"/>
                </a:lnSpc>
                <a:defRPr/>
              </a:pPr>
              <a:r>
                <a:rPr lang="en-US" sz="1000" b="1" kern="0" dirty="0">
                  <a:solidFill>
                    <a:srgbClr val="000000"/>
                  </a:solidFill>
                  <a:latin typeface="+mj-lt"/>
                  <a:ea typeface="MS PGothic" pitchFamily="34" charset="-128"/>
                </a:rPr>
                <a:t>1. Define </a:t>
              </a:r>
              <a:br>
                <a:rPr lang="en-US" sz="1000" b="1" kern="0" dirty="0">
                  <a:solidFill>
                    <a:srgbClr val="000000"/>
                  </a:solidFill>
                  <a:latin typeface="+mj-lt"/>
                  <a:ea typeface="MS PGothic" pitchFamily="34" charset="-128"/>
                </a:rPr>
              </a:br>
              <a:r>
                <a:rPr lang="en-US" sz="1000" b="1" kern="0" dirty="0">
                  <a:solidFill>
                    <a:srgbClr val="000000"/>
                  </a:solidFill>
                  <a:latin typeface="+mj-lt"/>
                  <a:ea typeface="MS PGothic" pitchFamily="34" charset="-128"/>
                </a:rPr>
                <a:t>the goals</a:t>
              </a:r>
            </a:p>
          </p:txBody>
        </p:sp>
        <p:sp>
          <p:nvSpPr>
            <p:cNvPr id="27" name="Freeform 9"/>
            <p:cNvSpPr>
              <a:spLocks noChangeAspect="1"/>
            </p:cNvSpPr>
            <p:nvPr/>
          </p:nvSpPr>
          <p:spPr bwMode="gray">
            <a:xfrm>
              <a:off x="3316" y="1402"/>
              <a:ext cx="895" cy="841"/>
            </a:xfrm>
            <a:custGeom>
              <a:avLst/>
              <a:gdLst>
                <a:gd name="T0" fmla="*/ 1223 w 578"/>
                <a:gd name="T1" fmla="*/ 890 h 582"/>
                <a:gd name="T2" fmla="*/ 1383 w 578"/>
                <a:gd name="T3" fmla="*/ 380 h 582"/>
                <a:gd name="T4" fmla="*/ 935 w 578"/>
                <a:gd name="T5" fmla="*/ 0 h 582"/>
                <a:gd name="T6" fmla="*/ 971 w 578"/>
                <a:gd name="T7" fmla="*/ 108 h 582"/>
                <a:gd name="T8" fmla="*/ 883 w 578"/>
                <a:gd name="T9" fmla="*/ 142 h 582"/>
                <a:gd name="T10" fmla="*/ 796 w 578"/>
                <a:gd name="T11" fmla="*/ 179 h 582"/>
                <a:gd name="T12" fmla="*/ 635 w 578"/>
                <a:gd name="T13" fmla="*/ 269 h 582"/>
                <a:gd name="T14" fmla="*/ 559 w 578"/>
                <a:gd name="T15" fmla="*/ 319 h 582"/>
                <a:gd name="T16" fmla="*/ 486 w 578"/>
                <a:gd name="T17" fmla="*/ 374 h 582"/>
                <a:gd name="T18" fmla="*/ 417 w 578"/>
                <a:gd name="T19" fmla="*/ 432 h 582"/>
                <a:gd name="T20" fmla="*/ 353 w 578"/>
                <a:gd name="T21" fmla="*/ 491 h 582"/>
                <a:gd name="T22" fmla="*/ 293 w 578"/>
                <a:gd name="T23" fmla="*/ 555 h 582"/>
                <a:gd name="T24" fmla="*/ 237 w 578"/>
                <a:gd name="T25" fmla="*/ 623 h 582"/>
                <a:gd name="T26" fmla="*/ 184 w 578"/>
                <a:gd name="T27" fmla="*/ 694 h 582"/>
                <a:gd name="T28" fmla="*/ 136 w 578"/>
                <a:gd name="T29" fmla="*/ 766 h 582"/>
                <a:gd name="T30" fmla="*/ 98 w 578"/>
                <a:gd name="T31" fmla="*/ 841 h 582"/>
                <a:gd name="T32" fmla="*/ 60 w 578"/>
                <a:gd name="T33" fmla="*/ 919 h 582"/>
                <a:gd name="T34" fmla="*/ 0 w 578"/>
                <a:gd name="T35" fmla="*/ 1082 h 582"/>
                <a:gd name="T36" fmla="*/ 489 w 578"/>
                <a:gd name="T37" fmla="*/ 958 h 582"/>
                <a:gd name="T38" fmla="*/ 777 w 578"/>
                <a:gd name="T39" fmla="*/ 1214 h 582"/>
                <a:gd name="T40" fmla="*/ 805 w 578"/>
                <a:gd name="T41" fmla="*/ 1144 h 582"/>
                <a:gd name="T42" fmla="*/ 839 w 578"/>
                <a:gd name="T43" fmla="*/ 1078 h 582"/>
                <a:gd name="T44" fmla="*/ 884 w 578"/>
                <a:gd name="T45" fmla="*/ 1014 h 582"/>
                <a:gd name="T46" fmla="*/ 932 w 578"/>
                <a:gd name="T47" fmla="*/ 957 h 582"/>
                <a:gd name="T48" fmla="*/ 988 w 578"/>
                <a:gd name="T49" fmla="*/ 905 h 582"/>
                <a:gd name="T50" fmla="*/ 1050 w 578"/>
                <a:gd name="T51" fmla="*/ 854 h 582"/>
                <a:gd name="T52" fmla="*/ 1115 w 578"/>
                <a:gd name="T53" fmla="*/ 812 h 582"/>
                <a:gd name="T54" fmla="*/ 1186 w 578"/>
                <a:gd name="T55" fmla="*/ 777 h 582"/>
                <a:gd name="T56" fmla="*/ 1223 w 578"/>
                <a:gd name="T57" fmla="*/ 890 h 58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78"/>
                <a:gd name="T88" fmla="*/ 0 h 582"/>
                <a:gd name="T89" fmla="*/ 578 w 578"/>
                <a:gd name="T90" fmla="*/ 582 h 58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78" h="582">
                  <a:moveTo>
                    <a:pt x="510" y="426"/>
                  </a:moveTo>
                  <a:lnTo>
                    <a:pt x="577" y="182"/>
                  </a:lnTo>
                  <a:lnTo>
                    <a:pt x="390" y="0"/>
                  </a:lnTo>
                  <a:lnTo>
                    <a:pt x="405" y="52"/>
                  </a:lnTo>
                  <a:lnTo>
                    <a:pt x="368" y="68"/>
                  </a:lnTo>
                  <a:lnTo>
                    <a:pt x="332" y="86"/>
                  </a:lnTo>
                  <a:lnTo>
                    <a:pt x="265" y="129"/>
                  </a:lnTo>
                  <a:lnTo>
                    <a:pt x="233" y="153"/>
                  </a:lnTo>
                  <a:lnTo>
                    <a:pt x="203" y="179"/>
                  </a:lnTo>
                  <a:lnTo>
                    <a:pt x="174" y="207"/>
                  </a:lnTo>
                  <a:lnTo>
                    <a:pt x="147" y="235"/>
                  </a:lnTo>
                  <a:lnTo>
                    <a:pt x="122" y="266"/>
                  </a:lnTo>
                  <a:lnTo>
                    <a:pt x="99" y="298"/>
                  </a:lnTo>
                  <a:lnTo>
                    <a:pt x="77" y="332"/>
                  </a:lnTo>
                  <a:lnTo>
                    <a:pt x="57" y="367"/>
                  </a:lnTo>
                  <a:lnTo>
                    <a:pt x="41" y="403"/>
                  </a:lnTo>
                  <a:lnTo>
                    <a:pt x="25" y="440"/>
                  </a:lnTo>
                  <a:lnTo>
                    <a:pt x="0" y="518"/>
                  </a:lnTo>
                  <a:lnTo>
                    <a:pt x="204" y="459"/>
                  </a:lnTo>
                  <a:lnTo>
                    <a:pt x="324" y="581"/>
                  </a:lnTo>
                  <a:lnTo>
                    <a:pt x="336" y="548"/>
                  </a:lnTo>
                  <a:lnTo>
                    <a:pt x="350" y="516"/>
                  </a:lnTo>
                  <a:lnTo>
                    <a:pt x="369" y="486"/>
                  </a:lnTo>
                  <a:lnTo>
                    <a:pt x="389" y="458"/>
                  </a:lnTo>
                  <a:lnTo>
                    <a:pt x="412" y="433"/>
                  </a:lnTo>
                  <a:lnTo>
                    <a:pt x="438" y="409"/>
                  </a:lnTo>
                  <a:lnTo>
                    <a:pt x="465" y="389"/>
                  </a:lnTo>
                  <a:lnTo>
                    <a:pt x="495" y="372"/>
                  </a:lnTo>
                  <a:lnTo>
                    <a:pt x="510" y="426"/>
                  </a:lnTo>
                </a:path>
              </a:pathLst>
            </a:custGeom>
            <a:solidFill>
              <a:srgbClr val="FFD200"/>
            </a:solidFill>
            <a:ln w="19050" cap="rnd" algn="ctr">
              <a:solidFill>
                <a:srgbClr val="FFD200"/>
              </a:solidFill>
              <a:prstDash val="solid"/>
              <a:round/>
              <a:headEnd/>
              <a:tailEnd/>
            </a:ln>
          </p:spPr>
          <p:txBody>
            <a:bodyPr lIns="36000" tIns="36000" rIns="36000" bIns="36000" anchor="ctr"/>
            <a:lstStyle/>
            <a:p>
              <a:pPr marL="206438" algn="ctr" eaLnBrk="0" hangingPunct="0">
                <a:lnSpc>
                  <a:spcPct val="95000"/>
                </a:lnSpc>
                <a:defRPr/>
              </a:pPr>
              <a:r>
                <a:rPr lang="en-US" sz="1000" b="1" kern="0" dirty="0">
                  <a:solidFill>
                    <a:srgbClr val="000000"/>
                  </a:solidFill>
                  <a:latin typeface="+mj-lt"/>
                  <a:ea typeface="MS PGothic" pitchFamily="34" charset="-128"/>
                </a:rPr>
                <a:t>6. Manage</a:t>
              </a:r>
              <a:br>
                <a:rPr lang="en-US" sz="1000" b="1" kern="0" dirty="0">
                  <a:solidFill>
                    <a:srgbClr val="000000"/>
                  </a:solidFill>
                  <a:latin typeface="+mj-lt"/>
                  <a:ea typeface="MS PGothic" pitchFamily="34" charset="-128"/>
                </a:rPr>
              </a:br>
              <a:r>
                <a:rPr lang="en-US" sz="1000" b="1" kern="0" dirty="0">
                  <a:solidFill>
                    <a:srgbClr val="000000"/>
                  </a:solidFill>
                  <a:latin typeface="+mj-lt"/>
                  <a:ea typeface="MS PGothic" pitchFamily="34" charset="-128"/>
                </a:rPr>
                <a:t>and review</a:t>
              </a:r>
            </a:p>
          </p:txBody>
        </p:sp>
      </p:grpSp>
      <p:sp>
        <p:nvSpPr>
          <p:cNvPr id="12" name="Title 1"/>
          <p:cNvSpPr txBox="1">
            <a:spLocks/>
          </p:cNvSpPr>
          <p:nvPr/>
        </p:nvSpPr>
        <p:spPr bwMode="gray">
          <a:xfrm>
            <a:off x="738188" y="252239"/>
            <a:ext cx="9504363" cy="612000"/>
          </a:xfrm>
          <a:prstGeom prst="rect">
            <a:avLst/>
          </a:prstGeom>
        </p:spPr>
        <p:txBody>
          <a:bodyPr vert="horz" lIns="0" tIns="0" rIns="0" bIns="0" rtlCol="0" anchor="b" anchorCtr="0">
            <a:noAutofit/>
          </a:bodyPr>
          <a:lstStyle>
            <a:lvl1pPr algn="l" defTabSz="1043056" rtl="0" eaLnBrk="1" latinLnBrk="0" hangingPunct="1">
              <a:lnSpc>
                <a:spcPct val="90000"/>
              </a:lnSpc>
              <a:spcBef>
                <a:spcPct val="0"/>
              </a:spcBef>
              <a:buNone/>
              <a:defRPr sz="2400" kern="1200">
                <a:solidFill>
                  <a:schemeClr val="accent1"/>
                </a:solidFill>
                <a:latin typeface="+mj-lt"/>
                <a:ea typeface="+mj-ea"/>
                <a:cs typeface="+mj-cs"/>
              </a:defRPr>
            </a:lvl1pPr>
          </a:lstStyle>
          <a:p>
            <a:r>
              <a:rPr lang="en-GB" dirty="0" smtClean="0"/>
              <a:t>Stakeholder Management Model</a:t>
            </a:r>
            <a:endParaRPr lang="en-GB" dirty="0"/>
          </a:p>
        </p:txBody>
      </p:sp>
      <p:sp>
        <p:nvSpPr>
          <p:cNvPr id="15"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36</a:t>
            </a:fld>
            <a:endParaRPr lang="en-GB" sz="800" dirty="0">
              <a:solidFill>
                <a:srgbClr val="808080"/>
              </a:solidFill>
            </a:endParaRPr>
          </a:p>
        </p:txBody>
      </p:sp>
    </p:spTree>
    <p:extLst>
      <p:ext uri="{BB962C8B-B14F-4D97-AF65-F5344CB8AC3E}">
        <p14:creationId xmlns:p14="http://schemas.microsoft.com/office/powerpoint/2010/main" val="14438467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801" y="317307"/>
            <a:ext cx="9504363" cy="612000"/>
          </a:xfrm>
        </p:spPr>
        <p:txBody>
          <a:bodyPr/>
          <a:lstStyle/>
          <a:p>
            <a:r>
              <a:rPr lang="en-GB" dirty="0" smtClean="0"/>
              <a:t>Stakeholder Analysis</a:t>
            </a:r>
            <a:endParaRPr lang="en-GB" dirty="0"/>
          </a:p>
        </p:txBody>
      </p:sp>
      <p:sp>
        <p:nvSpPr>
          <p:cNvPr id="3" name="Content Placeholder 2"/>
          <p:cNvSpPr>
            <a:spLocks noGrp="1"/>
          </p:cNvSpPr>
          <p:nvPr>
            <p:ph idx="4294967295"/>
          </p:nvPr>
        </p:nvSpPr>
        <p:spPr>
          <a:xfrm>
            <a:off x="809625" y="1548383"/>
            <a:ext cx="3168923" cy="5616624"/>
          </a:xfrm>
          <a:prstGeom prst="rect">
            <a:avLst/>
          </a:prstGeom>
        </p:spPr>
        <p:txBody>
          <a:bodyPr lIns="104306" tIns="52153" rIns="104306" bIns="52153"/>
          <a:lstStyle/>
          <a:p>
            <a:pPr marL="206438" indent="-206438" algn="just">
              <a:spcAft>
                <a:spcPts val="600"/>
              </a:spcAft>
              <a:buFont typeface="Arial" pitchFamily="34" charset="0"/>
              <a:buChar char="►"/>
              <a:defRPr/>
            </a:pPr>
            <a:r>
              <a:rPr lang="en-GB" sz="1200" dirty="0">
                <a:latin typeface="+mj-lt"/>
              </a:rPr>
              <a:t>Stakeholder analysis is a process of systematically gathering and analysing qualitative information to determine which stakeholders’ interests and influence should be taken into account </a:t>
            </a:r>
            <a:r>
              <a:rPr lang="en-GB" sz="1200" dirty="0" smtClean="0">
                <a:latin typeface="+mj-lt"/>
              </a:rPr>
              <a:t>when managing a business or implementing a change plan such as growth</a:t>
            </a:r>
            <a:endParaRPr lang="en-GB" sz="1200" dirty="0">
              <a:latin typeface="+mj-lt"/>
            </a:endParaRPr>
          </a:p>
          <a:p>
            <a:pPr marL="206438" indent="-206438" algn="just">
              <a:spcAft>
                <a:spcPts val="600"/>
              </a:spcAft>
              <a:buFont typeface="Arial" pitchFamily="34" charset="0"/>
              <a:buChar char="►"/>
              <a:defRPr/>
            </a:pPr>
            <a:r>
              <a:rPr lang="en-GB" sz="1200" dirty="0">
                <a:latin typeface="+mj-lt"/>
              </a:rPr>
              <a:t>Stakeholder analysis creates the basis for managing </a:t>
            </a:r>
            <a:r>
              <a:rPr lang="en-GB" sz="1200" dirty="0" smtClean="0">
                <a:latin typeface="+mj-lt"/>
              </a:rPr>
              <a:t>business </a:t>
            </a:r>
            <a:r>
              <a:rPr lang="en-GB" sz="1200" dirty="0">
                <a:latin typeface="+mj-lt"/>
              </a:rPr>
              <a:t>successfully by identifying the stakeholders internally and externally and identifying their role </a:t>
            </a:r>
            <a:r>
              <a:rPr lang="en-GB" sz="1200" dirty="0" smtClean="0">
                <a:latin typeface="+mj-lt"/>
              </a:rPr>
              <a:t>. </a:t>
            </a:r>
            <a:r>
              <a:rPr lang="en-GB" sz="1200" dirty="0">
                <a:latin typeface="+mj-lt"/>
              </a:rPr>
              <a:t>This analysis enables </a:t>
            </a:r>
            <a:r>
              <a:rPr lang="en-GB" sz="1200" dirty="0" smtClean="0">
                <a:latin typeface="+mj-lt"/>
              </a:rPr>
              <a:t>leadership team </a:t>
            </a:r>
            <a:r>
              <a:rPr lang="en-GB" sz="1200" dirty="0">
                <a:latin typeface="+mj-lt"/>
              </a:rPr>
              <a:t>to target stakeholders more effectively based on their different levels of engagement and influence</a:t>
            </a:r>
          </a:p>
          <a:p>
            <a:pPr marL="206438" indent="-206438" algn="just">
              <a:spcAft>
                <a:spcPts val="600"/>
              </a:spcAft>
              <a:buFont typeface="Arial" pitchFamily="34" charset="0"/>
              <a:buChar char="►"/>
              <a:defRPr/>
            </a:pPr>
            <a:r>
              <a:rPr lang="en-GB" sz="1200" dirty="0">
                <a:latin typeface="+mj-lt"/>
              </a:rPr>
              <a:t>By conducting this initial analysis and carrying out ongoing monitoring of the </a:t>
            </a:r>
            <a:r>
              <a:rPr lang="en-GB" sz="1200" dirty="0" smtClean="0">
                <a:latin typeface="+mj-lt"/>
              </a:rPr>
              <a:t>position, </a:t>
            </a:r>
            <a:r>
              <a:rPr lang="en-GB" sz="1200" dirty="0">
                <a:latin typeface="+mj-lt"/>
              </a:rPr>
              <a:t>the </a:t>
            </a:r>
            <a:r>
              <a:rPr lang="en-GB" sz="1200" dirty="0" smtClean="0">
                <a:latin typeface="+mj-lt"/>
              </a:rPr>
              <a:t>leadership team </a:t>
            </a:r>
            <a:r>
              <a:rPr lang="en-GB" sz="1200" dirty="0">
                <a:latin typeface="+mj-lt"/>
              </a:rPr>
              <a:t>will be better equipped to manage the stakeholders and tailor its engagement strategy accordingly</a:t>
            </a:r>
          </a:p>
          <a:p>
            <a:pPr marL="206438" indent="-206438" algn="just">
              <a:spcAft>
                <a:spcPts val="600"/>
              </a:spcAft>
              <a:buFont typeface="Arial" pitchFamily="34" charset="0"/>
              <a:buChar char="►"/>
              <a:defRPr/>
            </a:pPr>
            <a:r>
              <a:rPr lang="en-GB" sz="1200" dirty="0">
                <a:latin typeface="+mj-lt"/>
              </a:rPr>
              <a:t>Stakeholder analysis requires judgment and the consideration of two factors: Influence and Support. Using the following table as inspiration you should, consider the degree of influence and support attributed to each stakeholder</a:t>
            </a:r>
          </a:p>
        </p:txBody>
      </p:sp>
      <p:graphicFrame>
        <p:nvGraphicFramePr>
          <p:cNvPr id="8" name="Table 7"/>
          <p:cNvGraphicFramePr>
            <a:graphicFrameLocks noGrp="1"/>
          </p:cNvGraphicFramePr>
          <p:nvPr>
            <p:extLst>
              <p:ext uri="{D42A27DB-BD31-4B8C-83A1-F6EECF244321}">
                <p14:modId xmlns:p14="http://schemas.microsoft.com/office/powerpoint/2010/main" val="2880070145"/>
              </p:ext>
            </p:extLst>
          </p:nvPr>
        </p:nvGraphicFramePr>
        <p:xfrm>
          <a:off x="4626621" y="1620391"/>
          <a:ext cx="5465882" cy="5328592"/>
        </p:xfrm>
        <a:graphic>
          <a:graphicData uri="http://schemas.openxmlformats.org/drawingml/2006/table">
            <a:tbl>
              <a:tblPr>
                <a:tableStyleId>{2D5ABB26-0587-4C30-8999-92F81FD0307C}</a:tableStyleId>
              </a:tblPr>
              <a:tblGrid>
                <a:gridCol w="2022978"/>
                <a:gridCol w="3442904"/>
              </a:tblGrid>
              <a:tr h="335724">
                <a:tc>
                  <a:txBody>
                    <a:bodyPr/>
                    <a:lstStyle/>
                    <a:p>
                      <a:pPr algn="ctr">
                        <a:spcAft>
                          <a:spcPts val="0"/>
                        </a:spcAft>
                      </a:pPr>
                      <a:r>
                        <a:rPr lang="en-GB" sz="1300" b="1" noProof="0" dirty="0" smtClean="0">
                          <a:solidFill>
                            <a:schemeClr val="tx2"/>
                          </a:solidFill>
                        </a:rPr>
                        <a:t>Influence</a:t>
                      </a:r>
                      <a:endParaRPr lang="en-GB" sz="1300" b="1" noProof="0" dirty="0">
                        <a:solidFill>
                          <a:schemeClr val="tx2"/>
                        </a:solidFill>
                        <a:latin typeface="+mj-lt"/>
                        <a:ea typeface="Times New Roman"/>
                      </a:endParaRPr>
                    </a:p>
                  </a:txBody>
                  <a:tcPr marL="0" marR="42100" marT="39692" marB="39692" anchor="ctr">
                    <a:lnB w="19050" cap="flat" cmpd="sng" algn="ctr">
                      <a:solidFill>
                        <a:schemeClr val="tx2"/>
                      </a:solidFill>
                      <a:prstDash val="solid"/>
                      <a:round/>
                      <a:headEnd type="none" w="med" len="med"/>
                      <a:tailEnd type="none" w="med" len="med"/>
                    </a:lnB>
                    <a:solidFill>
                      <a:srgbClr val="FFC000"/>
                    </a:solidFill>
                  </a:tcPr>
                </a:tc>
                <a:tc>
                  <a:txBody>
                    <a:bodyPr/>
                    <a:lstStyle/>
                    <a:p>
                      <a:pPr algn="ctr">
                        <a:spcAft>
                          <a:spcPts val="0"/>
                        </a:spcAft>
                      </a:pPr>
                      <a:r>
                        <a:rPr lang="en-GB" sz="1300" b="1" noProof="0" dirty="0" smtClean="0">
                          <a:solidFill>
                            <a:schemeClr val="tx2"/>
                          </a:solidFill>
                        </a:rPr>
                        <a:t>Support</a:t>
                      </a:r>
                      <a:endParaRPr lang="en-GB" sz="1300" b="1" noProof="0" dirty="0">
                        <a:solidFill>
                          <a:schemeClr val="tx2"/>
                        </a:solidFill>
                        <a:latin typeface="+mj-lt"/>
                        <a:ea typeface="Times New Roman"/>
                      </a:endParaRPr>
                    </a:p>
                  </a:txBody>
                  <a:tcPr marL="42100" marR="42100" marT="39692" marB="39692" anchor="ctr">
                    <a:lnB w="19050" cap="flat" cmpd="sng" algn="ctr">
                      <a:solidFill>
                        <a:schemeClr val="tx2"/>
                      </a:solidFill>
                      <a:prstDash val="solid"/>
                      <a:round/>
                      <a:headEnd type="none" w="med" len="med"/>
                      <a:tailEnd type="none" w="med" len="med"/>
                    </a:lnB>
                    <a:solidFill>
                      <a:srgbClr val="FFC000"/>
                    </a:solidFill>
                  </a:tcPr>
                </a:tc>
              </a:tr>
              <a:tr h="4992868">
                <a:tc>
                  <a:txBody>
                    <a:bodyPr/>
                    <a:lstStyle/>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noProof="0" dirty="0" smtClean="0">
                          <a:solidFill>
                            <a:schemeClr val="tx1"/>
                          </a:solidFill>
                          <a:latin typeface="+mn-lt"/>
                          <a:ea typeface="+mn-ea"/>
                          <a:cs typeface="+mn-cs"/>
                        </a:rPr>
                        <a:t>Does the stakeholder have influence over the success of the</a:t>
                      </a:r>
                      <a:r>
                        <a:rPr lang="en-GB" sz="1200" kern="1200" baseline="0" noProof="0" dirty="0" smtClean="0">
                          <a:solidFill>
                            <a:schemeClr val="tx1"/>
                          </a:solidFill>
                          <a:latin typeface="+mn-lt"/>
                          <a:ea typeface="+mn-ea"/>
                          <a:cs typeface="+mn-cs"/>
                        </a:rPr>
                        <a:t> business</a:t>
                      </a:r>
                      <a:r>
                        <a:rPr lang="en-GB" sz="1200" kern="1200" noProof="0" dirty="0" smtClean="0">
                          <a:solidFill>
                            <a:schemeClr val="tx1"/>
                          </a:solidFill>
                          <a:latin typeface="+mn-lt"/>
                          <a:ea typeface="+mn-ea"/>
                          <a:cs typeface="+mn-cs"/>
                        </a:rPr>
                        <a:t>?</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noProof="0" dirty="0" smtClean="0">
                          <a:solidFill>
                            <a:schemeClr val="tx1"/>
                          </a:solidFill>
                          <a:latin typeface="+mn-lt"/>
                          <a:ea typeface="+mn-ea"/>
                          <a:cs typeface="+mn-cs"/>
                        </a:rPr>
                        <a:t>Does the stakeholder control resources, such as people or funds? </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baseline="0" noProof="0" dirty="0" smtClean="0">
                          <a:solidFill>
                            <a:schemeClr val="tx1"/>
                          </a:solidFill>
                          <a:latin typeface="+mn-lt"/>
                          <a:ea typeface="+mn-ea"/>
                          <a:cs typeface="+mn-cs"/>
                        </a:rPr>
                        <a:t> </a:t>
                      </a:r>
                      <a:r>
                        <a:rPr lang="en-GB" sz="1200" kern="1200" noProof="0" dirty="0" smtClean="0">
                          <a:solidFill>
                            <a:schemeClr val="tx1"/>
                          </a:solidFill>
                          <a:latin typeface="+mn-lt"/>
                          <a:ea typeface="+mn-ea"/>
                          <a:cs typeface="+mn-cs"/>
                        </a:rPr>
                        <a:t>Does the stakeholder influence those who controls resources? </a:t>
                      </a:r>
                      <a:endParaRPr lang="en-GB" sz="1200" kern="1200" noProof="0" dirty="0">
                        <a:solidFill>
                          <a:schemeClr val="tx1"/>
                        </a:solidFill>
                        <a:latin typeface="+mn-lt"/>
                        <a:ea typeface="+mn-ea"/>
                        <a:cs typeface="+mn-cs"/>
                      </a:endParaRPr>
                    </a:p>
                  </a:txBody>
                  <a:tcPr marL="0" marR="42100" marT="39692" marB="39692">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2">
                        <a:lumMod val="95000"/>
                      </a:schemeClr>
                    </a:solidFill>
                  </a:tcPr>
                </a:tc>
                <a:tc>
                  <a:txBody>
                    <a:bodyPr/>
                    <a:lstStyle/>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noProof="0" dirty="0" smtClean="0">
                          <a:solidFill>
                            <a:schemeClr val="tx1"/>
                          </a:solidFill>
                          <a:latin typeface="+mn-lt"/>
                          <a:ea typeface="+mn-ea"/>
                          <a:cs typeface="+mn-cs"/>
                        </a:rPr>
                        <a:t>Is the stakeholder for, against or neutral toward the business? </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noProof="0" dirty="0" smtClean="0">
                          <a:solidFill>
                            <a:schemeClr val="tx1"/>
                          </a:solidFill>
                          <a:latin typeface="+mn-lt"/>
                          <a:ea typeface="+mn-ea"/>
                          <a:cs typeface="+mn-cs"/>
                        </a:rPr>
                        <a:t>How the stakeholder responds to the business.</a:t>
                      </a:r>
                      <a:r>
                        <a:rPr lang="en-GB" sz="1200" kern="1200" baseline="0" noProof="0" dirty="0" smtClean="0">
                          <a:solidFill>
                            <a:schemeClr val="tx1"/>
                          </a:solidFill>
                          <a:latin typeface="+mn-lt"/>
                          <a:ea typeface="+mn-ea"/>
                          <a:cs typeface="+mn-cs"/>
                        </a:rPr>
                        <a:t> C</a:t>
                      </a:r>
                      <a:r>
                        <a:rPr lang="en-GB" sz="1200" kern="1200" noProof="0" dirty="0" smtClean="0">
                          <a:solidFill>
                            <a:schemeClr val="tx1"/>
                          </a:solidFill>
                          <a:latin typeface="+mn-lt"/>
                          <a:ea typeface="+mn-ea"/>
                          <a:cs typeface="+mn-cs"/>
                        </a:rPr>
                        <a:t>an provide insight into the level of interest the stakeholder has toward the business. </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noProof="0" dirty="0" smtClean="0">
                          <a:solidFill>
                            <a:schemeClr val="tx1"/>
                          </a:solidFill>
                          <a:latin typeface="+mn-lt"/>
                          <a:ea typeface="+mn-ea"/>
                          <a:cs typeface="+mn-cs"/>
                        </a:rPr>
                        <a:t>Consider the following factors:</a:t>
                      </a:r>
                    </a:p>
                    <a:p>
                      <a:pPr marL="361950"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noProof="0" dirty="0" smtClean="0">
                          <a:solidFill>
                            <a:schemeClr val="tx1"/>
                          </a:solidFill>
                          <a:latin typeface="+mn-lt"/>
                          <a:ea typeface="+mn-ea"/>
                          <a:cs typeface="+mn-cs"/>
                        </a:rPr>
                        <a:t>Attendance at meetings</a:t>
                      </a:r>
                    </a:p>
                    <a:p>
                      <a:pPr marL="361950"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noProof="0" dirty="0" smtClean="0">
                          <a:solidFill>
                            <a:schemeClr val="tx1"/>
                          </a:solidFill>
                          <a:latin typeface="+mn-lt"/>
                          <a:ea typeface="+mn-ea"/>
                          <a:cs typeface="+mn-cs"/>
                        </a:rPr>
                        <a:t>Response to queries, questions, requests, etc.</a:t>
                      </a:r>
                    </a:p>
                    <a:p>
                      <a:pPr marL="361950"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noProof="0" dirty="0" smtClean="0">
                          <a:solidFill>
                            <a:schemeClr val="tx1"/>
                          </a:solidFill>
                          <a:latin typeface="+mn-lt"/>
                          <a:ea typeface="+mn-ea"/>
                          <a:cs typeface="+mn-cs"/>
                        </a:rPr>
                        <a:t>General commitment and availability to support activity</a:t>
                      </a:r>
                    </a:p>
                    <a:p>
                      <a:pPr marL="361950"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noProof="0" dirty="0" smtClean="0">
                          <a:solidFill>
                            <a:schemeClr val="tx1"/>
                          </a:solidFill>
                          <a:latin typeface="+mn-lt"/>
                          <a:ea typeface="+mn-ea"/>
                          <a:cs typeface="+mn-cs"/>
                        </a:rPr>
                        <a:t>Approach when dealing with team members/staff/volunteers</a:t>
                      </a:r>
                    </a:p>
                    <a:p>
                      <a:pPr marL="361950"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noProof="0" dirty="0" smtClean="0">
                          <a:solidFill>
                            <a:schemeClr val="tx1"/>
                          </a:solidFill>
                          <a:latin typeface="+mn-lt"/>
                          <a:ea typeface="+mn-ea"/>
                          <a:cs typeface="+mn-cs"/>
                        </a:rPr>
                        <a:t>Decision making in relation to business matters</a:t>
                      </a:r>
                    </a:p>
                    <a:p>
                      <a:pPr marL="361950"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kern="1200" noProof="0" dirty="0" smtClean="0">
                          <a:solidFill>
                            <a:schemeClr val="tx1"/>
                          </a:solidFill>
                          <a:latin typeface="+mn-lt"/>
                          <a:ea typeface="+mn-ea"/>
                          <a:cs typeface="+mn-cs"/>
                        </a:rPr>
                        <a:t>Direct or indirect interest in the outcome of</a:t>
                      </a:r>
                      <a:r>
                        <a:rPr lang="en-GB" sz="1200" kern="1200" baseline="0" noProof="0" dirty="0" smtClean="0">
                          <a:solidFill>
                            <a:schemeClr val="tx1"/>
                          </a:solidFill>
                          <a:latin typeface="+mn-lt"/>
                          <a:ea typeface="+mn-ea"/>
                          <a:cs typeface="+mn-cs"/>
                        </a:rPr>
                        <a:t> the business</a:t>
                      </a:r>
                      <a:endParaRPr lang="en-GB" sz="1200" kern="1200" noProof="0" dirty="0">
                        <a:solidFill>
                          <a:schemeClr val="tx1"/>
                        </a:solidFill>
                        <a:latin typeface="+mn-lt"/>
                        <a:ea typeface="+mn-ea"/>
                        <a:cs typeface="+mn-cs"/>
                      </a:endParaRPr>
                    </a:p>
                  </a:txBody>
                  <a:tcPr marL="42100" marR="42100" marT="39692" marB="39692">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2">
                        <a:lumMod val="95000"/>
                      </a:schemeClr>
                    </a:solidFill>
                  </a:tcPr>
                </a:tc>
              </a:tr>
            </a:tbl>
          </a:graphicData>
        </a:graphic>
      </p:graphicFrame>
      <p:sp>
        <p:nvSpPr>
          <p:cNvPr id="9" name="Isosceles Triangle 8"/>
          <p:cNvSpPr/>
          <p:nvPr/>
        </p:nvSpPr>
        <p:spPr>
          <a:xfrm rot="5400000">
            <a:off x="1633625" y="4099484"/>
            <a:ext cx="5266431" cy="432569"/>
          </a:xfrm>
          <a:prstGeom prst="triangle">
            <a:avLst>
              <a:gd name="adj" fmla="val 55601"/>
            </a:avLst>
          </a:prstGeom>
          <a:solidFill>
            <a:srgbClr val="FFC000"/>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lIns="82130" tIns="82130" rIns="82130" bIns="82130" rtlCol="0" anchor="ctr"/>
          <a:lstStyle/>
          <a:p>
            <a:pPr algn="ctr"/>
            <a:endParaRPr lang="en-GB" dirty="0">
              <a:solidFill>
                <a:srgbClr val="000000"/>
              </a:solidFill>
              <a:latin typeface="+mj-lt"/>
            </a:endParaRPr>
          </a:p>
        </p:txBody>
      </p:sp>
      <p:sp>
        <p:nvSpPr>
          <p:cNvPr id="12" name="Slide Number Placeholder 4"/>
          <p:cNvSpPr>
            <a:spLocks noGrp="1"/>
          </p:cNvSpPr>
          <p:nvPr>
            <p:ph type="sldNum" sz="quarter" idx="12"/>
          </p:nvPr>
        </p:nvSpPr>
        <p:spPr>
          <a:xfrm>
            <a:off x="9613898" y="7051674"/>
            <a:ext cx="485776" cy="144000"/>
          </a:xfrm>
        </p:spPr>
        <p:txBody>
          <a:bodyPr/>
          <a:lstStyle/>
          <a:p>
            <a:fld id="{F9A56513-F998-4254-9CEB-F507EE6F3742}" type="slidenum">
              <a:rPr lang="en-GB" sz="800" smtClean="0">
                <a:solidFill>
                  <a:srgbClr val="808080"/>
                </a:solidFill>
              </a:rPr>
              <a:pPr/>
              <a:t>37</a:t>
            </a:fld>
            <a:endParaRPr lang="en-GB" sz="800" dirty="0">
              <a:solidFill>
                <a:srgbClr val="808080"/>
              </a:solidFill>
            </a:endParaRPr>
          </a:p>
        </p:txBody>
      </p:sp>
    </p:spTree>
    <p:extLst>
      <p:ext uri="{BB962C8B-B14F-4D97-AF65-F5344CB8AC3E}">
        <p14:creationId xmlns:p14="http://schemas.microsoft.com/office/powerpoint/2010/main" val="157248313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080" y="288113"/>
            <a:ext cx="9504363" cy="612000"/>
          </a:xfrm>
        </p:spPr>
        <p:txBody>
          <a:bodyPr/>
          <a:lstStyle/>
          <a:p>
            <a:r>
              <a:rPr lang="en-GB" dirty="0" smtClean="0"/>
              <a:t>What is communications management all about?</a:t>
            </a:r>
            <a:endParaRPr lang="en-GB" dirty="0"/>
          </a:p>
        </p:txBody>
      </p:sp>
      <p:sp>
        <p:nvSpPr>
          <p:cNvPr id="6" name="Content Placeholder 5"/>
          <p:cNvSpPr>
            <a:spLocks noGrp="1"/>
          </p:cNvSpPr>
          <p:nvPr>
            <p:ph sz="quarter" idx="4294967295"/>
          </p:nvPr>
        </p:nvSpPr>
        <p:spPr>
          <a:xfrm>
            <a:off x="809625" y="1548383"/>
            <a:ext cx="6219058" cy="3168351"/>
          </a:xfrm>
          <a:prstGeom prst="rect">
            <a:avLst/>
          </a:prstGeom>
        </p:spPr>
        <p:txBody>
          <a:bodyPr lIns="0" tIns="0" rIns="0" bIns="0"/>
          <a:lstStyle/>
          <a:p>
            <a:r>
              <a:rPr lang="en-GB" sz="1400" dirty="0">
                <a:latin typeface="+mj-lt"/>
              </a:rPr>
              <a:t>Effective communications management is about getting the right information to the right people at the right time. Key considerations:</a:t>
            </a:r>
          </a:p>
          <a:p>
            <a:pPr marL="285750" lvl="2" indent="-285750">
              <a:spcBef>
                <a:spcPts val="456"/>
              </a:spcBef>
              <a:buFont typeface="Arial" panose="020B0604020202020204" pitchFamily="34" charset="0"/>
              <a:buChar char="►"/>
            </a:pPr>
            <a:r>
              <a:rPr lang="en-GB" sz="1400" b="0" dirty="0">
                <a:solidFill>
                  <a:schemeClr val="tx1"/>
                </a:solidFill>
                <a:latin typeface="+mj-lt"/>
              </a:rPr>
              <a:t>Communication is a primary change management tool for any </a:t>
            </a:r>
            <a:r>
              <a:rPr lang="en-GB" sz="1400" b="0" dirty="0" smtClean="0">
                <a:solidFill>
                  <a:schemeClr val="tx1"/>
                </a:solidFill>
                <a:latin typeface="+mj-lt"/>
              </a:rPr>
              <a:t>project (such as a growth plan) and business key </a:t>
            </a:r>
            <a:r>
              <a:rPr lang="en-GB" sz="1400" b="0" dirty="0">
                <a:solidFill>
                  <a:schemeClr val="tx1"/>
                </a:solidFill>
                <a:latin typeface="+mj-lt"/>
              </a:rPr>
              <a:t>to reinforcing desired behaviours.</a:t>
            </a:r>
          </a:p>
          <a:p>
            <a:pPr marL="285750" lvl="2" indent="-285750">
              <a:spcBef>
                <a:spcPts val="456"/>
              </a:spcBef>
              <a:buFont typeface="Arial" panose="020B0604020202020204" pitchFamily="34" charset="0"/>
              <a:buChar char="►"/>
            </a:pPr>
            <a:r>
              <a:rPr lang="en-GB" sz="1400" b="0" dirty="0">
                <a:solidFill>
                  <a:schemeClr val="tx1"/>
                </a:solidFill>
                <a:latin typeface="+mj-lt"/>
              </a:rPr>
              <a:t>Create a two way flow of information and use the dialogue to channel efforts in the right direction until the objectives of the project </a:t>
            </a:r>
            <a:r>
              <a:rPr lang="en-GB" sz="1400" b="0" dirty="0" smtClean="0">
                <a:solidFill>
                  <a:schemeClr val="tx1"/>
                </a:solidFill>
                <a:latin typeface="+mj-lt"/>
              </a:rPr>
              <a:t>have </a:t>
            </a:r>
            <a:r>
              <a:rPr lang="en-GB" sz="1400" b="0" dirty="0">
                <a:solidFill>
                  <a:schemeClr val="tx1"/>
                </a:solidFill>
                <a:latin typeface="+mj-lt"/>
              </a:rPr>
              <a:t>been achieved and sustained.</a:t>
            </a:r>
          </a:p>
          <a:p>
            <a:pPr marL="285750" lvl="2" indent="-285750">
              <a:spcBef>
                <a:spcPts val="456"/>
              </a:spcBef>
              <a:buFont typeface="Arial" panose="020B0604020202020204" pitchFamily="34" charset="0"/>
              <a:buChar char="►"/>
            </a:pPr>
            <a:r>
              <a:rPr lang="en-GB" sz="1400" b="0" dirty="0">
                <a:solidFill>
                  <a:schemeClr val="tx1"/>
                </a:solidFill>
                <a:latin typeface="+mj-lt"/>
              </a:rPr>
              <a:t>Communication is required through the life cycle of the project and will vary in its nature depending on the point in the life cycle. </a:t>
            </a:r>
          </a:p>
          <a:p>
            <a:pPr marL="285750" lvl="2" indent="-285750">
              <a:spcBef>
                <a:spcPts val="456"/>
              </a:spcBef>
              <a:buFont typeface="Arial" panose="020B0604020202020204" pitchFamily="34" charset="0"/>
              <a:buChar char="►"/>
            </a:pPr>
            <a:r>
              <a:rPr lang="en-GB" sz="1400" b="0" dirty="0">
                <a:solidFill>
                  <a:schemeClr val="tx1"/>
                </a:solidFill>
                <a:latin typeface="+mj-lt"/>
              </a:rPr>
              <a:t>A communications strategy is developed </a:t>
            </a:r>
            <a:r>
              <a:rPr lang="en-GB" sz="1400" b="0" dirty="0" smtClean="0">
                <a:solidFill>
                  <a:schemeClr val="tx1"/>
                </a:solidFill>
                <a:latin typeface="+mj-lt"/>
              </a:rPr>
              <a:t>early and a </a:t>
            </a:r>
            <a:r>
              <a:rPr lang="en-GB" sz="1400" b="0" dirty="0">
                <a:solidFill>
                  <a:schemeClr val="tx1"/>
                </a:solidFill>
                <a:latin typeface="+mj-lt"/>
              </a:rPr>
              <a:t>variety of methods are utilised to confirm that all audiences and stakeholders remain informed and involved in the project</a:t>
            </a:r>
            <a:r>
              <a:rPr lang="en-GB" sz="1400" b="0" dirty="0" smtClean="0">
                <a:solidFill>
                  <a:schemeClr val="tx1"/>
                </a:solidFill>
                <a:latin typeface="+mj-lt"/>
              </a:rPr>
              <a:t>.</a:t>
            </a:r>
          </a:p>
          <a:p>
            <a:pPr lvl="2">
              <a:spcBef>
                <a:spcPts val="456"/>
              </a:spcBef>
            </a:pPr>
            <a:r>
              <a:rPr lang="en-GB" sz="1400" dirty="0" smtClean="0">
                <a:solidFill>
                  <a:schemeClr val="tx1"/>
                </a:solidFill>
                <a:latin typeface="+mj-lt"/>
              </a:rPr>
              <a:t>Communications Management Process</a:t>
            </a:r>
            <a:endParaRPr lang="en-GB" sz="1400" dirty="0">
              <a:solidFill>
                <a:schemeClr val="tx1"/>
              </a:solidFill>
              <a:latin typeface="+mj-lt"/>
            </a:endParaRPr>
          </a:p>
        </p:txBody>
      </p:sp>
      <p:sp>
        <p:nvSpPr>
          <p:cNvPr id="7" name="Content Placeholder 6"/>
          <p:cNvSpPr>
            <a:spLocks noGrp="1"/>
          </p:cNvSpPr>
          <p:nvPr>
            <p:ph sz="quarter" idx="4294967295"/>
          </p:nvPr>
        </p:nvSpPr>
        <p:spPr bwMode="gray">
          <a:xfrm>
            <a:off x="7162350" y="1404367"/>
            <a:ext cx="2983385" cy="5256584"/>
          </a:xfrm>
          <a:prstGeom prst="rect">
            <a:avLst/>
          </a:prstGeom>
          <a:solidFill>
            <a:srgbClr val="FFE600"/>
          </a:solidFill>
          <a:ln w="25400">
            <a:solidFill>
              <a:schemeClr val="accent1"/>
            </a:solidFill>
          </a:ln>
        </p:spPr>
        <p:txBody>
          <a:bodyPr lIns="82130" tIns="82130" rIns="82130" bIns="82130">
            <a:noAutofit/>
          </a:bodyPr>
          <a:lstStyle/>
          <a:p>
            <a:pPr lvl="1"/>
            <a:r>
              <a:rPr lang="en-GB" sz="1600" dirty="0">
                <a:latin typeface="+mj-lt"/>
              </a:rPr>
              <a:t>Why is communication </a:t>
            </a:r>
            <a:r>
              <a:rPr lang="en-GB" sz="1600" dirty="0" smtClean="0">
                <a:latin typeface="+mj-lt"/>
              </a:rPr>
              <a:t>important</a:t>
            </a:r>
            <a:r>
              <a:rPr lang="en-GB" sz="1600" dirty="0">
                <a:latin typeface="+mj-lt"/>
              </a:rPr>
              <a:t> </a:t>
            </a:r>
            <a:r>
              <a:rPr lang="en-GB" sz="1600" dirty="0" smtClean="0">
                <a:latin typeface="+mj-lt"/>
              </a:rPr>
              <a:t>in the context of growth?</a:t>
            </a:r>
          </a:p>
          <a:p>
            <a:pPr lvl="1"/>
            <a:endParaRPr lang="en-GB" sz="1600" dirty="0">
              <a:latin typeface="+mj-lt"/>
            </a:endParaRPr>
          </a:p>
          <a:p>
            <a:r>
              <a:rPr lang="en-GB" sz="1400" dirty="0">
                <a:latin typeface="+mj-lt"/>
              </a:rPr>
              <a:t>The primary objectives of communication in the context of change </a:t>
            </a:r>
            <a:r>
              <a:rPr lang="en-GB" sz="1400" dirty="0" smtClean="0">
                <a:latin typeface="+mj-lt"/>
              </a:rPr>
              <a:t>such as growth is to:</a:t>
            </a:r>
          </a:p>
          <a:p>
            <a:endParaRPr lang="en-GB" sz="1400" dirty="0">
              <a:latin typeface="+mj-lt"/>
            </a:endParaRPr>
          </a:p>
          <a:p>
            <a:pPr marL="285750" lvl="2" indent="-285750">
              <a:spcBef>
                <a:spcPts val="570"/>
              </a:spcBef>
              <a:buFont typeface="Arial" panose="020B0604020202020204" pitchFamily="34" charset="0"/>
              <a:buChar char="►"/>
            </a:pPr>
            <a:r>
              <a:rPr lang="en-GB" sz="1400" b="0" dirty="0">
                <a:solidFill>
                  <a:schemeClr val="tx1"/>
                </a:solidFill>
                <a:latin typeface="+mj-lt"/>
              </a:rPr>
              <a:t>Build awareness amongst all </a:t>
            </a:r>
            <a:r>
              <a:rPr lang="en-GB" sz="1400" b="0" dirty="0" smtClean="0">
                <a:solidFill>
                  <a:schemeClr val="tx1"/>
                </a:solidFill>
                <a:latin typeface="+mj-lt"/>
              </a:rPr>
              <a:t>employees and stakeholders </a:t>
            </a:r>
            <a:r>
              <a:rPr lang="en-GB" sz="1400" b="0" dirty="0">
                <a:solidFill>
                  <a:schemeClr val="tx1"/>
                </a:solidFill>
                <a:latin typeface="+mj-lt"/>
              </a:rPr>
              <a:t>of the nature and underlying </a:t>
            </a:r>
            <a:r>
              <a:rPr lang="en-GB" sz="1400" b="0" dirty="0" smtClean="0">
                <a:solidFill>
                  <a:schemeClr val="tx1"/>
                </a:solidFill>
                <a:latin typeface="+mj-lt"/>
              </a:rPr>
              <a:t>vision, mission, goals and objectives</a:t>
            </a:r>
            <a:endParaRPr lang="en-GB" sz="1400" b="0" dirty="0">
              <a:solidFill>
                <a:schemeClr val="tx1"/>
              </a:solidFill>
              <a:latin typeface="+mj-lt"/>
            </a:endParaRPr>
          </a:p>
          <a:p>
            <a:pPr marL="307989" lvl="2" indent="-307989">
              <a:spcBef>
                <a:spcPts val="570"/>
              </a:spcBef>
              <a:buFont typeface="Arial" panose="020B0604020202020204" pitchFamily="34" charset="0"/>
              <a:buChar char="►"/>
            </a:pPr>
            <a:r>
              <a:rPr lang="en-GB" sz="1400" b="0" dirty="0" smtClean="0">
                <a:solidFill>
                  <a:schemeClr val="tx1"/>
                </a:solidFill>
                <a:latin typeface="+mj-lt"/>
              </a:rPr>
              <a:t>Develop a commitment</a:t>
            </a:r>
            <a:endParaRPr lang="en-GB" sz="1400" b="0" dirty="0">
              <a:solidFill>
                <a:schemeClr val="tx1"/>
              </a:solidFill>
              <a:latin typeface="+mj-lt"/>
            </a:endParaRPr>
          </a:p>
          <a:p>
            <a:pPr marL="285750" lvl="2" indent="-285750">
              <a:spcBef>
                <a:spcPts val="570"/>
              </a:spcBef>
              <a:buFont typeface="Arial" panose="020B0604020202020204" pitchFamily="34" charset="0"/>
              <a:buChar char="►"/>
            </a:pPr>
            <a:r>
              <a:rPr lang="en-GB" sz="1400" b="0" dirty="0">
                <a:solidFill>
                  <a:schemeClr val="tx1"/>
                </a:solidFill>
                <a:latin typeface="+mj-lt"/>
              </a:rPr>
              <a:t>Provide regular and relevant information on the </a:t>
            </a:r>
            <a:r>
              <a:rPr lang="en-GB" sz="1400" b="0" dirty="0" smtClean="0">
                <a:solidFill>
                  <a:schemeClr val="tx1"/>
                </a:solidFill>
                <a:latin typeface="+mj-lt"/>
              </a:rPr>
              <a:t>progress</a:t>
            </a:r>
            <a:endParaRPr lang="en-GB" sz="1400" b="0" dirty="0">
              <a:solidFill>
                <a:schemeClr val="tx1"/>
              </a:solidFill>
              <a:latin typeface="+mj-lt"/>
            </a:endParaRPr>
          </a:p>
          <a:p>
            <a:pPr marL="285750" lvl="2" indent="-285750">
              <a:spcBef>
                <a:spcPts val="570"/>
              </a:spcBef>
              <a:buFont typeface="Arial" panose="020B0604020202020204" pitchFamily="34" charset="0"/>
              <a:buChar char="►"/>
            </a:pPr>
            <a:r>
              <a:rPr lang="en-GB" sz="1400" b="0" dirty="0">
                <a:solidFill>
                  <a:schemeClr val="tx1"/>
                </a:solidFill>
                <a:latin typeface="+mj-lt"/>
              </a:rPr>
              <a:t>Draw attention to the actions of those </a:t>
            </a:r>
            <a:r>
              <a:rPr lang="en-GB" sz="1400" b="0" dirty="0" smtClean="0">
                <a:solidFill>
                  <a:schemeClr val="tx1"/>
                </a:solidFill>
                <a:latin typeface="+mj-lt"/>
              </a:rPr>
              <a:t>driving and supporting</a:t>
            </a:r>
            <a:endParaRPr lang="en-GB" sz="1400" b="0" dirty="0">
              <a:solidFill>
                <a:schemeClr val="tx1"/>
              </a:solidFill>
              <a:latin typeface="+mj-lt"/>
            </a:endParaRPr>
          </a:p>
        </p:txBody>
      </p:sp>
      <p:grpSp>
        <p:nvGrpSpPr>
          <p:cNvPr id="12" name="Group 37"/>
          <p:cNvGrpSpPr/>
          <p:nvPr/>
        </p:nvGrpSpPr>
        <p:grpSpPr bwMode="gray">
          <a:xfrm>
            <a:off x="746099" y="5059488"/>
            <a:ext cx="6231345" cy="1601463"/>
            <a:chOff x="468313" y="4462511"/>
            <a:chExt cx="5498147" cy="1452513"/>
          </a:xfrm>
        </p:grpSpPr>
        <p:sp>
          <p:nvSpPr>
            <p:cNvPr id="21" name="Rectangle 20"/>
            <p:cNvSpPr/>
            <p:nvPr/>
          </p:nvSpPr>
          <p:spPr bwMode="gray">
            <a:xfrm>
              <a:off x="468313" y="4462511"/>
              <a:ext cx="5498147" cy="1452513"/>
            </a:xfrm>
            <a:prstGeom prst="rect">
              <a:avLst/>
            </a:prstGeom>
            <a:solidFill>
              <a:schemeClr val="accent4">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dirty="0">
                <a:solidFill>
                  <a:srgbClr val="000000"/>
                </a:solidFill>
                <a:latin typeface="+mj-lt"/>
              </a:endParaRPr>
            </a:p>
          </p:txBody>
        </p:sp>
        <p:sp>
          <p:nvSpPr>
            <p:cNvPr id="8" name="Rounded Rectangle 7"/>
            <p:cNvSpPr/>
            <p:nvPr/>
          </p:nvSpPr>
          <p:spPr bwMode="gray">
            <a:xfrm>
              <a:off x="637977" y="4653136"/>
              <a:ext cx="862012" cy="69215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lstStyle/>
            <a:p>
              <a:pPr marL="0" lvl="1" algn="ctr">
                <a:tabLst>
                  <a:tab pos="365794" algn="l"/>
                </a:tabLst>
                <a:defRPr/>
              </a:pPr>
              <a:r>
                <a:rPr lang="en-GB" sz="900" b="1" dirty="0">
                  <a:solidFill>
                    <a:schemeClr val="accent4"/>
                  </a:solidFill>
                  <a:latin typeface="+mj-lt"/>
                  <a:ea typeface="Times New Roman" pitchFamily="18" charset="0"/>
                  <a:cs typeface="Arial" pitchFamily="34" charset="0"/>
                </a:rPr>
                <a:t>Understand the context</a:t>
              </a:r>
            </a:p>
          </p:txBody>
        </p:sp>
        <p:sp>
          <p:nvSpPr>
            <p:cNvPr id="9" name="Rounded Rectangle 8"/>
            <p:cNvSpPr/>
            <p:nvPr/>
          </p:nvSpPr>
          <p:spPr bwMode="gray">
            <a:xfrm>
              <a:off x="1752997" y="4653136"/>
              <a:ext cx="1524000" cy="6912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lstStyle/>
            <a:p>
              <a:pPr marL="0" lvl="1" algn="ctr">
                <a:tabLst>
                  <a:tab pos="365794" algn="l"/>
                </a:tabLst>
                <a:defRPr/>
              </a:pPr>
              <a:r>
                <a:rPr lang="en-GB" sz="900" b="1" dirty="0">
                  <a:solidFill>
                    <a:schemeClr val="accent4"/>
                  </a:solidFill>
                  <a:latin typeface="+mj-lt"/>
                  <a:ea typeface="Times New Roman" pitchFamily="18" charset="0"/>
                  <a:cs typeface="Arial" pitchFamily="34" charset="0"/>
                </a:rPr>
                <a:t>Develop the Communications Plan</a:t>
              </a:r>
            </a:p>
          </p:txBody>
        </p:sp>
        <p:sp>
          <p:nvSpPr>
            <p:cNvPr id="10" name="Rounded Rectangle 9"/>
            <p:cNvSpPr/>
            <p:nvPr/>
          </p:nvSpPr>
          <p:spPr bwMode="gray">
            <a:xfrm>
              <a:off x="3530005" y="4653136"/>
              <a:ext cx="1146175" cy="69215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lstStyle/>
            <a:p>
              <a:pPr marL="0" lvl="1" algn="ctr">
                <a:defRPr/>
              </a:pPr>
              <a:r>
                <a:rPr lang="en-GB" sz="900" b="1" dirty="0">
                  <a:solidFill>
                    <a:schemeClr val="accent4"/>
                  </a:solidFill>
                  <a:latin typeface="+mj-lt"/>
                  <a:ea typeface="Times New Roman" pitchFamily="18" charset="0"/>
                  <a:cs typeface="Arial" pitchFamily="34" charset="0"/>
                </a:rPr>
                <a:t>Deliver communication efficiently and effectively</a:t>
              </a:r>
            </a:p>
          </p:txBody>
        </p:sp>
        <p:cxnSp>
          <p:nvCxnSpPr>
            <p:cNvPr id="11" name="Straight Arrow Connector 10"/>
            <p:cNvCxnSpPr>
              <a:stCxn id="8" idx="3"/>
              <a:endCxn id="9" idx="1"/>
            </p:cNvCxnSpPr>
            <p:nvPr/>
          </p:nvCxnSpPr>
          <p:spPr bwMode="gray">
            <a:xfrm flipV="1">
              <a:off x="1499989" y="4998736"/>
              <a:ext cx="253008" cy="475"/>
            </a:xfrm>
            <a:prstGeom prst="straightConnector1">
              <a:avLst/>
            </a:pr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3" name="Oval 12"/>
            <p:cNvSpPr/>
            <p:nvPr/>
          </p:nvSpPr>
          <p:spPr bwMode="gray">
            <a:xfrm>
              <a:off x="511994" y="4526136"/>
              <a:ext cx="252000" cy="252000"/>
            </a:xfrm>
            <a:prstGeom prst="ellipse">
              <a:avLst/>
            </a:prstGeom>
            <a:solidFill>
              <a:schemeClr val="accent2"/>
            </a:solidFill>
            <a:ln>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wrap="none" lIns="72000" tIns="72000" rIns="72000" bIns="72000" anchor="ctr"/>
            <a:lstStyle/>
            <a:p>
              <a:pPr algn="ctr">
                <a:defRPr/>
              </a:pPr>
              <a:r>
                <a:rPr lang="en-GB" sz="1100" b="1" dirty="0">
                  <a:solidFill>
                    <a:srgbClr val="000000"/>
                  </a:solidFill>
                  <a:latin typeface="+mj-lt"/>
                </a:rPr>
                <a:t>1</a:t>
              </a:r>
            </a:p>
          </p:txBody>
        </p:sp>
        <p:sp>
          <p:nvSpPr>
            <p:cNvPr id="14" name="Oval 13"/>
            <p:cNvSpPr/>
            <p:nvPr/>
          </p:nvSpPr>
          <p:spPr bwMode="gray">
            <a:xfrm>
              <a:off x="1623954" y="4526136"/>
              <a:ext cx="252000" cy="252000"/>
            </a:xfrm>
            <a:prstGeom prst="ellipse">
              <a:avLst/>
            </a:prstGeom>
            <a:solidFill>
              <a:schemeClr val="accent2"/>
            </a:solidFill>
            <a:ln>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wrap="none" lIns="72000" tIns="72000" rIns="72000" bIns="72000" anchor="ctr"/>
            <a:lstStyle/>
            <a:p>
              <a:pPr algn="ctr">
                <a:defRPr/>
              </a:pPr>
              <a:r>
                <a:rPr lang="en-GB" sz="1100" b="1" dirty="0">
                  <a:solidFill>
                    <a:srgbClr val="000000"/>
                  </a:solidFill>
                  <a:latin typeface="+mj-lt"/>
                </a:rPr>
                <a:t>2</a:t>
              </a:r>
            </a:p>
          </p:txBody>
        </p:sp>
        <p:sp>
          <p:nvSpPr>
            <p:cNvPr id="15" name="Oval 14"/>
            <p:cNvSpPr/>
            <p:nvPr/>
          </p:nvSpPr>
          <p:spPr bwMode="gray">
            <a:xfrm>
              <a:off x="3411364" y="4526136"/>
              <a:ext cx="252000" cy="252000"/>
            </a:xfrm>
            <a:prstGeom prst="ellipse">
              <a:avLst/>
            </a:prstGeom>
            <a:solidFill>
              <a:schemeClr val="accent2"/>
            </a:solidFill>
            <a:ln>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wrap="none" lIns="72000" tIns="72000" rIns="72000" bIns="72000" anchor="ctr"/>
            <a:lstStyle/>
            <a:p>
              <a:pPr algn="ctr">
                <a:defRPr/>
              </a:pPr>
              <a:r>
                <a:rPr lang="en-GB" sz="1100" b="1" dirty="0">
                  <a:solidFill>
                    <a:srgbClr val="000000"/>
                  </a:solidFill>
                  <a:latin typeface="+mj-lt"/>
                </a:rPr>
                <a:t>3</a:t>
              </a:r>
            </a:p>
          </p:txBody>
        </p:sp>
        <p:sp>
          <p:nvSpPr>
            <p:cNvPr id="16" name="Rounded Rectangle 15"/>
            <p:cNvSpPr/>
            <p:nvPr/>
          </p:nvSpPr>
          <p:spPr bwMode="gray">
            <a:xfrm>
              <a:off x="4929188" y="4653136"/>
              <a:ext cx="969962" cy="6912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lstStyle/>
            <a:p>
              <a:pPr marL="0" lvl="1" algn="ctr">
                <a:defRPr/>
              </a:pPr>
              <a:r>
                <a:rPr lang="en-GB" sz="900" b="1" dirty="0">
                  <a:solidFill>
                    <a:schemeClr val="accent4"/>
                  </a:solidFill>
                  <a:latin typeface="+mj-lt"/>
                  <a:ea typeface="Times New Roman" pitchFamily="18" charset="0"/>
                  <a:cs typeface="Arial" pitchFamily="34" charset="0"/>
                </a:rPr>
                <a:t>Evaluate effectiveness</a:t>
              </a:r>
            </a:p>
          </p:txBody>
        </p:sp>
        <p:sp>
          <p:nvSpPr>
            <p:cNvPr id="17" name="Oval 16"/>
            <p:cNvSpPr/>
            <p:nvPr/>
          </p:nvSpPr>
          <p:spPr bwMode="gray">
            <a:xfrm>
              <a:off x="4800600" y="4526136"/>
              <a:ext cx="252000" cy="252000"/>
            </a:xfrm>
            <a:prstGeom prst="ellipse">
              <a:avLst/>
            </a:prstGeom>
            <a:solidFill>
              <a:schemeClr val="accent2"/>
            </a:solidFill>
            <a:ln>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wrap="none" lIns="72000" tIns="72000" rIns="72000" bIns="72000" anchor="ctr"/>
            <a:lstStyle/>
            <a:p>
              <a:pPr algn="ctr">
                <a:defRPr/>
              </a:pPr>
              <a:r>
                <a:rPr lang="en-GB" sz="1100" b="1" dirty="0">
                  <a:solidFill>
                    <a:srgbClr val="000000"/>
                  </a:solidFill>
                  <a:latin typeface="+mj-lt"/>
                </a:rPr>
                <a:t>4</a:t>
              </a:r>
            </a:p>
          </p:txBody>
        </p:sp>
        <p:sp>
          <p:nvSpPr>
            <p:cNvPr id="20" name="TextBox 66"/>
            <p:cNvSpPr txBox="1">
              <a:spLocks noChangeArrowheads="1"/>
            </p:cNvSpPr>
            <p:nvPr/>
          </p:nvSpPr>
          <p:spPr bwMode="gray">
            <a:xfrm>
              <a:off x="3644305" y="5451648"/>
              <a:ext cx="917575" cy="391628"/>
            </a:xfrm>
            <a:prstGeom prst="rect">
              <a:avLst/>
            </a:prstGeom>
            <a:solidFill>
              <a:schemeClr val="accent6"/>
            </a:solidFill>
            <a:ln w="9525">
              <a:noFill/>
              <a:miter lim="800000"/>
              <a:headEnd/>
              <a:tailEnd/>
            </a:ln>
          </p:spPr>
          <p:txBody>
            <a:bodyPr lIns="72000" tIns="72000" rIns="72000" bIns="72000" anchor="ctr">
              <a:noAutofit/>
            </a:bodyPr>
            <a:lstStyle/>
            <a:p>
              <a:pPr algn="ctr">
                <a:defRPr/>
              </a:pPr>
              <a:r>
                <a:rPr lang="en-GB" sz="900" b="1" dirty="0">
                  <a:solidFill>
                    <a:schemeClr val="bg1"/>
                  </a:solidFill>
                  <a:latin typeface="+mj-lt"/>
                </a:rPr>
                <a:t>Incorporate feedback</a:t>
              </a:r>
            </a:p>
          </p:txBody>
        </p:sp>
        <p:cxnSp>
          <p:nvCxnSpPr>
            <p:cNvPr id="24" name="Straight Arrow Connector 23"/>
            <p:cNvCxnSpPr>
              <a:stCxn id="9" idx="3"/>
              <a:endCxn id="10" idx="1"/>
            </p:cNvCxnSpPr>
            <p:nvPr/>
          </p:nvCxnSpPr>
          <p:spPr bwMode="gray">
            <a:xfrm>
              <a:off x="3276997" y="4998736"/>
              <a:ext cx="253008" cy="475"/>
            </a:xfrm>
            <a:prstGeom prst="straightConnector1">
              <a:avLst/>
            </a:pr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0" idx="3"/>
              <a:endCxn id="16" idx="1"/>
            </p:cNvCxnSpPr>
            <p:nvPr/>
          </p:nvCxnSpPr>
          <p:spPr bwMode="gray">
            <a:xfrm flipV="1">
              <a:off x="4676180" y="4998736"/>
              <a:ext cx="253008" cy="475"/>
            </a:xfrm>
            <a:prstGeom prst="straightConnector1">
              <a:avLst/>
            </a:pr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6" idx="2"/>
              <a:endCxn id="20" idx="3"/>
            </p:cNvCxnSpPr>
            <p:nvPr/>
          </p:nvCxnSpPr>
          <p:spPr bwMode="gray">
            <a:xfrm rot="5400000">
              <a:off x="4836462" y="5069755"/>
              <a:ext cx="303126" cy="852289"/>
            </a:xfrm>
            <a:prstGeom prst="bentConnector2">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29"/>
            <p:cNvCxnSpPr>
              <a:stCxn id="20" idx="1"/>
              <a:endCxn id="9" idx="2"/>
            </p:cNvCxnSpPr>
            <p:nvPr/>
          </p:nvCxnSpPr>
          <p:spPr bwMode="gray">
            <a:xfrm rot="10800000">
              <a:off x="2514997" y="5344336"/>
              <a:ext cx="1129308" cy="303126"/>
            </a:xfrm>
            <a:prstGeom prst="bentConnector2">
              <a:avLst/>
            </a:pr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grpSp>
      <p:sp>
        <p:nvSpPr>
          <p:cNvPr id="23" name="Slide Number Placeholder 4"/>
          <p:cNvSpPr>
            <a:spLocks noGrp="1"/>
          </p:cNvSpPr>
          <p:nvPr>
            <p:ph type="sldNum" sz="quarter" idx="12"/>
          </p:nvPr>
        </p:nvSpPr>
        <p:spPr>
          <a:xfrm>
            <a:off x="9613899" y="7051674"/>
            <a:ext cx="485775" cy="144000"/>
          </a:xfrm>
        </p:spPr>
        <p:txBody>
          <a:bodyPr/>
          <a:lstStyle/>
          <a:p>
            <a:fld id="{F9A56513-F998-4254-9CEB-F507EE6F3742}" type="slidenum">
              <a:rPr lang="en-GB" smtClean="0"/>
              <a:pPr/>
              <a:t>38</a:t>
            </a:fld>
            <a:endParaRPr lang="en-GB" dirty="0"/>
          </a:p>
        </p:txBody>
      </p:sp>
    </p:spTree>
    <p:extLst>
      <p:ext uri="{BB962C8B-B14F-4D97-AF65-F5344CB8AC3E}">
        <p14:creationId xmlns:p14="http://schemas.microsoft.com/office/powerpoint/2010/main" val="324760670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09625" y="288113"/>
            <a:ext cx="9504363" cy="612000"/>
          </a:xfrm>
        </p:spPr>
        <p:txBody>
          <a:bodyPr/>
          <a:lstStyle/>
          <a:p>
            <a:r>
              <a:rPr lang="en-GB" dirty="0" smtClean="0"/>
              <a:t>Principles of good communication </a:t>
            </a:r>
            <a:r>
              <a:rPr lang="en-GB" dirty="0"/>
              <a:t>m</a:t>
            </a:r>
            <a:r>
              <a:rPr lang="en-GB" dirty="0" smtClean="0"/>
              <a:t>anagement</a:t>
            </a:r>
            <a:endParaRPr lang="en-GB" dirty="0"/>
          </a:p>
        </p:txBody>
      </p:sp>
      <p:grpSp>
        <p:nvGrpSpPr>
          <p:cNvPr id="12" name="Group 11"/>
          <p:cNvGrpSpPr/>
          <p:nvPr/>
        </p:nvGrpSpPr>
        <p:grpSpPr bwMode="gray">
          <a:xfrm>
            <a:off x="809625" y="1545455"/>
            <a:ext cx="9217595" cy="4611440"/>
            <a:chOff x="468311" y="1401714"/>
            <a:chExt cx="8207676" cy="3666424"/>
          </a:xfrm>
        </p:grpSpPr>
        <p:sp>
          <p:nvSpPr>
            <p:cNvPr id="6" name="Rectangle 2"/>
            <p:cNvSpPr>
              <a:spLocks noChangeArrowheads="1"/>
            </p:cNvSpPr>
            <p:nvPr/>
          </p:nvSpPr>
          <p:spPr bwMode="gray">
            <a:xfrm>
              <a:off x="2114521" y="1401714"/>
              <a:ext cx="6561466" cy="1261096"/>
            </a:xfrm>
            <a:prstGeom prst="rect">
              <a:avLst/>
            </a:prstGeom>
            <a:noFill/>
            <a:ln w="25400" algn="ctr">
              <a:solidFill>
                <a:schemeClr val="accent1"/>
              </a:solidFill>
              <a:miter lim="800000"/>
              <a:headEnd/>
              <a:tailEnd/>
            </a:ln>
          </p:spPr>
          <p:txBody>
            <a:bodyPr lIns="72000" tIns="72000" rIns="72000" bIns="72000" anchor="t">
              <a:noAutofit/>
            </a:bodyPr>
            <a:lstStyle/>
            <a:p>
              <a:pPr marL="246391" indent="-246391">
                <a:spcAft>
                  <a:spcPts val="570"/>
                </a:spcAft>
                <a:buClr>
                  <a:schemeClr val="accent2"/>
                </a:buClr>
                <a:buSzPct val="70000"/>
                <a:buFont typeface="Arial" pitchFamily="34" charset="0"/>
                <a:buChar char="►"/>
                <a:defRPr/>
              </a:pPr>
              <a:r>
                <a:rPr lang="en-GB" sz="1400" b="1" kern="0" dirty="0">
                  <a:cs typeface="Arial" pitchFamily="34" charset="0"/>
                </a:rPr>
                <a:t>Credible</a:t>
              </a:r>
              <a:r>
                <a:rPr lang="en-GB" sz="1400" kern="0" dirty="0">
                  <a:cs typeface="Arial" pitchFamily="34" charset="0"/>
                </a:rPr>
                <a:t> communicators will help </a:t>
              </a:r>
              <a:r>
                <a:rPr lang="en-GB" sz="1400" kern="0" dirty="0" smtClean="0">
                  <a:cs typeface="Arial" pitchFamily="34" charset="0"/>
                </a:rPr>
                <a:t>individuals </a:t>
              </a:r>
              <a:r>
                <a:rPr lang="en-GB" sz="1400" kern="0" dirty="0">
                  <a:cs typeface="Arial" pitchFamily="34" charset="0"/>
                </a:rPr>
                <a:t>believe in the end </a:t>
              </a:r>
              <a:r>
                <a:rPr lang="en-GB" sz="1400" kern="0" dirty="0" smtClean="0">
                  <a:cs typeface="Arial" pitchFamily="34" charset="0"/>
                </a:rPr>
                <a:t>goal</a:t>
              </a:r>
              <a:endParaRPr lang="en-GB" sz="1400" kern="0" dirty="0">
                <a:cs typeface="Arial" pitchFamily="34" charset="0"/>
              </a:endParaRPr>
            </a:p>
            <a:p>
              <a:pPr marL="246391" indent="-246391">
                <a:spcAft>
                  <a:spcPts val="570"/>
                </a:spcAft>
                <a:buClr>
                  <a:schemeClr val="accent2"/>
                </a:buClr>
                <a:buSzPct val="70000"/>
                <a:buFont typeface="Arial" pitchFamily="34" charset="0"/>
                <a:buChar char="►"/>
                <a:defRPr/>
              </a:pPr>
              <a:r>
                <a:rPr lang="en-GB" sz="1400" i="1" dirty="0">
                  <a:ea typeface="Times New Roman" pitchFamily="18" charset="0"/>
                  <a:cs typeface="Arial" pitchFamily="34" charset="0"/>
                </a:rPr>
                <a:t>Active</a:t>
              </a:r>
              <a:r>
                <a:rPr lang="en-GB" sz="1400" dirty="0">
                  <a:ea typeface="Times New Roman" pitchFamily="18" charset="0"/>
                  <a:cs typeface="Arial" pitchFamily="34" charset="0"/>
                </a:rPr>
                <a:t> </a:t>
              </a:r>
              <a:r>
                <a:rPr lang="en-GB" sz="1400" b="1" dirty="0">
                  <a:ea typeface="Times New Roman" pitchFamily="18" charset="0"/>
                  <a:cs typeface="Arial" pitchFamily="34" charset="0"/>
                </a:rPr>
                <a:t>commitment</a:t>
              </a:r>
              <a:r>
                <a:rPr lang="en-GB" sz="1400" dirty="0">
                  <a:ea typeface="Times New Roman" pitchFamily="18" charset="0"/>
                  <a:cs typeface="Arial" pitchFamily="34" charset="0"/>
                </a:rPr>
                <a:t> from the </a:t>
              </a:r>
              <a:r>
                <a:rPr lang="en-GB" sz="1400" dirty="0" smtClean="0">
                  <a:ea typeface="Times New Roman" pitchFamily="18" charset="0"/>
                  <a:cs typeface="Arial" pitchFamily="34" charset="0"/>
                </a:rPr>
                <a:t>business leaders </a:t>
              </a:r>
              <a:r>
                <a:rPr lang="en-GB" sz="1400" dirty="0">
                  <a:ea typeface="Times New Roman" pitchFamily="18" charset="0"/>
                  <a:cs typeface="Arial" pitchFamily="34" charset="0"/>
                </a:rPr>
                <a:t>gives credibility to communication</a:t>
              </a:r>
            </a:p>
            <a:p>
              <a:pPr marL="246391" indent="-246391">
                <a:spcAft>
                  <a:spcPts val="570"/>
                </a:spcAft>
                <a:buClr>
                  <a:schemeClr val="accent2"/>
                </a:buClr>
                <a:buSzPct val="70000"/>
                <a:buFont typeface="Arial" pitchFamily="34" charset="0"/>
                <a:buChar char="►"/>
                <a:defRPr/>
              </a:pPr>
              <a:r>
                <a:rPr lang="en-GB" sz="1400" dirty="0">
                  <a:ea typeface="Times New Roman" pitchFamily="18" charset="0"/>
                  <a:cs typeface="Arial" pitchFamily="34" charset="0"/>
                </a:rPr>
                <a:t>Communication must be </a:t>
              </a:r>
              <a:r>
                <a:rPr lang="en-GB" sz="1400" b="1" dirty="0">
                  <a:ea typeface="Times New Roman" pitchFamily="18" charset="0"/>
                  <a:cs typeface="Arial" pitchFamily="34" charset="0"/>
                </a:rPr>
                <a:t>transparent</a:t>
              </a:r>
              <a:r>
                <a:rPr lang="en-GB" sz="1400" dirty="0">
                  <a:ea typeface="Times New Roman" pitchFamily="18" charset="0"/>
                  <a:cs typeface="Arial" pitchFamily="34" charset="0"/>
                </a:rPr>
                <a:t>, soliciting trust in the change initiative</a:t>
              </a:r>
            </a:p>
            <a:p>
              <a:pPr marL="246391" indent="-246391">
                <a:spcAft>
                  <a:spcPts val="570"/>
                </a:spcAft>
                <a:buClr>
                  <a:schemeClr val="accent2"/>
                </a:buClr>
                <a:buSzPct val="70000"/>
                <a:buFont typeface="Arial" pitchFamily="34" charset="0"/>
                <a:buChar char="►"/>
                <a:defRPr/>
              </a:pPr>
              <a:r>
                <a:rPr lang="en-GB" sz="1400" dirty="0">
                  <a:ea typeface="Times New Roman" pitchFamily="18" charset="0"/>
                  <a:cs typeface="Arial" pitchFamily="34" charset="0"/>
                </a:rPr>
                <a:t>Use </a:t>
              </a:r>
              <a:r>
                <a:rPr lang="en-GB" sz="1400" b="1" dirty="0">
                  <a:ea typeface="Times New Roman" pitchFamily="18" charset="0"/>
                  <a:cs typeface="Arial" pitchFamily="34" charset="0"/>
                </a:rPr>
                <a:t>communicators</a:t>
              </a:r>
              <a:r>
                <a:rPr lang="en-GB" sz="1400" dirty="0">
                  <a:ea typeface="Times New Roman" pitchFamily="18" charset="0"/>
                  <a:cs typeface="Arial" pitchFamily="34" charset="0"/>
                </a:rPr>
                <a:t> who audiences trust</a:t>
              </a:r>
            </a:p>
          </p:txBody>
        </p:sp>
        <p:sp>
          <p:nvSpPr>
            <p:cNvPr id="7" name="Rectangle 9"/>
            <p:cNvSpPr>
              <a:spLocks noChangeArrowheads="1"/>
            </p:cNvSpPr>
            <p:nvPr/>
          </p:nvSpPr>
          <p:spPr bwMode="gray">
            <a:xfrm>
              <a:off x="2114550" y="2819028"/>
              <a:ext cx="6561138" cy="1261096"/>
            </a:xfrm>
            <a:prstGeom prst="rect">
              <a:avLst/>
            </a:prstGeom>
            <a:noFill/>
            <a:ln w="25400" algn="ctr">
              <a:solidFill>
                <a:schemeClr val="accent1"/>
              </a:solidFill>
              <a:miter lim="800000"/>
              <a:headEnd/>
              <a:tailEnd/>
            </a:ln>
          </p:spPr>
          <p:txBody>
            <a:bodyPr lIns="72000" tIns="72000" rIns="72000" bIns="72000" anchor="t">
              <a:noAutofit/>
            </a:bodyPr>
            <a:lstStyle/>
            <a:p>
              <a:pPr marL="246391" indent="-246391">
                <a:spcAft>
                  <a:spcPts val="570"/>
                </a:spcAft>
                <a:buClr>
                  <a:schemeClr val="accent2"/>
                </a:buClr>
                <a:buSzPct val="70000"/>
                <a:buFont typeface="Arial" pitchFamily="34" charset="0"/>
                <a:buChar char="►"/>
              </a:pPr>
              <a:r>
                <a:rPr lang="en-GB" sz="1400" b="1" dirty="0">
                  <a:ea typeface="Times New Roman" pitchFamily="18" charset="0"/>
                  <a:cs typeface="Arial" charset="0"/>
                </a:rPr>
                <a:t>Involve</a:t>
              </a:r>
              <a:r>
                <a:rPr lang="en-GB" sz="1400" dirty="0">
                  <a:ea typeface="Times New Roman" pitchFamily="18" charset="0"/>
                  <a:cs typeface="Arial" charset="0"/>
                </a:rPr>
                <a:t> the audience – Two-way communication enables </a:t>
              </a:r>
              <a:r>
                <a:rPr lang="en-GB" sz="1400" dirty="0" smtClean="0">
                  <a:ea typeface="Times New Roman" pitchFamily="18" charset="0"/>
                  <a:cs typeface="Arial" charset="0"/>
                </a:rPr>
                <a:t>feedback – think about social media</a:t>
              </a:r>
              <a:endParaRPr lang="en-GB" sz="1400" dirty="0">
                <a:ea typeface="Times New Roman" pitchFamily="18" charset="0"/>
                <a:cs typeface="Arial" charset="0"/>
              </a:endParaRPr>
            </a:p>
            <a:p>
              <a:pPr marL="246391" indent="-246391">
                <a:spcAft>
                  <a:spcPts val="570"/>
                </a:spcAft>
                <a:buClr>
                  <a:schemeClr val="accent2"/>
                </a:buClr>
                <a:buSzPct val="70000"/>
                <a:buFont typeface="Arial" pitchFamily="34" charset="0"/>
                <a:buChar char="►"/>
              </a:pPr>
              <a:r>
                <a:rPr lang="en-GB" sz="1400" b="1" dirty="0">
                  <a:ea typeface="Times New Roman" pitchFamily="18" charset="0"/>
                  <a:cs typeface="Arial" charset="0"/>
                </a:rPr>
                <a:t>Accurate, timely and tailored </a:t>
              </a:r>
              <a:r>
                <a:rPr lang="en-GB" sz="1400" dirty="0">
                  <a:ea typeface="Times New Roman" pitchFamily="18" charset="0"/>
                  <a:cs typeface="Arial" charset="0"/>
                </a:rPr>
                <a:t>information is key to keeping stakeholders engaged</a:t>
              </a:r>
            </a:p>
            <a:p>
              <a:pPr marL="246391" indent="-246391">
                <a:spcAft>
                  <a:spcPts val="570"/>
                </a:spcAft>
                <a:buClr>
                  <a:schemeClr val="accent2"/>
                </a:buClr>
                <a:buSzPct val="70000"/>
                <a:buFont typeface="Arial" pitchFamily="34" charset="0"/>
                <a:buChar char="►"/>
              </a:pPr>
              <a:r>
                <a:rPr lang="en-GB" sz="1400" dirty="0">
                  <a:ea typeface="Times New Roman" pitchFamily="18" charset="0"/>
                  <a:cs typeface="Arial" charset="0"/>
                </a:rPr>
                <a:t>Keep it </a:t>
              </a:r>
              <a:r>
                <a:rPr lang="en-GB" sz="1400" b="1" dirty="0">
                  <a:ea typeface="Times New Roman" pitchFamily="18" charset="0"/>
                  <a:cs typeface="Arial" charset="0"/>
                </a:rPr>
                <a:t>simple and clear</a:t>
              </a:r>
            </a:p>
            <a:p>
              <a:pPr marL="246391" indent="-246391">
                <a:spcAft>
                  <a:spcPts val="570"/>
                </a:spcAft>
                <a:buClr>
                  <a:schemeClr val="accent2"/>
                </a:buClr>
                <a:buSzPct val="70000"/>
                <a:buFont typeface="Arial" pitchFamily="34" charset="0"/>
                <a:buChar char="►"/>
              </a:pPr>
              <a:r>
                <a:rPr lang="en-GB" sz="1400" dirty="0">
                  <a:ea typeface="Times New Roman" pitchFamily="18" charset="0"/>
                  <a:cs typeface="Arial" charset="0"/>
                </a:rPr>
                <a:t>All stakeholder groups should receive a </a:t>
              </a:r>
              <a:r>
                <a:rPr lang="en-GB" sz="1400" b="1" dirty="0">
                  <a:ea typeface="Times New Roman" pitchFamily="18" charset="0"/>
                  <a:cs typeface="Arial" charset="0"/>
                </a:rPr>
                <a:t>consistent</a:t>
              </a:r>
              <a:r>
                <a:rPr lang="en-GB" sz="1400" dirty="0">
                  <a:ea typeface="Times New Roman" pitchFamily="18" charset="0"/>
                  <a:cs typeface="Arial" charset="0"/>
                </a:rPr>
                <a:t> message, which leads to a unified effort towards a common cause</a:t>
              </a:r>
            </a:p>
          </p:txBody>
        </p:sp>
        <p:sp>
          <p:nvSpPr>
            <p:cNvPr id="8" name="Rectangle 12"/>
            <p:cNvSpPr>
              <a:spLocks noChangeArrowheads="1"/>
            </p:cNvSpPr>
            <p:nvPr/>
          </p:nvSpPr>
          <p:spPr bwMode="gray">
            <a:xfrm>
              <a:off x="2114550" y="4240494"/>
              <a:ext cx="6561138" cy="827644"/>
            </a:xfrm>
            <a:prstGeom prst="rect">
              <a:avLst/>
            </a:prstGeom>
            <a:noFill/>
            <a:ln w="25400" algn="ctr">
              <a:solidFill>
                <a:schemeClr val="accent1"/>
              </a:solidFill>
              <a:miter lim="800000"/>
              <a:headEnd/>
              <a:tailEnd/>
            </a:ln>
          </p:spPr>
          <p:txBody>
            <a:bodyPr lIns="72000" tIns="72000" rIns="72000" bIns="72000" anchor="t">
              <a:noAutofit/>
            </a:bodyPr>
            <a:lstStyle/>
            <a:p>
              <a:pPr marL="246391" indent="-246391">
                <a:spcAft>
                  <a:spcPts val="570"/>
                </a:spcAft>
                <a:buClr>
                  <a:schemeClr val="accent2"/>
                </a:buClr>
                <a:buSzPct val="70000"/>
                <a:buFont typeface="Arial" pitchFamily="34" charset="0"/>
                <a:buChar char="►"/>
              </a:pPr>
              <a:r>
                <a:rPr lang="en-GB" sz="1400" b="1" dirty="0">
                  <a:ea typeface="Times New Roman" pitchFamily="18" charset="0"/>
                  <a:cs typeface="Arial" charset="0"/>
                </a:rPr>
                <a:t>Understand and deliver on expectations </a:t>
              </a:r>
              <a:r>
                <a:rPr lang="en-GB" sz="1400" dirty="0">
                  <a:ea typeface="Times New Roman" pitchFamily="18" charset="0"/>
                  <a:cs typeface="Arial" charset="0"/>
                </a:rPr>
                <a:t>to promote stakeholder support</a:t>
              </a:r>
            </a:p>
            <a:p>
              <a:pPr marL="246391" indent="-246391">
                <a:spcAft>
                  <a:spcPts val="570"/>
                </a:spcAft>
                <a:buClr>
                  <a:schemeClr val="accent2"/>
                </a:buClr>
                <a:buSzPct val="70000"/>
                <a:buFont typeface="Arial" pitchFamily="34" charset="0"/>
                <a:buChar char="►"/>
              </a:pPr>
              <a:r>
                <a:rPr lang="en-GB" sz="1400" b="1" dirty="0">
                  <a:ea typeface="Times New Roman" pitchFamily="18" charset="0"/>
                  <a:cs typeface="Arial" charset="0"/>
                </a:rPr>
                <a:t>Listen and act on feedback </a:t>
              </a:r>
              <a:r>
                <a:rPr lang="en-GB" sz="1400" dirty="0">
                  <a:ea typeface="Times New Roman" pitchFamily="18" charset="0"/>
                  <a:cs typeface="Arial" charset="0"/>
                </a:rPr>
                <a:t>to generate trust and buy-in</a:t>
              </a:r>
            </a:p>
            <a:p>
              <a:pPr marL="246391" indent="-246391">
                <a:spcAft>
                  <a:spcPts val="570"/>
                </a:spcAft>
                <a:buClr>
                  <a:schemeClr val="accent2"/>
                </a:buClr>
                <a:buSzPct val="70000"/>
                <a:buFont typeface="Arial" pitchFamily="34" charset="0"/>
                <a:buChar char="►"/>
              </a:pPr>
              <a:r>
                <a:rPr lang="en-GB" sz="1400" dirty="0">
                  <a:ea typeface="Times New Roman" pitchFamily="18" charset="0"/>
                  <a:cs typeface="Arial" charset="0"/>
                </a:rPr>
                <a:t>Encourage team to </a:t>
              </a:r>
              <a:r>
                <a:rPr lang="en-GB" sz="1400" b="1" dirty="0">
                  <a:ea typeface="Times New Roman" pitchFamily="18" charset="0"/>
                  <a:cs typeface="Arial" charset="0"/>
                </a:rPr>
                <a:t>pull for information</a:t>
              </a:r>
              <a:r>
                <a:rPr lang="en-GB" sz="1400" dirty="0">
                  <a:ea typeface="Times New Roman" pitchFamily="18" charset="0"/>
                  <a:cs typeface="Arial" charset="0"/>
                </a:rPr>
                <a:t>, rather than management pushing it at them</a:t>
              </a:r>
            </a:p>
          </p:txBody>
        </p:sp>
        <p:sp>
          <p:nvSpPr>
            <p:cNvPr id="9" name="Rectangle 8"/>
            <p:cNvSpPr/>
            <p:nvPr/>
          </p:nvSpPr>
          <p:spPr bwMode="gray">
            <a:xfrm>
              <a:off x="468311" y="1401714"/>
              <a:ext cx="1494000" cy="1260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lang="en-GB" sz="1400" b="1" dirty="0">
                  <a:solidFill>
                    <a:schemeClr val="tx1"/>
                  </a:solidFill>
                </a:rPr>
                <a:t>Credible messages</a:t>
              </a:r>
            </a:p>
          </p:txBody>
        </p:sp>
        <p:sp>
          <p:nvSpPr>
            <p:cNvPr id="10" name="Rectangle 9"/>
            <p:cNvSpPr/>
            <p:nvPr/>
          </p:nvSpPr>
          <p:spPr bwMode="gray">
            <a:xfrm>
              <a:off x="468312" y="2820124"/>
              <a:ext cx="1493838" cy="1260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lang="en-GB" sz="1400" b="1" dirty="0">
                  <a:solidFill>
                    <a:schemeClr val="tx1"/>
                  </a:solidFill>
                </a:rPr>
                <a:t>Efficient and real communication</a:t>
              </a:r>
            </a:p>
          </p:txBody>
        </p:sp>
        <p:sp>
          <p:nvSpPr>
            <p:cNvPr id="11" name="Rectangle 10"/>
            <p:cNvSpPr/>
            <p:nvPr/>
          </p:nvSpPr>
          <p:spPr bwMode="gray">
            <a:xfrm>
              <a:off x="468312" y="4240138"/>
              <a:ext cx="1493838" cy="828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lang="en-GB" sz="1400" b="1" dirty="0">
                  <a:solidFill>
                    <a:schemeClr val="tx1"/>
                  </a:solidFill>
                </a:rPr>
                <a:t>Manage expectations</a:t>
              </a:r>
            </a:p>
          </p:txBody>
        </p:sp>
      </p:grpSp>
    </p:spTree>
    <p:extLst>
      <p:ext uri="{BB962C8B-B14F-4D97-AF65-F5344CB8AC3E}">
        <p14:creationId xmlns:p14="http://schemas.microsoft.com/office/powerpoint/2010/main" val="36368686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06648" y="1044327"/>
            <a:ext cx="9074150" cy="612000"/>
          </a:xfrm>
        </p:spPr>
        <p:txBody>
          <a:bodyPr/>
          <a:lstStyle/>
          <a:p>
            <a:r>
              <a:rPr lang="en-GB" dirty="0" smtClean="0"/>
              <a:t>Step 1: Map your Stakeholders</a:t>
            </a:r>
            <a:endParaRPr lang="en-GB" dirty="0"/>
          </a:p>
        </p:txBody>
      </p:sp>
      <p:sp>
        <p:nvSpPr>
          <p:cNvPr id="15" name="Slide Number Placeholder 4"/>
          <p:cNvSpPr>
            <a:spLocks noGrp="1"/>
          </p:cNvSpPr>
          <p:nvPr>
            <p:ph type="sldNum" sz="quarter" idx="4294967295"/>
          </p:nvPr>
        </p:nvSpPr>
        <p:spPr>
          <a:xfrm>
            <a:off x="9613898" y="7051674"/>
            <a:ext cx="485776" cy="144000"/>
          </a:xfrm>
          <a:prstGeom prst="rect">
            <a:avLst/>
          </a:prstGeom>
        </p:spPr>
        <p:txBody>
          <a:bodyPr/>
          <a:lstStyle/>
          <a:p>
            <a:fld id="{F9A56513-F998-4254-9CEB-F507EE6F3742}" type="slidenum">
              <a:rPr lang="en-GB" sz="800" smtClean="0">
                <a:solidFill>
                  <a:srgbClr val="808080"/>
                </a:solidFill>
              </a:rPr>
              <a:pPr/>
              <a:t>40</a:t>
            </a:fld>
            <a:endParaRPr lang="en-GB" sz="800" dirty="0">
              <a:solidFill>
                <a:srgbClr val="808080"/>
              </a:solidFill>
            </a:endParaRPr>
          </a:p>
        </p:txBody>
      </p:sp>
      <p:sp>
        <p:nvSpPr>
          <p:cNvPr id="18" name="Rectangle 17"/>
          <p:cNvSpPr/>
          <p:nvPr/>
        </p:nvSpPr>
        <p:spPr>
          <a:xfrm>
            <a:off x="806647" y="179835"/>
            <a:ext cx="9074150" cy="720278"/>
          </a:xfrm>
          <a:prstGeom prst="rect">
            <a:avLst/>
          </a:prstGeom>
          <a:solidFill>
            <a:srgbClr val="FFD200"/>
          </a:solidFill>
          <a:ln w="12700" cmpd="sng">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r>
              <a:rPr lang="en-GB" sz="1200" b="1" dirty="0" smtClean="0">
                <a:solidFill>
                  <a:schemeClr val="tx1"/>
                </a:solidFill>
              </a:rPr>
              <a:t>Activity (90 minutes): </a:t>
            </a:r>
            <a:r>
              <a:rPr lang="en-GB" sz="1200" b="1" dirty="0">
                <a:solidFill>
                  <a:schemeClr val="tx1"/>
                </a:solidFill>
              </a:rPr>
              <a:t>Using the outputs from the SWOT </a:t>
            </a:r>
            <a:r>
              <a:rPr lang="en-GB" sz="1200" b="1" dirty="0" smtClean="0">
                <a:solidFill>
                  <a:schemeClr val="tx1"/>
                </a:solidFill>
              </a:rPr>
              <a:t>analysis, identify all of the key stakeholders,  then using the map below score then based on influence and likely interest then map them to the stakeholder map.  Take three to five of the key stakeholders and analyse them, then start to develop high level messaging for these stakeholders.</a:t>
            </a:r>
          </a:p>
        </p:txBody>
      </p:sp>
      <p:graphicFrame>
        <p:nvGraphicFramePr>
          <p:cNvPr id="21" name="Group 4"/>
          <p:cNvGraphicFramePr>
            <a:graphicFrameLocks noGrp="1"/>
          </p:cNvGraphicFramePr>
          <p:nvPr>
            <p:extLst>
              <p:ext uri="{D42A27DB-BD31-4B8C-83A1-F6EECF244321}">
                <p14:modId xmlns:p14="http://schemas.microsoft.com/office/powerpoint/2010/main" val="2409870685"/>
              </p:ext>
            </p:extLst>
          </p:nvPr>
        </p:nvGraphicFramePr>
        <p:xfrm>
          <a:off x="810963" y="1908423"/>
          <a:ext cx="9001375" cy="4930758"/>
        </p:xfrm>
        <a:graphic>
          <a:graphicData uri="http://schemas.openxmlformats.org/drawingml/2006/table">
            <a:tbl>
              <a:tblPr/>
              <a:tblGrid>
                <a:gridCol w="5984159"/>
                <a:gridCol w="3017216"/>
              </a:tblGrid>
              <a:tr h="286069">
                <a:tc>
                  <a:txBody>
                    <a:bodyPr/>
                    <a:lstStyle/>
                    <a:p>
                      <a:pPr marL="0" marR="0" lvl="0" indent="0" algn="l" defTabSz="914400"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GB" sz="1300" b="1" i="0" u="none" strike="noStrike" cap="none" normalizeH="0" baseline="0" dirty="0">
                          <a:ln>
                            <a:noFill/>
                          </a:ln>
                          <a:solidFill>
                            <a:schemeClr val="tx1"/>
                          </a:solidFill>
                          <a:effectLst/>
                          <a:latin typeface="Arial" charset="0"/>
                          <a:cs typeface="Arial" charset="0"/>
                        </a:rPr>
                        <a:t>1. Influence or power</a:t>
                      </a:r>
                    </a:p>
                  </a:txBody>
                  <a:tcPr marL="36000" marR="36000" marT="36000" marB="36000" horzOverflow="overflow">
                    <a:lnL w="12700" cap="flat" cmpd="sng" algn="ctr">
                      <a:solidFill>
                        <a:schemeClr val="accent2"/>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chemeClr val="accent3"/>
                    </a:solidFill>
                  </a:tcPr>
                </a:tc>
                <a:tc>
                  <a:txBody>
                    <a:bodyPr/>
                    <a:lstStyle/>
                    <a:p>
                      <a:pPr marL="0" marR="0" lvl="0" indent="0" algn="l" defTabSz="914400"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GB" sz="1300" b="1" i="0" u="none" strike="noStrike" cap="none" normalizeH="0" baseline="0" dirty="0">
                          <a:ln>
                            <a:noFill/>
                          </a:ln>
                          <a:solidFill>
                            <a:schemeClr val="tx1"/>
                          </a:solidFill>
                          <a:effectLst/>
                          <a:latin typeface="Arial" charset="0"/>
                          <a:cs typeface="Arial" charset="0"/>
                        </a:rPr>
                        <a:t>2. Actual involvement in </a:t>
                      </a:r>
                      <a:r>
                        <a:rPr kumimoji="0" lang="en-GB" sz="1300" b="1" i="0" u="none" strike="noStrike" cap="none" normalizeH="0" baseline="0" dirty="0" smtClean="0">
                          <a:ln>
                            <a:noFill/>
                          </a:ln>
                          <a:solidFill>
                            <a:schemeClr val="tx1"/>
                          </a:solidFill>
                          <a:effectLst/>
                          <a:latin typeface="Arial" charset="0"/>
                          <a:cs typeface="Arial" charset="0"/>
                        </a:rPr>
                        <a:t>the business and growth plan</a:t>
                      </a:r>
                      <a:endParaRPr kumimoji="0" lang="en-GB" sz="1300" b="1" i="0" u="none" strike="noStrike" cap="none" normalizeH="0" baseline="0" dirty="0">
                        <a:ln>
                          <a:noFill/>
                        </a:ln>
                        <a:solidFill>
                          <a:schemeClr val="tx1"/>
                        </a:solidFill>
                        <a:effectLst/>
                        <a:latin typeface="Arial" charset="0"/>
                        <a:cs typeface="Arial" charset="0"/>
                      </a:endParaRPr>
                    </a:p>
                  </a:txBody>
                  <a:tcPr marL="36000" marR="36000" marT="36000" marB="36000" horzOverflow="overflow">
                    <a:lnL w="9525" cap="flat" cmpd="sng" algn="ctr">
                      <a:noFill/>
                      <a:prstDash val="solid"/>
                      <a:round/>
                      <a:headEnd type="none" w="med" len="med"/>
                      <a:tailEnd type="none" w="med" len="med"/>
                    </a:lnL>
                    <a:lnR w="12700" cap="flat" cmpd="sng" algn="ctr">
                      <a:solidFill>
                        <a:schemeClr val="accent2"/>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chemeClr val="accent3"/>
                    </a:solidFill>
                  </a:tcPr>
                </a:tc>
              </a:tr>
              <a:tr h="3609982">
                <a:tc>
                  <a:txBody>
                    <a:bodyPr/>
                    <a:lstStyle/>
                    <a:p>
                      <a:pPr marL="1588" marR="0" lvl="1" indent="0" algn="l" defTabSz="914400" rtl="0" eaLnBrk="1" fontAlgn="base" latinLnBrk="0" hangingPunct="1">
                        <a:lnSpc>
                          <a:spcPct val="100000"/>
                        </a:lnSpc>
                        <a:spcBef>
                          <a:spcPct val="20000"/>
                        </a:spcBef>
                        <a:spcAft>
                          <a:spcPct val="40000"/>
                        </a:spcAft>
                        <a:buClr>
                          <a:srgbClr val="FFD200"/>
                        </a:buClr>
                        <a:buSzPct val="75000"/>
                        <a:buFont typeface="Arial Unicode MS" pitchFamily="34" charset="-128"/>
                        <a:buNone/>
                        <a:tabLst/>
                      </a:pPr>
                      <a:r>
                        <a:rPr kumimoji="0" lang="en-GB" sz="1200" b="0" i="0" u="none" strike="noStrike" cap="none" normalizeH="0" baseline="0" dirty="0">
                          <a:ln>
                            <a:noFill/>
                          </a:ln>
                          <a:solidFill>
                            <a:schemeClr val="tx1"/>
                          </a:solidFill>
                          <a:effectLst/>
                          <a:latin typeface="Arial" charset="0"/>
                          <a:cs typeface="Arial" charset="0"/>
                        </a:rPr>
                        <a:t>Do they have power over the success of the </a:t>
                      </a:r>
                      <a:r>
                        <a:rPr kumimoji="0" lang="en-GB" sz="1200" b="0" i="0" u="none" strike="noStrike" cap="none" normalizeH="0" baseline="0" dirty="0" smtClean="0">
                          <a:ln>
                            <a:noFill/>
                          </a:ln>
                          <a:solidFill>
                            <a:schemeClr val="tx1"/>
                          </a:solidFill>
                          <a:effectLst/>
                          <a:latin typeface="Arial" charset="0"/>
                          <a:cs typeface="Arial" charset="0"/>
                        </a:rPr>
                        <a:t>business?</a:t>
                      </a:r>
                      <a:endParaRPr kumimoji="0" lang="en-GB" sz="1200" b="0" i="0" u="none" strike="noStrike" cap="none" normalizeH="0" baseline="0" dirty="0">
                        <a:ln>
                          <a:noFill/>
                        </a:ln>
                        <a:solidFill>
                          <a:schemeClr val="tx1"/>
                        </a:solidFill>
                        <a:effectLst/>
                        <a:latin typeface="Arial" charset="0"/>
                        <a:cs typeface="Arial" charset="0"/>
                      </a:endParaRPr>
                    </a:p>
                  </a:txBody>
                  <a:tcPr marL="36000" marR="36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1588" marR="0" lvl="1" indent="0" algn="l" defTabSz="914400" rtl="0" eaLnBrk="1" fontAlgn="base" latinLnBrk="0" hangingPunct="1">
                        <a:lnSpc>
                          <a:spcPct val="100000"/>
                        </a:lnSpc>
                        <a:spcBef>
                          <a:spcPct val="20000"/>
                        </a:spcBef>
                        <a:spcAft>
                          <a:spcPct val="40000"/>
                        </a:spcAft>
                        <a:buClr>
                          <a:srgbClr val="FFD200"/>
                        </a:buClr>
                        <a:buSzPct val="75000"/>
                        <a:buFont typeface="Arial Unicode MS" pitchFamily="34" charset="-128"/>
                        <a:buNone/>
                        <a:tabLst/>
                      </a:pPr>
                      <a:r>
                        <a:rPr kumimoji="0" lang="en-GB" sz="1200" b="0" i="0" u="none" strike="noStrike" cap="none" normalizeH="0" baseline="0" dirty="0">
                          <a:ln>
                            <a:noFill/>
                          </a:ln>
                          <a:solidFill>
                            <a:schemeClr val="bg1"/>
                          </a:solidFill>
                          <a:effectLst/>
                          <a:latin typeface="Arial" charset="0"/>
                          <a:cs typeface="Arial" charset="0"/>
                        </a:rPr>
                        <a:t>Are they involved in the project?</a:t>
                      </a:r>
                    </a:p>
                  </a:txBody>
                  <a:tcPr marL="36000" marR="36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r>
              <a:tr h="305048">
                <a:tc gridSpan="2">
                  <a:txBody>
                    <a:bodyPr/>
                    <a:lstStyle/>
                    <a:p>
                      <a:pPr marL="1588" marR="0" lvl="1" indent="0" algn="l" defTabSz="914400" rtl="0" eaLnBrk="1" fontAlgn="base" latinLnBrk="0" hangingPunct="1">
                        <a:lnSpc>
                          <a:spcPct val="100000"/>
                        </a:lnSpc>
                        <a:spcBef>
                          <a:spcPct val="20000"/>
                        </a:spcBef>
                        <a:spcAft>
                          <a:spcPct val="40000"/>
                        </a:spcAft>
                        <a:buClr>
                          <a:srgbClr val="FFD200"/>
                        </a:buClr>
                        <a:buSzPct val="75000"/>
                        <a:buFont typeface="Arial Unicode MS" pitchFamily="34" charset="-128"/>
                        <a:buNone/>
                        <a:tabLst/>
                      </a:pPr>
                      <a:r>
                        <a:rPr kumimoji="0" lang="en-GB" sz="1300" b="1" i="0" u="none" strike="noStrike" cap="none" normalizeH="0" baseline="0" dirty="0">
                          <a:ln>
                            <a:noFill/>
                          </a:ln>
                          <a:solidFill>
                            <a:schemeClr val="tx1"/>
                          </a:solidFill>
                          <a:effectLst/>
                          <a:latin typeface="Arial" charset="0"/>
                          <a:cs typeface="Arial" charset="0"/>
                        </a:rPr>
                        <a:t>3. Actual support/commitment for </a:t>
                      </a:r>
                      <a:r>
                        <a:rPr kumimoji="0" lang="en-GB" sz="1300" b="1" i="0" u="none" strike="noStrike" cap="none" normalizeH="0" baseline="0" dirty="0" smtClean="0">
                          <a:ln>
                            <a:noFill/>
                          </a:ln>
                          <a:solidFill>
                            <a:schemeClr val="tx1"/>
                          </a:solidFill>
                          <a:effectLst/>
                          <a:latin typeface="Arial" charset="0"/>
                          <a:cs typeface="Arial" charset="0"/>
                        </a:rPr>
                        <a:t>the changes required to grow the business</a:t>
                      </a:r>
                      <a:endParaRPr kumimoji="0" lang="en-GB" sz="1300" b="1" i="0" u="none" strike="noStrike" cap="none" normalizeH="0" baseline="0" dirty="0">
                        <a:ln>
                          <a:noFill/>
                        </a:ln>
                        <a:solidFill>
                          <a:schemeClr val="tx1"/>
                        </a:solidFill>
                        <a:effectLst/>
                        <a:latin typeface="Arial" charset="0"/>
                        <a:cs typeface="Arial" charset="0"/>
                      </a:endParaRPr>
                    </a:p>
                  </a:txBody>
                  <a:tcPr marL="36000" marR="36000" marT="36000" marB="36000" horzOverflow="overflow">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chemeClr val="accent3"/>
                    </a:solidFill>
                  </a:tcPr>
                </a:tc>
                <a:tc hMerge="1">
                  <a:txBody>
                    <a:bodyPr/>
                    <a:lstStyle/>
                    <a:p>
                      <a:endParaRPr lang="en-GB"/>
                    </a:p>
                  </a:txBody>
                  <a:tcPr/>
                </a:tc>
              </a:tr>
              <a:tr h="302073">
                <a:tc gridSpan="2">
                  <a:txBody>
                    <a:bodyPr/>
                    <a:lstStyle/>
                    <a:p>
                      <a:pPr marL="1588" marR="0" lvl="1" indent="0" algn="l" defTabSz="914400" rtl="0" eaLnBrk="1" fontAlgn="base" latinLnBrk="0" hangingPunct="1">
                        <a:lnSpc>
                          <a:spcPct val="100000"/>
                        </a:lnSpc>
                        <a:spcBef>
                          <a:spcPct val="20000"/>
                        </a:spcBef>
                        <a:spcAft>
                          <a:spcPct val="40000"/>
                        </a:spcAft>
                        <a:buClr>
                          <a:srgbClr val="FFD200"/>
                        </a:buClr>
                        <a:buSzPct val="75000"/>
                        <a:buFont typeface="Arial Unicode MS" pitchFamily="34" charset="-128"/>
                        <a:buNone/>
                        <a:tabLst/>
                      </a:pPr>
                      <a:r>
                        <a:rPr kumimoji="0" lang="en-GB" sz="1200" b="0" i="0" u="none" strike="noStrike" cap="none" normalizeH="0" baseline="0" dirty="0">
                          <a:ln>
                            <a:noFill/>
                          </a:ln>
                          <a:solidFill>
                            <a:schemeClr val="tx1"/>
                          </a:solidFill>
                          <a:effectLst/>
                          <a:latin typeface="Arial" charset="0"/>
                          <a:cs typeface="Arial" charset="0"/>
                        </a:rPr>
                        <a:t>Are they against, neutral or for</a:t>
                      </a:r>
                      <a:r>
                        <a:rPr kumimoji="0" lang="en-GB" sz="1200" b="0" i="0" u="none" strike="noStrike" cap="none" normalizeH="0" baseline="0" dirty="0" smtClean="0">
                          <a:ln>
                            <a:noFill/>
                          </a:ln>
                          <a:solidFill>
                            <a:schemeClr val="tx1"/>
                          </a:solidFill>
                          <a:effectLst/>
                          <a:latin typeface="Arial" charset="0"/>
                          <a:cs typeface="Arial" charset="0"/>
                        </a:rPr>
                        <a:t>?</a:t>
                      </a:r>
                    </a:p>
                    <a:p>
                      <a:pPr marL="1588" marR="0" lvl="1" indent="0" algn="l" defTabSz="914400" rtl="0" eaLnBrk="1" fontAlgn="base" latinLnBrk="0" hangingPunct="1">
                        <a:lnSpc>
                          <a:spcPct val="100000"/>
                        </a:lnSpc>
                        <a:spcBef>
                          <a:spcPct val="20000"/>
                        </a:spcBef>
                        <a:spcAft>
                          <a:spcPct val="40000"/>
                        </a:spcAft>
                        <a:buClr>
                          <a:srgbClr val="FFD200"/>
                        </a:buClr>
                        <a:buSzPct val="75000"/>
                        <a:buFont typeface="Arial Unicode MS" pitchFamily="34" charset="-128"/>
                        <a:buNone/>
                        <a:tabLst/>
                      </a:pPr>
                      <a:endParaRPr kumimoji="0" lang="en-GB" sz="1200" b="0" i="0" u="none" strike="noStrike" cap="none" normalizeH="0" baseline="0" dirty="0">
                        <a:ln>
                          <a:noFill/>
                        </a:ln>
                        <a:solidFill>
                          <a:schemeClr val="tx1"/>
                        </a:solidFill>
                        <a:effectLst/>
                        <a:latin typeface="Arial" charset="0"/>
                        <a:cs typeface="Arial" charset="0"/>
                      </a:endParaRPr>
                    </a:p>
                  </a:txBody>
                  <a:tcPr marL="36000" marR="36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GB"/>
                    </a:p>
                  </a:txBody>
                  <a:tcPr/>
                </a:tc>
              </a:tr>
            </a:tbl>
          </a:graphicData>
        </a:graphic>
      </p:graphicFrame>
      <p:sp>
        <p:nvSpPr>
          <p:cNvPr id="22" name="Line 38"/>
          <p:cNvSpPr>
            <a:spLocks noChangeShapeType="1"/>
          </p:cNvSpPr>
          <p:nvPr/>
        </p:nvSpPr>
        <p:spPr bwMode="gray">
          <a:xfrm>
            <a:off x="1055342" y="5618919"/>
            <a:ext cx="5629730" cy="0"/>
          </a:xfrm>
          <a:prstGeom prst="line">
            <a:avLst/>
          </a:prstGeom>
          <a:noFill/>
          <a:ln w="19050">
            <a:solidFill>
              <a:schemeClr val="tx2"/>
            </a:solidFill>
            <a:round/>
            <a:headEnd type="triangle" w="lg" len="med"/>
            <a:tailEnd type="triangle" w="lg" len="med"/>
          </a:ln>
          <a:effectLst/>
        </p:spPr>
        <p:txBody>
          <a:bodyPr lIns="90000" tIns="46800" rIns="90000" bIns="46800" anchor="ctr"/>
          <a:lstStyle/>
          <a:p>
            <a:pPr algn="l" rtl="0"/>
            <a:endParaRPr lang="en-GB" sz="1200" kern="1200" dirty="0">
              <a:solidFill>
                <a:srgbClr val="646464"/>
              </a:solidFill>
              <a:latin typeface="Arial"/>
              <a:ea typeface="+mn-ea"/>
              <a:cs typeface="+mn-cs"/>
            </a:endParaRPr>
          </a:p>
        </p:txBody>
      </p:sp>
      <p:sp>
        <p:nvSpPr>
          <p:cNvPr id="23" name="Line 39"/>
          <p:cNvSpPr>
            <a:spLocks noChangeShapeType="1"/>
          </p:cNvSpPr>
          <p:nvPr/>
        </p:nvSpPr>
        <p:spPr bwMode="gray">
          <a:xfrm rot="5400000" flipH="1" flipV="1">
            <a:off x="2176968" y="4193946"/>
            <a:ext cx="2849947" cy="0"/>
          </a:xfrm>
          <a:prstGeom prst="line">
            <a:avLst/>
          </a:prstGeom>
          <a:noFill/>
          <a:ln w="19050">
            <a:solidFill>
              <a:schemeClr val="tx2"/>
            </a:solidFill>
            <a:round/>
            <a:headEnd type="none" w="lg" len="lg"/>
            <a:tailEnd type="triangle" w="lg" len="med"/>
          </a:ln>
          <a:effectLst/>
        </p:spPr>
        <p:txBody>
          <a:bodyPr lIns="90000" tIns="46800" rIns="90000" bIns="46800" anchor="ctr"/>
          <a:lstStyle/>
          <a:p>
            <a:pPr algn="l" rtl="0"/>
            <a:endParaRPr lang="en-GB" sz="1200" kern="1200" dirty="0">
              <a:solidFill>
                <a:srgbClr val="646464"/>
              </a:solidFill>
              <a:latin typeface="Arial"/>
              <a:ea typeface="+mn-ea"/>
              <a:cs typeface="+mn-cs"/>
            </a:endParaRPr>
          </a:p>
        </p:txBody>
      </p:sp>
      <p:sp>
        <p:nvSpPr>
          <p:cNvPr id="24" name="Rectangle 40"/>
          <p:cNvSpPr>
            <a:spLocks noChangeArrowheads="1"/>
          </p:cNvSpPr>
          <p:nvPr/>
        </p:nvSpPr>
        <p:spPr bwMode="gray">
          <a:xfrm>
            <a:off x="3055655" y="2742665"/>
            <a:ext cx="579620" cy="279149"/>
          </a:xfrm>
          <a:prstGeom prst="rect">
            <a:avLst/>
          </a:prstGeom>
          <a:noFill/>
          <a:ln w="9525" algn="ctr">
            <a:noFill/>
            <a:miter lim="800000"/>
            <a:headEnd/>
            <a:tailEnd/>
          </a:ln>
          <a:effectLst/>
        </p:spPr>
        <p:txBody>
          <a:bodyPr wrap="square" lIns="90000" tIns="46800" rIns="90000" bIns="46800">
            <a:spAutoFit/>
          </a:bodyPr>
          <a:lstStyle/>
          <a:p>
            <a:pPr marL="12700" indent="-12700" algn="r" rtl="0">
              <a:spcBef>
                <a:spcPct val="50000"/>
              </a:spcBef>
            </a:pPr>
            <a:r>
              <a:rPr lang="en-GB" sz="1200" b="1" i="1" kern="1200" dirty="0" smtClean="0">
                <a:solidFill>
                  <a:schemeClr val="bg1"/>
                </a:solidFill>
                <a:latin typeface="Arial"/>
                <a:ea typeface="+mn-ea"/>
                <a:cs typeface="+mn-cs"/>
              </a:rPr>
              <a:t>High</a:t>
            </a:r>
            <a:endParaRPr lang="en-GB" sz="1200" b="1" i="1" kern="1200" dirty="0">
              <a:solidFill>
                <a:schemeClr val="bg1"/>
              </a:solidFill>
              <a:latin typeface="Arial"/>
              <a:ea typeface="+mn-ea"/>
              <a:cs typeface="+mn-cs"/>
            </a:endParaRPr>
          </a:p>
        </p:txBody>
      </p:sp>
      <p:sp>
        <p:nvSpPr>
          <p:cNvPr id="25" name="Rectangle 41"/>
          <p:cNvSpPr>
            <a:spLocks noChangeArrowheads="1"/>
          </p:cNvSpPr>
          <p:nvPr/>
        </p:nvSpPr>
        <p:spPr bwMode="gray">
          <a:xfrm>
            <a:off x="2816055" y="4027334"/>
            <a:ext cx="844460" cy="279149"/>
          </a:xfrm>
          <a:prstGeom prst="rect">
            <a:avLst/>
          </a:prstGeom>
          <a:noFill/>
          <a:ln w="9525" algn="ctr">
            <a:noFill/>
            <a:miter lim="800000"/>
            <a:headEnd/>
            <a:tailEnd/>
          </a:ln>
          <a:effectLst/>
        </p:spPr>
        <p:txBody>
          <a:bodyPr wrap="square" lIns="90000" tIns="46800" rIns="90000" bIns="46800">
            <a:spAutoFit/>
          </a:bodyPr>
          <a:lstStyle/>
          <a:p>
            <a:pPr marL="12700" indent="-12700" algn="r" rtl="0">
              <a:spcBef>
                <a:spcPct val="50000"/>
              </a:spcBef>
            </a:pPr>
            <a:r>
              <a:rPr lang="en-GB" sz="1200" b="1" i="1" kern="1200" dirty="0" smtClean="0">
                <a:solidFill>
                  <a:schemeClr val="bg1"/>
                </a:solidFill>
                <a:latin typeface="Arial"/>
                <a:ea typeface="+mn-ea"/>
                <a:cs typeface="+mn-cs"/>
              </a:rPr>
              <a:t>Medium</a:t>
            </a:r>
            <a:endParaRPr lang="en-GB" sz="1200" b="1" i="1" kern="1200" dirty="0">
              <a:solidFill>
                <a:schemeClr val="bg1"/>
              </a:solidFill>
              <a:latin typeface="Arial"/>
              <a:ea typeface="+mn-ea"/>
              <a:cs typeface="+mn-cs"/>
            </a:endParaRPr>
          </a:p>
        </p:txBody>
      </p:sp>
      <p:sp>
        <p:nvSpPr>
          <p:cNvPr id="26" name="Rectangle 42"/>
          <p:cNvSpPr>
            <a:spLocks noChangeArrowheads="1"/>
          </p:cNvSpPr>
          <p:nvPr/>
        </p:nvSpPr>
        <p:spPr bwMode="gray">
          <a:xfrm>
            <a:off x="3088514" y="5354386"/>
            <a:ext cx="543299" cy="279149"/>
          </a:xfrm>
          <a:prstGeom prst="rect">
            <a:avLst/>
          </a:prstGeom>
          <a:noFill/>
          <a:ln w="9525" algn="ctr">
            <a:noFill/>
            <a:miter lim="800000"/>
            <a:headEnd/>
            <a:tailEnd/>
          </a:ln>
          <a:effectLst/>
        </p:spPr>
        <p:txBody>
          <a:bodyPr wrap="square" lIns="90000" tIns="46800" rIns="90000" bIns="46800">
            <a:spAutoFit/>
          </a:bodyPr>
          <a:lstStyle/>
          <a:p>
            <a:pPr marL="12700" indent="-12700" algn="r" rtl="0">
              <a:spcBef>
                <a:spcPct val="50000"/>
              </a:spcBef>
            </a:pPr>
            <a:r>
              <a:rPr lang="en-GB" sz="1200" b="1" i="1" kern="1200" dirty="0" smtClean="0">
                <a:solidFill>
                  <a:schemeClr val="bg1"/>
                </a:solidFill>
                <a:latin typeface="Arial"/>
                <a:ea typeface="+mn-ea"/>
                <a:cs typeface="+mn-cs"/>
              </a:rPr>
              <a:t>Low</a:t>
            </a:r>
            <a:endParaRPr lang="en-GB" sz="1200" b="1" i="1" kern="1200" dirty="0">
              <a:solidFill>
                <a:schemeClr val="bg1"/>
              </a:solidFill>
              <a:latin typeface="Arial"/>
              <a:ea typeface="+mn-ea"/>
              <a:cs typeface="+mn-cs"/>
            </a:endParaRPr>
          </a:p>
        </p:txBody>
      </p:sp>
      <p:sp>
        <p:nvSpPr>
          <p:cNvPr id="27" name="Rectangle 43"/>
          <p:cNvSpPr>
            <a:spLocks noChangeArrowheads="1"/>
          </p:cNvSpPr>
          <p:nvPr/>
        </p:nvSpPr>
        <p:spPr bwMode="gray">
          <a:xfrm>
            <a:off x="1134752" y="5661303"/>
            <a:ext cx="824786" cy="279149"/>
          </a:xfrm>
          <a:prstGeom prst="rect">
            <a:avLst/>
          </a:prstGeom>
          <a:noFill/>
          <a:ln w="9525" algn="ctr">
            <a:noFill/>
            <a:miter lim="800000"/>
            <a:headEnd/>
            <a:tailEnd/>
          </a:ln>
          <a:effectLst/>
        </p:spPr>
        <p:txBody>
          <a:bodyPr wrap="square" lIns="90000" tIns="46800" rIns="90000" bIns="46800">
            <a:spAutoFit/>
          </a:bodyPr>
          <a:lstStyle/>
          <a:p>
            <a:pPr marL="12700" indent="-12700" algn="l" rtl="0">
              <a:spcBef>
                <a:spcPct val="50000"/>
              </a:spcBef>
            </a:pPr>
            <a:r>
              <a:rPr lang="en-GB" sz="1200" b="1" kern="1200" dirty="0" smtClean="0">
                <a:solidFill>
                  <a:schemeClr val="bg1"/>
                </a:solidFill>
                <a:latin typeface="Arial"/>
                <a:ea typeface="+mn-ea"/>
                <a:cs typeface="+mn-cs"/>
              </a:rPr>
              <a:t>Against</a:t>
            </a:r>
            <a:endParaRPr lang="en-GB" sz="1200" b="1" kern="1200" dirty="0">
              <a:solidFill>
                <a:schemeClr val="bg1"/>
              </a:solidFill>
              <a:latin typeface="Arial"/>
              <a:ea typeface="+mn-ea"/>
              <a:cs typeface="+mn-cs"/>
            </a:endParaRPr>
          </a:p>
        </p:txBody>
      </p:sp>
      <p:sp>
        <p:nvSpPr>
          <p:cNvPr id="28" name="Rectangle 44"/>
          <p:cNvSpPr>
            <a:spLocks noChangeArrowheads="1"/>
          </p:cNvSpPr>
          <p:nvPr/>
        </p:nvSpPr>
        <p:spPr bwMode="gray">
          <a:xfrm>
            <a:off x="3317160" y="5661303"/>
            <a:ext cx="785438" cy="279149"/>
          </a:xfrm>
          <a:prstGeom prst="rect">
            <a:avLst/>
          </a:prstGeom>
          <a:noFill/>
          <a:ln w="9525" algn="ctr">
            <a:noFill/>
            <a:miter lim="800000"/>
            <a:headEnd/>
            <a:tailEnd/>
          </a:ln>
          <a:effectLst/>
        </p:spPr>
        <p:txBody>
          <a:bodyPr wrap="square" lIns="90000" tIns="46800" rIns="90000" bIns="46800">
            <a:spAutoFit/>
          </a:bodyPr>
          <a:lstStyle/>
          <a:p>
            <a:pPr marL="12700" indent="-12700" algn="l" rtl="0">
              <a:spcBef>
                <a:spcPct val="50000"/>
              </a:spcBef>
            </a:pPr>
            <a:r>
              <a:rPr lang="en-GB" sz="1200" b="1" kern="1200" dirty="0" smtClean="0">
                <a:solidFill>
                  <a:schemeClr val="bg1"/>
                </a:solidFill>
                <a:latin typeface="Arial"/>
                <a:ea typeface="+mn-ea"/>
                <a:cs typeface="+mn-cs"/>
              </a:rPr>
              <a:t>Neutral</a:t>
            </a:r>
            <a:endParaRPr lang="en-GB" sz="1200" b="1" kern="1200" dirty="0">
              <a:solidFill>
                <a:schemeClr val="bg1"/>
              </a:solidFill>
              <a:latin typeface="Arial"/>
              <a:ea typeface="+mn-ea"/>
              <a:cs typeface="+mn-cs"/>
            </a:endParaRPr>
          </a:p>
        </p:txBody>
      </p:sp>
      <p:sp>
        <p:nvSpPr>
          <p:cNvPr id="29" name="Rectangle 45"/>
          <p:cNvSpPr>
            <a:spLocks noChangeArrowheads="1"/>
          </p:cNvSpPr>
          <p:nvPr/>
        </p:nvSpPr>
        <p:spPr bwMode="gray">
          <a:xfrm>
            <a:off x="5706740" y="5661303"/>
            <a:ext cx="475198" cy="279149"/>
          </a:xfrm>
          <a:prstGeom prst="rect">
            <a:avLst/>
          </a:prstGeom>
          <a:noFill/>
          <a:ln w="9525" algn="ctr">
            <a:noFill/>
            <a:miter lim="800000"/>
            <a:headEnd/>
            <a:tailEnd/>
          </a:ln>
          <a:effectLst/>
        </p:spPr>
        <p:txBody>
          <a:bodyPr wrap="square" lIns="90000" tIns="46800" rIns="90000" bIns="46800">
            <a:spAutoFit/>
          </a:bodyPr>
          <a:lstStyle/>
          <a:p>
            <a:pPr marL="12700" indent="-12700" algn="l" rtl="0">
              <a:spcBef>
                <a:spcPct val="50000"/>
              </a:spcBef>
            </a:pPr>
            <a:r>
              <a:rPr lang="en-GB" sz="1200" b="1" kern="1200" dirty="0" smtClean="0">
                <a:solidFill>
                  <a:schemeClr val="bg1"/>
                </a:solidFill>
                <a:latin typeface="Arial"/>
                <a:ea typeface="+mn-ea"/>
                <a:cs typeface="+mn-cs"/>
              </a:rPr>
              <a:t>For</a:t>
            </a:r>
            <a:endParaRPr lang="en-GB" sz="1200" b="1" kern="1200" dirty="0">
              <a:solidFill>
                <a:schemeClr val="bg1"/>
              </a:solidFill>
              <a:latin typeface="Arial"/>
              <a:ea typeface="+mn-ea"/>
              <a:cs typeface="+mn-cs"/>
            </a:endParaRPr>
          </a:p>
        </p:txBody>
      </p:sp>
      <p:grpSp>
        <p:nvGrpSpPr>
          <p:cNvPr id="30" name="Group 29"/>
          <p:cNvGrpSpPr/>
          <p:nvPr/>
        </p:nvGrpSpPr>
        <p:grpSpPr>
          <a:xfrm>
            <a:off x="7184124" y="2954411"/>
            <a:ext cx="1480441" cy="2732183"/>
            <a:chOff x="6841474" y="2280493"/>
            <a:chExt cx="1339350" cy="2732183"/>
          </a:xfrm>
        </p:grpSpPr>
        <p:sp>
          <p:nvSpPr>
            <p:cNvPr id="31" name="Text Box 33"/>
            <p:cNvSpPr txBox="1">
              <a:spLocks noChangeArrowheads="1"/>
            </p:cNvSpPr>
            <p:nvPr/>
          </p:nvSpPr>
          <p:spPr bwMode="gray">
            <a:xfrm>
              <a:off x="7672855" y="2481794"/>
              <a:ext cx="491138" cy="279180"/>
            </a:xfrm>
            <a:prstGeom prst="rect">
              <a:avLst/>
            </a:prstGeom>
            <a:noFill/>
            <a:ln w="9525" algn="ctr">
              <a:noFill/>
              <a:miter lim="800000"/>
              <a:headEnd/>
              <a:tailEnd/>
            </a:ln>
            <a:effectLst/>
          </p:spPr>
          <p:txBody>
            <a:bodyPr wrap="none" lIns="90000" tIns="46800" rIns="90000" bIns="46800">
              <a:spAutoFit/>
            </a:bodyPr>
            <a:lstStyle/>
            <a:p>
              <a:pPr marL="12700" indent="-12700" algn="l" rtl="0">
                <a:spcBef>
                  <a:spcPct val="50000"/>
                </a:spcBef>
              </a:pPr>
              <a:r>
                <a:rPr lang="en-GB" sz="1200" b="1" i="1" kern="1200" dirty="0" smtClean="0">
                  <a:solidFill>
                    <a:schemeClr val="bg1"/>
                  </a:solidFill>
                  <a:latin typeface="Arial"/>
                  <a:ea typeface="+mn-ea"/>
                  <a:cs typeface="+mn-cs"/>
                </a:rPr>
                <a:t>Low</a:t>
              </a:r>
              <a:endParaRPr lang="en-GB" sz="1200" b="1" i="1" kern="1200" dirty="0">
                <a:solidFill>
                  <a:schemeClr val="bg1"/>
                </a:solidFill>
                <a:latin typeface="Arial"/>
                <a:ea typeface="+mn-ea"/>
                <a:cs typeface="+mn-cs"/>
              </a:endParaRPr>
            </a:p>
          </p:txBody>
        </p:sp>
        <p:sp>
          <p:nvSpPr>
            <p:cNvPr id="32" name="Text Box 34"/>
            <p:cNvSpPr txBox="1">
              <a:spLocks noChangeArrowheads="1"/>
            </p:cNvSpPr>
            <p:nvPr/>
          </p:nvSpPr>
          <p:spPr bwMode="gray">
            <a:xfrm>
              <a:off x="7656024" y="4566458"/>
              <a:ext cx="524800" cy="279180"/>
            </a:xfrm>
            <a:prstGeom prst="rect">
              <a:avLst/>
            </a:prstGeom>
            <a:noFill/>
            <a:ln w="9525" algn="ctr">
              <a:noFill/>
              <a:miter lim="800000"/>
              <a:headEnd/>
              <a:tailEnd/>
            </a:ln>
            <a:effectLst/>
          </p:spPr>
          <p:txBody>
            <a:bodyPr wrap="none" lIns="90000" tIns="46800" rIns="90000" bIns="46800">
              <a:spAutoFit/>
            </a:bodyPr>
            <a:lstStyle/>
            <a:p>
              <a:pPr marL="12700" indent="-12700" algn="l" rtl="0">
                <a:spcBef>
                  <a:spcPct val="50000"/>
                </a:spcBef>
              </a:pPr>
              <a:r>
                <a:rPr lang="en-GB" sz="1200" b="1" i="1" kern="1200" dirty="0" smtClean="0">
                  <a:solidFill>
                    <a:schemeClr val="bg1"/>
                  </a:solidFill>
                  <a:latin typeface="Arial"/>
                  <a:ea typeface="+mn-ea"/>
                  <a:cs typeface="+mn-cs"/>
                </a:rPr>
                <a:t>High</a:t>
              </a:r>
              <a:endParaRPr lang="en-GB" sz="1200" b="1" i="1" kern="1200" dirty="0">
                <a:solidFill>
                  <a:schemeClr val="bg1"/>
                </a:solidFill>
                <a:latin typeface="Arial"/>
                <a:ea typeface="+mn-ea"/>
                <a:cs typeface="+mn-cs"/>
              </a:endParaRPr>
            </a:p>
          </p:txBody>
        </p:sp>
        <p:sp>
          <p:nvSpPr>
            <p:cNvPr id="33" name="Line 35"/>
            <p:cNvSpPr>
              <a:spLocks noChangeShapeType="1"/>
            </p:cNvSpPr>
            <p:nvPr/>
          </p:nvSpPr>
          <p:spPr bwMode="gray">
            <a:xfrm>
              <a:off x="7918424" y="2780059"/>
              <a:ext cx="0" cy="1800225"/>
            </a:xfrm>
            <a:prstGeom prst="line">
              <a:avLst/>
            </a:prstGeom>
            <a:noFill/>
            <a:ln w="19050">
              <a:solidFill>
                <a:schemeClr val="tx2"/>
              </a:solidFill>
              <a:round/>
              <a:headEnd/>
              <a:tailEnd type="triangle" w="med" len="med"/>
            </a:ln>
            <a:effectLst/>
          </p:spPr>
          <p:txBody>
            <a:bodyPr lIns="90000" tIns="46800" rIns="90000" bIns="46800" anchor="ctr"/>
            <a:lstStyle/>
            <a:p>
              <a:pPr algn="l" rtl="0"/>
              <a:endParaRPr lang="en-GB" kern="1200" dirty="0">
                <a:solidFill>
                  <a:srgbClr val="646464"/>
                </a:solidFill>
                <a:latin typeface="Arial"/>
                <a:ea typeface="+mn-ea"/>
                <a:cs typeface="+mn-cs"/>
              </a:endParaRPr>
            </a:p>
          </p:txBody>
        </p:sp>
        <p:sp>
          <p:nvSpPr>
            <p:cNvPr id="34" name="Rectangle 33"/>
            <p:cNvSpPr/>
            <p:nvPr/>
          </p:nvSpPr>
          <p:spPr bwMode="gray">
            <a:xfrm>
              <a:off x="6841474" y="2280493"/>
              <a:ext cx="827748" cy="2732183"/>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rtl="0"/>
              <a:endParaRPr lang="en-GB" kern="1200" dirty="0">
                <a:solidFill>
                  <a:srgbClr val="000000"/>
                </a:solidFill>
                <a:latin typeface="Arial"/>
                <a:ea typeface="+mn-ea"/>
                <a:cs typeface="+mn-cs"/>
              </a:endParaRPr>
            </a:p>
          </p:txBody>
        </p:sp>
        <p:grpSp>
          <p:nvGrpSpPr>
            <p:cNvPr id="35" name="Group 32"/>
            <p:cNvGrpSpPr/>
            <p:nvPr/>
          </p:nvGrpSpPr>
          <p:grpSpPr>
            <a:xfrm>
              <a:off x="7018761" y="2399995"/>
              <a:ext cx="468005" cy="2474549"/>
              <a:chOff x="7018761" y="2399995"/>
              <a:chExt cx="468005" cy="2474549"/>
            </a:xfrm>
          </p:grpSpPr>
          <p:sp>
            <p:nvSpPr>
              <p:cNvPr id="36" name="Oval 28"/>
              <p:cNvSpPr>
                <a:spLocks noChangeArrowheads="1"/>
              </p:cNvSpPr>
              <p:nvPr>
                <p:custDataLst>
                  <p:tags r:id="rId1"/>
                </p:custDataLst>
              </p:nvPr>
            </p:nvSpPr>
            <p:spPr bwMode="gray">
              <a:xfrm rot="16200000">
                <a:off x="7018765" y="4406544"/>
                <a:ext cx="468000" cy="468000"/>
              </a:xfrm>
              <a:prstGeom prst="ellipse">
                <a:avLst/>
              </a:prstGeom>
              <a:solidFill>
                <a:srgbClr val="FFD200"/>
              </a:solidFill>
              <a:ln w="12700" algn="ctr">
                <a:solidFill>
                  <a:srgbClr val="FFD200"/>
                </a:solidFill>
                <a:round/>
                <a:headEnd/>
                <a:tailEnd/>
              </a:ln>
              <a:effectLst/>
            </p:spPr>
            <p:txBody>
              <a:bodyPr lIns="21600" tIns="10800" rIns="21600" bIns="10800" anchor="ctr">
                <a:spAutoFit/>
              </a:bodyPr>
              <a:lstStyle/>
              <a:p>
                <a:pPr algn="l" rtl="0"/>
                <a:endParaRPr lang="en-GB" kern="1200" dirty="0">
                  <a:solidFill>
                    <a:srgbClr val="646464"/>
                  </a:solidFill>
                  <a:latin typeface="Arial"/>
                  <a:ea typeface="+mn-ea"/>
                  <a:cs typeface="+mn-cs"/>
                </a:endParaRPr>
              </a:p>
            </p:txBody>
          </p:sp>
          <p:grpSp>
            <p:nvGrpSpPr>
              <p:cNvPr id="37" name="Group 65"/>
              <p:cNvGrpSpPr>
                <a:grpSpLocks/>
              </p:cNvGrpSpPr>
              <p:nvPr/>
            </p:nvGrpSpPr>
            <p:grpSpPr bwMode="gray">
              <a:xfrm rot="10800000">
                <a:off x="7018761" y="3403269"/>
                <a:ext cx="468001" cy="468000"/>
                <a:chOff x="1475" y="3736"/>
                <a:chExt cx="385" cy="367"/>
              </a:xfrm>
            </p:grpSpPr>
            <p:sp>
              <p:nvSpPr>
                <p:cNvPr id="45" name="Oval 29"/>
                <p:cNvSpPr>
                  <a:spLocks noChangeArrowheads="1"/>
                </p:cNvSpPr>
                <p:nvPr>
                  <p:custDataLst>
                    <p:tags r:id="rId7"/>
                  </p:custDataLst>
                </p:nvPr>
              </p:nvSpPr>
              <p:spPr bwMode="gray">
                <a:xfrm>
                  <a:off x="1475" y="3736"/>
                  <a:ext cx="385" cy="367"/>
                </a:xfrm>
                <a:prstGeom prst="ellipse">
                  <a:avLst/>
                </a:prstGeom>
                <a:solidFill>
                  <a:srgbClr val="FFD200"/>
                </a:solidFill>
                <a:ln w="12700" algn="ctr">
                  <a:noFill/>
                  <a:round/>
                  <a:headEnd/>
                  <a:tailEnd/>
                </a:ln>
                <a:effectLst/>
              </p:spPr>
              <p:txBody>
                <a:bodyPr wrap="none" lIns="21600" tIns="10800" rIns="21600" bIns="10800" anchor="ctr">
                  <a:spAutoFit/>
                </a:bodyPr>
                <a:lstStyle/>
                <a:p>
                  <a:pPr algn="l" rtl="0"/>
                  <a:endParaRPr lang="en-GB" kern="1200" dirty="0">
                    <a:solidFill>
                      <a:srgbClr val="646464"/>
                    </a:solidFill>
                    <a:latin typeface="Arial"/>
                    <a:ea typeface="+mn-ea"/>
                    <a:cs typeface="+mn-cs"/>
                  </a:endParaRPr>
                </a:p>
              </p:txBody>
            </p:sp>
            <p:sp>
              <p:nvSpPr>
                <p:cNvPr id="46" name="Arc 30"/>
                <p:cNvSpPr>
                  <a:spLocks/>
                </p:cNvSpPr>
                <p:nvPr>
                  <p:custDataLst>
                    <p:tags r:id="rId8"/>
                  </p:custDataLst>
                </p:nvPr>
              </p:nvSpPr>
              <p:spPr bwMode="gray">
                <a:xfrm>
                  <a:off x="1668" y="3736"/>
                  <a:ext cx="192" cy="36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chemeClr val="folHlink"/>
                </a:solidFill>
                <a:ln w="12700">
                  <a:noFill/>
                  <a:round/>
                  <a:headEnd/>
                  <a:tailEnd/>
                </a:ln>
                <a:effectLst/>
              </p:spPr>
              <p:txBody>
                <a:bodyPr wrap="none" lIns="21600" tIns="10800" rIns="21600" bIns="10800" anchor="ctr">
                  <a:spAutoFit/>
                </a:bodyPr>
                <a:lstStyle/>
                <a:p>
                  <a:pPr algn="l" rtl="0"/>
                  <a:endParaRPr lang="en-GB" kern="1200" dirty="0">
                    <a:solidFill>
                      <a:srgbClr val="646464"/>
                    </a:solidFill>
                    <a:latin typeface="Arial"/>
                    <a:ea typeface="+mn-ea"/>
                    <a:cs typeface="+mn-cs"/>
                  </a:endParaRPr>
                </a:p>
              </p:txBody>
            </p:sp>
          </p:grpSp>
          <p:grpSp>
            <p:nvGrpSpPr>
              <p:cNvPr id="38" name="Group 66"/>
              <p:cNvGrpSpPr>
                <a:grpSpLocks/>
              </p:cNvGrpSpPr>
              <p:nvPr/>
            </p:nvGrpSpPr>
            <p:grpSpPr bwMode="gray">
              <a:xfrm rot="5400000" flipH="1">
                <a:off x="7018764" y="2901627"/>
                <a:ext cx="468001" cy="468000"/>
                <a:chOff x="2012" y="3736"/>
                <a:chExt cx="385" cy="367"/>
              </a:xfrm>
            </p:grpSpPr>
            <p:sp>
              <p:nvSpPr>
                <p:cNvPr id="43" name="Oval 31"/>
                <p:cNvSpPr>
                  <a:spLocks noChangeArrowheads="1"/>
                </p:cNvSpPr>
                <p:nvPr>
                  <p:custDataLst>
                    <p:tags r:id="rId5"/>
                  </p:custDataLst>
                </p:nvPr>
              </p:nvSpPr>
              <p:spPr bwMode="gray">
                <a:xfrm>
                  <a:off x="2012" y="3736"/>
                  <a:ext cx="385" cy="367"/>
                </a:xfrm>
                <a:prstGeom prst="ellipse">
                  <a:avLst/>
                </a:prstGeom>
                <a:solidFill>
                  <a:schemeClr val="folHlink"/>
                </a:solidFill>
                <a:ln w="12700" algn="ctr">
                  <a:noFill/>
                  <a:round/>
                  <a:headEnd/>
                  <a:tailEnd/>
                </a:ln>
                <a:effectLst/>
              </p:spPr>
              <p:txBody>
                <a:bodyPr wrap="none" lIns="21600" tIns="10800" rIns="21600" bIns="10800" anchor="ctr">
                  <a:spAutoFit/>
                </a:bodyPr>
                <a:lstStyle/>
                <a:p>
                  <a:pPr algn="l" rtl="0"/>
                  <a:endParaRPr lang="en-GB" kern="1200" dirty="0">
                    <a:solidFill>
                      <a:srgbClr val="646464"/>
                    </a:solidFill>
                    <a:latin typeface="Arial"/>
                    <a:ea typeface="+mn-ea"/>
                    <a:cs typeface="+mn-cs"/>
                  </a:endParaRPr>
                </a:p>
              </p:txBody>
            </p:sp>
            <p:sp>
              <p:nvSpPr>
                <p:cNvPr id="44" name="Arc 32"/>
                <p:cNvSpPr>
                  <a:spLocks/>
                </p:cNvSpPr>
                <p:nvPr>
                  <p:custDataLst>
                    <p:tags r:id="rId6"/>
                  </p:custDataLst>
                </p:nvPr>
              </p:nvSpPr>
              <p:spPr bwMode="gray">
                <a:xfrm>
                  <a:off x="2205" y="3736"/>
                  <a:ext cx="192" cy="18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D200"/>
                </a:solidFill>
                <a:ln w="12700">
                  <a:noFill/>
                  <a:round/>
                  <a:headEnd/>
                  <a:tailEnd/>
                </a:ln>
                <a:effectLst/>
              </p:spPr>
              <p:txBody>
                <a:bodyPr wrap="none" lIns="21600" tIns="10800" rIns="21600" bIns="10800" anchor="ctr">
                  <a:spAutoFit/>
                </a:bodyPr>
                <a:lstStyle/>
                <a:p>
                  <a:pPr algn="l" rtl="0"/>
                  <a:endParaRPr lang="en-GB" kern="1200" dirty="0">
                    <a:solidFill>
                      <a:srgbClr val="646464"/>
                    </a:solidFill>
                    <a:latin typeface="Arial"/>
                    <a:ea typeface="+mn-ea"/>
                    <a:cs typeface="+mn-cs"/>
                  </a:endParaRPr>
                </a:p>
              </p:txBody>
            </p:sp>
          </p:grpSp>
          <p:sp>
            <p:nvSpPr>
              <p:cNvPr id="39" name="Oval 35"/>
              <p:cNvSpPr>
                <a:spLocks noChangeArrowheads="1"/>
              </p:cNvSpPr>
              <p:nvPr>
                <p:custDataLst>
                  <p:tags r:id="rId2"/>
                </p:custDataLst>
              </p:nvPr>
            </p:nvSpPr>
            <p:spPr bwMode="gray">
              <a:xfrm rot="16200000">
                <a:off x="7018765" y="2399995"/>
                <a:ext cx="468000" cy="468000"/>
              </a:xfrm>
              <a:prstGeom prst="ellipse">
                <a:avLst/>
              </a:prstGeom>
              <a:solidFill>
                <a:schemeClr val="folHlink"/>
              </a:solidFill>
              <a:ln w="12700" algn="ctr">
                <a:noFill/>
                <a:round/>
                <a:headEnd/>
                <a:tailEnd/>
              </a:ln>
              <a:effectLst/>
            </p:spPr>
            <p:txBody>
              <a:bodyPr lIns="21600" tIns="10800" rIns="21600" bIns="10800" anchor="ctr">
                <a:spAutoFit/>
              </a:bodyPr>
              <a:lstStyle/>
              <a:p>
                <a:pPr algn="l" rtl="0"/>
                <a:endParaRPr lang="en-GB" kern="1200" dirty="0">
                  <a:solidFill>
                    <a:srgbClr val="646464"/>
                  </a:solidFill>
                  <a:latin typeface="Arial"/>
                  <a:ea typeface="+mn-ea"/>
                  <a:cs typeface="+mn-cs"/>
                </a:endParaRPr>
              </a:p>
            </p:txBody>
          </p:sp>
          <p:grpSp>
            <p:nvGrpSpPr>
              <p:cNvPr id="40" name="Group 66"/>
              <p:cNvGrpSpPr>
                <a:grpSpLocks/>
              </p:cNvGrpSpPr>
              <p:nvPr/>
            </p:nvGrpSpPr>
            <p:grpSpPr bwMode="gray">
              <a:xfrm rot="16200000">
                <a:off x="7018765" y="3904901"/>
                <a:ext cx="468001" cy="468000"/>
                <a:chOff x="2012" y="3736"/>
                <a:chExt cx="385" cy="367"/>
              </a:xfrm>
            </p:grpSpPr>
            <p:sp>
              <p:nvSpPr>
                <p:cNvPr id="41" name="Oval 31"/>
                <p:cNvSpPr>
                  <a:spLocks noChangeArrowheads="1"/>
                </p:cNvSpPr>
                <p:nvPr>
                  <p:custDataLst>
                    <p:tags r:id="rId3"/>
                  </p:custDataLst>
                </p:nvPr>
              </p:nvSpPr>
              <p:spPr bwMode="gray">
                <a:xfrm>
                  <a:off x="2012" y="3736"/>
                  <a:ext cx="385" cy="367"/>
                </a:xfrm>
                <a:prstGeom prst="ellipse">
                  <a:avLst/>
                </a:prstGeom>
                <a:solidFill>
                  <a:schemeClr val="folHlink"/>
                </a:solidFill>
                <a:ln w="12700" algn="ctr">
                  <a:noFill/>
                  <a:round/>
                  <a:headEnd/>
                  <a:tailEnd/>
                </a:ln>
                <a:effectLst/>
              </p:spPr>
              <p:txBody>
                <a:bodyPr wrap="none" lIns="21600" tIns="10800" rIns="21600" bIns="10800" anchor="ctr">
                  <a:spAutoFit/>
                </a:bodyPr>
                <a:lstStyle/>
                <a:p>
                  <a:pPr algn="l" rtl="0"/>
                  <a:endParaRPr lang="en-GB" kern="1200" dirty="0">
                    <a:solidFill>
                      <a:srgbClr val="646464"/>
                    </a:solidFill>
                    <a:latin typeface="Arial"/>
                    <a:ea typeface="+mn-ea"/>
                    <a:cs typeface="+mn-cs"/>
                  </a:endParaRPr>
                </a:p>
              </p:txBody>
            </p:sp>
            <p:sp>
              <p:nvSpPr>
                <p:cNvPr id="42" name="Arc 32"/>
                <p:cNvSpPr>
                  <a:spLocks/>
                </p:cNvSpPr>
                <p:nvPr>
                  <p:custDataLst>
                    <p:tags r:id="rId4"/>
                  </p:custDataLst>
                </p:nvPr>
              </p:nvSpPr>
              <p:spPr bwMode="gray">
                <a:xfrm>
                  <a:off x="2205" y="3736"/>
                  <a:ext cx="192" cy="18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D200"/>
                </a:solidFill>
                <a:ln w="12700">
                  <a:noFill/>
                  <a:round/>
                  <a:headEnd/>
                  <a:tailEnd/>
                </a:ln>
                <a:effectLst/>
              </p:spPr>
              <p:txBody>
                <a:bodyPr wrap="none" lIns="21600" tIns="10800" rIns="21600" bIns="10800" anchor="ctr">
                  <a:spAutoFit/>
                </a:bodyPr>
                <a:lstStyle/>
                <a:p>
                  <a:pPr algn="l" rtl="0"/>
                  <a:endParaRPr lang="en-GB" kern="1200" dirty="0">
                    <a:solidFill>
                      <a:srgbClr val="646464"/>
                    </a:solidFill>
                    <a:latin typeface="Arial"/>
                    <a:ea typeface="+mn-ea"/>
                    <a:cs typeface="+mn-cs"/>
                  </a:endParaRPr>
                </a:p>
              </p:txBody>
            </p:sp>
          </p:grpSp>
        </p:grpSp>
      </p:grpSp>
      <p:sp>
        <p:nvSpPr>
          <p:cNvPr id="47" name="Rectangle 40"/>
          <p:cNvSpPr>
            <a:spLocks noChangeArrowheads="1"/>
          </p:cNvSpPr>
          <p:nvPr/>
        </p:nvSpPr>
        <p:spPr bwMode="gray">
          <a:xfrm>
            <a:off x="3094128" y="2628503"/>
            <a:ext cx="524380" cy="279149"/>
          </a:xfrm>
          <a:prstGeom prst="rect">
            <a:avLst/>
          </a:prstGeom>
          <a:noFill/>
          <a:ln w="9525" algn="ctr">
            <a:noFill/>
            <a:miter lim="800000"/>
            <a:headEnd/>
            <a:tailEnd/>
          </a:ln>
          <a:effectLst/>
        </p:spPr>
        <p:txBody>
          <a:bodyPr wrap="none" lIns="90000" tIns="46800" rIns="90000" bIns="46800">
            <a:spAutoFit/>
          </a:bodyPr>
          <a:lstStyle/>
          <a:p>
            <a:pPr marL="12700" indent="-12700" algn="r" rtl="0">
              <a:spcBef>
                <a:spcPct val="50000"/>
              </a:spcBef>
            </a:pPr>
            <a:r>
              <a:rPr lang="en-GB" sz="1200" b="1" i="1" kern="1200" dirty="0" smtClean="0">
                <a:latin typeface="Arial"/>
                <a:ea typeface="+mn-ea"/>
                <a:cs typeface="+mn-cs"/>
              </a:rPr>
              <a:t>High</a:t>
            </a:r>
            <a:endParaRPr lang="en-GB" sz="1200" b="1" i="1" kern="1200" dirty="0">
              <a:latin typeface="Arial"/>
              <a:ea typeface="+mn-ea"/>
              <a:cs typeface="+mn-cs"/>
            </a:endParaRPr>
          </a:p>
        </p:txBody>
      </p:sp>
      <p:sp>
        <p:nvSpPr>
          <p:cNvPr id="48" name="Rectangle 41"/>
          <p:cNvSpPr>
            <a:spLocks noChangeArrowheads="1"/>
          </p:cNvSpPr>
          <p:nvPr/>
        </p:nvSpPr>
        <p:spPr bwMode="gray">
          <a:xfrm>
            <a:off x="2854528" y="3996655"/>
            <a:ext cx="763980" cy="279149"/>
          </a:xfrm>
          <a:prstGeom prst="rect">
            <a:avLst/>
          </a:prstGeom>
          <a:noFill/>
          <a:ln w="9525" algn="ctr">
            <a:noFill/>
            <a:miter lim="800000"/>
            <a:headEnd/>
            <a:tailEnd/>
          </a:ln>
          <a:effectLst/>
        </p:spPr>
        <p:txBody>
          <a:bodyPr wrap="none" lIns="90000" tIns="46800" rIns="90000" bIns="46800">
            <a:spAutoFit/>
          </a:bodyPr>
          <a:lstStyle/>
          <a:p>
            <a:pPr marL="12700" indent="-12700" algn="r" rtl="0">
              <a:spcBef>
                <a:spcPct val="50000"/>
              </a:spcBef>
            </a:pPr>
            <a:r>
              <a:rPr lang="en-GB" sz="1200" b="1" i="1" kern="1200" dirty="0" smtClean="0">
                <a:latin typeface="Arial"/>
                <a:ea typeface="+mn-ea"/>
                <a:cs typeface="+mn-cs"/>
              </a:rPr>
              <a:t>Medium</a:t>
            </a:r>
            <a:endParaRPr lang="en-GB" sz="1200" b="1" i="1" kern="1200" dirty="0">
              <a:latin typeface="Arial"/>
              <a:ea typeface="+mn-ea"/>
              <a:cs typeface="+mn-cs"/>
            </a:endParaRPr>
          </a:p>
        </p:txBody>
      </p:sp>
      <p:sp>
        <p:nvSpPr>
          <p:cNvPr id="49" name="Rectangle 42"/>
          <p:cNvSpPr>
            <a:spLocks noChangeArrowheads="1"/>
          </p:cNvSpPr>
          <p:nvPr/>
        </p:nvSpPr>
        <p:spPr bwMode="gray">
          <a:xfrm>
            <a:off x="3044533" y="4995884"/>
            <a:ext cx="491521" cy="279149"/>
          </a:xfrm>
          <a:prstGeom prst="rect">
            <a:avLst/>
          </a:prstGeom>
          <a:noFill/>
          <a:ln w="9525" algn="ctr">
            <a:noFill/>
            <a:miter lim="800000"/>
            <a:headEnd/>
            <a:tailEnd/>
          </a:ln>
          <a:effectLst/>
        </p:spPr>
        <p:txBody>
          <a:bodyPr wrap="none" lIns="90000" tIns="46800" rIns="90000" bIns="46800">
            <a:spAutoFit/>
          </a:bodyPr>
          <a:lstStyle/>
          <a:p>
            <a:pPr marL="12700" indent="-12700" algn="r" rtl="0">
              <a:spcBef>
                <a:spcPct val="50000"/>
              </a:spcBef>
            </a:pPr>
            <a:r>
              <a:rPr lang="en-GB" sz="1200" b="1" i="1" kern="1200" dirty="0" smtClean="0">
                <a:latin typeface="Arial"/>
                <a:ea typeface="+mn-ea"/>
                <a:cs typeface="+mn-cs"/>
              </a:rPr>
              <a:t>Low</a:t>
            </a:r>
            <a:endParaRPr lang="en-GB" sz="1200" b="1" i="1" kern="1200" dirty="0">
              <a:latin typeface="Arial"/>
              <a:ea typeface="+mn-ea"/>
              <a:cs typeface="+mn-cs"/>
            </a:endParaRPr>
          </a:p>
        </p:txBody>
      </p:sp>
      <p:sp>
        <p:nvSpPr>
          <p:cNvPr id="50" name="Rectangle 43"/>
          <p:cNvSpPr>
            <a:spLocks noChangeArrowheads="1"/>
          </p:cNvSpPr>
          <p:nvPr/>
        </p:nvSpPr>
        <p:spPr bwMode="gray">
          <a:xfrm>
            <a:off x="1072127" y="5661722"/>
            <a:ext cx="746181" cy="279149"/>
          </a:xfrm>
          <a:prstGeom prst="rect">
            <a:avLst/>
          </a:prstGeom>
          <a:noFill/>
          <a:ln w="9525" algn="ctr">
            <a:noFill/>
            <a:miter lim="800000"/>
            <a:headEnd/>
            <a:tailEnd/>
          </a:ln>
          <a:effectLst/>
        </p:spPr>
        <p:txBody>
          <a:bodyPr wrap="none" lIns="90000" tIns="46800" rIns="90000" bIns="46800">
            <a:spAutoFit/>
          </a:bodyPr>
          <a:lstStyle/>
          <a:p>
            <a:pPr marL="12700" indent="-12700" algn="l" rtl="0">
              <a:spcBef>
                <a:spcPct val="50000"/>
              </a:spcBef>
            </a:pPr>
            <a:r>
              <a:rPr lang="en-GB" sz="1200" b="1" kern="1200" dirty="0" smtClean="0">
                <a:latin typeface="Arial"/>
                <a:ea typeface="+mn-ea"/>
                <a:cs typeface="+mn-cs"/>
              </a:rPr>
              <a:t>Against</a:t>
            </a:r>
            <a:endParaRPr lang="en-GB" sz="1200" b="1" kern="1200" dirty="0">
              <a:latin typeface="Arial"/>
              <a:ea typeface="+mn-ea"/>
              <a:cs typeface="+mn-cs"/>
            </a:endParaRPr>
          </a:p>
        </p:txBody>
      </p:sp>
      <p:sp>
        <p:nvSpPr>
          <p:cNvPr id="51" name="Rectangle 44"/>
          <p:cNvSpPr>
            <a:spLocks noChangeArrowheads="1"/>
          </p:cNvSpPr>
          <p:nvPr/>
        </p:nvSpPr>
        <p:spPr bwMode="gray">
          <a:xfrm>
            <a:off x="3273179" y="5661722"/>
            <a:ext cx="710583" cy="279149"/>
          </a:xfrm>
          <a:prstGeom prst="rect">
            <a:avLst/>
          </a:prstGeom>
          <a:noFill/>
          <a:ln w="9525" algn="ctr">
            <a:noFill/>
            <a:miter lim="800000"/>
            <a:headEnd/>
            <a:tailEnd/>
          </a:ln>
          <a:effectLst/>
        </p:spPr>
        <p:txBody>
          <a:bodyPr wrap="none" lIns="90000" tIns="46800" rIns="90000" bIns="46800">
            <a:spAutoFit/>
          </a:bodyPr>
          <a:lstStyle/>
          <a:p>
            <a:pPr marL="12700" indent="-12700" algn="l" rtl="0">
              <a:spcBef>
                <a:spcPct val="50000"/>
              </a:spcBef>
            </a:pPr>
            <a:r>
              <a:rPr lang="en-GB" sz="1200" b="1" kern="1200" dirty="0" smtClean="0">
                <a:latin typeface="Arial"/>
                <a:ea typeface="+mn-ea"/>
                <a:cs typeface="+mn-cs"/>
              </a:rPr>
              <a:t>Neutral</a:t>
            </a:r>
            <a:endParaRPr lang="en-GB" sz="1200" b="1" kern="1200" dirty="0">
              <a:latin typeface="Arial"/>
              <a:ea typeface="+mn-ea"/>
              <a:cs typeface="+mn-cs"/>
            </a:endParaRPr>
          </a:p>
        </p:txBody>
      </p:sp>
      <p:sp>
        <p:nvSpPr>
          <p:cNvPr id="52" name="Rectangle 45"/>
          <p:cNvSpPr>
            <a:spLocks noChangeArrowheads="1"/>
          </p:cNvSpPr>
          <p:nvPr/>
        </p:nvSpPr>
        <p:spPr bwMode="gray">
          <a:xfrm>
            <a:off x="6212934" y="5661722"/>
            <a:ext cx="429910" cy="279149"/>
          </a:xfrm>
          <a:prstGeom prst="rect">
            <a:avLst/>
          </a:prstGeom>
          <a:noFill/>
          <a:ln w="9525" algn="ctr">
            <a:noFill/>
            <a:miter lim="800000"/>
            <a:headEnd/>
            <a:tailEnd/>
          </a:ln>
          <a:effectLst/>
        </p:spPr>
        <p:txBody>
          <a:bodyPr wrap="none" lIns="90000" tIns="46800" rIns="90000" bIns="46800">
            <a:spAutoFit/>
          </a:bodyPr>
          <a:lstStyle/>
          <a:p>
            <a:pPr marL="12700" indent="-12700" algn="l" rtl="0">
              <a:spcBef>
                <a:spcPct val="50000"/>
              </a:spcBef>
            </a:pPr>
            <a:r>
              <a:rPr lang="en-GB" sz="1200" b="1" kern="1200" dirty="0" smtClean="0">
                <a:latin typeface="Arial"/>
                <a:ea typeface="+mn-ea"/>
                <a:cs typeface="+mn-cs"/>
              </a:rPr>
              <a:t>For</a:t>
            </a:r>
            <a:endParaRPr lang="en-GB" sz="1200" b="1" kern="1200" dirty="0">
              <a:latin typeface="Arial"/>
              <a:ea typeface="+mn-ea"/>
              <a:cs typeface="+mn-cs"/>
            </a:endParaRPr>
          </a:p>
        </p:txBody>
      </p:sp>
      <p:sp>
        <p:nvSpPr>
          <p:cNvPr id="53" name="Text Box 33"/>
          <p:cNvSpPr txBox="1">
            <a:spLocks noChangeArrowheads="1"/>
          </p:cNvSpPr>
          <p:nvPr/>
        </p:nvSpPr>
        <p:spPr bwMode="gray">
          <a:xfrm>
            <a:off x="8151099" y="3132559"/>
            <a:ext cx="491138" cy="279180"/>
          </a:xfrm>
          <a:prstGeom prst="rect">
            <a:avLst/>
          </a:prstGeom>
          <a:noFill/>
          <a:ln w="9525" algn="ctr">
            <a:noFill/>
            <a:miter lim="800000"/>
            <a:headEnd/>
            <a:tailEnd/>
          </a:ln>
          <a:effectLst/>
        </p:spPr>
        <p:txBody>
          <a:bodyPr wrap="none" lIns="90000" tIns="46800" rIns="90000" bIns="46800">
            <a:spAutoFit/>
          </a:bodyPr>
          <a:lstStyle/>
          <a:p>
            <a:pPr marL="12700" indent="-12700" algn="l" rtl="0">
              <a:spcBef>
                <a:spcPct val="50000"/>
              </a:spcBef>
            </a:pPr>
            <a:r>
              <a:rPr lang="en-GB" sz="1200" b="1" i="1" kern="1200" dirty="0" smtClean="0">
                <a:latin typeface="Arial"/>
                <a:ea typeface="+mn-ea"/>
                <a:cs typeface="+mn-cs"/>
              </a:rPr>
              <a:t>Low</a:t>
            </a:r>
            <a:endParaRPr lang="en-GB" sz="1200" b="1" i="1" kern="1200" dirty="0">
              <a:latin typeface="Arial"/>
              <a:ea typeface="+mn-ea"/>
              <a:cs typeface="+mn-cs"/>
            </a:endParaRPr>
          </a:p>
        </p:txBody>
      </p:sp>
      <p:sp>
        <p:nvSpPr>
          <p:cNvPr id="54" name="Text Box 34"/>
          <p:cNvSpPr txBox="1">
            <a:spLocks noChangeArrowheads="1"/>
          </p:cNvSpPr>
          <p:nvPr/>
        </p:nvSpPr>
        <p:spPr bwMode="gray">
          <a:xfrm>
            <a:off x="8134268" y="5217223"/>
            <a:ext cx="524800" cy="279180"/>
          </a:xfrm>
          <a:prstGeom prst="rect">
            <a:avLst/>
          </a:prstGeom>
          <a:noFill/>
          <a:ln w="9525" algn="ctr">
            <a:noFill/>
            <a:miter lim="800000"/>
            <a:headEnd/>
            <a:tailEnd/>
          </a:ln>
          <a:effectLst/>
        </p:spPr>
        <p:txBody>
          <a:bodyPr wrap="none" lIns="90000" tIns="46800" rIns="90000" bIns="46800">
            <a:spAutoFit/>
          </a:bodyPr>
          <a:lstStyle/>
          <a:p>
            <a:pPr marL="12700" indent="-12700" algn="l" rtl="0">
              <a:spcBef>
                <a:spcPct val="50000"/>
              </a:spcBef>
            </a:pPr>
            <a:r>
              <a:rPr lang="en-GB" sz="1200" b="1" i="1" kern="1200" dirty="0" smtClean="0">
                <a:latin typeface="Arial"/>
                <a:ea typeface="+mn-ea"/>
                <a:cs typeface="+mn-cs"/>
              </a:rPr>
              <a:t>High</a:t>
            </a:r>
            <a:endParaRPr lang="en-GB" sz="1200" b="1" i="1" kern="1200" dirty="0">
              <a:latin typeface="Arial"/>
              <a:ea typeface="+mn-ea"/>
              <a:cs typeface="+mn-cs"/>
            </a:endParaRPr>
          </a:p>
        </p:txBody>
      </p:sp>
    </p:spTree>
    <p:extLst>
      <p:ext uri="{BB962C8B-B14F-4D97-AF65-F5344CB8AC3E}">
        <p14:creationId xmlns:p14="http://schemas.microsoft.com/office/powerpoint/2010/main" val="225509916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09625" y="317307"/>
            <a:ext cx="9074150" cy="612000"/>
          </a:xfrm>
        </p:spPr>
        <p:txBody>
          <a:bodyPr/>
          <a:lstStyle/>
          <a:p>
            <a:r>
              <a:rPr lang="en-GB" dirty="0" smtClean="0"/>
              <a:t>Step 2: Analyse Stakeholders</a:t>
            </a:r>
            <a:endParaRPr lang="en-GB" dirty="0"/>
          </a:p>
        </p:txBody>
      </p:sp>
      <p:sp>
        <p:nvSpPr>
          <p:cNvPr id="5" name="Slide Number Placeholder 4"/>
          <p:cNvSpPr>
            <a:spLocks noGrp="1"/>
          </p:cNvSpPr>
          <p:nvPr>
            <p:ph type="sldNum" sz="quarter" idx="12"/>
          </p:nvPr>
        </p:nvSpPr>
        <p:spPr/>
        <p:txBody>
          <a:bodyPr/>
          <a:lstStyle/>
          <a:p>
            <a:fld id="{F9A56513-F998-4254-9CEB-F507EE6F3742}" type="slidenum">
              <a:rPr lang="en-GB" smtClean="0"/>
              <a:pPr/>
              <a:t>41</a:t>
            </a:fld>
            <a:endParaRPr lang="en-GB" dirty="0"/>
          </a:p>
        </p:txBody>
      </p:sp>
      <p:graphicFrame>
        <p:nvGraphicFramePr>
          <p:cNvPr id="6" name="Content Placeholder 16"/>
          <p:cNvGraphicFramePr>
            <a:graphicFrameLocks/>
          </p:cNvGraphicFramePr>
          <p:nvPr>
            <p:extLst>
              <p:ext uri="{D42A27DB-BD31-4B8C-83A1-F6EECF244321}">
                <p14:modId xmlns:p14="http://schemas.microsoft.com/office/powerpoint/2010/main" val="1594355775"/>
              </p:ext>
            </p:extLst>
          </p:nvPr>
        </p:nvGraphicFramePr>
        <p:xfrm>
          <a:off x="773907" y="1260351"/>
          <a:ext cx="9002712" cy="5809040"/>
        </p:xfrm>
        <a:graphic>
          <a:graphicData uri="http://schemas.openxmlformats.org/drawingml/2006/table">
            <a:tbl>
              <a:tblPr firstRow="1" bandRow="1">
                <a:tableStyleId>{5C22544A-7EE6-4342-B048-85BDC9FD1C3A}</a:tableStyleId>
              </a:tblPr>
              <a:tblGrid>
                <a:gridCol w="1008683"/>
                <a:gridCol w="864096"/>
                <a:gridCol w="1008112"/>
                <a:gridCol w="864096"/>
                <a:gridCol w="1021183"/>
                <a:gridCol w="1376840"/>
                <a:gridCol w="953234"/>
                <a:gridCol w="969223"/>
                <a:gridCol w="937245"/>
              </a:tblGrid>
              <a:tr h="734089">
                <a:tc>
                  <a:txBody>
                    <a:bodyPr/>
                    <a:lstStyle/>
                    <a:p>
                      <a:pPr marL="0" marR="0" lvl="0" indent="0" algn="l" defTabSz="914400" rtl="0" eaLnBrk="1" fontAlgn="base" latinLnBrk="0" hangingPunct="1">
                        <a:lnSpc>
                          <a:spcPct val="100000"/>
                        </a:lnSpc>
                        <a:spcBef>
                          <a:spcPct val="40000"/>
                        </a:spcBef>
                        <a:spcAft>
                          <a:spcPct val="0"/>
                        </a:spcAft>
                        <a:buClr>
                          <a:schemeClr val="tx1"/>
                        </a:buClr>
                        <a:buSzTx/>
                        <a:buFontTx/>
                        <a:buNone/>
                        <a:tabLst>
                          <a:tab pos="1435100" algn="l"/>
                        </a:tabLst>
                      </a:pPr>
                      <a:r>
                        <a:rPr kumimoji="0" lang="en-GB" sz="1200" b="1" i="0" u="none" strike="noStrike" cap="none" normalizeH="0" baseline="0" dirty="0" smtClean="0">
                          <a:ln>
                            <a:noFill/>
                          </a:ln>
                          <a:solidFill>
                            <a:schemeClr val="tx2"/>
                          </a:solidFill>
                          <a:effectLst/>
                          <a:latin typeface="Arial" charset="0"/>
                        </a:rPr>
                        <a:t>Stakeholder</a:t>
                      </a:r>
                      <a:endParaRPr kumimoji="0" lang="en-GB" sz="1200" b="1" i="0" u="none" strike="noStrike" cap="none" normalizeH="0" baseline="0" dirty="0">
                        <a:ln>
                          <a:noFill/>
                        </a:ln>
                        <a:solidFill>
                          <a:schemeClr val="tx2"/>
                        </a:solidFill>
                        <a:effectLst/>
                        <a:latin typeface="Arial" charset="0"/>
                      </a:endParaRPr>
                    </a:p>
                  </a:txBody>
                  <a:tcPr marL="36000" marR="36000" marT="36000" marB="36000" anchor="b" horzOverflow="overflow">
                    <a:lnL w="12700" cmpd="sng">
                      <a:noFill/>
                    </a:lnL>
                    <a:lnR w="6350" cap="flat" cmpd="sng" algn="ctr">
                      <a:noFill/>
                      <a:prstDash val="sysDash"/>
                      <a:round/>
                      <a:headEnd type="none" w="med" len="med"/>
                      <a:tailEnd type="none" w="med" len="med"/>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D200"/>
                    </a:solidFill>
                  </a:tcPr>
                </a:tc>
                <a:tc>
                  <a:txBody>
                    <a:bodyPr/>
                    <a:lstStyle/>
                    <a:p>
                      <a:pPr marL="0" marR="0" lvl="0" indent="0" algn="l" defTabSz="914400" rtl="0" eaLnBrk="1" fontAlgn="base" latinLnBrk="0" hangingPunct="1">
                        <a:lnSpc>
                          <a:spcPct val="100000"/>
                        </a:lnSpc>
                        <a:spcBef>
                          <a:spcPct val="40000"/>
                        </a:spcBef>
                        <a:spcAft>
                          <a:spcPct val="0"/>
                        </a:spcAft>
                        <a:buClr>
                          <a:schemeClr val="tx1"/>
                        </a:buClr>
                        <a:buSzTx/>
                        <a:buFontTx/>
                        <a:buNone/>
                        <a:tabLst>
                          <a:tab pos="1435100" algn="l"/>
                        </a:tabLst>
                      </a:pPr>
                      <a:r>
                        <a:rPr kumimoji="0" lang="en-GB" sz="1200" b="1" i="0" u="none" strike="noStrike" cap="none" normalizeH="0" baseline="0" dirty="0" smtClean="0">
                          <a:ln>
                            <a:noFill/>
                          </a:ln>
                          <a:solidFill>
                            <a:schemeClr val="tx2"/>
                          </a:solidFill>
                          <a:effectLst/>
                          <a:latin typeface="Arial" charset="0"/>
                        </a:rPr>
                        <a:t>Priority</a:t>
                      </a:r>
                      <a:endParaRPr kumimoji="0" lang="en-GB" sz="1200" b="1" i="0" u="none" strike="noStrike" cap="none" normalizeH="0" baseline="0" dirty="0">
                        <a:ln>
                          <a:noFill/>
                        </a:ln>
                        <a:solidFill>
                          <a:schemeClr val="tx2"/>
                        </a:solidFill>
                        <a:effectLst/>
                        <a:latin typeface="Arial" charset="0"/>
                      </a:endParaRPr>
                    </a:p>
                  </a:txBody>
                  <a:tcPr marL="36000" marR="36000" marT="36000" marB="36000" anchor="b"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D200"/>
                    </a:solidFill>
                  </a:tcPr>
                </a:tc>
                <a:tc>
                  <a:txBody>
                    <a:bodyPr/>
                    <a:lstStyle/>
                    <a:p>
                      <a:pPr marL="0" marR="0" lvl="0" indent="0" algn="l" defTabSz="914400" rtl="0" eaLnBrk="1" fontAlgn="base" latinLnBrk="0" hangingPunct="1">
                        <a:lnSpc>
                          <a:spcPct val="100000"/>
                        </a:lnSpc>
                        <a:spcBef>
                          <a:spcPct val="40000"/>
                        </a:spcBef>
                        <a:spcAft>
                          <a:spcPct val="0"/>
                        </a:spcAft>
                        <a:buClr>
                          <a:schemeClr val="tx1"/>
                        </a:buClr>
                        <a:buSzTx/>
                        <a:buFontTx/>
                        <a:buNone/>
                        <a:tabLst>
                          <a:tab pos="1435100" algn="l"/>
                        </a:tabLst>
                      </a:pPr>
                      <a:r>
                        <a:rPr kumimoji="0" lang="en-GB" sz="1200" b="1" i="0" u="none" strike="noStrike" cap="none" normalizeH="0" baseline="0" dirty="0">
                          <a:ln>
                            <a:noFill/>
                          </a:ln>
                          <a:solidFill>
                            <a:schemeClr val="tx2"/>
                          </a:solidFill>
                          <a:effectLst/>
                          <a:latin typeface="Arial" charset="0"/>
                        </a:rPr>
                        <a:t>What we need them to do?</a:t>
                      </a:r>
                    </a:p>
                  </a:txBody>
                  <a:tcPr marL="36000" marR="36000" marT="36000" marB="36000" anchor="b"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D200"/>
                    </a:solidFill>
                  </a:tcPr>
                </a:tc>
                <a:tc>
                  <a:txBody>
                    <a:bodyPr/>
                    <a:lstStyle/>
                    <a:p>
                      <a:pPr marL="0" marR="0" lvl="0" indent="0" algn="l" defTabSz="914400" rtl="0" eaLnBrk="1" fontAlgn="base" latinLnBrk="0" hangingPunct="1">
                        <a:lnSpc>
                          <a:spcPct val="100000"/>
                        </a:lnSpc>
                        <a:spcBef>
                          <a:spcPct val="40000"/>
                        </a:spcBef>
                        <a:spcAft>
                          <a:spcPct val="0"/>
                        </a:spcAft>
                        <a:buClr>
                          <a:schemeClr val="tx1"/>
                        </a:buClr>
                        <a:buSzTx/>
                        <a:buFontTx/>
                        <a:buNone/>
                        <a:tabLst>
                          <a:tab pos="1435100" algn="l"/>
                        </a:tabLst>
                      </a:pPr>
                      <a:r>
                        <a:rPr kumimoji="0" lang="en-GB" sz="1200" b="1" i="0" u="none" strike="noStrike" cap="none" normalizeH="0" baseline="0" dirty="0">
                          <a:ln>
                            <a:noFill/>
                          </a:ln>
                          <a:solidFill>
                            <a:schemeClr val="tx2"/>
                          </a:solidFill>
                          <a:effectLst/>
                          <a:latin typeface="Arial" charset="0"/>
                        </a:rPr>
                        <a:t>What they need from us?</a:t>
                      </a:r>
                    </a:p>
                  </a:txBody>
                  <a:tcPr marL="36000" marR="36000" marT="36000" marB="36000" anchor="b"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D200"/>
                    </a:solidFill>
                  </a:tcPr>
                </a:tc>
                <a:tc>
                  <a:txBody>
                    <a:bodyPr/>
                    <a:lstStyle/>
                    <a:p>
                      <a:pPr marL="0" marR="0" lvl="0" indent="0" algn="l" defTabSz="914400" rtl="0" eaLnBrk="1" fontAlgn="base" latinLnBrk="0" hangingPunct="1">
                        <a:lnSpc>
                          <a:spcPct val="100000"/>
                        </a:lnSpc>
                        <a:spcBef>
                          <a:spcPct val="40000"/>
                        </a:spcBef>
                        <a:spcAft>
                          <a:spcPct val="0"/>
                        </a:spcAft>
                        <a:buClr>
                          <a:schemeClr val="tx1"/>
                        </a:buClr>
                        <a:buSzTx/>
                        <a:buFontTx/>
                        <a:buNone/>
                        <a:tabLst>
                          <a:tab pos="1435100" algn="l"/>
                        </a:tabLst>
                      </a:pPr>
                      <a:r>
                        <a:rPr kumimoji="0" lang="en-GB" sz="1200" b="1" i="0" u="none" strike="noStrike" cap="none" normalizeH="0" baseline="0" dirty="0" smtClean="0">
                          <a:ln>
                            <a:noFill/>
                          </a:ln>
                          <a:solidFill>
                            <a:schemeClr val="tx2"/>
                          </a:solidFill>
                          <a:effectLst/>
                          <a:latin typeface="Arial" charset="0"/>
                        </a:rPr>
                        <a:t>What’s in it for them?</a:t>
                      </a:r>
                      <a:endParaRPr kumimoji="0" lang="en-GB" sz="1200" b="1" i="0" u="none" strike="noStrike" cap="none" normalizeH="0" baseline="0" dirty="0">
                        <a:ln>
                          <a:noFill/>
                        </a:ln>
                        <a:solidFill>
                          <a:schemeClr val="tx2"/>
                        </a:solidFill>
                        <a:effectLst/>
                        <a:latin typeface="Arial" charset="0"/>
                      </a:endParaRPr>
                    </a:p>
                  </a:txBody>
                  <a:tcPr marL="36000" marR="36000" marT="36000" marB="36000" anchor="b"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D200"/>
                    </a:solidFill>
                  </a:tcPr>
                </a:tc>
                <a:tc>
                  <a:txBody>
                    <a:bodyPr/>
                    <a:lstStyle/>
                    <a:p>
                      <a:pPr marL="0" marR="0" lvl="0" indent="0" algn="l" defTabSz="914400" rtl="0" eaLnBrk="1" fontAlgn="base" latinLnBrk="0" hangingPunct="1">
                        <a:lnSpc>
                          <a:spcPct val="100000"/>
                        </a:lnSpc>
                        <a:spcBef>
                          <a:spcPct val="40000"/>
                        </a:spcBef>
                        <a:spcAft>
                          <a:spcPct val="0"/>
                        </a:spcAft>
                        <a:buClr>
                          <a:schemeClr val="tx1"/>
                        </a:buClr>
                        <a:buSzTx/>
                        <a:buFontTx/>
                        <a:buNone/>
                        <a:tabLst>
                          <a:tab pos="1435100" algn="l"/>
                        </a:tabLst>
                      </a:pPr>
                      <a:r>
                        <a:rPr kumimoji="0" lang="en-GB" sz="1200" b="1" i="0" u="none" strike="noStrike" cap="none" normalizeH="0" baseline="0" dirty="0" smtClean="0">
                          <a:ln>
                            <a:noFill/>
                          </a:ln>
                          <a:solidFill>
                            <a:schemeClr val="tx2"/>
                          </a:solidFill>
                          <a:effectLst/>
                          <a:latin typeface="Arial" charset="0"/>
                        </a:rPr>
                        <a:t>Intervention </a:t>
                      </a:r>
                      <a:r>
                        <a:rPr kumimoji="0" lang="en-GB" sz="1200" b="1" i="0" u="none" strike="noStrike" cap="none" normalizeH="0" baseline="0" dirty="0">
                          <a:ln>
                            <a:noFill/>
                          </a:ln>
                          <a:solidFill>
                            <a:schemeClr val="tx2"/>
                          </a:solidFill>
                          <a:effectLst/>
                          <a:latin typeface="Arial" charset="0"/>
                        </a:rPr>
                        <a:t>and frequency?</a:t>
                      </a:r>
                    </a:p>
                  </a:txBody>
                  <a:tcPr marL="36000" marR="36000" marT="36000" marB="36000" anchor="b"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D200"/>
                    </a:solidFill>
                  </a:tcPr>
                </a:tc>
                <a:tc>
                  <a:txBody>
                    <a:bodyPr/>
                    <a:lstStyle/>
                    <a:p>
                      <a:pPr marL="0" marR="0" lvl="0" indent="0" algn="l" defTabSz="914400" rtl="0" eaLnBrk="1" fontAlgn="base" latinLnBrk="0" hangingPunct="1">
                        <a:lnSpc>
                          <a:spcPct val="100000"/>
                        </a:lnSpc>
                        <a:spcBef>
                          <a:spcPct val="40000"/>
                        </a:spcBef>
                        <a:spcAft>
                          <a:spcPct val="0"/>
                        </a:spcAft>
                        <a:buClr>
                          <a:schemeClr val="tx1"/>
                        </a:buClr>
                        <a:buSzTx/>
                        <a:buFontTx/>
                        <a:buNone/>
                        <a:tabLst>
                          <a:tab pos="1435100" algn="l"/>
                        </a:tabLst>
                      </a:pPr>
                      <a:r>
                        <a:rPr kumimoji="0" lang="en-GB" sz="1200" b="1" i="0" u="none" strike="noStrike" cap="none" normalizeH="0" baseline="0" dirty="0" smtClean="0">
                          <a:ln>
                            <a:noFill/>
                          </a:ln>
                          <a:solidFill>
                            <a:schemeClr val="tx2"/>
                          </a:solidFill>
                          <a:effectLst/>
                          <a:latin typeface="Arial" charset="0"/>
                        </a:rPr>
                        <a:t>Key Messages</a:t>
                      </a:r>
                      <a:endParaRPr kumimoji="0" lang="en-GB" sz="1200" b="1" i="0" u="none" strike="noStrike" cap="none" normalizeH="0" baseline="0" dirty="0">
                        <a:ln>
                          <a:noFill/>
                        </a:ln>
                        <a:solidFill>
                          <a:schemeClr val="tx2"/>
                        </a:solidFill>
                        <a:effectLst/>
                        <a:latin typeface="Arial" charset="0"/>
                      </a:endParaRPr>
                    </a:p>
                  </a:txBody>
                  <a:tcPr marL="36000" marR="36000" marT="36000" marB="36000" anchor="b"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D200"/>
                    </a:solidFill>
                  </a:tcPr>
                </a:tc>
                <a:tc>
                  <a:txBody>
                    <a:bodyPr/>
                    <a:lstStyle/>
                    <a:p>
                      <a:pPr marL="0" marR="0" lvl="0" indent="0" algn="l" defTabSz="914400" rtl="0" eaLnBrk="1" fontAlgn="base" latinLnBrk="0" hangingPunct="1">
                        <a:lnSpc>
                          <a:spcPct val="100000"/>
                        </a:lnSpc>
                        <a:spcBef>
                          <a:spcPct val="40000"/>
                        </a:spcBef>
                        <a:spcAft>
                          <a:spcPct val="0"/>
                        </a:spcAft>
                        <a:buClr>
                          <a:schemeClr val="tx1"/>
                        </a:buClr>
                        <a:buSzTx/>
                        <a:buFontTx/>
                        <a:buNone/>
                        <a:tabLst>
                          <a:tab pos="1435100" algn="l"/>
                        </a:tabLst>
                      </a:pPr>
                      <a:r>
                        <a:rPr kumimoji="0" lang="en-GB" sz="1200" b="1" i="0" u="none" strike="noStrike" cap="none" normalizeH="0" baseline="0" dirty="0">
                          <a:ln>
                            <a:noFill/>
                          </a:ln>
                          <a:solidFill>
                            <a:schemeClr val="tx2"/>
                          </a:solidFill>
                          <a:effectLst/>
                          <a:latin typeface="Arial" charset="0"/>
                        </a:rPr>
                        <a:t>Owner of the intervention</a:t>
                      </a:r>
                    </a:p>
                  </a:txBody>
                  <a:tcPr marL="36000" marR="36000" marT="36000" marB="36000" anchor="b"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D200"/>
                    </a:solidFill>
                  </a:tcPr>
                </a:tc>
                <a:tc>
                  <a:txBody>
                    <a:bodyPr/>
                    <a:lstStyle/>
                    <a:p>
                      <a:pPr marL="0" marR="0" lvl="0" indent="0" algn="l" defTabSz="914400" rtl="0" eaLnBrk="1" fontAlgn="base" latinLnBrk="0" hangingPunct="1">
                        <a:lnSpc>
                          <a:spcPct val="100000"/>
                        </a:lnSpc>
                        <a:spcBef>
                          <a:spcPct val="40000"/>
                        </a:spcBef>
                        <a:spcAft>
                          <a:spcPct val="0"/>
                        </a:spcAft>
                        <a:buClr>
                          <a:schemeClr val="tx1"/>
                        </a:buClr>
                        <a:buSzTx/>
                        <a:buFontTx/>
                        <a:buNone/>
                        <a:tabLst>
                          <a:tab pos="1435100" algn="l"/>
                        </a:tabLst>
                      </a:pPr>
                      <a:r>
                        <a:rPr kumimoji="0" lang="en-GB" sz="1200" b="1" i="0" u="none" strike="noStrike" cap="none" normalizeH="0" baseline="0" dirty="0">
                          <a:ln>
                            <a:noFill/>
                          </a:ln>
                          <a:solidFill>
                            <a:schemeClr val="tx2"/>
                          </a:solidFill>
                          <a:effectLst/>
                          <a:latin typeface="Arial" charset="0"/>
                        </a:rPr>
                        <a:t>How to measure?</a:t>
                      </a:r>
                    </a:p>
                  </a:txBody>
                  <a:tcPr marL="36000" marR="36000" marT="36000" marB="36000" anchor="b" horzOverflow="overflow">
                    <a:lnL w="6350" cap="flat" cmpd="sng" algn="ctr">
                      <a:noFill/>
                      <a:prstDash val="sysDash"/>
                      <a:round/>
                      <a:headEnd type="none" w="med" len="med"/>
                      <a:tailEnd type="none" w="med" len="med"/>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FD200"/>
                    </a:solidFill>
                  </a:tcPr>
                </a:tc>
              </a:tr>
              <a:tr h="1498159">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r>
                        <a:rPr kumimoji="0" lang="en-GB" sz="1200" b="0" i="1" u="none" strike="noStrike" cap="none" normalizeH="0" baseline="0" dirty="0" smtClean="0">
                          <a:ln>
                            <a:noFill/>
                          </a:ln>
                          <a:solidFill>
                            <a:schemeClr val="tx1"/>
                          </a:solidFill>
                          <a:effectLst/>
                          <a:latin typeface="Arial" charset="0"/>
                        </a:rPr>
                        <a:t>Name</a:t>
                      </a:r>
                      <a:endParaRPr kumimoji="0" lang="en-US" sz="1200" b="0" i="1" u="none" strike="noStrike" cap="none" normalizeH="0" baseline="0" dirty="0">
                        <a:ln>
                          <a:noFill/>
                        </a:ln>
                        <a:solidFill>
                          <a:schemeClr val="tx1"/>
                        </a:solidFill>
                        <a:effectLst/>
                        <a:latin typeface="Arial" charset="0"/>
                      </a:endParaRPr>
                    </a:p>
                  </a:txBody>
                  <a:tcPr marL="36000" marR="36000" marT="36000" marB="36000" horzOverflow="overflow">
                    <a:lnL w="12700" cmpd="sng">
                      <a:noFill/>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r>
                        <a:rPr kumimoji="0" lang="en-GB" sz="1200" b="0" i="1" u="none" strike="noStrike" cap="none" normalizeH="0" baseline="0" dirty="0">
                          <a:ln>
                            <a:noFill/>
                          </a:ln>
                          <a:solidFill>
                            <a:schemeClr val="tx1"/>
                          </a:solidFill>
                          <a:effectLst/>
                          <a:latin typeface="Arial" charset="0"/>
                        </a:rPr>
                        <a:t>High</a:t>
                      </a:r>
                    </a:p>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r>
                        <a:rPr kumimoji="0" lang="en-GB" sz="1200" b="0" i="1" u="none" strike="noStrike" cap="none" normalizeH="0" baseline="0" dirty="0">
                          <a:ln>
                            <a:noFill/>
                          </a:ln>
                          <a:solidFill>
                            <a:schemeClr val="tx1"/>
                          </a:solidFill>
                          <a:effectLst/>
                          <a:latin typeface="Arial" charset="0"/>
                        </a:rPr>
                        <a:t>Medium</a:t>
                      </a:r>
                    </a:p>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r>
                        <a:rPr kumimoji="0" lang="en-GB" sz="1200" b="0" i="1" u="none" strike="noStrike" cap="none" normalizeH="0" baseline="0" dirty="0">
                          <a:ln>
                            <a:noFill/>
                          </a:ln>
                          <a:solidFill>
                            <a:schemeClr val="tx1"/>
                          </a:solidFill>
                          <a:effectLst/>
                          <a:latin typeface="Arial" charset="0"/>
                        </a:rPr>
                        <a:t>Low</a:t>
                      </a:r>
                      <a:endParaRPr kumimoji="0" lang="en-US" sz="1200" b="0" i="1"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r>
                        <a:rPr kumimoji="0" lang="en-GB" sz="1200" b="0" i="1" u="none" strike="noStrike" cap="none" normalizeH="0" baseline="0" dirty="0" smtClean="0">
                          <a:ln>
                            <a:noFill/>
                          </a:ln>
                          <a:solidFill>
                            <a:schemeClr val="tx1"/>
                          </a:solidFill>
                          <a:effectLst/>
                          <a:latin typeface="Arial" charset="0"/>
                        </a:rPr>
                        <a:t>Actions</a:t>
                      </a:r>
                      <a:endParaRPr kumimoji="0" lang="en-US" sz="1200" b="0" i="1"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r>
                        <a:rPr kumimoji="0" lang="en-US" sz="1200" b="0" i="1" u="none" strike="noStrike" cap="none" normalizeH="0" baseline="0" dirty="0" smtClean="0">
                          <a:ln>
                            <a:noFill/>
                          </a:ln>
                          <a:solidFill>
                            <a:schemeClr val="tx1"/>
                          </a:solidFill>
                          <a:effectLst/>
                          <a:latin typeface="Arial" charset="0"/>
                        </a:rPr>
                        <a:t>Actions</a:t>
                      </a:r>
                      <a:endParaRPr kumimoji="0" lang="en-US" sz="1200" b="0" i="1"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r>
                        <a:rPr kumimoji="0" lang="en-US" sz="1200" b="0" i="1" u="none" strike="noStrike" cap="none" normalizeH="0" baseline="0" dirty="0" smtClean="0">
                          <a:ln>
                            <a:noFill/>
                          </a:ln>
                          <a:solidFill>
                            <a:schemeClr val="tx1"/>
                          </a:solidFill>
                          <a:effectLst/>
                          <a:latin typeface="Arial" charset="0"/>
                        </a:rPr>
                        <a:t>Motivation</a:t>
                      </a:r>
                      <a:endParaRPr kumimoji="0" lang="en-US" sz="1200" b="0" i="1"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l" defTabSz="914400" rtl="0" eaLnBrk="1" fontAlgn="base" latinLnBrk="0" hangingPunct="1">
                        <a:lnSpc>
                          <a:spcPct val="100000"/>
                        </a:lnSpc>
                        <a:spcBef>
                          <a:spcPct val="40000"/>
                        </a:spcBef>
                        <a:spcAft>
                          <a:spcPct val="0"/>
                        </a:spcAft>
                        <a:buClr>
                          <a:schemeClr val="accent1"/>
                        </a:buClr>
                        <a:buSzPct val="75000"/>
                        <a:buFont typeface="Arial" pitchFamily="34" charset="0"/>
                        <a:buNone/>
                        <a:tabLst>
                          <a:tab pos="1435100" algn="l"/>
                        </a:tabLst>
                      </a:pPr>
                      <a:r>
                        <a:rPr kumimoji="0" lang="en-GB" sz="1200" b="0" i="1" u="none" strike="noStrike" cap="none" normalizeH="0" baseline="0" dirty="0" smtClean="0">
                          <a:ln>
                            <a:noFill/>
                          </a:ln>
                          <a:solidFill>
                            <a:schemeClr val="tx1"/>
                          </a:solidFill>
                          <a:effectLst/>
                          <a:latin typeface="Arial" charset="0"/>
                        </a:rPr>
                        <a:t>The </a:t>
                      </a:r>
                      <a:r>
                        <a:rPr kumimoji="0" lang="en-GB" sz="1200" b="0" i="1" u="none" strike="noStrike" cap="none" normalizeH="0" baseline="0" dirty="0">
                          <a:ln>
                            <a:noFill/>
                          </a:ln>
                          <a:solidFill>
                            <a:schemeClr val="tx1"/>
                          </a:solidFill>
                          <a:effectLst/>
                          <a:latin typeface="Arial" charset="0"/>
                        </a:rPr>
                        <a:t>appropriate communication medium?</a:t>
                      </a:r>
                      <a:endParaRPr kumimoji="0" lang="en-US" sz="1200" b="0" i="1"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l" defTabSz="914400" rtl="0" eaLnBrk="1" fontAlgn="base" latinLnBrk="0" hangingPunct="1">
                        <a:lnSpc>
                          <a:spcPct val="100000"/>
                        </a:lnSpc>
                        <a:spcBef>
                          <a:spcPct val="40000"/>
                        </a:spcBef>
                        <a:spcAft>
                          <a:spcPct val="0"/>
                        </a:spcAft>
                        <a:buClr>
                          <a:schemeClr val="accent1"/>
                        </a:buClr>
                        <a:buSzPct val="75000"/>
                        <a:buFont typeface="Arial" pitchFamily="34" charset="0"/>
                        <a:buNone/>
                        <a:tabLst>
                          <a:tab pos="1435100" algn="l"/>
                        </a:tabLst>
                      </a:pPr>
                      <a:r>
                        <a:rPr kumimoji="0" lang="en-US" sz="1200" b="0" i="1" u="none" strike="noStrike" cap="none" normalizeH="0" baseline="0" dirty="0" smtClean="0">
                          <a:ln>
                            <a:noFill/>
                          </a:ln>
                          <a:solidFill>
                            <a:schemeClr val="tx1"/>
                          </a:solidFill>
                          <a:effectLst/>
                          <a:latin typeface="Arial" charset="0"/>
                        </a:rPr>
                        <a:t>What you need to tell them and why </a:t>
                      </a:r>
                      <a:endParaRPr kumimoji="0" lang="en-US" sz="1200" b="0" i="1"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l" defTabSz="914400" rtl="0" eaLnBrk="1" fontAlgn="base" latinLnBrk="0" hangingPunct="1">
                        <a:lnSpc>
                          <a:spcPct val="100000"/>
                        </a:lnSpc>
                        <a:spcBef>
                          <a:spcPct val="40000"/>
                        </a:spcBef>
                        <a:spcAft>
                          <a:spcPct val="0"/>
                        </a:spcAft>
                        <a:buClr>
                          <a:schemeClr val="accent1"/>
                        </a:buClr>
                        <a:buSzPct val="75000"/>
                        <a:buFont typeface="Arial" pitchFamily="34" charset="0"/>
                        <a:buNone/>
                        <a:tabLst>
                          <a:tab pos="1435100" algn="l"/>
                        </a:tabLst>
                      </a:pPr>
                      <a:r>
                        <a:rPr kumimoji="0" lang="en-US" sz="1200" b="0" i="1" u="none" strike="noStrike" cap="none" normalizeH="0" baseline="0" dirty="0" smtClean="0">
                          <a:ln>
                            <a:noFill/>
                          </a:ln>
                          <a:solidFill>
                            <a:schemeClr val="tx1"/>
                          </a:solidFill>
                          <a:effectLst/>
                          <a:latin typeface="Arial" charset="0"/>
                        </a:rPr>
                        <a:t>Person responsible</a:t>
                      </a:r>
                      <a:endParaRPr kumimoji="0" lang="en-US" sz="1200" b="0" i="1"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l" defTabSz="914400" rtl="0" eaLnBrk="1" fontAlgn="base" latinLnBrk="0" hangingPunct="1">
                        <a:lnSpc>
                          <a:spcPct val="100000"/>
                        </a:lnSpc>
                        <a:spcBef>
                          <a:spcPct val="40000"/>
                        </a:spcBef>
                        <a:spcAft>
                          <a:spcPct val="0"/>
                        </a:spcAft>
                        <a:buClr>
                          <a:schemeClr val="accent1"/>
                        </a:buClr>
                        <a:buSzPct val="75000"/>
                        <a:buFont typeface="Arial" pitchFamily="34" charset="0"/>
                        <a:buNone/>
                        <a:tabLst>
                          <a:tab pos="1435100" algn="l"/>
                        </a:tabLst>
                      </a:pPr>
                      <a:r>
                        <a:rPr kumimoji="0" lang="en-GB" sz="1200" b="0" i="1" u="none" strike="noStrike" cap="none" normalizeH="0" baseline="0" dirty="0">
                          <a:ln>
                            <a:noFill/>
                          </a:ln>
                          <a:solidFill>
                            <a:schemeClr val="tx1"/>
                          </a:solidFill>
                          <a:effectLst/>
                          <a:latin typeface="Arial" charset="0"/>
                        </a:rPr>
                        <a:t>How will we know it is done?</a:t>
                      </a:r>
                    </a:p>
                    <a:p>
                      <a:pPr marL="0" marR="0" lvl="1" indent="0" algn="l" defTabSz="914400" rtl="0" eaLnBrk="1" fontAlgn="base" latinLnBrk="0" hangingPunct="1">
                        <a:lnSpc>
                          <a:spcPct val="100000"/>
                        </a:lnSpc>
                        <a:spcBef>
                          <a:spcPct val="40000"/>
                        </a:spcBef>
                        <a:spcAft>
                          <a:spcPct val="0"/>
                        </a:spcAft>
                        <a:buClr>
                          <a:schemeClr val="accent1"/>
                        </a:buClr>
                        <a:buSzPct val="75000"/>
                        <a:buFont typeface="Arial" pitchFamily="34" charset="0"/>
                        <a:buNone/>
                        <a:tabLst>
                          <a:tab pos="1435100" algn="l"/>
                        </a:tabLst>
                      </a:pPr>
                      <a:r>
                        <a:rPr kumimoji="0" lang="en-GB" sz="1200" b="0" i="1" u="none" strike="noStrike" cap="none" normalizeH="0" baseline="0" dirty="0" smtClean="0">
                          <a:ln>
                            <a:noFill/>
                          </a:ln>
                          <a:solidFill>
                            <a:schemeClr val="tx1"/>
                          </a:solidFill>
                          <a:effectLst/>
                          <a:latin typeface="Arial" charset="0"/>
                        </a:rPr>
                        <a:t>Evidence and feedback </a:t>
                      </a:r>
                      <a:r>
                        <a:rPr kumimoji="0" lang="en-GB" sz="1200" b="0" i="1" u="none" strike="noStrike" cap="none" normalizeH="0" baseline="0" dirty="0">
                          <a:ln>
                            <a:noFill/>
                          </a:ln>
                          <a:solidFill>
                            <a:schemeClr val="tx1"/>
                          </a:solidFill>
                          <a:effectLst/>
                          <a:latin typeface="Arial" charset="0"/>
                        </a:rPr>
                        <a:t>mechanisms</a:t>
                      </a:r>
                    </a:p>
                  </a:txBody>
                  <a:tcPr marL="36000" marR="36000" marT="36000" marB="36000" horzOverflow="overflow">
                    <a:lnL w="6350" cap="flat" cmpd="sng" algn="ctr">
                      <a:noFill/>
                      <a:prstDash val="sysDash"/>
                      <a:round/>
                      <a:headEnd type="none" w="med" len="med"/>
                      <a:tailEnd type="none" w="med" len="med"/>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596132">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12700" cmpd="sng">
                      <a:noFill/>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GB"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r>
              <a:tr h="596132">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12700" cmpd="sng">
                      <a:noFill/>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GB"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r>
              <a:tr h="596132">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12700" cmpd="sng">
                      <a:noFill/>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GB"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r>
              <a:tr h="596132">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12700" cmpd="sng">
                      <a:noFill/>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GB"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r>
              <a:tr h="596132">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12700" cmpd="sng">
                      <a:noFill/>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GB"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r>
              <a:tr h="596132">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12700" cmpd="sng">
                      <a:noFill/>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US"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7200" marR="0" lvl="1" indent="-187200" algn="l" defTabSz="914400" rtl="0" eaLnBrk="1" fontAlgn="base" latinLnBrk="0" hangingPunct="1">
                        <a:lnSpc>
                          <a:spcPct val="100000"/>
                        </a:lnSpc>
                        <a:spcBef>
                          <a:spcPct val="40000"/>
                        </a:spcBef>
                        <a:spcAft>
                          <a:spcPct val="0"/>
                        </a:spcAft>
                        <a:buClr>
                          <a:schemeClr val="accent1"/>
                        </a:buClr>
                        <a:buSzPct val="75000"/>
                        <a:buFont typeface="Arial" pitchFamily="34" charset="0"/>
                        <a:buChar char="►"/>
                        <a:tabLst>
                          <a:tab pos="1435100" algn="l"/>
                        </a:tabLst>
                      </a:pPr>
                      <a:endParaRPr kumimoji="0" lang="en-GB" sz="1200" b="0" i="0" u="none" strike="noStrike" cap="none" normalizeH="0" baseline="0" dirty="0">
                        <a:ln>
                          <a:noFill/>
                        </a:ln>
                        <a:solidFill>
                          <a:schemeClr val="tx1"/>
                        </a:solidFill>
                        <a:effectLst/>
                        <a:latin typeface="Arial" charset="0"/>
                      </a:endParaRPr>
                    </a:p>
                  </a:txBody>
                  <a:tcPr marL="36000" marR="36000" marT="36000" marB="36000" horzOverflow="overflow">
                    <a:lnL w="6350" cap="flat" cmpd="sng" algn="ctr">
                      <a:noFill/>
                      <a:prstDash val="sysDash"/>
                      <a:round/>
                      <a:headEnd type="none" w="med" len="med"/>
                      <a:tailEnd type="none" w="med" len="med"/>
                    </a:lnL>
                    <a:lnR w="12700" cmpd="sng">
                      <a:noFill/>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69465809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09625" y="317307"/>
            <a:ext cx="9074150" cy="612000"/>
          </a:xfrm>
        </p:spPr>
        <p:txBody>
          <a:bodyPr/>
          <a:lstStyle/>
          <a:p>
            <a:r>
              <a:rPr lang="en-GB" dirty="0" smtClean="0"/>
              <a:t>Step 3: Communications messaging</a:t>
            </a:r>
            <a:endParaRPr lang="en-GB" dirty="0"/>
          </a:p>
        </p:txBody>
      </p:sp>
      <p:sp>
        <p:nvSpPr>
          <p:cNvPr id="5" name="Slide Number Placeholder 4"/>
          <p:cNvSpPr>
            <a:spLocks noGrp="1"/>
          </p:cNvSpPr>
          <p:nvPr>
            <p:ph type="sldNum" sz="quarter" idx="12"/>
          </p:nvPr>
        </p:nvSpPr>
        <p:spPr/>
        <p:txBody>
          <a:bodyPr/>
          <a:lstStyle/>
          <a:p>
            <a:fld id="{F9A56513-F998-4254-9CEB-F507EE6F3742}" type="slidenum">
              <a:rPr lang="en-GB" smtClean="0"/>
              <a:pPr/>
              <a:t>42</a:t>
            </a:fld>
            <a:endParaRPr lang="en-GB" dirty="0"/>
          </a:p>
        </p:txBody>
      </p:sp>
      <p:pic>
        <p:nvPicPr>
          <p:cNvPr id="47106" name="Picture 2" descr="3-room message house sty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64900" y="-1493838"/>
            <a:ext cx="4105275" cy="3114676"/>
          </a:xfrm>
          <a:prstGeom prst="rect">
            <a:avLst/>
          </a:prstGeom>
          <a:noFill/>
          <a:extLst>
            <a:ext uri="{909E8E84-426E-40DD-AFC4-6F175D3DCCD1}">
              <a14:hiddenFill xmlns:a14="http://schemas.microsoft.com/office/drawing/2010/main">
                <a:solidFill>
                  <a:srgbClr val="FFFFFF"/>
                </a:solidFill>
              </a14:hiddenFill>
            </a:ext>
          </a:extLst>
        </p:spPr>
      </p:pic>
      <p:sp>
        <p:nvSpPr>
          <p:cNvPr id="2" name="Isosceles Triangle 1"/>
          <p:cNvSpPr/>
          <p:nvPr/>
        </p:nvSpPr>
        <p:spPr>
          <a:xfrm>
            <a:off x="809625" y="1404367"/>
            <a:ext cx="8929563" cy="1728192"/>
          </a:xfrm>
          <a:prstGeom prst="triangle">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GB" sz="1000" b="1" dirty="0" smtClean="0"/>
              <a:t>High </a:t>
            </a:r>
          </a:p>
        </p:txBody>
      </p:sp>
      <p:sp>
        <p:nvSpPr>
          <p:cNvPr id="4" name="TextBox 3"/>
          <p:cNvSpPr txBox="1"/>
          <p:nvPr/>
        </p:nvSpPr>
        <p:spPr>
          <a:xfrm>
            <a:off x="3186460" y="1764407"/>
            <a:ext cx="4102749" cy="338554"/>
          </a:xfrm>
          <a:prstGeom prst="rect">
            <a:avLst/>
          </a:prstGeom>
          <a:noFill/>
        </p:spPr>
        <p:txBody>
          <a:bodyPr wrap="square" rtlCol="0">
            <a:spAutoFit/>
          </a:bodyPr>
          <a:lstStyle/>
          <a:p>
            <a:pPr algn="ctr"/>
            <a:r>
              <a:rPr lang="en-GB" sz="1600" b="1" dirty="0" smtClean="0"/>
              <a:t>Umbrella Statement</a:t>
            </a:r>
            <a:endParaRPr lang="en-GB" sz="1600" b="1" dirty="0"/>
          </a:p>
        </p:txBody>
      </p:sp>
      <p:sp>
        <p:nvSpPr>
          <p:cNvPr id="7" name="Rectangle 6"/>
          <p:cNvSpPr/>
          <p:nvPr/>
        </p:nvSpPr>
        <p:spPr>
          <a:xfrm>
            <a:off x="809625" y="3276575"/>
            <a:ext cx="2881313" cy="2159149"/>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9" name="Rectangle 8"/>
          <p:cNvSpPr/>
          <p:nvPr/>
        </p:nvSpPr>
        <p:spPr>
          <a:xfrm>
            <a:off x="3843338" y="3276574"/>
            <a:ext cx="2881313" cy="2159149"/>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10" name="Rectangle 9"/>
          <p:cNvSpPr/>
          <p:nvPr/>
        </p:nvSpPr>
        <p:spPr>
          <a:xfrm>
            <a:off x="6877358" y="3276573"/>
            <a:ext cx="2881313" cy="2159149"/>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11" name="TextBox 10"/>
          <p:cNvSpPr txBox="1"/>
          <p:nvPr/>
        </p:nvSpPr>
        <p:spPr>
          <a:xfrm>
            <a:off x="1098228" y="3370069"/>
            <a:ext cx="2232248" cy="338554"/>
          </a:xfrm>
          <a:prstGeom prst="rect">
            <a:avLst/>
          </a:prstGeom>
          <a:noFill/>
        </p:spPr>
        <p:txBody>
          <a:bodyPr wrap="square" rtlCol="0">
            <a:spAutoFit/>
          </a:bodyPr>
          <a:lstStyle/>
          <a:p>
            <a:pPr algn="ctr"/>
            <a:r>
              <a:rPr lang="en-GB" sz="1600" b="1" dirty="0" smtClean="0"/>
              <a:t>Core message 1</a:t>
            </a:r>
            <a:endParaRPr lang="en-GB" sz="1600" b="1" dirty="0"/>
          </a:p>
        </p:txBody>
      </p:sp>
      <p:sp>
        <p:nvSpPr>
          <p:cNvPr id="12" name="TextBox 11"/>
          <p:cNvSpPr txBox="1"/>
          <p:nvPr/>
        </p:nvSpPr>
        <p:spPr>
          <a:xfrm>
            <a:off x="4121710" y="3348583"/>
            <a:ext cx="2232248" cy="338554"/>
          </a:xfrm>
          <a:prstGeom prst="rect">
            <a:avLst/>
          </a:prstGeom>
          <a:noFill/>
        </p:spPr>
        <p:txBody>
          <a:bodyPr wrap="square" rtlCol="0">
            <a:spAutoFit/>
          </a:bodyPr>
          <a:lstStyle/>
          <a:p>
            <a:pPr algn="ctr"/>
            <a:r>
              <a:rPr lang="en-GB" sz="1600" b="1" dirty="0" smtClean="0"/>
              <a:t>Core message 2</a:t>
            </a:r>
            <a:endParaRPr lang="en-GB" sz="1600" b="1" dirty="0"/>
          </a:p>
        </p:txBody>
      </p:sp>
      <p:sp>
        <p:nvSpPr>
          <p:cNvPr id="13" name="TextBox 12"/>
          <p:cNvSpPr txBox="1"/>
          <p:nvPr/>
        </p:nvSpPr>
        <p:spPr>
          <a:xfrm>
            <a:off x="7218908" y="3348583"/>
            <a:ext cx="2232248" cy="338554"/>
          </a:xfrm>
          <a:prstGeom prst="rect">
            <a:avLst/>
          </a:prstGeom>
          <a:noFill/>
        </p:spPr>
        <p:txBody>
          <a:bodyPr wrap="square" rtlCol="0">
            <a:spAutoFit/>
          </a:bodyPr>
          <a:lstStyle/>
          <a:p>
            <a:pPr algn="ctr"/>
            <a:r>
              <a:rPr lang="en-GB" sz="1600" b="1" dirty="0" smtClean="0"/>
              <a:t>Core message 3</a:t>
            </a:r>
            <a:endParaRPr lang="en-GB" sz="1600" b="1" dirty="0"/>
          </a:p>
        </p:txBody>
      </p:sp>
      <p:sp>
        <p:nvSpPr>
          <p:cNvPr id="14" name="Rectangle 13"/>
          <p:cNvSpPr/>
          <p:nvPr/>
        </p:nvSpPr>
        <p:spPr>
          <a:xfrm>
            <a:off x="773695" y="5865649"/>
            <a:ext cx="8984976" cy="933795"/>
          </a:xfrm>
          <a:prstGeom prst="rect">
            <a:avLst/>
          </a:prstGeom>
          <a:no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000" b="1" dirty="0" smtClean="0"/>
          </a:p>
        </p:txBody>
      </p:sp>
      <p:sp>
        <p:nvSpPr>
          <p:cNvPr id="15" name="TextBox 14"/>
          <p:cNvSpPr txBox="1"/>
          <p:nvPr/>
        </p:nvSpPr>
        <p:spPr>
          <a:xfrm>
            <a:off x="954212" y="5962357"/>
            <a:ext cx="8784976" cy="338554"/>
          </a:xfrm>
          <a:prstGeom prst="rect">
            <a:avLst/>
          </a:prstGeom>
          <a:noFill/>
        </p:spPr>
        <p:txBody>
          <a:bodyPr wrap="square" rtlCol="0">
            <a:spAutoFit/>
          </a:bodyPr>
          <a:lstStyle/>
          <a:p>
            <a:pPr algn="ctr"/>
            <a:r>
              <a:rPr lang="en-GB" sz="1600" b="1" dirty="0" smtClean="0"/>
              <a:t>Evidence, proof points, supporting material</a:t>
            </a:r>
            <a:endParaRPr lang="en-GB" sz="1600" b="1" dirty="0"/>
          </a:p>
        </p:txBody>
      </p:sp>
      <p:sp>
        <p:nvSpPr>
          <p:cNvPr id="8" name="Rectangle 7"/>
          <p:cNvSpPr/>
          <p:nvPr/>
        </p:nvSpPr>
        <p:spPr>
          <a:xfrm>
            <a:off x="809624" y="993805"/>
            <a:ext cx="8929563" cy="338554"/>
          </a:xfrm>
          <a:prstGeom prst="rect">
            <a:avLst/>
          </a:prstGeom>
        </p:spPr>
        <p:txBody>
          <a:bodyPr wrap="square">
            <a:spAutoFit/>
          </a:bodyPr>
          <a:lstStyle/>
          <a:p>
            <a:r>
              <a:rPr lang="en-GB" sz="1600" dirty="0" smtClean="0">
                <a:solidFill>
                  <a:schemeClr val="tx1">
                    <a:lumMod val="50000"/>
                    <a:lumOff val="50000"/>
                  </a:schemeClr>
                </a:solidFill>
              </a:rPr>
              <a:t>The </a:t>
            </a:r>
            <a:r>
              <a:rPr lang="en-GB" sz="1600" dirty="0">
                <a:solidFill>
                  <a:schemeClr val="tx1">
                    <a:lumMod val="50000"/>
                    <a:lumOff val="50000"/>
                  </a:schemeClr>
                </a:solidFill>
              </a:rPr>
              <a:t>contents of your </a:t>
            </a:r>
            <a:r>
              <a:rPr lang="en-GB" sz="1600" dirty="0" smtClean="0">
                <a:solidFill>
                  <a:schemeClr val="tx1">
                    <a:lumMod val="50000"/>
                    <a:lumOff val="50000"/>
                  </a:schemeClr>
                </a:solidFill>
              </a:rPr>
              <a:t>‘Message House’ </a:t>
            </a:r>
            <a:r>
              <a:rPr lang="en-GB" sz="1600" dirty="0">
                <a:solidFill>
                  <a:schemeClr val="tx1">
                    <a:lumMod val="50000"/>
                    <a:lumOff val="50000"/>
                  </a:schemeClr>
                </a:solidFill>
              </a:rPr>
              <a:t>inspire all other communications</a:t>
            </a:r>
          </a:p>
        </p:txBody>
      </p:sp>
      <p:sp>
        <p:nvSpPr>
          <p:cNvPr id="16" name="Rectangle 15"/>
          <p:cNvSpPr/>
          <p:nvPr/>
        </p:nvSpPr>
        <p:spPr>
          <a:xfrm>
            <a:off x="824988" y="3710945"/>
            <a:ext cx="2721512" cy="861774"/>
          </a:xfrm>
          <a:prstGeom prst="rect">
            <a:avLst/>
          </a:prstGeom>
        </p:spPr>
        <p:txBody>
          <a:bodyPr wrap="square">
            <a:spAutoFit/>
          </a:bodyPr>
          <a:lstStyle/>
          <a:p>
            <a:pPr algn="just"/>
            <a:r>
              <a:rPr lang="en-GB" sz="1000" b="1" dirty="0" smtClean="0"/>
              <a:t>E.g. ‘What’s </a:t>
            </a:r>
            <a:r>
              <a:rPr lang="en-GB" sz="1000" b="1" dirty="0"/>
              <a:t>the big picture?’</a:t>
            </a:r>
            <a:endParaRPr lang="en-GB" sz="1000" dirty="0"/>
          </a:p>
          <a:p>
            <a:pPr algn="just"/>
            <a:r>
              <a:rPr lang="en-GB" sz="1000" dirty="0"/>
              <a:t>The answer speaks to the vision. Why does the </a:t>
            </a:r>
            <a:r>
              <a:rPr lang="en-GB" sz="1000" dirty="0" smtClean="0"/>
              <a:t>service or product </a:t>
            </a:r>
            <a:r>
              <a:rPr lang="en-GB" sz="1000" dirty="0"/>
              <a:t>matter? It inspires, gives people </a:t>
            </a:r>
            <a:r>
              <a:rPr lang="en-GB" sz="1000" dirty="0" smtClean="0"/>
              <a:t>goose bumps. </a:t>
            </a:r>
            <a:r>
              <a:rPr lang="en-GB" sz="1000" dirty="0"/>
              <a:t>It points to something bigger than us.</a:t>
            </a:r>
          </a:p>
        </p:txBody>
      </p:sp>
      <p:sp>
        <p:nvSpPr>
          <p:cNvPr id="18" name="Rectangle 17"/>
          <p:cNvSpPr/>
          <p:nvPr/>
        </p:nvSpPr>
        <p:spPr>
          <a:xfrm>
            <a:off x="3834532" y="3708623"/>
            <a:ext cx="2721512" cy="707886"/>
          </a:xfrm>
          <a:prstGeom prst="rect">
            <a:avLst/>
          </a:prstGeom>
        </p:spPr>
        <p:txBody>
          <a:bodyPr wrap="square">
            <a:spAutoFit/>
          </a:bodyPr>
          <a:lstStyle/>
          <a:p>
            <a:pPr algn="just"/>
            <a:r>
              <a:rPr lang="en-GB" sz="1000" b="1" dirty="0" smtClean="0"/>
              <a:t>E.g. What’s </a:t>
            </a:r>
            <a:r>
              <a:rPr lang="en-GB" sz="1000" b="1" dirty="0"/>
              <a:t>in it for them?’</a:t>
            </a:r>
            <a:endParaRPr lang="en-GB" sz="1000" dirty="0"/>
          </a:p>
          <a:p>
            <a:pPr algn="just"/>
            <a:r>
              <a:rPr lang="en-GB" sz="1000" dirty="0"/>
              <a:t>This ‘Utility Message’ gets across what is useful to your </a:t>
            </a:r>
            <a:r>
              <a:rPr lang="en-GB" sz="1000" dirty="0" smtClean="0"/>
              <a:t>audience. An </a:t>
            </a:r>
            <a:r>
              <a:rPr lang="en-GB" sz="1000" dirty="0"/>
              <a:t>example: ‘Our shaver now lasts three times as long.’</a:t>
            </a:r>
          </a:p>
        </p:txBody>
      </p:sp>
      <p:sp>
        <p:nvSpPr>
          <p:cNvPr id="19" name="Rectangle 18"/>
          <p:cNvSpPr/>
          <p:nvPr/>
        </p:nvSpPr>
        <p:spPr>
          <a:xfrm>
            <a:off x="3834532" y="4385343"/>
            <a:ext cx="2721512" cy="1015663"/>
          </a:xfrm>
          <a:prstGeom prst="rect">
            <a:avLst/>
          </a:prstGeom>
        </p:spPr>
        <p:txBody>
          <a:bodyPr wrap="square">
            <a:spAutoFit/>
          </a:bodyPr>
          <a:lstStyle/>
          <a:p>
            <a:pPr algn="just"/>
            <a:r>
              <a:rPr lang="en-GB" sz="1000" b="1" dirty="0" smtClean="0"/>
              <a:t>E.g. ‘What </a:t>
            </a:r>
            <a:r>
              <a:rPr lang="en-GB" sz="1000" b="1" dirty="0"/>
              <a:t>is the most likely criticism?’</a:t>
            </a:r>
            <a:endParaRPr lang="en-GB" sz="1000" dirty="0"/>
          </a:p>
          <a:p>
            <a:pPr algn="just"/>
            <a:r>
              <a:rPr lang="en-GB" sz="1000" dirty="0"/>
              <a:t>Find the answer, and then blunt that criticism with a positive message. That’s your ‘Critics Message</a:t>
            </a:r>
            <a:r>
              <a:rPr lang="en-GB" sz="1000" dirty="0" smtClean="0"/>
              <a:t>’. For </a:t>
            </a:r>
            <a:r>
              <a:rPr lang="en-GB" sz="1000" dirty="0"/>
              <a:t>instance, if critics say, ‘this is too difficult,’ then your positive Critics Message </a:t>
            </a:r>
            <a:r>
              <a:rPr lang="en-GB" sz="1000" dirty="0" smtClean="0"/>
              <a:t>is: ‘It’s </a:t>
            </a:r>
            <a:r>
              <a:rPr lang="en-GB" sz="1000" dirty="0"/>
              <a:t>easy.’</a:t>
            </a:r>
          </a:p>
        </p:txBody>
      </p:sp>
      <p:sp>
        <p:nvSpPr>
          <p:cNvPr id="17" name="Rectangle 16"/>
          <p:cNvSpPr/>
          <p:nvPr/>
        </p:nvSpPr>
        <p:spPr>
          <a:xfrm>
            <a:off x="4104456" y="1116478"/>
            <a:ext cx="5346700" cy="415498"/>
          </a:xfrm>
          <a:prstGeom prst="rect">
            <a:avLst/>
          </a:prstGeom>
        </p:spPr>
        <p:txBody>
          <a:bodyPr>
            <a:spAutoFit/>
          </a:bodyPr>
          <a:lstStyle/>
          <a:p>
            <a:r>
              <a:rPr lang="en-GB" b="1" dirty="0" smtClean="0"/>
              <a:t>‘</a:t>
            </a:r>
            <a:endParaRPr lang="en-GB" dirty="0"/>
          </a:p>
        </p:txBody>
      </p:sp>
      <p:sp>
        <p:nvSpPr>
          <p:cNvPr id="21" name="Rectangle 20"/>
          <p:cNvSpPr/>
          <p:nvPr/>
        </p:nvSpPr>
        <p:spPr>
          <a:xfrm>
            <a:off x="6974276" y="3743520"/>
            <a:ext cx="2721512" cy="707886"/>
          </a:xfrm>
          <a:prstGeom prst="rect">
            <a:avLst/>
          </a:prstGeom>
        </p:spPr>
        <p:txBody>
          <a:bodyPr wrap="square">
            <a:spAutoFit/>
          </a:bodyPr>
          <a:lstStyle/>
          <a:p>
            <a:pPr algn="just"/>
            <a:r>
              <a:rPr lang="en-GB" sz="1000" b="1" dirty="0"/>
              <a:t>What do you want your audience to do?’</a:t>
            </a:r>
            <a:endParaRPr lang="en-GB" sz="1000" dirty="0"/>
          </a:p>
          <a:p>
            <a:pPr algn="just"/>
            <a:r>
              <a:rPr lang="en-GB" sz="1000" dirty="0"/>
              <a:t>Call the answer the ‘Action Message’.</a:t>
            </a:r>
          </a:p>
          <a:p>
            <a:pPr algn="just"/>
            <a:r>
              <a:rPr lang="en-GB" sz="1000" dirty="0"/>
              <a:t>Often, it will be something like: ‘Go to Web site xyz to get a discount now</a:t>
            </a:r>
            <a:r>
              <a:rPr lang="en-GB" sz="1000" dirty="0" smtClean="0"/>
              <a:t>.’</a:t>
            </a:r>
            <a:endParaRPr lang="en-GB" sz="1000" dirty="0"/>
          </a:p>
        </p:txBody>
      </p:sp>
      <p:sp>
        <p:nvSpPr>
          <p:cNvPr id="20" name="Rectangle 19"/>
          <p:cNvSpPr/>
          <p:nvPr/>
        </p:nvSpPr>
        <p:spPr>
          <a:xfrm>
            <a:off x="809624" y="5465539"/>
            <a:ext cx="8949048" cy="400110"/>
          </a:xfrm>
          <a:prstGeom prst="rect">
            <a:avLst/>
          </a:prstGeom>
        </p:spPr>
        <p:txBody>
          <a:bodyPr wrap="square">
            <a:spAutoFit/>
          </a:bodyPr>
          <a:lstStyle/>
          <a:p>
            <a:r>
              <a:rPr lang="en-GB" sz="1000" i="1" dirty="0" smtClean="0"/>
              <a:t>These four </a:t>
            </a:r>
            <a:r>
              <a:rPr lang="en-GB" sz="1000" i="1" dirty="0"/>
              <a:t>standard questions provide a useful </a:t>
            </a:r>
            <a:r>
              <a:rPr lang="en-GB" sz="1000" i="1" dirty="0" smtClean="0"/>
              <a:t>reference for messages </a:t>
            </a:r>
            <a:r>
              <a:rPr lang="en-GB" sz="1000" i="1" dirty="0"/>
              <a:t>for a </a:t>
            </a:r>
            <a:r>
              <a:rPr lang="en-GB" sz="1000" i="1" dirty="0" smtClean="0"/>
              <a:t>brand, project or business case </a:t>
            </a:r>
            <a:r>
              <a:rPr lang="en-GB" sz="1000" i="1" dirty="0"/>
              <a:t>We have found that this structured approach leads to better </a:t>
            </a:r>
            <a:r>
              <a:rPr lang="en-GB" sz="1000" i="1" dirty="0" smtClean="0"/>
              <a:t>messages and understanding.</a:t>
            </a:r>
            <a:endParaRPr lang="en-GB" sz="1000" dirty="0"/>
          </a:p>
        </p:txBody>
      </p:sp>
      <p:sp>
        <p:nvSpPr>
          <p:cNvPr id="24" name="Rectangle 23"/>
          <p:cNvSpPr/>
          <p:nvPr/>
        </p:nvSpPr>
        <p:spPr>
          <a:xfrm>
            <a:off x="3474492" y="2103775"/>
            <a:ext cx="3643800" cy="246221"/>
          </a:xfrm>
          <a:prstGeom prst="rect">
            <a:avLst/>
          </a:prstGeom>
        </p:spPr>
        <p:txBody>
          <a:bodyPr wrap="square">
            <a:spAutoFit/>
          </a:bodyPr>
          <a:lstStyle/>
          <a:p>
            <a:pPr algn="just"/>
            <a:r>
              <a:rPr lang="en-GB" sz="1000" dirty="0" smtClean="0"/>
              <a:t>High level overarching statement – clarity and brevity is key.</a:t>
            </a:r>
            <a:endParaRPr lang="en-GB" sz="1000" dirty="0"/>
          </a:p>
        </p:txBody>
      </p:sp>
    </p:spTree>
    <p:extLst>
      <p:ext uri="{BB962C8B-B14F-4D97-AF65-F5344CB8AC3E}">
        <p14:creationId xmlns:p14="http://schemas.microsoft.com/office/powerpoint/2010/main" val="71052614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6.0&quot;&gt;&lt;object type=&quot;1&quot; unique_id=&quot;10001&quot;&gt;&lt;object type=&quot;8&quot; unique_id=&quot;10017&quot;&gt;&lt;/object&gt;&lt;object type=&quot;2&quot; unique_id=&quot;10018&quot;&gt;&lt;object type=&quot;3&quot; unique_id=&quot;10019&quot;&gt;&lt;property id=&quot;20148&quot; value=&quot;5&quot;/&gt;&lt;property id=&quot;20300&quot; value=&quot;Slide 1&quot;/&gt;&lt;property id=&quot;20307&quot; value=&quot;256&quot;/&gt;&lt;/object&gt;&lt;object type=&quot;3&quot; unique_id=&quot;10020&quot;&gt;&lt;property id=&quot;20148&quot; value=&quot;5&quot;/&gt;&lt;property id=&quot;20300&quot; value=&quot;Slide 2 - &amp;quot;Contents&amp;quot;&quot;/&gt;&lt;property id=&quot;20307&quot; value=&quot;257&quot;/&gt;&lt;/object&gt;&lt;object type=&quot;3&quot; unique_id=&quot;10021&quot;&gt;&lt;property id=&quot;20148&quot; value=&quot;5&quot;/&gt;&lt;property id=&quot;20300&quot; value=&quot;Slide 3 - &amp;quot;Double column text&amp;quot;&quot;/&gt;&lt;property id=&quot;20307&quot; value=&quot;258&quot;/&gt;&lt;/object&gt;&lt;object type=&quot;3&quot; unique_id=&quot;10022&quot;&gt;&lt;property id=&quot;20148&quot; value=&quot;5&quot;/&gt;&lt;property id=&quot;20300&quot; value=&quot;Slide 4 - &amp;quot;Text and two right side objects&amp;quot;&quot;/&gt;&lt;property id=&quot;20307&quot; value=&quot;259&quot;/&gt;&lt;/object&gt;&lt;object type=&quot;3&quot; unique_id=&quot;10023&quot;&gt;&lt;property id=&quot;20148&quot; value=&quot;5&quot;/&gt;&lt;property id=&quot;20300&quot; value=&quot;Slide 6&quot;/&gt;&lt;property id=&quot;20307&quot; value=&quot;260&quot;/&gt;&lt;/object&gt;&lt;object type=&quot;3&quot; unique_id=&quot;10031&quot;&gt;&lt;property id=&quot;20148&quot; value=&quot;5&quot;/&gt;&lt;property id=&quot;20300&quot; value=&quot;Slide 5&quot;/&gt;&lt;property id=&quot;20307&quot; value=&quot;261&quot;/&gt;&lt;/object&gt;&lt;/object&gt;&lt;/object&gt;&lt;/database&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kPwoWoNiJUqUw858eBOjb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kPwoWoNiJUqUw858eBOjb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YpsrYaYKVkCnxKK6yGHWP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wO9CJcvxQUCl.LMNvO6XL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YpsrYaYKVkCnxKK6yGHWP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wO9CJcvxQUCl.LMNvO6XL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AufuXMgQs02W17ksy931V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asv5Z5JRsEKUjr9dFUxBzg"/>
</p:tagLst>
</file>

<file path=ppt/theme/theme1.xml><?xml version="1.0" encoding="utf-8"?>
<a:theme xmlns:a="http://schemas.openxmlformats.org/drawingml/2006/main" name="New version - PowerPoint Printed - Landscape">
  <a:themeElements>
    <a:clrScheme name="EY Printed">
      <a:dk1>
        <a:sysClr val="windowText" lastClr="000000"/>
      </a:dk1>
      <a:lt1>
        <a:srgbClr val="FFFFFF"/>
      </a:lt1>
      <a:dk2>
        <a:srgbClr val="000000"/>
      </a:dk2>
      <a:lt2>
        <a:srgbClr val="FFFFFF"/>
      </a:lt2>
      <a:accent1>
        <a:srgbClr val="7F7E82"/>
      </a:accent1>
      <a:accent2>
        <a:srgbClr val="FFE600"/>
      </a:accent2>
      <a:accent3>
        <a:srgbClr val="A5A4A7"/>
      </a:accent3>
      <a:accent4>
        <a:srgbClr val="CCCBCD"/>
      </a:accent4>
      <a:accent5>
        <a:srgbClr val="FFF27F"/>
      </a:accent5>
      <a:accent6>
        <a:srgbClr val="2C973E"/>
      </a:accent6>
      <a:hlink>
        <a:srgbClr val="A5A4A7"/>
      </a:hlink>
      <a:folHlink>
        <a:srgbClr val="CCCBCD"/>
      </a:folHlink>
    </a:clrScheme>
    <a:fontScheme name="EY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cmpd="sng">
          <a:solidFill>
            <a:schemeClr val="accent1"/>
          </a:solidFill>
        </a:ln>
      </a:spPr>
      <a:bodyPr lIns="72000" tIns="72000" rIns="72000" bIns="72000" rtlCol="0" anchor="ctr"/>
      <a:lstStyle>
        <a:defPPr algn="ctr">
          <a:defRPr sz="1000" b="1"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000" dirty="0"/>
        </a:defPPr>
      </a:lstStyle>
    </a:txDef>
  </a:objectDefaults>
  <a:extraClrSchemeLst/>
</a:theme>
</file>

<file path=ppt/theme/theme2.xml><?xml version="1.0" encoding="utf-8"?>
<a:theme xmlns:a="http://schemas.openxmlformats.org/drawingml/2006/main" name="Office Theme">
  <a:themeElements>
    <a:clrScheme name="EY">
      <a:dk1>
        <a:sysClr val="windowText" lastClr="000000"/>
      </a:dk1>
      <a:lt1>
        <a:sysClr val="window" lastClr="FFFFFF"/>
      </a:lt1>
      <a:dk2>
        <a:srgbClr val="000000"/>
      </a:dk2>
      <a:lt2>
        <a:srgbClr val="FFFFFF"/>
      </a:lt2>
      <a:accent1>
        <a:srgbClr val="7F7E82"/>
      </a:accent1>
      <a:accent2>
        <a:srgbClr val="FFE600"/>
      </a:accent2>
      <a:accent3>
        <a:srgbClr val="A5A4A7"/>
      </a:accent3>
      <a:accent4>
        <a:srgbClr val="CCCBCD"/>
      </a:accent4>
      <a:accent5>
        <a:srgbClr val="F2F2F2"/>
      </a:accent5>
      <a:accent6>
        <a:srgbClr val="2C973E"/>
      </a:accent6>
      <a:hlink>
        <a:srgbClr val="336699"/>
      </a:hlink>
      <a:folHlink>
        <a:srgbClr val="7F7E82"/>
      </a:folHlink>
    </a:clrScheme>
    <a:fontScheme name="EY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EY">
      <a:dk1>
        <a:sysClr val="windowText" lastClr="000000"/>
      </a:dk1>
      <a:lt1>
        <a:sysClr val="window" lastClr="FFFFFF"/>
      </a:lt1>
      <a:dk2>
        <a:srgbClr val="000000"/>
      </a:dk2>
      <a:lt2>
        <a:srgbClr val="FFFFFF"/>
      </a:lt2>
      <a:accent1>
        <a:srgbClr val="7F7E82"/>
      </a:accent1>
      <a:accent2>
        <a:srgbClr val="FFE600"/>
      </a:accent2>
      <a:accent3>
        <a:srgbClr val="A5A4A7"/>
      </a:accent3>
      <a:accent4>
        <a:srgbClr val="CCCBCD"/>
      </a:accent4>
      <a:accent5>
        <a:srgbClr val="F2F2F2"/>
      </a:accent5>
      <a:accent6>
        <a:srgbClr val="2C973E"/>
      </a:accent6>
      <a:hlink>
        <a:srgbClr val="336699"/>
      </a:hlink>
      <a:folHlink>
        <a:srgbClr val="7F7E82"/>
      </a:folHlink>
    </a:clrScheme>
    <a:fontScheme name="EY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3753</TotalTime>
  <Words>7562</Words>
  <Application>Microsoft Office PowerPoint</Application>
  <PresentationFormat>Custom</PresentationFormat>
  <Paragraphs>1141</Paragraphs>
  <Slides>43</Slides>
  <Notes>22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45" baseType="lpstr">
      <vt:lpstr>New version - PowerPoint Printed - Landscape</vt:lpstr>
      <vt:lpstr>think-cell Slide</vt:lpstr>
      <vt:lpstr>EY People and Organisational Change and UnLtd Fast Growth Social Entrepreneurs</vt:lpstr>
      <vt:lpstr>PowerPoint Presentation</vt:lpstr>
      <vt:lpstr>Understanding the key opportunities and challenges for your business</vt:lpstr>
      <vt:lpstr>Example of a completed SWOT analysis</vt:lpstr>
      <vt:lpstr>PowerPoint Presentation</vt:lpstr>
      <vt:lpstr>PowerPoint Presentation</vt:lpstr>
      <vt:lpstr>Business case</vt:lpstr>
      <vt:lpstr>Vision</vt:lpstr>
      <vt:lpstr>PowerPoint Presentation</vt:lpstr>
      <vt:lpstr>Step 1: Develop your vision and mission</vt:lpstr>
      <vt:lpstr>Step 2: Develop your aims and objectives: OGSM framework</vt:lpstr>
      <vt:lpstr>PowerPoint Presentation</vt:lpstr>
      <vt:lpstr>What are the elements of target operating model design?</vt:lpstr>
      <vt:lpstr>Why design a target operating model? </vt:lpstr>
      <vt:lpstr>EY Insights – Target operating model design principles</vt:lpstr>
      <vt:lpstr>Starting to build your target operating model</vt:lpstr>
      <vt:lpstr>PowerPoint Presentation</vt:lpstr>
      <vt:lpstr>Problem Solving Methodology</vt:lpstr>
      <vt:lpstr>Each phase of the approach involves using specific tools to produce specific outputs</vt:lpstr>
      <vt:lpstr>Step 1: Clarify the problem, scope and context</vt:lpstr>
      <vt:lpstr>Step 3: Identify and plan remediation actions</vt:lpstr>
      <vt:lpstr>PowerPoint Presentation</vt:lpstr>
      <vt:lpstr>Talent Management</vt:lpstr>
      <vt:lpstr>Strategic model of talent management</vt:lpstr>
      <vt:lpstr>Talent management for start-ups</vt:lpstr>
      <vt:lpstr>PowerPoint Presentation</vt:lpstr>
      <vt:lpstr>PowerPoint Presentation</vt:lpstr>
      <vt:lpstr>PowerPoint Presentation</vt:lpstr>
      <vt:lpstr>PowerPoint Presentation</vt:lpstr>
      <vt:lpstr>Prioritising strategic projects as your business grows</vt:lpstr>
      <vt:lpstr>Managing risks in projects</vt:lpstr>
      <vt:lpstr>Step 1: Identify and prioritise in-flight and new projects that support your strategic growth plan</vt:lpstr>
      <vt:lpstr>Step 2: Assess project risks and mitigating actions for a priority project</vt:lpstr>
      <vt:lpstr>PowerPoint Presentation</vt:lpstr>
      <vt:lpstr>PowerPoint Presentation</vt:lpstr>
      <vt:lpstr>Stakeholder Management</vt:lpstr>
      <vt:lpstr>PowerPoint Presentation</vt:lpstr>
      <vt:lpstr>Stakeholder Analysis</vt:lpstr>
      <vt:lpstr>What is communications management all about?</vt:lpstr>
      <vt:lpstr>Principles of good communication management</vt:lpstr>
      <vt:lpstr>Step 1: Map your Stakeholders</vt:lpstr>
      <vt:lpstr>Step 2: Analyse Stakeholders</vt:lpstr>
      <vt:lpstr>Step 3: Communications messaging</vt:lpstr>
    </vt:vector>
  </TitlesOfParts>
  <Company>Ernst &amp; Young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Simon Gower</dc:creator>
  <cp:lastModifiedBy>Ben Smith</cp:lastModifiedBy>
  <cp:revision>624</cp:revision>
  <dcterms:created xsi:type="dcterms:W3CDTF">2013-05-07T14:54:35Z</dcterms:created>
  <dcterms:modified xsi:type="dcterms:W3CDTF">2014-08-04T13:16:38Z</dcterms:modified>
</cp:coreProperties>
</file>
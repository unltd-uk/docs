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1"/>
  </p:sldMasterIdLst>
  <p:notesMasterIdLst>
    <p:notesMasterId r:id="rId51"/>
  </p:notesMasterIdLst>
  <p:sldIdLst>
    <p:sldId id="430" r:id="rId2"/>
    <p:sldId id="432" r:id="rId3"/>
    <p:sldId id="309" r:id="rId4"/>
    <p:sldId id="433" r:id="rId5"/>
    <p:sldId id="447" r:id="rId6"/>
    <p:sldId id="448" r:id="rId7"/>
    <p:sldId id="399" r:id="rId8"/>
    <p:sldId id="449" r:id="rId9"/>
    <p:sldId id="450" r:id="rId10"/>
    <p:sldId id="451" r:id="rId11"/>
    <p:sldId id="400" r:id="rId12"/>
    <p:sldId id="402" r:id="rId13"/>
    <p:sldId id="401" r:id="rId14"/>
    <p:sldId id="435" r:id="rId15"/>
    <p:sldId id="472" r:id="rId16"/>
    <p:sldId id="452" r:id="rId17"/>
    <p:sldId id="453" r:id="rId18"/>
    <p:sldId id="454" r:id="rId19"/>
    <p:sldId id="455" r:id="rId20"/>
    <p:sldId id="456" r:id="rId21"/>
    <p:sldId id="457" r:id="rId22"/>
    <p:sldId id="458" r:id="rId23"/>
    <p:sldId id="459" r:id="rId24"/>
    <p:sldId id="460" r:id="rId25"/>
    <p:sldId id="462" r:id="rId26"/>
    <p:sldId id="461" r:id="rId27"/>
    <p:sldId id="473" r:id="rId28"/>
    <p:sldId id="436" r:id="rId29"/>
    <p:sldId id="437" r:id="rId30"/>
    <p:sldId id="438" r:id="rId31"/>
    <p:sldId id="440" r:id="rId32"/>
    <p:sldId id="441" r:id="rId33"/>
    <p:sldId id="443" r:id="rId34"/>
    <p:sldId id="442" r:id="rId35"/>
    <p:sldId id="410" r:id="rId36"/>
    <p:sldId id="411" r:id="rId37"/>
    <p:sldId id="412" r:id="rId38"/>
    <p:sldId id="444" r:id="rId39"/>
    <p:sldId id="464" r:id="rId40"/>
    <p:sldId id="465" r:id="rId41"/>
    <p:sldId id="466" r:id="rId42"/>
    <p:sldId id="467" r:id="rId43"/>
    <p:sldId id="468" r:id="rId44"/>
    <p:sldId id="469" r:id="rId45"/>
    <p:sldId id="470" r:id="rId46"/>
    <p:sldId id="471" r:id="rId47"/>
    <p:sldId id="445" r:id="rId48"/>
    <p:sldId id="446" r:id="rId49"/>
    <p:sldId id="431" r:id="rId5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47B403"/>
    <a:srgbClr val="515151"/>
    <a:srgbClr val="3D875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53" autoAdjust="0"/>
    <p:restoredTop sz="90323" autoAdjust="0"/>
  </p:normalViewPr>
  <p:slideViewPr>
    <p:cSldViewPr>
      <p:cViewPr varScale="1">
        <p:scale>
          <a:sx n="69" d="100"/>
          <a:sy n="69" d="100"/>
        </p:scale>
        <p:origin x="-1362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numCol="1" rtlCol="0"/>
          <a:lstStyle>
            <a:lvl1pPr algn="l">
              <a:defRPr sz="1200"/>
            </a:lvl1pPr>
          </a:lstStyle>
          <a:p>
            <a:endParaRPr lang="en-GB" alt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numCol="1" rtlCol="0"/>
          <a:lstStyle>
            <a:lvl1pPr algn="r">
              <a:defRPr sz="1200"/>
            </a:lvl1pPr>
          </a:lstStyle>
          <a:p>
            <a:fld id="{2B8D715B-22D3-4A0D-91AE-6622DD7102E8}" type="datetimeFigureOut">
              <a:rPr lang="en-GB" altLang="en-GB" smtClean="0"/>
              <a:pPr/>
              <a:t>06/08/2018</a:t>
            </a:fld>
            <a:endParaRPr lang="en-GB" alt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numCol="1" rtlCol="0" anchor="ctr"/>
          <a:lstStyle/>
          <a:p>
            <a:endParaRPr lang="en-GB" alt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alt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numCol="1" rtlCol="0" anchor="b"/>
          <a:lstStyle>
            <a:lvl1pPr algn="l">
              <a:defRPr sz="1200"/>
            </a:lvl1pPr>
          </a:lstStyle>
          <a:p>
            <a:endParaRPr lang="en-GB" alt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numCol="1" rtlCol="0" anchor="b"/>
          <a:lstStyle>
            <a:lvl1pPr algn="r">
              <a:defRPr sz="1200"/>
            </a:lvl1pPr>
          </a:lstStyle>
          <a:p>
            <a:fld id="{5B21C56C-8FE3-4794-84F7-47DEB4DC5596}" type="slidenum">
              <a:rPr lang="en-GB" altLang="en-GB" smtClean="0"/>
              <a:pPr/>
              <a:t>‹#›</a:t>
            </a:fld>
            <a:endParaRPr lang="en-GB" alt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21C56C-8FE3-4794-84F7-47DEB4DC5596}" type="slidenum">
              <a:rPr lang="en-GB" altLang="en-GB" smtClean="0"/>
              <a:pPr/>
              <a:t>12</a:t>
            </a:fld>
            <a:endParaRPr lang="en-GB" altLang="en-GB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21C56C-8FE3-4794-84F7-47DEB4DC5596}" type="slidenum">
              <a:rPr lang="en-GB" altLang="en-GB" smtClean="0"/>
              <a:pPr/>
              <a:t>13</a:t>
            </a:fld>
            <a:endParaRPr lang="en-GB" altLang="en-GB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21C56C-8FE3-4794-84F7-47DEB4DC5596}" type="slidenum">
              <a:rPr lang="en-GB" altLang="en-GB" smtClean="0"/>
              <a:pPr/>
              <a:t>14</a:t>
            </a:fld>
            <a:endParaRPr lang="en-GB" altLang="en-GB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21C56C-8FE3-4794-84F7-47DEB4DC5596}" type="slidenum">
              <a:rPr lang="en-GB" altLang="en-GB" smtClean="0"/>
              <a:pPr/>
              <a:t>15</a:t>
            </a:fld>
            <a:endParaRPr lang="en-GB" altLang="en-GB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21C56C-8FE3-4794-84F7-47DEB4DC5596}" type="slidenum">
              <a:rPr lang="en-GB" altLang="en-GB" smtClean="0"/>
              <a:pPr/>
              <a:t>16</a:t>
            </a:fld>
            <a:endParaRPr lang="en-GB" altLang="en-GB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21C56C-8FE3-4794-84F7-47DEB4DC5596}" type="slidenum">
              <a:rPr lang="en-GB" altLang="en-GB" smtClean="0"/>
              <a:pPr/>
              <a:t>17</a:t>
            </a:fld>
            <a:endParaRPr lang="en-GB" altLang="en-GB" dirty="0"/>
          </a:p>
        </p:txBody>
      </p:sp>
    </p:spTree>
    <p:extLst>
      <p:ext uri="{BB962C8B-B14F-4D97-AF65-F5344CB8AC3E}">
        <p14:creationId xmlns:p14="http://schemas.microsoft.com/office/powerpoint/2010/main" xmlns="" val="2216655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21C56C-8FE3-4794-84F7-47DEB4DC5596}" type="slidenum">
              <a:rPr lang="en-GB" altLang="en-GB" smtClean="0"/>
              <a:pPr/>
              <a:t>18</a:t>
            </a:fld>
            <a:endParaRPr lang="en-GB" altLang="en-GB" dirty="0"/>
          </a:p>
        </p:txBody>
      </p:sp>
    </p:spTree>
    <p:extLst>
      <p:ext uri="{BB962C8B-B14F-4D97-AF65-F5344CB8AC3E}">
        <p14:creationId xmlns:p14="http://schemas.microsoft.com/office/powerpoint/2010/main" xmlns="" val="6711858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21C56C-8FE3-4794-84F7-47DEB4DC5596}" type="slidenum">
              <a:rPr lang="en-GB" altLang="en-GB" smtClean="0"/>
              <a:pPr/>
              <a:t>19</a:t>
            </a:fld>
            <a:endParaRPr lang="en-GB" altLang="en-GB" dirty="0"/>
          </a:p>
        </p:txBody>
      </p:sp>
    </p:spTree>
    <p:extLst>
      <p:ext uri="{BB962C8B-B14F-4D97-AF65-F5344CB8AC3E}">
        <p14:creationId xmlns:p14="http://schemas.microsoft.com/office/powerpoint/2010/main" xmlns="" val="10083295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21C56C-8FE3-4794-84F7-47DEB4DC5596}" type="slidenum">
              <a:rPr lang="en-GB" altLang="en-GB" smtClean="0"/>
              <a:pPr/>
              <a:t>20</a:t>
            </a:fld>
            <a:endParaRPr lang="en-GB" altLang="en-GB" dirty="0"/>
          </a:p>
        </p:txBody>
      </p:sp>
    </p:spTree>
    <p:extLst>
      <p:ext uri="{BB962C8B-B14F-4D97-AF65-F5344CB8AC3E}">
        <p14:creationId xmlns:p14="http://schemas.microsoft.com/office/powerpoint/2010/main" xmlns="" val="5944391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21C56C-8FE3-4794-84F7-47DEB4DC5596}" type="slidenum">
              <a:rPr lang="en-GB" altLang="en-GB" smtClean="0"/>
              <a:pPr/>
              <a:t>21</a:t>
            </a:fld>
            <a:endParaRPr lang="en-GB" altLang="en-GB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21C56C-8FE3-4794-84F7-47DEB4DC5596}" type="slidenum">
              <a:rPr lang="en-GB" altLang="en-GB" smtClean="0"/>
              <a:pPr/>
              <a:t>22</a:t>
            </a:fld>
            <a:endParaRPr lang="en-GB" altLang="en-GB" dirty="0"/>
          </a:p>
        </p:txBody>
      </p:sp>
    </p:spTree>
    <p:extLst>
      <p:ext uri="{BB962C8B-B14F-4D97-AF65-F5344CB8AC3E}">
        <p14:creationId xmlns:p14="http://schemas.microsoft.com/office/powerpoint/2010/main" xmlns="" val="12962113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21C56C-8FE3-4794-84F7-47DEB4DC5596}" type="slidenum">
              <a:rPr lang="en-GB" altLang="en-GB" smtClean="0"/>
              <a:pPr/>
              <a:t>23</a:t>
            </a:fld>
            <a:endParaRPr lang="en-GB" altLang="en-GB" dirty="0"/>
          </a:p>
        </p:txBody>
      </p:sp>
    </p:spTree>
    <p:extLst>
      <p:ext uri="{BB962C8B-B14F-4D97-AF65-F5344CB8AC3E}">
        <p14:creationId xmlns:p14="http://schemas.microsoft.com/office/powerpoint/2010/main" xmlns="" val="17567131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21C56C-8FE3-4794-84F7-47DEB4DC5596}" type="slidenum">
              <a:rPr lang="en-GB" altLang="en-GB" smtClean="0"/>
              <a:pPr/>
              <a:t>24</a:t>
            </a:fld>
            <a:endParaRPr lang="en-GB" altLang="en-GB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21C56C-8FE3-4794-84F7-47DEB4DC5596}" type="slidenum">
              <a:rPr lang="en-GB" altLang="en-GB" smtClean="0"/>
              <a:pPr/>
              <a:t>25</a:t>
            </a:fld>
            <a:endParaRPr lang="en-GB" altLang="en-GB" dirty="0"/>
          </a:p>
        </p:txBody>
      </p:sp>
    </p:spTree>
    <p:extLst>
      <p:ext uri="{BB962C8B-B14F-4D97-AF65-F5344CB8AC3E}">
        <p14:creationId xmlns:p14="http://schemas.microsoft.com/office/powerpoint/2010/main" xmlns="" val="19416568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21C56C-8FE3-4794-84F7-47DEB4DC5596}" type="slidenum">
              <a:rPr lang="en-GB" altLang="en-GB" smtClean="0"/>
              <a:pPr/>
              <a:t>26</a:t>
            </a:fld>
            <a:endParaRPr lang="en-GB" altLang="en-GB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21C56C-8FE3-4794-84F7-47DEB4DC5596}" type="slidenum">
              <a:rPr lang="en-GB" altLang="en-GB" smtClean="0"/>
              <a:pPr/>
              <a:t>27</a:t>
            </a:fld>
            <a:endParaRPr lang="en-GB" altLang="en-GB" dirty="0"/>
          </a:p>
        </p:txBody>
      </p:sp>
    </p:spTree>
    <p:extLst>
      <p:ext uri="{BB962C8B-B14F-4D97-AF65-F5344CB8AC3E}">
        <p14:creationId xmlns:p14="http://schemas.microsoft.com/office/powerpoint/2010/main" xmlns="" val="6446038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21C56C-8FE3-4794-84F7-47DEB4DC5596}" type="slidenum">
              <a:rPr lang="en-GB" altLang="en-GB" smtClean="0"/>
              <a:pPr/>
              <a:t>28</a:t>
            </a:fld>
            <a:endParaRPr lang="en-GB" altLang="en-GB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21C56C-8FE3-4794-84F7-47DEB4DC5596}" type="slidenum">
              <a:rPr lang="en-GB" altLang="en-GB" smtClean="0"/>
              <a:pPr/>
              <a:t>29</a:t>
            </a:fld>
            <a:endParaRPr lang="en-GB" altLang="en-GB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21C56C-8FE3-4794-84F7-47DEB4DC5596}" type="slidenum">
              <a:rPr lang="en-GB" altLang="en-GB" smtClean="0"/>
              <a:pPr/>
              <a:t>30</a:t>
            </a:fld>
            <a:endParaRPr lang="en-GB" altLang="en-GB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21C56C-8FE3-4794-84F7-47DEB4DC5596}" type="slidenum">
              <a:rPr lang="en-GB" altLang="en-GB" smtClean="0"/>
              <a:pPr/>
              <a:t>31</a:t>
            </a:fld>
            <a:endParaRPr lang="en-GB" altLang="en-GB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21C56C-8FE3-4794-84F7-47DEB4DC5596}" type="slidenum">
              <a:rPr lang="en-GB" altLang="en-GB" smtClean="0"/>
              <a:pPr/>
              <a:t>32</a:t>
            </a:fld>
            <a:endParaRPr lang="en-GB" altLang="en-GB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21C56C-8FE3-4794-84F7-47DEB4DC5596}" type="slidenum">
              <a:rPr lang="en-GB" altLang="en-GB" smtClean="0"/>
              <a:pPr/>
              <a:t>33</a:t>
            </a:fld>
            <a:endParaRPr lang="en-GB" altLang="en-GB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21C56C-8FE3-4794-84F7-47DEB4DC5596}" type="slidenum">
              <a:rPr lang="en-GB" altLang="en-GB" smtClean="0"/>
              <a:pPr/>
              <a:t>34</a:t>
            </a:fld>
            <a:endParaRPr lang="en-GB" altLang="en-GB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21C56C-8FE3-4794-84F7-47DEB4DC5596}" type="slidenum">
              <a:rPr lang="en-GB" altLang="en-GB" smtClean="0"/>
              <a:pPr/>
              <a:t>35</a:t>
            </a:fld>
            <a:endParaRPr lang="en-GB" altLang="en-GB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21C56C-8FE3-4794-84F7-47DEB4DC5596}" type="slidenum">
              <a:rPr lang="en-GB" altLang="en-GB" smtClean="0"/>
              <a:pPr/>
              <a:t>36</a:t>
            </a:fld>
            <a:endParaRPr lang="en-GB" altLang="en-GB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21C56C-8FE3-4794-84F7-47DEB4DC5596}" type="slidenum">
              <a:rPr lang="en-GB" altLang="en-GB" smtClean="0"/>
              <a:pPr/>
              <a:t>37</a:t>
            </a:fld>
            <a:endParaRPr lang="en-GB" altLang="en-GB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21C56C-8FE3-4794-84F7-47DEB4DC5596}" type="slidenum">
              <a:rPr lang="en-GB" altLang="en-GB" smtClean="0"/>
              <a:pPr/>
              <a:t>38</a:t>
            </a:fld>
            <a:endParaRPr lang="en-GB" altLang="en-GB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21C56C-8FE3-4794-84F7-47DEB4DC5596}" type="slidenum">
              <a:rPr lang="en-GB" altLang="en-GB" smtClean="0"/>
              <a:pPr/>
              <a:t>46</a:t>
            </a:fld>
            <a:endParaRPr lang="en-GB" alt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numCol="1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numCol="1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 numCol="1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anchor="t" compatLnSpc="1"/>
            <a:lstStyle/>
            <a:p>
              <a:endParaRPr kumimoji="0" lang="en-US" dirty="0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anchor="t" compatLnSpc="1"/>
            <a:lstStyle/>
            <a:p>
              <a:endParaRPr kumimoji="0" lang="en-US" dirty="0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 compatLnSpc="1"/>
            <a:lstStyle/>
            <a:p>
              <a:pPr algn="ctr" eaLnBrk="1" latinLnBrk="0" hangingPunct="1"/>
              <a:endParaRPr kumimoji="0" lang="en-US" dirty="0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8F5E7FA-7826-4D2F-99CA-3D3C8FA4C663}" type="datetimeFigureOut">
              <a:rPr lang="en-GB" altLang="en-GB" smtClean="0"/>
              <a:pPr/>
              <a:t>06/08/2018</a:t>
            </a:fld>
            <a:endParaRPr lang="en-GB" altLang="en-GB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GB" altLang="en-GB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8A96665B-3CEC-486D-AD3A-78D82AF99ACB}" type="slidenum">
              <a:rPr lang="en-GB" altLang="en-GB" smtClean="0"/>
              <a:pPr/>
              <a:t>‹#›</a:t>
            </a:fld>
            <a:endParaRPr lang="en-GB" alt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78F5E7FA-7826-4D2F-99CA-3D3C8FA4C663}" type="datetimeFigureOut">
              <a:rPr lang="en-GB" altLang="en-GB" smtClean="0"/>
              <a:pPr/>
              <a:t>06/08/2018</a:t>
            </a:fld>
            <a:endParaRPr lang="en-GB" alt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GB" alt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8A96665B-3CEC-486D-AD3A-78D82AF99ACB}" type="slidenum">
              <a:rPr lang="en-GB" altLang="en-GB" smtClean="0"/>
              <a:pPr/>
              <a:t>‹#›</a:t>
            </a:fld>
            <a:endParaRPr lang="en-GB" altLang="en-GB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numCol="1"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numCol="1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numCol="1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78F5E7FA-7826-4D2F-99CA-3D3C8FA4C663}" type="datetimeFigureOut">
              <a:rPr lang="en-GB" altLang="en-GB" smtClean="0"/>
              <a:pPr/>
              <a:t>06/08/2018</a:t>
            </a:fld>
            <a:endParaRPr lang="en-GB" alt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GB" alt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8A96665B-3CEC-486D-AD3A-78D82AF99ACB}" type="slidenum">
              <a:rPr lang="en-GB" altLang="en-GB" smtClean="0"/>
              <a:pPr/>
              <a:t>‹#›</a:t>
            </a:fld>
            <a:endParaRPr lang="en-GB" altLang="en-GB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anchor="ctr"/>
          <a:lstStyle/>
          <a:p>
            <a:pPr algn="l" eaLnBrk="1" latinLnBrk="0" hangingPunct="1"/>
            <a:endParaRPr kumimoji="0" lang="en-US" dirty="0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anchor="ctr"/>
          <a:lstStyle/>
          <a:p>
            <a:pPr algn="l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78F5E7FA-7826-4D2F-99CA-3D3C8FA4C663}" type="datetimeFigureOut">
              <a:rPr lang="en-GB" altLang="en-GB" smtClean="0"/>
              <a:pPr/>
              <a:t>06/08/2018</a:t>
            </a:fld>
            <a:endParaRPr lang="en-GB" alt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GB" alt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8A96665B-3CEC-486D-AD3A-78D82AF99ACB}" type="slidenum">
              <a:rPr lang="en-GB" altLang="en-GB" smtClean="0"/>
              <a:pPr/>
              <a:t>‹#›</a:t>
            </a:fld>
            <a:endParaRPr lang="en-GB" altLang="en-GB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numCol="1"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numCol="1"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numCol="1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numCol="1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 numCol="1"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78F5E7FA-7826-4D2F-99CA-3D3C8FA4C663}" type="datetimeFigureOut">
              <a:rPr lang="en-GB" altLang="en-GB" smtClean="0"/>
              <a:pPr/>
              <a:t>06/08/2018</a:t>
            </a:fld>
            <a:endParaRPr lang="en-GB" alt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GB" alt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8A96665B-3CEC-486D-AD3A-78D82AF99ACB}" type="slidenum">
              <a:rPr lang="en-GB" altLang="en-GB" smtClean="0"/>
              <a:pPr/>
              <a:t>‹#›</a:t>
            </a:fld>
            <a:endParaRPr lang="en-GB" altLang="en-GB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78F5E7FA-7826-4D2F-99CA-3D3C8FA4C663}" type="datetimeFigureOut">
              <a:rPr lang="en-GB" altLang="en-GB" smtClean="0"/>
              <a:pPr/>
              <a:t>06/08/2018</a:t>
            </a:fld>
            <a:endParaRPr lang="en-GB" alt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GB" alt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8A96665B-3CEC-486D-AD3A-78D82AF99ACB}" type="slidenum">
              <a:rPr lang="en-GB" altLang="en-GB" smtClean="0"/>
              <a:pPr/>
              <a:t>‹#›</a:t>
            </a:fld>
            <a:endParaRPr lang="en-GB" altLang="en-GB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numCol="1"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78F5E7FA-7826-4D2F-99CA-3D3C8FA4C663}" type="datetimeFigureOut">
              <a:rPr lang="en-GB" altLang="en-GB" smtClean="0"/>
              <a:pPr/>
              <a:t>06/08/2018</a:t>
            </a:fld>
            <a:endParaRPr lang="en-GB" alt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GB" alt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8A96665B-3CEC-486D-AD3A-78D82AF99ACB}" type="slidenum">
              <a:rPr lang="en-GB" altLang="en-GB" smtClean="0"/>
              <a:pPr/>
              <a:t>‹#›</a:t>
            </a:fld>
            <a:endParaRPr lang="en-GB" alt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numCol="1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 numCol="1"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 numCol="1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 numCol="1"/>
          <a:lstStyle/>
          <a:p>
            <a:fld id="{78F5E7FA-7826-4D2F-99CA-3D3C8FA4C663}" type="datetimeFigureOut">
              <a:rPr lang="en-GB" altLang="en-GB" smtClean="0"/>
              <a:pPr/>
              <a:t>06/08/2018</a:t>
            </a:fld>
            <a:endParaRPr lang="en-GB" alt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GB" alt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8A96665B-3CEC-486D-AD3A-78D82AF99ACB}" type="slidenum">
              <a:rPr lang="en-GB" altLang="en-GB" smtClean="0"/>
              <a:pPr/>
              <a:t>‹#›</a:t>
            </a:fld>
            <a:endParaRPr lang="en-GB" altLang="en-GB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numCol="1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 numCol="1"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8F5E7FA-7826-4D2F-99CA-3D3C8FA4C663}" type="datetimeFigureOut">
              <a:rPr lang="en-GB" altLang="en-GB" smtClean="0"/>
              <a:pPr/>
              <a:t>06/08/2018</a:t>
            </a:fld>
            <a:endParaRPr lang="en-GB" alt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 numCol="1"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GB" alt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8A96665B-3CEC-486D-AD3A-78D82AF99ACB}" type="slidenum">
              <a:rPr lang="en-GB" altLang="en-GB" smtClean="0"/>
              <a:pPr/>
              <a:t>‹#›</a:t>
            </a:fld>
            <a:endParaRPr lang="en-GB" alt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numCol="1"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 compatLnSpc="1"/>
          <a:lstStyle/>
          <a:p>
            <a:endParaRPr kumimoji="0" lang="en-US" dirty="0"/>
          </a:p>
        </p:txBody>
      </p:sp>
      <p:sp>
        <p:nvSpPr>
          <p:cNvPr id="9" name="Freeform 8"/>
          <p:cNvSpPr>
            <a:spLocks/>
          </p:cNvSpPr>
          <p:nvPr/>
        </p:nvSpPr>
        <p:spPr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 compatLnSpc="1"/>
          <a:lstStyle/>
          <a:p>
            <a:endParaRPr kumimoji="0" lang="en-US" dirty="0"/>
          </a:p>
        </p:txBody>
      </p:sp>
      <p:sp>
        <p:nvSpPr>
          <p:cNvPr id="10" name="Right Triangle 9"/>
          <p:cNvSpPr>
            <a:spLocks/>
          </p:cNvSpPr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compatLnSpc="1"/>
          <a:lstStyle/>
          <a:p>
            <a:pPr algn="ctr" eaLnBrk="1" latinLnBrk="0" hangingPunct="1"/>
            <a:endParaRPr kumimoji="0"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anchor="ctr"/>
          <a:lstStyle/>
          <a:p>
            <a:pPr algn="l" eaLnBrk="1" latinLnBrk="0" hangingPunct="1"/>
            <a:endParaRPr kumimoji="0" lang="en-US" dirty="0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anchor="ctr"/>
          <a:lstStyle/>
          <a:p>
            <a:pPr algn="l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 numCol="1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78F5E7FA-7826-4D2F-99CA-3D3C8FA4C663}" type="datetimeFigureOut">
              <a:rPr lang="en-GB" altLang="en-GB" smtClean="0"/>
              <a:pPr/>
              <a:t>06/08/2018</a:t>
            </a:fld>
            <a:endParaRPr lang="en-GB" alt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GB" alt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8A96665B-3CEC-486D-AD3A-78D82AF99ACB}" type="slidenum">
              <a:rPr lang="en-GB" altLang="en-GB" smtClean="0"/>
              <a:pPr/>
              <a:t>‹#›</a:t>
            </a:fld>
            <a:endParaRPr lang="en-GB" alt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 numCol="1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 numCol="1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78F5E7FA-7826-4D2F-99CA-3D3C8FA4C663}" type="datetimeFigureOut">
              <a:rPr lang="en-GB" altLang="en-GB" smtClean="0"/>
              <a:pPr/>
              <a:t>06/08/2018</a:t>
            </a:fld>
            <a:endParaRPr lang="en-GB" alt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GB" alt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8A96665B-3CEC-486D-AD3A-78D82AF99ACB}" type="slidenum">
              <a:rPr lang="en-GB" altLang="en-GB" smtClean="0"/>
              <a:pPr/>
              <a:t>‹#›</a:t>
            </a:fld>
            <a:endParaRPr lang="en-GB" alt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 compatLnSpc="1"/>
          <a:lstStyle/>
          <a:p>
            <a:endParaRPr kumimoji="0" lang="en-US" dirty="0"/>
          </a:p>
        </p:txBody>
      </p:sp>
      <p:sp>
        <p:nvSpPr>
          <p:cNvPr id="12" name="Freeform 11"/>
          <p:cNvSpPr>
            <a:spLocks/>
          </p:cNvSpPr>
          <p:nvPr/>
        </p:nvSpPr>
        <p:spPr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 compatLnSpc="1"/>
          <a:lstStyle/>
          <a:p>
            <a:endParaRPr kumimoji="0" lang="en-US" dirty="0"/>
          </a:p>
        </p:txBody>
      </p:sp>
      <p:sp>
        <p:nvSpPr>
          <p:cNvPr id="14" name="Right Triangle 13"/>
          <p:cNvSpPr>
            <a:spLocks/>
          </p:cNvSpPr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compatLnSpc="1"/>
          <a:lstStyle/>
          <a:p>
            <a:pPr algn="ctr" eaLnBrk="1" latinLnBrk="0" hangingPunct="1"/>
            <a:endParaRPr kumimoji="0"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numCol="1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 numCol="1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numCol="1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78F5E7FA-7826-4D2F-99CA-3D3C8FA4C663}" type="datetimeFigureOut">
              <a:rPr lang="en-GB" altLang="en-GB" smtClean="0"/>
              <a:pPr/>
              <a:t>06/08/2018</a:t>
            </a:fld>
            <a:endParaRPr lang="en-GB" altLang="en-GB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numCol="1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GB" altLang="en-GB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numCol="1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8A96665B-3CEC-486D-AD3A-78D82AF99ACB}" type="slidenum">
              <a:rPr lang="en-GB" altLang="en-GB" smtClean="0"/>
              <a:pPr/>
              <a:t>‹#›</a:t>
            </a:fld>
            <a:endParaRPr lang="en-GB" alt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640" y="1340768"/>
            <a:ext cx="6480720" cy="2286016"/>
          </a:xfrm>
        </p:spPr>
        <p:txBody>
          <a:bodyPr>
            <a:normAutofit/>
          </a:bodyPr>
          <a:lstStyle/>
          <a:p>
            <a:pPr algn="ctr">
              <a:spcBef>
                <a:spcPts val="1200"/>
              </a:spcBef>
            </a:pPr>
            <a:r>
              <a:rPr lang="en-GB" sz="3600" dirty="0" smtClean="0">
                <a:latin typeface="Droid Sans" pitchFamily="34" charset="0"/>
                <a:ea typeface="Droid Sans" pitchFamily="34" charset="0"/>
                <a:cs typeface="Droid Sans" pitchFamily="34" charset="0"/>
              </a:rPr>
              <a:t>Trusts </a:t>
            </a:r>
            <a:r>
              <a:rPr lang="en-GB" sz="3600" dirty="0">
                <a:latin typeface="Droid Sans" pitchFamily="34" charset="0"/>
                <a:ea typeface="Droid Sans" pitchFamily="34" charset="0"/>
                <a:cs typeface="Droid Sans" pitchFamily="34" charset="0"/>
              </a:rPr>
              <a:t>&amp; </a:t>
            </a:r>
            <a:r>
              <a:rPr lang="en-GB" sz="3600">
                <a:latin typeface="Droid Sans" pitchFamily="34" charset="0"/>
                <a:ea typeface="Droid Sans" pitchFamily="34" charset="0"/>
                <a:cs typeface="Droid Sans" pitchFamily="34" charset="0"/>
              </a:rPr>
              <a:t>Foundations </a:t>
            </a:r>
            <a:r>
              <a:rPr lang="en-GB" sz="3600" smtClean="0">
                <a:latin typeface="Droid Sans" pitchFamily="34" charset="0"/>
                <a:ea typeface="Droid Sans" pitchFamily="34" charset="0"/>
                <a:cs typeface="Droid Sans" pitchFamily="34" charset="0"/>
              </a:rPr>
              <a:t>Fundraising </a:t>
            </a:r>
            <a:r>
              <a:rPr lang="en-GB" sz="4000" dirty="0">
                <a:latin typeface="Droid Sans" pitchFamily="34" charset="0"/>
                <a:ea typeface="Droid Sans" pitchFamily="34" charset="0"/>
                <a:cs typeface="Droid Sans" pitchFamily="34" charset="0"/>
              </a:rPr>
              <a:t/>
            </a:r>
            <a:br>
              <a:rPr lang="en-GB" sz="4000" dirty="0">
                <a:latin typeface="Droid Sans" pitchFamily="34" charset="0"/>
                <a:ea typeface="Droid Sans" pitchFamily="34" charset="0"/>
                <a:cs typeface="Droid Sans" pitchFamily="34" charset="0"/>
              </a:rPr>
            </a:br>
            <a:r>
              <a:rPr lang="en-GB" sz="1000" dirty="0">
                <a:latin typeface="Droid Sans" pitchFamily="34" charset="0"/>
                <a:ea typeface="Droid Sans" pitchFamily="34" charset="0"/>
                <a:cs typeface="Droid Sans" pitchFamily="34" charset="0"/>
              </a:rPr>
              <a:t/>
            </a:r>
            <a:br>
              <a:rPr lang="en-GB" sz="1000" dirty="0">
                <a:latin typeface="Droid Sans" pitchFamily="34" charset="0"/>
                <a:ea typeface="Droid Sans" pitchFamily="34" charset="0"/>
                <a:cs typeface="Droid Sans" pitchFamily="34" charset="0"/>
              </a:rPr>
            </a:br>
            <a:r>
              <a:rPr lang="en-GB" sz="2200" dirty="0">
                <a:latin typeface="Droid Sans" pitchFamily="34" charset="0"/>
                <a:ea typeface="Droid Sans" pitchFamily="34" charset="0"/>
                <a:cs typeface="Droid Sans" pitchFamily="34" charset="0"/>
              </a:rPr>
              <a:t> </a:t>
            </a:r>
            <a:r>
              <a:rPr lang="en-GB" sz="2200" dirty="0" smtClean="0">
                <a:latin typeface="Droid Sans" pitchFamily="34" charset="0"/>
                <a:ea typeface="Droid Sans" pitchFamily="34" charset="0"/>
                <a:cs typeface="Droid Sans" pitchFamily="34" charset="0"/>
              </a:rPr>
              <a:t>2 August 2018</a:t>
            </a:r>
            <a:endParaRPr lang="en-GB" sz="2200" dirty="0">
              <a:latin typeface="Droid Sans" pitchFamily="34" charset="0"/>
              <a:ea typeface="Droid Sans" pitchFamily="34" charset="0"/>
              <a:cs typeface="Droid Sans" pitchFamily="34" charset="0"/>
            </a:endParaRPr>
          </a:p>
        </p:txBody>
      </p:sp>
      <p:pic>
        <p:nvPicPr>
          <p:cNvPr id="4" name="Picture 3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14678" y="500042"/>
            <a:ext cx="2618072" cy="952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3327914" y="4081632"/>
            <a:ext cx="2684246" cy="571504"/>
          </a:xfrm>
          <a:prstGeom prst="rect">
            <a:avLst/>
          </a:prstGeom>
        </p:spPr>
        <p:txBody>
          <a:bodyPr vert="horz" anchor="b">
            <a:normAutofit fontScale="975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Droid Sans" pitchFamily="34" charset="0"/>
                <a:ea typeface="Droid Sans" pitchFamily="34" charset="0"/>
                <a:cs typeface="Droid Sans" pitchFamily="34" charset="0"/>
              </a:rPr>
              <a:t>In partnership with:</a:t>
            </a:r>
          </a:p>
        </p:txBody>
      </p:sp>
      <p:pic>
        <p:nvPicPr>
          <p:cNvPr id="9" name="Picture 3" descr="C:\Users\Mike\Google Drive\Work\Lime Green\6. Client work\Short-term strategic consultancy\Paid workshops &amp; webinars\School for Social Entrepreneurs\SSE log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2160" y="3990181"/>
            <a:ext cx="2858158" cy="95098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 txBox="1">
            <a:spLocks/>
          </p:cNvSpPr>
          <p:nvPr/>
        </p:nvSpPr>
        <p:spPr>
          <a:xfrm>
            <a:off x="2483768" y="274638"/>
            <a:ext cx="5976664" cy="114300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GB" sz="2800" b="1" dirty="0">
                <a:solidFill>
                  <a:srgbClr val="515151"/>
                </a:solidFill>
                <a:latin typeface="Droid Sans"/>
              </a:rPr>
              <a:t>About Lime Green Consulting </a:t>
            </a:r>
          </a:p>
        </p:txBody>
      </p:sp>
      <p:pic>
        <p:nvPicPr>
          <p:cNvPr id="6" name="Picture 5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1484784"/>
            <a:ext cx="7920880" cy="1761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ontent Placeholder 1"/>
          <p:cNvSpPr txBox="1">
            <a:spLocks/>
          </p:cNvSpPr>
          <p:nvPr/>
        </p:nvSpPr>
        <p:spPr>
          <a:xfrm>
            <a:off x="467544" y="3429000"/>
            <a:ext cx="2448272" cy="1512168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174625" lvl="0" indent="-166688">
              <a:spcAft>
                <a:spcPts val="10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Business planning</a:t>
            </a:r>
          </a:p>
          <a:p>
            <a:pPr marL="174625" lvl="0" indent="-166688">
              <a:spcAft>
                <a:spcPts val="10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Facilitation</a:t>
            </a:r>
          </a:p>
          <a:p>
            <a:pPr marL="174625" lvl="0" indent="-166688">
              <a:spcAft>
                <a:spcPts val="10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Theory of change</a:t>
            </a:r>
          </a:p>
        </p:txBody>
      </p:sp>
      <p:sp>
        <p:nvSpPr>
          <p:cNvPr id="10" name="Content Placeholder 1"/>
          <p:cNvSpPr txBox="1">
            <a:spLocks/>
          </p:cNvSpPr>
          <p:nvPr/>
        </p:nvSpPr>
        <p:spPr>
          <a:xfrm>
            <a:off x="3131840" y="3429000"/>
            <a:ext cx="2448272" cy="1512168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174625" lvl="0" indent="-166688">
              <a:spcAft>
                <a:spcPts val="10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Fundraising strategy</a:t>
            </a:r>
          </a:p>
          <a:p>
            <a:pPr marL="174625" lvl="0" indent="-166688">
              <a:spcAft>
                <a:spcPts val="10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Advice &amp; mentoring</a:t>
            </a:r>
          </a:p>
          <a:p>
            <a:pPr marL="174625" lvl="0" indent="-166688">
              <a:spcAft>
                <a:spcPts val="10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Case for support</a:t>
            </a:r>
          </a:p>
          <a:p>
            <a:pPr marL="174625" lvl="0" indent="-166688">
              <a:spcAft>
                <a:spcPts val="10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New campaigns</a:t>
            </a:r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5940152" y="3429000"/>
            <a:ext cx="2736304" cy="1512168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174625" lvl="0" indent="-166688">
              <a:spcAft>
                <a:spcPts val="10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Grant funding strategy</a:t>
            </a:r>
          </a:p>
          <a:p>
            <a:pPr marL="174625" lvl="0" indent="-166688">
              <a:spcAft>
                <a:spcPts val="10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Prospect research</a:t>
            </a:r>
          </a:p>
          <a:p>
            <a:pPr marL="174625" lvl="0" indent="-166688">
              <a:spcAft>
                <a:spcPts val="10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Template applications</a:t>
            </a:r>
          </a:p>
          <a:p>
            <a:pPr marL="174625" lvl="0" indent="-166688">
              <a:spcAft>
                <a:spcPts val="10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Bid writing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1"/>
          <p:cNvSpPr txBox="1">
            <a:spLocks/>
          </p:cNvSpPr>
          <p:nvPr/>
        </p:nvSpPr>
        <p:spPr>
          <a:xfrm>
            <a:off x="467544" y="1628800"/>
            <a:ext cx="8229600" cy="4464496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365760" lvl="0" indent="-256032">
              <a:spcBef>
                <a:spcPts val="400"/>
              </a:spcBef>
              <a:spcAft>
                <a:spcPts val="12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sz="20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How to stand out from the crowd in a competitive climate.</a:t>
            </a:r>
          </a:p>
          <a:p>
            <a:pPr marL="365760" lvl="0" indent="-256032">
              <a:spcBef>
                <a:spcPts val="400"/>
              </a:spcBef>
              <a:spcAft>
                <a:spcPts val="12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sz="20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How to add more quality and strategy to your trusts fundraising.</a:t>
            </a:r>
          </a:p>
          <a:p>
            <a:pPr marL="365760" lvl="0" indent="-256032">
              <a:spcBef>
                <a:spcPts val="400"/>
              </a:spcBef>
              <a:spcAft>
                <a:spcPts val="12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sz="20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 chance to step back and consider what isn’t working and where you need to make improvements.</a:t>
            </a:r>
          </a:p>
          <a:p>
            <a:pPr marL="365760" lvl="0" indent="-256032">
              <a:spcBef>
                <a:spcPts val="400"/>
              </a:spcBef>
              <a:spcAft>
                <a:spcPts val="12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sz="20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Some insight into the minds of funders, and how to appeal to them.</a:t>
            </a:r>
          </a:p>
          <a:p>
            <a:pPr marL="365760" lvl="0" indent="-256032">
              <a:spcBef>
                <a:spcPts val="400"/>
              </a:spcBef>
              <a:spcAft>
                <a:spcPts val="12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sz="20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Advice on the most common trusts fundraising mistakes, and how to avoid them.</a:t>
            </a:r>
          </a:p>
          <a:p>
            <a:pPr marL="365760" lvl="0" indent="-256032">
              <a:spcBef>
                <a:spcPts val="400"/>
              </a:spcBef>
              <a:spcAft>
                <a:spcPts val="12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sz="2000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 buddy for the day </a:t>
            </a:r>
            <a:r>
              <a:rPr lang="en-GB" sz="20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– so you leave with some practical resources to put in place for your trusts fundraising!</a:t>
            </a:r>
            <a:endParaRPr lang="en-GB" sz="2000" dirty="0">
              <a:solidFill>
                <a:srgbClr val="47B403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marL="365760" lvl="0" indent="-256032">
              <a:spcBef>
                <a:spcPts val="400"/>
              </a:spcBef>
              <a:spcAft>
                <a:spcPts val="12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endParaRPr lang="en-GB" sz="2000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1822508" y="274638"/>
            <a:ext cx="6781940" cy="1143000"/>
          </a:xfrm>
          <a:prstGeom prst="rect">
            <a:avLst/>
          </a:prstGeom>
        </p:spPr>
        <p:txBody>
          <a:bodyPr vert="horz" numCol="1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GB" sz="2800" b="1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What you’ll get from today</a:t>
            </a:r>
            <a:endParaRPr kumimoji="0" lang="en-GB" altLang="en-GB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Droid Sans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 txBox="1">
            <a:spLocks/>
          </p:cNvSpPr>
          <p:nvPr/>
        </p:nvSpPr>
        <p:spPr>
          <a:xfrm>
            <a:off x="1822508" y="274638"/>
            <a:ext cx="5688632" cy="1143000"/>
          </a:xfrm>
          <a:prstGeom prst="rect">
            <a:avLst/>
          </a:prstGeom>
          <a:noFill/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Schedule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Droid Sans"/>
              <a:ea typeface="+mj-ea"/>
              <a:cs typeface="+mj-cs"/>
            </a:endParaRPr>
          </a:p>
        </p:txBody>
      </p:sp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539552" y="1340768"/>
            <a:ext cx="8352928" cy="4734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2000" b="1" dirty="0">
                <a:solidFill>
                  <a:srgbClr val="47B403"/>
                </a:solidFill>
                <a:latin typeface="Droid Sans"/>
              </a:rPr>
              <a:t>10:15	</a:t>
            </a:r>
            <a:r>
              <a:rPr lang="en-GB" sz="2000" dirty="0">
                <a:solidFill>
                  <a:srgbClr val="515151"/>
                </a:solidFill>
                <a:latin typeface="Droid Sans"/>
              </a:rPr>
              <a:t>The state of the landscape – and your biggest challenges</a:t>
            </a:r>
          </a:p>
          <a:p>
            <a:pPr>
              <a:spcBef>
                <a:spcPts val="700"/>
              </a:spcBef>
              <a:spcAft>
                <a:spcPts val="300"/>
              </a:spcAft>
            </a:pPr>
            <a:r>
              <a:rPr lang="en-GB" sz="2000" b="1" dirty="0">
                <a:solidFill>
                  <a:srgbClr val="47B403"/>
                </a:solidFill>
                <a:latin typeface="Droid Sans"/>
              </a:rPr>
              <a:t>The five key stages of a successful programme</a:t>
            </a:r>
          </a:p>
          <a:p>
            <a:pPr>
              <a:spcAft>
                <a:spcPts val="300"/>
              </a:spcAft>
            </a:pPr>
            <a:r>
              <a:rPr lang="en-GB" sz="2000" b="1" dirty="0">
                <a:solidFill>
                  <a:srgbClr val="47B403"/>
                </a:solidFill>
                <a:latin typeface="Droid Sans"/>
              </a:rPr>
              <a:t>10:50	</a:t>
            </a:r>
            <a:r>
              <a:rPr lang="en-GB" sz="2000" dirty="0">
                <a:solidFill>
                  <a:srgbClr val="515151"/>
                </a:solidFill>
                <a:latin typeface="Droid Sans"/>
              </a:rPr>
              <a:t>Establishing your funding needs</a:t>
            </a:r>
          </a:p>
          <a:p>
            <a:pPr>
              <a:spcAft>
                <a:spcPts val="300"/>
              </a:spcAft>
            </a:pPr>
            <a:r>
              <a:rPr lang="en-GB" sz="2000" b="1" dirty="0">
                <a:solidFill>
                  <a:srgbClr val="47B403"/>
                </a:solidFill>
                <a:latin typeface="Droid Sans"/>
              </a:rPr>
              <a:t>11:30	</a:t>
            </a:r>
            <a:r>
              <a:rPr lang="en-GB" sz="2000" dirty="0">
                <a:solidFill>
                  <a:srgbClr val="515151"/>
                </a:solidFill>
                <a:latin typeface="Droid Sans"/>
              </a:rPr>
              <a:t>Prospect research</a:t>
            </a:r>
          </a:p>
          <a:p>
            <a:pPr>
              <a:spcAft>
                <a:spcPts val="300"/>
              </a:spcAft>
            </a:pPr>
            <a:r>
              <a:rPr lang="en-GB" sz="2000" b="1" dirty="0">
                <a:solidFill>
                  <a:srgbClr val="47B403"/>
                </a:solidFill>
                <a:latin typeface="Droid Sans"/>
              </a:rPr>
              <a:t>11:50	</a:t>
            </a:r>
            <a:r>
              <a:rPr lang="en-GB" sz="2000" dirty="0">
                <a:solidFill>
                  <a:srgbClr val="515151"/>
                </a:solidFill>
                <a:latin typeface="Droid Sans"/>
              </a:rPr>
              <a:t>Developing your case for support</a:t>
            </a:r>
          </a:p>
          <a:p>
            <a:pPr>
              <a:spcAft>
                <a:spcPts val="300"/>
              </a:spcAft>
            </a:pPr>
            <a:r>
              <a:rPr lang="en-GB" sz="2000" b="1" dirty="0">
                <a:solidFill>
                  <a:srgbClr val="47B403"/>
                </a:solidFill>
                <a:latin typeface="Droid Sans"/>
              </a:rPr>
              <a:t>13:00	</a:t>
            </a:r>
            <a:r>
              <a:rPr lang="en-GB" sz="2000" dirty="0" smtClean="0">
                <a:solidFill>
                  <a:srgbClr val="47B403"/>
                </a:solidFill>
                <a:latin typeface="Droid Sans"/>
              </a:rPr>
              <a:t>Lunch</a:t>
            </a:r>
            <a:endParaRPr lang="en-GB" sz="2000" dirty="0">
              <a:solidFill>
                <a:srgbClr val="47B403"/>
              </a:solidFill>
              <a:latin typeface="Droid Sans"/>
            </a:endParaRPr>
          </a:p>
          <a:p>
            <a:pPr>
              <a:spcAft>
                <a:spcPts val="300"/>
              </a:spcAft>
            </a:pPr>
            <a:r>
              <a:rPr lang="en-GB" sz="2000" b="1" dirty="0">
                <a:solidFill>
                  <a:srgbClr val="47B403"/>
                </a:solidFill>
                <a:latin typeface="Droid Sans"/>
              </a:rPr>
              <a:t>13:45	</a:t>
            </a:r>
            <a:r>
              <a:rPr lang="en-GB" sz="2000" dirty="0">
                <a:solidFill>
                  <a:srgbClr val="515151"/>
                </a:solidFill>
                <a:latin typeface="Droid Sans"/>
              </a:rPr>
              <a:t>Writing brilliant applications</a:t>
            </a:r>
          </a:p>
          <a:p>
            <a:pPr>
              <a:spcAft>
                <a:spcPts val="300"/>
              </a:spcAft>
            </a:pPr>
            <a:r>
              <a:rPr lang="en-GB" sz="2000" b="1" dirty="0">
                <a:solidFill>
                  <a:srgbClr val="47B403"/>
                </a:solidFill>
                <a:latin typeface="Droid Sans"/>
              </a:rPr>
              <a:t>15:00	</a:t>
            </a:r>
            <a:r>
              <a:rPr lang="en-GB" sz="2000" dirty="0">
                <a:solidFill>
                  <a:srgbClr val="515151"/>
                </a:solidFill>
                <a:latin typeface="Droid Sans"/>
              </a:rPr>
              <a:t>Record-keeping and relationship-building</a:t>
            </a:r>
          </a:p>
          <a:p>
            <a:pPr>
              <a:spcAft>
                <a:spcPts val="300"/>
              </a:spcAft>
            </a:pPr>
            <a:r>
              <a:rPr lang="en-GB" sz="2000" b="1" dirty="0">
                <a:solidFill>
                  <a:srgbClr val="47B403"/>
                </a:solidFill>
                <a:latin typeface="Droid Sans"/>
              </a:rPr>
              <a:t>15:15	</a:t>
            </a:r>
            <a:r>
              <a:rPr lang="en-GB" sz="2000" dirty="0">
                <a:solidFill>
                  <a:srgbClr val="47B403"/>
                </a:solidFill>
                <a:latin typeface="Droid Sans"/>
              </a:rPr>
              <a:t>Coffee break</a:t>
            </a:r>
            <a:endParaRPr lang="en-GB" sz="2000" dirty="0">
              <a:solidFill>
                <a:srgbClr val="515151"/>
              </a:solidFill>
              <a:latin typeface="Droid Sans"/>
            </a:endParaRPr>
          </a:p>
          <a:p>
            <a:pPr>
              <a:spcBef>
                <a:spcPts val="700"/>
              </a:spcBef>
              <a:spcAft>
                <a:spcPts val="300"/>
              </a:spcAft>
            </a:pPr>
            <a:r>
              <a:rPr lang="en-GB" sz="2000" b="1" dirty="0">
                <a:solidFill>
                  <a:srgbClr val="47B403"/>
                </a:solidFill>
                <a:latin typeface="Droid Sans"/>
              </a:rPr>
              <a:t>Wrapping up</a:t>
            </a:r>
          </a:p>
          <a:p>
            <a:pPr>
              <a:spcAft>
                <a:spcPts val="300"/>
              </a:spcAft>
            </a:pPr>
            <a:r>
              <a:rPr lang="en-GB" sz="2000" b="1" dirty="0">
                <a:solidFill>
                  <a:srgbClr val="47B403"/>
                </a:solidFill>
                <a:latin typeface="Droid Sans"/>
              </a:rPr>
              <a:t>15:30	</a:t>
            </a:r>
            <a:r>
              <a:rPr lang="en-GB" sz="2000" dirty="0">
                <a:solidFill>
                  <a:srgbClr val="515151"/>
                </a:solidFill>
                <a:latin typeface="Droid Sans"/>
              </a:rPr>
              <a:t>What funders say, what they really mean &amp; what to do about it</a:t>
            </a:r>
          </a:p>
          <a:p>
            <a:pPr>
              <a:spcAft>
                <a:spcPts val="300"/>
              </a:spcAft>
            </a:pPr>
            <a:r>
              <a:rPr lang="en-GB" sz="2000" b="1" dirty="0">
                <a:solidFill>
                  <a:srgbClr val="47B403"/>
                </a:solidFill>
                <a:latin typeface="Droid Sans"/>
              </a:rPr>
              <a:t>16:15	</a:t>
            </a:r>
            <a:r>
              <a:rPr lang="en-GB" sz="2000" dirty="0">
                <a:solidFill>
                  <a:srgbClr val="515151"/>
                </a:solidFill>
                <a:latin typeface="Droid Sans"/>
              </a:rPr>
              <a:t>Questions &amp; feedback</a:t>
            </a:r>
          </a:p>
          <a:p>
            <a:pPr>
              <a:spcAft>
                <a:spcPts val="300"/>
              </a:spcAft>
            </a:pPr>
            <a:r>
              <a:rPr lang="en-GB" sz="2000" b="1" dirty="0">
                <a:solidFill>
                  <a:srgbClr val="47B403"/>
                </a:solidFill>
                <a:latin typeface="Droid Sans"/>
              </a:rPr>
              <a:t>16:30	</a:t>
            </a:r>
            <a:r>
              <a:rPr lang="en-GB" sz="2000" dirty="0">
                <a:solidFill>
                  <a:srgbClr val="47B403"/>
                </a:solidFill>
                <a:latin typeface="Droid Sans"/>
              </a:rPr>
              <a:t>Finish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85918" y="1700808"/>
            <a:ext cx="5612730" cy="1868788"/>
          </a:xfrm>
        </p:spPr>
        <p:txBody>
          <a:bodyPr>
            <a:noAutofit/>
          </a:bodyPr>
          <a:lstStyle/>
          <a:p>
            <a:pPr algn="ctr"/>
            <a:r>
              <a:rPr lang="en-GB" sz="3200" dirty="0">
                <a:latin typeface="Droid Sans" pitchFamily="34" charset="0"/>
                <a:ea typeface="Droid Sans" pitchFamily="34" charset="0"/>
                <a:cs typeface="Droid Sans" pitchFamily="34" charset="0"/>
              </a:rPr>
              <a:t>Raising money from trusts and foundations: what are the challenges?</a:t>
            </a:r>
          </a:p>
        </p:txBody>
      </p:sp>
      <p:pic>
        <p:nvPicPr>
          <p:cNvPr id="4" name="Picture 3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14678" y="500042"/>
            <a:ext cx="2618072" cy="952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367817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Picture 7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63" y="500063"/>
            <a:ext cx="2093912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2"/>
          <p:cNvSpPr txBox="1">
            <a:spLocks/>
          </p:cNvSpPr>
          <p:nvPr/>
        </p:nvSpPr>
        <p:spPr>
          <a:xfrm>
            <a:off x="2428860" y="274638"/>
            <a:ext cx="5959564" cy="1143000"/>
          </a:xfrm>
          <a:prstGeom prst="rect">
            <a:avLst/>
          </a:prstGeom>
        </p:spPr>
        <p:txBody>
          <a:bodyPr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GB" sz="2600" b="1" dirty="0">
                <a:solidFill>
                  <a:schemeClr val="tx2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Self-assessment questions</a:t>
            </a:r>
          </a:p>
        </p:txBody>
      </p:sp>
      <p:sp>
        <p:nvSpPr>
          <p:cNvPr id="18435" name="Content Placeholder 1"/>
          <p:cNvSpPr txBox="1">
            <a:spLocks/>
          </p:cNvSpPr>
          <p:nvPr/>
        </p:nvSpPr>
        <p:spPr bwMode="auto">
          <a:xfrm>
            <a:off x="468313" y="1557338"/>
            <a:ext cx="8229600" cy="287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Aft>
                <a:spcPts val="1800"/>
              </a:spcAft>
              <a:buClr>
                <a:srgbClr val="47B403"/>
              </a:buClr>
              <a:buSzPct val="68000"/>
            </a:pPr>
            <a:r>
              <a:rPr lang="en-GB" sz="2000" dirty="0">
                <a:solidFill>
                  <a:srgbClr val="515151"/>
                </a:solidFill>
                <a:latin typeface="Droid Sans" pitchFamily="34" charset="0"/>
                <a:cs typeface="Droid Sans" pitchFamily="34" charset="0"/>
              </a:rPr>
              <a:t>Think about the following three questions…</a:t>
            </a:r>
          </a:p>
          <a:p>
            <a:pPr lvl="0" algn="just">
              <a:spcAft>
                <a:spcPts val="1800"/>
              </a:spcAft>
              <a:buClr>
                <a:srgbClr val="47B403"/>
              </a:buClr>
              <a:buSzPct val="100000"/>
              <a:buFont typeface="Calibri" pitchFamily="34" charset="0"/>
              <a:buAutoNum type="arabicPeriod"/>
            </a:pPr>
            <a:r>
              <a:rPr lang="en-GB" sz="2000" dirty="0">
                <a:solidFill>
                  <a:srgbClr val="515151"/>
                </a:solidFill>
                <a:latin typeface="Droid Sans" pitchFamily="34" charset="0"/>
                <a:cs typeface="Droid Sans" pitchFamily="34" charset="0"/>
              </a:rPr>
              <a:t> How ready is </a:t>
            </a:r>
            <a:r>
              <a:rPr lang="en-GB" sz="2000" b="1" dirty="0">
                <a:solidFill>
                  <a:srgbClr val="515151"/>
                </a:solidFill>
                <a:latin typeface="Droid Sans" pitchFamily="34" charset="0"/>
                <a:cs typeface="Droid Sans" pitchFamily="34" charset="0"/>
              </a:rPr>
              <a:t>your organisation </a:t>
            </a:r>
            <a:r>
              <a:rPr lang="en-GB" sz="2000" dirty="0">
                <a:solidFill>
                  <a:srgbClr val="515151"/>
                </a:solidFill>
                <a:latin typeface="Droid Sans" pitchFamily="34" charset="0"/>
                <a:cs typeface="Droid Sans" pitchFamily="34" charset="0"/>
              </a:rPr>
              <a:t>to undertake trusts and foundations fundraising? </a:t>
            </a:r>
          </a:p>
          <a:p>
            <a:pPr algn="just">
              <a:spcAft>
                <a:spcPts val="1800"/>
              </a:spcAft>
              <a:buClr>
                <a:srgbClr val="47B403"/>
              </a:buClr>
              <a:buSzPct val="100000"/>
              <a:buFont typeface="Calibri" pitchFamily="34" charset="0"/>
              <a:buAutoNum type="arabicPeriod"/>
            </a:pPr>
            <a:r>
              <a:rPr lang="en-GB" sz="2000" dirty="0">
                <a:solidFill>
                  <a:srgbClr val="515151"/>
                </a:solidFill>
                <a:latin typeface="Droid Sans" pitchFamily="34" charset="0"/>
                <a:cs typeface="Droid Sans" pitchFamily="34" charset="0"/>
              </a:rPr>
              <a:t> Considering your answer to Q1, how confident do </a:t>
            </a:r>
            <a:r>
              <a:rPr lang="en-GB" sz="2000" b="1" dirty="0">
                <a:solidFill>
                  <a:srgbClr val="515151"/>
                </a:solidFill>
                <a:latin typeface="Droid Sans" pitchFamily="34" charset="0"/>
                <a:cs typeface="Droid Sans" pitchFamily="34" charset="0"/>
              </a:rPr>
              <a:t>you</a:t>
            </a:r>
            <a:r>
              <a:rPr lang="en-GB" sz="2000" dirty="0">
                <a:solidFill>
                  <a:srgbClr val="515151"/>
                </a:solidFill>
                <a:latin typeface="Droid Sans" pitchFamily="34" charset="0"/>
                <a:cs typeface="Droid Sans" pitchFamily="34" charset="0"/>
              </a:rPr>
              <a:t> feel about applying to trusts and foundations?</a:t>
            </a:r>
          </a:p>
          <a:p>
            <a:pPr algn="just">
              <a:spcAft>
                <a:spcPts val="1800"/>
              </a:spcAft>
              <a:buClr>
                <a:srgbClr val="47B403"/>
              </a:buClr>
              <a:buSzPct val="100000"/>
              <a:buFont typeface="Calibri" pitchFamily="34" charset="0"/>
              <a:buAutoNum type="arabicPeriod"/>
            </a:pPr>
            <a:endParaRPr lang="en-GB" sz="2000" dirty="0">
              <a:solidFill>
                <a:srgbClr val="515151"/>
              </a:solidFill>
              <a:latin typeface="Droid Sans" pitchFamily="34" charset="0"/>
              <a:cs typeface="Droid Sans" pitchFamily="34" charset="0"/>
            </a:endParaRPr>
          </a:p>
          <a:p>
            <a:pPr algn="just">
              <a:spcAft>
                <a:spcPts val="1800"/>
              </a:spcAft>
              <a:buClr>
                <a:srgbClr val="47B403"/>
              </a:buClr>
              <a:buSzPct val="100000"/>
              <a:buFont typeface="Calibri" pitchFamily="34" charset="0"/>
              <a:buAutoNum type="arabicPeriod"/>
            </a:pPr>
            <a:endParaRPr lang="en-GB" sz="500" dirty="0">
              <a:solidFill>
                <a:srgbClr val="515151"/>
              </a:solidFill>
              <a:latin typeface="Droid Sans" pitchFamily="34" charset="0"/>
              <a:cs typeface="Droid Sans" pitchFamily="34" charset="0"/>
            </a:endParaRPr>
          </a:p>
          <a:p>
            <a:pPr algn="just">
              <a:spcAft>
                <a:spcPts val="1800"/>
              </a:spcAft>
              <a:buClr>
                <a:srgbClr val="47B403"/>
              </a:buClr>
              <a:buSzPct val="100000"/>
              <a:buFont typeface="Calibri" pitchFamily="34" charset="0"/>
              <a:buAutoNum type="arabicPeriod"/>
            </a:pPr>
            <a:r>
              <a:rPr lang="en-GB" sz="2000" dirty="0">
                <a:solidFill>
                  <a:srgbClr val="515151"/>
                </a:solidFill>
                <a:latin typeface="Droid Sans" pitchFamily="34" charset="0"/>
                <a:cs typeface="Droid Sans" pitchFamily="34" charset="0"/>
              </a:rPr>
              <a:t> What is your biggest strategic challenge with trusts and foundations fundraising?</a:t>
            </a:r>
          </a:p>
          <a:p>
            <a:pPr algn="just">
              <a:spcAft>
                <a:spcPts val="1000"/>
              </a:spcAft>
              <a:buClr>
                <a:srgbClr val="47B403"/>
              </a:buClr>
              <a:buSzPct val="68000"/>
            </a:pPr>
            <a:endParaRPr lang="en-GB" dirty="0">
              <a:solidFill>
                <a:srgbClr val="515151"/>
              </a:solidFill>
              <a:latin typeface="Droid Sans" pitchFamily="34" charset="0"/>
              <a:cs typeface="Droid Sans" pitchFamily="34" charset="0"/>
            </a:endParaRPr>
          </a:p>
          <a:p>
            <a:pPr algn="just">
              <a:spcAft>
                <a:spcPts val="1200"/>
              </a:spcAft>
              <a:buClr>
                <a:srgbClr val="47B403"/>
              </a:buClr>
              <a:buSzPct val="68000"/>
              <a:buFont typeface="Wingdings 3" pitchFamily="18" charset="2"/>
              <a:buChar char=""/>
            </a:pPr>
            <a:endParaRPr lang="en-GB" dirty="0">
              <a:solidFill>
                <a:srgbClr val="515151"/>
              </a:solidFill>
              <a:latin typeface="Droid Sans" pitchFamily="34" charset="0"/>
              <a:cs typeface="Droid Sans" pitchFamily="34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900113" y="4178350"/>
            <a:ext cx="7272337" cy="0"/>
          </a:xfrm>
          <a:prstGeom prst="straightConnector1">
            <a:avLst/>
          </a:prstGeom>
          <a:ln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1"/>
          <p:cNvSpPr txBox="1">
            <a:spLocks/>
          </p:cNvSpPr>
          <p:nvPr/>
        </p:nvSpPr>
        <p:spPr bwMode="auto">
          <a:xfrm flipH="1" flipV="1">
            <a:off x="539750" y="3962450"/>
            <a:ext cx="360363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Aft>
                <a:spcPts val="1200"/>
              </a:spcAft>
              <a:buClr>
                <a:schemeClr val="accent1"/>
              </a:buClr>
              <a:buSzPct val="68000"/>
            </a:pPr>
            <a:r>
              <a:rPr lang="en-GB" sz="2000" b="1" dirty="0">
                <a:solidFill>
                  <a:srgbClr val="47B403"/>
                </a:solidFill>
                <a:latin typeface="Droid Sans" pitchFamily="34" charset="0"/>
                <a:cs typeface="Droid Sans" pitchFamily="34" charset="0"/>
              </a:rPr>
              <a:t>0</a:t>
            </a:r>
            <a:endParaRPr lang="en-GB" sz="2400" dirty="0">
              <a:latin typeface="Calibri" pitchFamily="34" charset="0"/>
            </a:endParaRPr>
          </a:p>
        </p:txBody>
      </p:sp>
      <p:sp>
        <p:nvSpPr>
          <p:cNvPr id="10" name="Content Placeholder 1"/>
          <p:cNvSpPr txBox="1">
            <a:spLocks/>
          </p:cNvSpPr>
          <p:nvPr/>
        </p:nvSpPr>
        <p:spPr bwMode="auto">
          <a:xfrm rot="10800000" flipH="1" flipV="1">
            <a:off x="8229600" y="4005312"/>
            <a:ext cx="503238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Aft>
                <a:spcPts val="1200"/>
              </a:spcAft>
              <a:buClr>
                <a:schemeClr val="accent1"/>
              </a:buClr>
              <a:buSzPct val="68000"/>
            </a:pPr>
            <a:r>
              <a:rPr lang="en-GB" sz="2000" b="1" dirty="0">
                <a:solidFill>
                  <a:srgbClr val="47B403"/>
                </a:solidFill>
                <a:latin typeface="Droid Sans" pitchFamily="34" charset="0"/>
                <a:cs typeface="Droid Sans" pitchFamily="34" charset="0"/>
              </a:rPr>
              <a:t>10</a:t>
            </a:r>
            <a:endParaRPr lang="en-GB" sz="2400" dirty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85918" y="1848244"/>
            <a:ext cx="5612730" cy="1508748"/>
          </a:xfrm>
        </p:spPr>
        <p:txBody>
          <a:bodyPr>
            <a:noAutofit/>
          </a:bodyPr>
          <a:lstStyle/>
          <a:p>
            <a:pPr algn="ctr"/>
            <a:r>
              <a:rPr lang="en-GB" sz="3200" dirty="0">
                <a:latin typeface="Droid Sans" pitchFamily="34" charset="0"/>
                <a:ea typeface="Droid Sans" pitchFamily="34" charset="0"/>
                <a:cs typeface="Droid Sans" pitchFamily="34" charset="0"/>
              </a:rPr>
              <a:t>Trusts &amp; foundations:</a:t>
            </a:r>
            <a:br>
              <a:rPr lang="en-GB" sz="3200" dirty="0">
                <a:latin typeface="Droid Sans" pitchFamily="34" charset="0"/>
                <a:ea typeface="Droid Sans" pitchFamily="34" charset="0"/>
                <a:cs typeface="Droid Sans" pitchFamily="34" charset="0"/>
              </a:rPr>
            </a:br>
            <a:r>
              <a:rPr lang="en-GB" sz="3200" dirty="0">
                <a:latin typeface="Droid Sans" pitchFamily="34" charset="0"/>
                <a:ea typeface="Droid Sans" pitchFamily="34" charset="0"/>
                <a:cs typeface="Droid Sans" pitchFamily="34" charset="0"/>
              </a:rPr>
              <a:t>State of the landscape</a:t>
            </a:r>
          </a:p>
        </p:txBody>
      </p:sp>
      <p:pic>
        <p:nvPicPr>
          <p:cNvPr id="4" name="Picture 3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14678" y="500042"/>
            <a:ext cx="2618072" cy="952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1"/>
          <p:cNvSpPr txBox="1">
            <a:spLocks/>
          </p:cNvSpPr>
          <p:nvPr/>
        </p:nvSpPr>
        <p:spPr>
          <a:xfrm>
            <a:off x="467544" y="1628800"/>
            <a:ext cx="8229600" cy="1728192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365760" lvl="0" indent="-256032"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The good news</a:t>
            </a:r>
          </a:p>
          <a:p>
            <a:pPr marL="365760" lvl="0" indent="-256032">
              <a:spcAft>
                <a:spcPts val="12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The lifeblood of most </a:t>
            </a:r>
            <a:r>
              <a:rPr lang="en-GB" dirty="0" smtClean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organisations, </a:t>
            </a: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especially smaller ones</a:t>
            </a:r>
          </a:p>
          <a:p>
            <a:pPr marL="365760" lvl="0" indent="-256032">
              <a:spcAft>
                <a:spcPts val="12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Fund project costs, salary costs, start-up costs, capital projects, running/core costs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1907704" y="274638"/>
            <a:ext cx="6696744" cy="1143000"/>
          </a:xfrm>
          <a:prstGeom prst="rect">
            <a:avLst/>
          </a:prstGeom>
        </p:spPr>
        <p:txBody>
          <a:bodyPr vert="horz" numCol="1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GB" sz="2800" b="1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Trusts &amp; foundations:</a:t>
            </a:r>
          </a:p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GB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Droid Sans"/>
                <a:ea typeface="+mj-ea"/>
                <a:cs typeface="+mj-cs"/>
              </a:rPr>
              <a:t>State of the landscape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48264" y="4653136"/>
            <a:ext cx="1436186" cy="12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ontent Placeholder 1"/>
          <p:cNvSpPr txBox="1">
            <a:spLocks/>
          </p:cNvSpPr>
          <p:nvPr/>
        </p:nvSpPr>
        <p:spPr>
          <a:xfrm>
            <a:off x="467544" y="3140968"/>
            <a:ext cx="8229600" cy="4464496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365760" lvl="0" indent="-256032">
              <a:spcAft>
                <a:spcPts val="12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Give away £4.4 billion annually (DSC report 2015)</a:t>
            </a:r>
          </a:p>
          <a:p>
            <a:pPr marL="365760" lvl="0" indent="-256032">
              <a:spcAft>
                <a:spcPts val="12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Top 300 give away £2.7 billion annually – 15% of all voluntary sector income! (Association of Charitable Foundations 2016)</a:t>
            </a:r>
          </a:p>
        </p:txBody>
      </p:sp>
      <p:sp>
        <p:nvSpPr>
          <p:cNvPr id="10" name="Content Placeholder 1"/>
          <p:cNvSpPr txBox="1">
            <a:spLocks/>
          </p:cNvSpPr>
          <p:nvPr/>
        </p:nvSpPr>
        <p:spPr>
          <a:xfrm>
            <a:off x="467544" y="4293096"/>
            <a:ext cx="8229600" cy="1440160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365760" lvl="0" indent="-256032">
              <a:spcAft>
                <a:spcPts val="12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Unique in existing solely to give away money</a:t>
            </a:r>
          </a:p>
          <a:p>
            <a:pPr marL="365760" lvl="0" indent="-256032">
              <a:spcAft>
                <a:spcPts val="12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Unusually high return on investment (ROI) – potentially 10:1</a:t>
            </a:r>
          </a:p>
          <a:p>
            <a:pPr marL="365760" lvl="0" indent="-256032">
              <a:spcAft>
                <a:spcPts val="12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If you know your work well, you </a:t>
            </a:r>
            <a:r>
              <a:rPr lang="en-GB" u="sng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can</a:t>
            </a: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 secure grants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1"/>
          <p:cNvSpPr txBox="1">
            <a:spLocks/>
          </p:cNvSpPr>
          <p:nvPr/>
        </p:nvSpPr>
        <p:spPr>
          <a:xfrm>
            <a:off x="467544" y="1628800"/>
            <a:ext cx="8229600" cy="1728192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365760" lvl="0" indent="-256032"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The challenges	</a:t>
            </a:r>
          </a:p>
          <a:p>
            <a:pPr marL="365760" lvl="0" indent="-256032">
              <a:spcAft>
                <a:spcPts val="12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Not as easy as it may seem – you need to:</a:t>
            </a:r>
          </a:p>
          <a:p>
            <a:pPr marL="822960" lvl="1" indent="-256032">
              <a:spcAft>
                <a:spcPts val="12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Carefully research funders that fit your organisation</a:t>
            </a:r>
          </a:p>
          <a:p>
            <a:pPr marL="822960" lvl="1" indent="-256032">
              <a:spcAft>
                <a:spcPts val="12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Tailor applications to their interests, guidelines &amp; questions</a:t>
            </a:r>
          </a:p>
          <a:p>
            <a:pPr marL="822960" lvl="1" indent="-256032">
              <a:spcAft>
                <a:spcPts val="12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Create a clear and explainable budget</a:t>
            </a:r>
          </a:p>
          <a:p>
            <a:pPr marL="822960" lvl="1" indent="-256032">
              <a:spcAft>
                <a:spcPts val="12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Think carefully about activities, outputs, outcomes, impact etc.</a:t>
            </a:r>
          </a:p>
        </p:txBody>
      </p:sp>
      <p:sp>
        <p:nvSpPr>
          <p:cNvPr id="10" name="Content Placeholder 1"/>
          <p:cNvSpPr txBox="1">
            <a:spLocks/>
          </p:cNvSpPr>
          <p:nvPr/>
        </p:nvSpPr>
        <p:spPr>
          <a:xfrm>
            <a:off x="467544" y="4221088"/>
            <a:ext cx="8229600" cy="1440160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365760" lvl="0" indent="-256032">
              <a:spcAft>
                <a:spcPts val="12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Unpredictable so very hard to rely on</a:t>
            </a:r>
          </a:p>
          <a:p>
            <a:pPr marL="365760" lvl="0" indent="-256032">
              <a:spcAft>
                <a:spcPts val="12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Needs time to secure funding &amp; build relationships</a:t>
            </a:r>
          </a:p>
          <a:p>
            <a:pPr marL="365760" lvl="0" indent="-256032">
              <a:spcAft>
                <a:spcPts val="12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High level of competition &amp; </a:t>
            </a:r>
            <a:r>
              <a:rPr lang="en-GB" u="sng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very</a:t>
            </a: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 oversubscribed</a:t>
            </a:r>
          </a:p>
        </p:txBody>
      </p:sp>
      <p:pic>
        <p:nvPicPr>
          <p:cNvPr id="1026" name="Picture 2" descr="C:\Users\Mike\Downloads\angry-33059_6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76256" y="4509120"/>
            <a:ext cx="1368152" cy="1372441"/>
          </a:xfrm>
          <a:prstGeom prst="rect">
            <a:avLst/>
          </a:prstGeom>
          <a:noFill/>
        </p:spPr>
      </p:pic>
      <p:sp>
        <p:nvSpPr>
          <p:cNvPr id="7" name="Title 2"/>
          <p:cNvSpPr txBox="1">
            <a:spLocks/>
          </p:cNvSpPr>
          <p:nvPr/>
        </p:nvSpPr>
        <p:spPr>
          <a:xfrm>
            <a:off x="1907704" y="274638"/>
            <a:ext cx="6696744" cy="1143000"/>
          </a:xfrm>
          <a:prstGeom prst="rect">
            <a:avLst/>
          </a:prstGeom>
        </p:spPr>
        <p:txBody>
          <a:bodyPr vert="horz" numCol="1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GB" sz="2800" b="1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Trusts &amp; foundations:</a:t>
            </a:r>
          </a:p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GB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Droid Sans"/>
                <a:ea typeface="+mj-ea"/>
                <a:cs typeface="+mj-cs"/>
              </a:rPr>
              <a:t>State of the landscape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1"/>
          <p:cNvSpPr txBox="1">
            <a:spLocks/>
          </p:cNvSpPr>
          <p:nvPr/>
        </p:nvSpPr>
        <p:spPr>
          <a:xfrm>
            <a:off x="467544" y="1628800"/>
            <a:ext cx="8229600" cy="1728192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365760" lvl="0" indent="-256032"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Who are we talking about?</a:t>
            </a:r>
          </a:p>
          <a:p>
            <a:pPr marL="365760" lvl="0" indent="-256032">
              <a:spcAft>
                <a:spcPts val="12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Major funders</a:t>
            </a: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 – Big Lottery Fund, BBC Children in Need, Comic Relief</a:t>
            </a:r>
          </a:p>
          <a:p>
            <a:pPr marL="365760" lvl="0" indent="-256032">
              <a:spcAft>
                <a:spcPts val="12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Big players </a:t>
            </a: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– Wellcome Trust, Garfield Weston, Henry Smith</a:t>
            </a:r>
          </a:p>
          <a:p>
            <a:pPr marL="365760" indent="-256032">
              <a:spcAft>
                <a:spcPts val="12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Regional specialists </a:t>
            </a: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– City Bridge Trust, Trust for London</a:t>
            </a:r>
          </a:p>
          <a:p>
            <a:pPr marL="365760" lvl="0" indent="-256032">
              <a:spcAft>
                <a:spcPts val="12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Community foundations </a:t>
            </a: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– Sussex, Cambridgeshire, Quartet etc.</a:t>
            </a:r>
          </a:p>
          <a:p>
            <a:pPr marL="365760" indent="-256032">
              <a:spcAft>
                <a:spcPts val="12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Corporate foundations </a:t>
            </a: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– Santander, Greggs, John Lewis</a:t>
            </a:r>
          </a:p>
          <a:p>
            <a:pPr marL="365760" lvl="0" indent="-256032">
              <a:spcAft>
                <a:spcPts val="12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Small family trusts </a:t>
            </a: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– thousands of them!</a:t>
            </a:r>
          </a:p>
          <a:p>
            <a:pPr marL="365760" lvl="0" indent="-256032">
              <a:spcAft>
                <a:spcPts val="12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Livery companies </a:t>
            </a: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– Goldsmiths, Fishmongers, Haberdashers</a:t>
            </a:r>
          </a:p>
        </p:txBody>
      </p:sp>
      <p:sp>
        <p:nvSpPr>
          <p:cNvPr id="7" name="Title 2"/>
          <p:cNvSpPr txBox="1">
            <a:spLocks/>
          </p:cNvSpPr>
          <p:nvPr/>
        </p:nvSpPr>
        <p:spPr>
          <a:xfrm>
            <a:off x="1907704" y="274638"/>
            <a:ext cx="6696744" cy="1143000"/>
          </a:xfrm>
          <a:prstGeom prst="rect">
            <a:avLst/>
          </a:prstGeom>
        </p:spPr>
        <p:txBody>
          <a:bodyPr vert="horz" numCol="1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GB" sz="2800" b="1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Trusts &amp; foundations:</a:t>
            </a:r>
          </a:p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GB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Droid Sans"/>
                <a:ea typeface="+mj-ea"/>
                <a:cs typeface="+mj-cs"/>
              </a:rPr>
              <a:t>State of the landscape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85918" y="1848244"/>
            <a:ext cx="5612730" cy="1868788"/>
          </a:xfrm>
        </p:spPr>
        <p:txBody>
          <a:bodyPr>
            <a:noAutofit/>
          </a:bodyPr>
          <a:lstStyle/>
          <a:p>
            <a:pPr algn="ctr"/>
            <a:r>
              <a:rPr lang="en-GB" sz="3200" dirty="0">
                <a:latin typeface="Droid Sans" pitchFamily="34" charset="0"/>
                <a:ea typeface="Droid Sans" pitchFamily="34" charset="0"/>
                <a:cs typeface="Droid Sans" pitchFamily="34" charset="0"/>
              </a:rPr>
              <a:t>The five key stages of a successful trusts &amp; foundations programme</a:t>
            </a:r>
          </a:p>
        </p:txBody>
      </p:sp>
      <p:pic>
        <p:nvPicPr>
          <p:cNvPr id="4" name="Picture 3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14678" y="500042"/>
            <a:ext cx="2618072" cy="952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itle 2"/>
          <p:cNvSpPr txBox="1">
            <a:spLocks/>
          </p:cNvSpPr>
          <p:nvPr/>
        </p:nvSpPr>
        <p:spPr>
          <a:xfrm>
            <a:off x="2411760" y="274638"/>
            <a:ext cx="6696744" cy="1143000"/>
          </a:xfrm>
          <a:prstGeom prst="rect">
            <a:avLst/>
          </a:prstGeom>
        </p:spPr>
        <p:txBody>
          <a:bodyPr vert="horz" numCol="1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GB" sz="2800" b="1" noProof="0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Five key stages of a T&amp;F programme</a:t>
            </a:r>
            <a:endParaRPr kumimoji="0" lang="en-GB" altLang="en-GB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Droid Sans"/>
              <a:ea typeface="+mj-ea"/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1520" y="1502974"/>
            <a:ext cx="1656000" cy="553998"/>
          </a:xfrm>
          <a:prstGeom prst="rect">
            <a:avLst/>
          </a:prstGeom>
          <a:noFill/>
          <a:ln w="19050">
            <a:solidFill>
              <a:srgbClr val="47B403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Establishing funding needs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7009" y="1502976"/>
            <a:ext cx="1656000" cy="5544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Prospect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9912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spc="-2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Developing the case for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816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Writing brilliant 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8304" y="1504800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Record-keeping &amp; relationships</a:t>
            </a:r>
          </a:p>
        </p:txBody>
      </p:sp>
      <p:pic>
        <p:nvPicPr>
          <p:cNvPr id="1026" name="Picture 2" descr="C:\Users\Mike\Google Drive\Work\Lime Green\1. Marketing &amp; networking\Blogging\Lime Green\Image 21. Handing out money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27784" y="2276872"/>
            <a:ext cx="3902075" cy="39020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Content Placeholder 1"/>
          <p:cNvSpPr txBox="1">
            <a:spLocks/>
          </p:cNvSpPr>
          <p:nvPr/>
        </p:nvSpPr>
        <p:spPr>
          <a:xfrm>
            <a:off x="467544" y="2276872"/>
            <a:ext cx="8352928" cy="2808312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>
              <a:spcAft>
                <a:spcPts val="700"/>
              </a:spcAft>
              <a:buClr>
                <a:srgbClr val="47B403"/>
              </a:buClr>
              <a:buSzPct val="68000"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It’s vital to have a clear list of all your organisation’s funding needs…</a:t>
            </a: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marL="365760" lvl="0" indent="-256032">
              <a:spcAft>
                <a:spcPts val="7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What it is (e.g. existing project, innovative idea, organisational development)</a:t>
            </a:r>
          </a:p>
          <a:p>
            <a:pPr marL="365760" indent="-256032">
              <a:spcAft>
                <a:spcPts val="7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Priority level (low-medium-high)</a:t>
            </a:r>
          </a:p>
          <a:p>
            <a:pPr marL="365760" lvl="0" indent="-256032">
              <a:spcAft>
                <a:spcPts val="7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u="sng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Minimum</a:t>
            </a: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 annual amount required to fund it</a:t>
            </a:r>
          </a:p>
          <a:p>
            <a:pPr marL="365760" lvl="0" indent="-256032">
              <a:spcAft>
                <a:spcPts val="7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u="sng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Ideal</a:t>
            </a: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 annual amount to do it to your full potential</a:t>
            </a:r>
          </a:p>
          <a:p>
            <a:pPr marL="365760" lvl="0" indent="-256032">
              <a:spcAft>
                <a:spcPts val="7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Scope for development, if you can secure the ideal funding level</a:t>
            </a:r>
          </a:p>
          <a:p>
            <a:pPr marL="365760" lvl="0" indent="-256032">
              <a:spcAft>
                <a:spcPts val="7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Funding context (e.g. current position, competition, social trends)</a:t>
            </a:r>
          </a:p>
        </p:txBody>
      </p:sp>
      <p:sp>
        <p:nvSpPr>
          <p:cNvPr id="15" name="Content Placeholder 1"/>
          <p:cNvSpPr txBox="1">
            <a:spLocks/>
          </p:cNvSpPr>
          <p:nvPr/>
        </p:nvSpPr>
        <p:spPr>
          <a:xfrm>
            <a:off x="539552" y="4869160"/>
            <a:ext cx="8352928" cy="1296144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>
              <a:spcAft>
                <a:spcPts val="700"/>
              </a:spcAft>
              <a:buClr>
                <a:srgbClr val="47B403"/>
              </a:buClr>
              <a:buSzPct val="68000"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Why bother?</a:t>
            </a:r>
          </a:p>
          <a:p>
            <a:pPr marL="365760" lvl="0" indent="-256032">
              <a:spcAft>
                <a:spcPts val="7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Strategic context: what to ask for, and how to use your time.</a:t>
            </a:r>
          </a:p>
          <a:p>
            <a:pPr marL="365760" lvl="0" indent="-256032">
              <a:spcAft>
                <a:spcPts val="7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Clear vision: what you can achieve through successful fundraising.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520" y="1502974"/>
            <a:ext cx="1656000" cy="5539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47B403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Establishing funding needs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7009" y="1502976"/>
            <a:ext cx="1656000" cy="5544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Prospect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9912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spc="-2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Developing the case for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816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Writing brilliant applications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8304" y="1504800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Record-keeping &amp; relationships</a:t>
            </a:r>
          </a:p>
        </p:txBody>
      </p:sp>
      <p:sp>
        <p:nvSpPr>
          <p:cNvPr id="11" name="Title 2"/>
          <p:cNvSpPr txBox="1">
            <a:spLocks/>
          </p:cNvSpPr>
          <p:nvPr/>
        </p:nvSpPr>
        <p:spPr>
          <a:xfrm>
            <a:off x="2411760" y="274638"/>
            <a:ext cx="6696744" cy="1143000"/>
          </a:xfrm>
          <a:prstGeom prst="rect">
            <a:avLst/>
          </a:prstGeom>
        </p:spPr>
        <p:txBody>
          <a:bodyPr vert="horz" numCol="1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GB" sz="2800" b="1" noProof="0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Five key stages of a T&amp;F programme</a:t>
            </a:r>
            <a:endParaRPr kumimoji="0" lang="en-GB" altLang="en-GB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Droid Sans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Content Placeholder 1"/>
          <p:cNvSpPr txBox="1">
            <a:spLocks/>
          </p:cNvSpPr>
          <p:nvPr/>
        </p:nvSpPr>
        <p:spPr>
          <a:xfrm>
            <a:off x="467544" y="2276872"/>
            <a:ext cx="8352928" cy="2808312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>
              <a:spcAft>
                <a:spcPts val="700"/>
              </a:spcAft>
              <a:buClr>
                <a:srgbClr val="47B403"/>
              </a:buClr>
              <a:buSzPct val="68000"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For example…</a:t>
            </a: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marL="365760" lvl="0" indent="-256032">
              <a:spcAft>
                <a:spcPts val="7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Funding need: Community Gardening Programme</a:t>
            </a:r>
          </a:p>
          <a:p>
            <a:pPr marL="365760" indent="-256032">
              <a:spcAft>
                <a:spcPts val="7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Priority level: High</a:t>
            </a:r>
          </a:p>
          <a:p>
            <a:pPr marL="365760" lvl="0" indent="-256032">
              <a:spcAft>
                <a:spcPts val="7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u="sng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Minimum</a:t>
            </a: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 amount: £30,000	</a:t>
            </a:r>
            <a:r>
              <a:rPr lang="en-GB" u="sng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Ideal</a:t>
            </a: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 annual amount: £50,000</a:t>
            </a:r>
          </a:p>
          <a:p>
            <a:pPr marL="365760" lvl="0" indent="-256032">
              <a:spcAft>
                <a:spcPts val="7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This would enable us to plant five more raised beds, offer space to 50 more local people, grow &amp; sell more produce locally, recruit new volunteers.</a:t>
            </a:r>
          </a:p>
          <a:p>
            <a:pPr marL="365760" lvl="0" indent="-256032">
              <a:spcAft>
                <a:spcPts val="7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Funding context: increasing evidence that gardening has many therapeutic benefits = good for mental health issues, social isolation etc.</a:t>
            </a:r>
          </a:p>
          <a:p>
            <a:pPr marL="365760" lvl="0" indent="-256032">
              <a:spcAft>
                <a:spcPts val="700"/>
              </a:spcAft>
              <a:buClr>
                <a:srgbClr val="47B403"/>
              </a:buClr>
              <a:buSzPct val="68000"/>
            </a:pPr>
            <a:endParaRPr lang="en-GB" dirty="0">
              <a:solidFill>
                <a:srgbClr val="47B403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</p:txBody>
      </p:sp>
      <p:sp>
        <p:nvSpPr>
          <p:cNvPr id="16" name="Content Placeholder 1"/>
          <p:cNvSpPr txBox="1">
            <a:spLocks/>
          </p:cNvSpPr>
          <p:nvPr/>
        </p:nvSpPr>
        <p:spPr>
          <a:xfrm>
            <a:off x="467544" y="5013176"/>
            <a:ext cx="8280920" cy="1296144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365760" indent="-256032">
              <a:spcAft>
                <a:spcPts val="7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Link in with your organisational strategy / business plan</a:t>
            </a:r>
          </a:p>
          <a:p>
            <a:pPr marL="365760" lvl="0" indent="-256032">
              <a:spcAft>
                <a:spcPts val="7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Think big: what does your organisation need to get to the next level?</a:t>
            </a:r>
          </a:p>
          <a:p>
            <a:pPr marL="365760" lvl="0" indent="-256032">
              <a:spcAft>
                <a:spcPts val="7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Try to capture the true cost of projects = </a:t>
            </a:r>
            <a:r>
              <a:rPr lang="en-GB" u="sng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full cost recovery</a:t>
            </a:r>
            <a:endParaRPr lang="en-GB" dirty="0">
              <a:solidFill>
                <a:srgbClr val="47B403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1520" y="1502974"/>
            <a:ext cx="1656000" cy="5539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47B403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Establishing funding needs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7009" y="1502976"/>
            <a:ext cx="1656000" cy="5544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Prospect 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9912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spc="-2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Developing the case for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816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Writing brilliant applications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08304" y="1504800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Record-keeping &amp; relationships</a:t>
            </a:r>
          </a:p>
        </p:txBody>
      </p:sp>
      <p:sp>
        <p:nvSpPr>
          <p:cNvPr id="15" name="Title 2"/>
          <p:cNvSpPr txBox="1">
            <a:spLocks/>
          </p:cNvSpPr>
          <p:nvPr/>
        </p:nvSpPr>
        <p:spPr>
          <a:xfrm>
            <a:off x="2411760" y="274638"/>
            <a:ext cx="6696744" cy="1143000"/>
          </a:xfrm>
          <a:prstGeom prst="rect">
            <a:avLst/>
          </a:prstGeom>
        </p:spPr>
        <p:txBody>
          <a:bodyPr vert="horz" numCol="1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GB" sz="2800" b="1" noProof="0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Five key stages of a T&amp;F programme</a:t>
            </a:r>
            <a:endParaRPr kumimoji="0" lang="en-GB" altLang="en-GB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Droid Sans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251520" y="1502974"/>
            <a:ext cx="1656000" cy="5539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47B403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Establishing funding needs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7009" y="1502976"/>
            <a:ext cx="1656000" cy="5544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Prospect 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9912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spc="-2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Developing the case for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816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Writing brilliant applications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08304" y="1504800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Record-keeping &amp; relationships</a:t>
            </a:r>
          </a:p>
        </p:txBody>
      </p:sp>
      <p:sp>
        <p:nvSpPr>
          <p:cNvPr id="15" name="Title 2"/>
          <p:cNvSpPr txBox="1">
            <a:spLocks/>
          </p:cNvSpPr>
          <p:nvPr/>
        </p:nvSpPr>
        <p:spPr>
          <a:xfrm>
            <a:off x="2411760" y="274638"/>
            <a:ext cx="6696744" cy="1143000"/>
          </a:xfrm>
          <a:prstGeom prst="rect">
            <a:avLst/>
          </a:prstGeom>
        </p:spPr>
        <p:txBody>
          <a:bodyPr vert="horz" numCol="1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GB" sz="2800" b="1" noProof="0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Five key stages of a T&amp;F programme</a:t>
            </a:r>
            <a:endParaRPr kumimoji="0" lang="en-GB" altLang="en-GB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Droid Sans"/>
              <a:ea typeface="+mj-ea"/>
              <a:cs typeface="+mj-cs"/>
            </a:endParaRPr>
          </a:p>
        </p:txBody>
      </p:sp>
      <p:pic>
        <p:nvPicPr>
          <p:cNvPr id="12" name="Picture 2" descr="C:\Users\Mike\Downloads\cartoon-1082068_640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64088" y="2780928"/>
            <a:ext cx="3336032" cy="3336032"/>
          </a:xfrm>
          <a:prstGeom prst="rect">
            <a:avLst/>
          </a:prstGeom>
          <a:noFill/>
        </p:spPr>
      </p:pic>
      <p:sp>
        <p:nvSpPr>
          <p:cNvPr id="22" name="Content Placeholder 1"/>
          <p:cNvSpPr txBox="1">
            <a:spLocks/>
          </p:cNvSpPr>
          <p:nvPr/>
        </p:nvSpPr>
        <p:spPr>
          <a:xfrm>
            <a:off x="467544" y="2348880"/>
            <a:ext cx="4896544" cy="3744416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174625" indent="-174625">
              <a:spcAft>
                <a:spcPts val="700"/>
              </a:spcAft>
              <a:buClr>
                <a:srgbClr val="47B403"/>
              </a:buClr>
              <a:buSzPct val="68000"/>
            </a:pPr>
            <a:r>
              <a:rPr lang="en-GB" sz="2800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Over to you!</a:t>
            </a:r>
            <a:endParaRPr lang="en-GB" sz="2800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lvl="0">
              <a:spcAft>
                <a:spcPts val="700"/>
              </a:spcAft>
              <a:buClr>
                <a:srgbClr val="47B403"/>
              </a:buClr>
              <a:buSzPct val="68000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Person A: Start making a list of your organisation’s funding needs and some information about each one.</a:t>
            </a:r>
          </a:p>
          <a:p>
            <a:pPr lvl="0">
              <a:spcAft>
                <a:spcPts val="700"/>
              </a:spcAft>
              <a:buClr>
                <a:srgbClr val="47B403"/>
              </a:buClr>
              <a:buSzPct val="68000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Person B: Play the role of the organisation’s Chair:</a:t>
            </a:r>
          </a:p>
          <a:p>
            <a:pPr marL="261938" lvl="0" indent="-261938">
              <a:spcAft>
                <a:spcPts val="700"/>
              </a:spcAft>
              <a:buClr>
                <a:srgbClr val="47B403"/>
              </a:buClr>
              <a:buSzPct val="68000"/>
              <a:buFont typeface="Wingdings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What info needs to be clarified, so that colleagues understand our funding needs?</a:t>
            </a:r>
          </a:p>
          <a:p>
            <a:pPr marL="261938" lvl="0" indent="-261938">
              <a:spcAft>
                <a:spcPts val="700"/>
              </a:spcAft>
              <a:buClr>
                <a:srgbClr val="47B403"/>
              </a:buClr>
              <a:buSzPct val="68000"/>
              <a:buFont typeface="Wingdings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What do we need to know about the funding context so we can be strategic about applying for funding?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Content Placeholder 1"/>
          <p:cNvSpPr txBox="1">
            <a:spLocks/>
          </p:cNvSpPr>
          <p:nvPr/>
        </p:nvSpPr>
        <p:spPr>
          <a:xfrm>
            <a:off x="467544" y="2348880"/>
            <a:ext cx="8229600" cy="3744416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>
              <a:spcAft>
                <a:spcPts val="1000"/>
              </a:spcAft>
              <a:buClr>
                <a:srgbClr val="47B403"/>
              </a:buClr>
              <a:buSzPct val="68000"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Where do we go for information about funders?</a:t>
            </a: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marL="395478" lvl="0" indent="-285750"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Online funding databases:</a:t>
            </a:r>
          </a:p>
          <a:p>
            <a:pPr marL="365760" lvl="0" indent="-256032">
              <a:spcAft>
                <a:spcPts val="12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endParaRPr lang="en-GB" sz="2400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marL="365760" lvl="0" indent="-256032">
              <a:spcAft>
                <a:spcPts val="10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marL="395478" lvl="0" indent="-285750"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Local funding alerts (e.g. from the local council or your local CVS)</a:t>
            </a:r>
          </a:p>
          <a:p>
            <a:pPr marL="395478" lvl="0" indent="-285750"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Funder websites (if they have one)</a:t>
            </a:r>
          </a:p>
          <a:p>
            <a:pPr marL="395478" lvl="0" indent="-285750"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Related </a:t>
            </a:r>
            <a:r>
              <a:rPr lang="en-GB" dirty="0" smtClean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organisations (on </a:t>
            </a: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their website and in their annual report)</a:t>
            </a:r>
          </a:p>
          <a:p>
            <a:pPr marL="395478" lvl="0" indent="-285750"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Word of mouth recommendations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12160" y="2708920"/>
            <a:ext cx="1657350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483768" y="3278882"/>
            <a:ext cx="315277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itle 2"/>
          <p:cNvSpPr txBox="1">
            <a:spLocks/>
          </p:cNvSpPr>
          <p:nvPr/>
        </p:nvSpPr>
        <p:spPr>
          <a:xfrm>
            <a:off x="2411760" y="274638"/>
            <a:ext cx="6696744" cy="1143000"/>
          </a:xfrm>
          <a:prstGeom prst="rect">
            <a:avLst/>
          </a:prstGeom>
        </p:spPr>
        <p:txBody>
          <a:bodyPr vert="horz" numCol="1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GB" sz="2800" b="1" noProof="0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Five key stages of a T&amp;F programme</a:t>
            </a:r>
            <a:endParaRPr kumimoji="0" lang="en-GB" altLang="en-GB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Droid Sans"/>
              <a:ea typeface="+mj-ea"/>
              <a:cs typeface="+mj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1520" y="1502974"/>
            <a:ext cx="1656000" cy="553998"/>
          </a:xfrm>
          <a:prstGeom prst="rect">
            <a:avLst/>
          </a:prstGeom>
          <a:noFill/>
          <a:ln w="19050">
            <a:solidFill>
              <a:srgbClr val="47B403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Establishing funding needs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7009" y="1502976"/>
            <a:ext cx="1656000" cy="55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Prospect research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9912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spc="-2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Developing the case for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816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Writing brilliant applications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8304" y="1504800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Record-keeping &amp; relationships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995B36DC-89FA-4281-8C44-F0DAE4A2DE3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314" y="620688"/>
            <a:ext cx="7067371" cy="5424662"/>
          </a:xfrm>
          <a:prstGeom prst="rect">
            <a:avLst/>
          </a:prstGeom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2" y="374500"/>
            <a:ext cx="315277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395211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374500"/>
            <a:ext cx="315277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5C79DE35-761B-4026-94C8-FD4D4C07154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/>
          <a:srcRect l="1176" t="11834" r="7475" b="4494"/>
          <a:stretch/>
        </p:blipFill>
        <p:spPr>
          <a:xfrm>
            <a:off x="212358" y="1196752"/>
            <a:ext cx="8719284" cy="428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60677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DCFF5D94-2566-4A72-A465-80E490EA8A4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86678" y="548680"/>
            <a:ext cx="7170643" cy="5279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89554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C772DB9-27C9-4932-AF95-7CF4D5C25BE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l="17713" t="13301" r="39763"/>
          <a:stretch/>
        </p:blipFill>
        <p:spPr>
          <a:xfrm>
            <a:off x="2051720" y="476672"/>
            <a:ext cx="5040560" cy="551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22255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Content Placeholder 1"/>
          <p:cNvSpPr txBox="1">
            <a:spLocks/>
          </p:cNvSpPr>
          <p:nvPr/>
        </p:nvSpPr>
        <p:spPr>
          <a:xfrm>
            <a:off x="467544" y="2348880"/>
            <a:ext cx="8229600" cy="3744416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>
              <a:spcAft>
                <a:spcPts val="800"/>
              </a:spcAft>
              <a:buClr>
                <a:srgbClr val="47B403"/>
              </a:buClr>
              <a:buSzPct val="68000"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Researching a funder enables you to decide if they fit your organisation, what to apply for, how much, and when. Aim to record:</a:t>
            </a: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marL="395478" lvl="0" indent="-285750">
              <a:spcAft>
                <a:spcPts val="8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Name</a:t>
            </a:r>
          </a:p>
          <a:p>
            <a:pPr marL="395478" lvl="0" indent="-285750">
              <a:spcAft>
                <a:spcPts val="8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Contact person and details</a:t>
            </a:r>
          </a:p>
          <a:p>
            <a:pPr marL="395478" lvl="0" indent="-285750">
              <a:spcAft>
                <a:spcPts val="8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Areas of interest</a:t>
            </a:r>
          </a:p>
          <a:p>
            <a:pPr marL="395478" lvl="0" indent="-285750">
              <a:spcAft>
                <a:spcPts val="8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Application method</a:t>
            </a:r>
          </a:p>
          <a:p>
            <a:pPr marL="395478" lvl="0" indent="-285750">
              <a:spcAft>
                <a:spcPts val="8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Application deadline</a:t>
            </a:r>
          </a:p>
          <a:p>
            <a:pPr marL="395478" lvl="0" indent="-285750">
              <a:spcAft>
                <a:spcPts val="8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Average grant size</a:t>
            </a:r>
          </a:p>
          <a:p>
            <a:pPr marL="395478" lvl="0" indent="-285750">
              <a:spcAft>
                <a:spcPts val="8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Relevant previous beneficiaries</a:t>
            </a:r>
          </a:p>
          <a:p>
            <a:pPr marL="395478" lvl="0" indent="-285750">
              <a:spcAft>
                <a:spcPts val="8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Your organisation’s history</a:t>
            </a:r>
          </a:p>
        </p:txBody>
      </p:sp>
      <p:sp>
        <p:nvSpPr>
          <p:cNvPr id="13" name="Rectangle 18"/>
          <p:cNvSpPr>
            <a:spLocks noChangeArrowheads="1"/>
          </p:cNvSpPr>
          <p:nvPr/>
        </p:nvSpPr>
        <p:spPr bwMode="auto">
          <a:xfrm>
            <a:off x="4355976" y="3284984"/>
            <a:ext cx="4248472" cy="294706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108000" tIns="108000" rIns="108000" bIns="108000">
            <a:spAutoFit/>
          </a:bodyPr>
          <a:lstStyle/>
          <a:p>
            <a:pPr marL="268288" indent="-268288">
              <a:spcAft>
                <a:spcPts val="800"/>
              </a:spcAft>
              <a:buClr>
                <a:schemeClr val="accent1"/>
              </a:buClr>
              <a:buSzPct val="68000"/>
            </a:pPr>
            <a:r>
              <a:rPr lang="en-GB" b="1" dirty="0">
                <a:solidFill>
                  <a:srgbClr val="47B403"/>
                </a:solidFill>
                <a:latin typeface="Droid Sans"/>
                <a:ea typeface="Droid Sans"/>
                <a:cs typeface="Droid Sans"/>
              </a:rPr>
              <a:t>This enables you to decide:</a:t>
            </a:r>
          </a:p>
          <a:p>
            <a:pPr marL="268288" indent="-268288">
              <a:spcAft>
                <a:spcPts val="8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/>
                <a:ea typeface="Droid Sans"/>
                <a:cs typeface="Droid Sans"/>
              </a:rPr>
              <a:t>Which funding needs are the best fit</a:t>
            </a:r>
          </a:p>
          <a:p>
            <a:pPr marL="268288" indent="-268288">
              <a:spcAft>
                <a:spcPts val="8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/>
                <a:ea typeface="Droid Sans"/>
                <a:cs typeface="Droid Sans"/>
              </a:rPr>
              <a:t>How much to apply for</a:t>
            </a:r>
          </a:p>
          <a:p>
            <a:pPr marL="268288" indent="-268288">
              <a:spcAft>
                <a:spcPts val="8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/>
                <a:ea typeface="Droid Sans"/>
                <a:cs typeface="Droid Sans"/>
              </a:rPr>
              <a:t>Priority level</a:t>
            </a:r>
          </a:p>
          <a:p>
            <a:pPr marL="268288" indent="-268288">
              <a:spcAft>
                <a:spcPts val="8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/>
                <a:ea typeface="Droid Sans"/>
                <a:cs typeface="Droid Sans"/>
              </a:rPr>
              <a:t>Whether / when to apply</a:t>
            </a:r>
          </a:p>
          <a:p>
            <a:pPr>
              <a:spcAft>
                <a:spcPts val="800"/>
              </a:spcAft>
              <a:buClr>
                <a:schemeClr val="accent1"/>
              </a:buClr>
              <a:buSzPct val="68000"/>
            </a:pPr>
            <a:r>
              <a:rPr lang="en-GB" b="1" dirty="0">
                <a:solidFill>
                  <a:srgbClr val="47B403"/>
                </a:solidFill>
                <a:latin typeface="Droid Sans"/>
                <a:ea typeface="Droid Sans"/>
                <a:cs typeface="Droid Sans"/>
              </a:rPr>
              <a:t>You can then develop a prioritised pipeline of prospects to focus on each month / quarter.</a:t>
            </a:r>
          </a:p>
        </p:txBody>
      </p:sp>
      <p:sp>
        <p:nvSpPr>
          <p:cNvPr id="15" name="Title 2"/>
          <p:cNvSpPr txBox="1">
            <a:spLocks/>
          </p:cNvSpPr>
          <p:nvPr/>
        </p:nvSpPr>
        <p:spPr>
          <a:xfrm>
            <a:off x="2411760" y="274638"/>
            <a:ext cx="6696744" cy="1143000"/>
          </a:xfrm>
          <a:prstGeom prst="rect">
            <a:avLst/>
          </a:prstGeom>
        </p:spPr>
        <p:txBody>
          <a:bodyPr vert="horz" numCol="1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GB" sz="2800" b="1" noProof="0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Five key stages of a T&amp;F programme</a:t>
            </a:r>
            <a:endParaRPr kumimoji="0" lang="en-GB" altLang="en-GB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Droid Sans"/>
              <a:ea typeface="+mj-ea"/>
              <a:cs typeface="+mj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1520" y="1502974"/>
            <a:ext cx="1656000" cy="553998"/>
          </a:xfrm>
          <a:prstGeom prst="rect">
            <a:avLst/>
          </a:prstGeom>
          <a:noFill/>
          <a:ln w="19050">
            <a:solidFill>
              <a:srgbClr val="47B403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Establishing funding needs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7009" y="1502976"/>
            <a:ext cx="1656000" cy="55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Prospect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9912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spc="-2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Developing the case for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816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Writing brilliant applications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8304" y="1504800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Record-keeping &amp; relationships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Content Placeholder 1"/>
          <p:cNvSpPr txBox="1">
            <a:spLocks/>
          </p:cNvSpPr>
          <p:nvPr/>
        </p:nvSpPr>
        <p:spPr>
          <a:xfrm>
            <a:off x="467544" y="2348880"/>
            <a:ext cx="8229600" cy="3744416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>
              <a:spcAft>
                <a:spcPts val="1000"/>
              </a:spcAft>
              <a:buClr>
                <a:srgbClr val="47B403"/>
              </a:buClr>
              <a:buSzPct val="68000"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The questions your case for support helps you to answer:</a:t>
            </a: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marL="395478" lvl="0" indent="-285750"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Who you are - background info / quick summary about your organisation</a:t>
            </a:r>
          </a:p>
          <a:p>
            <a:pPr marL="395478" lvl="0" indent="-285750"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Who you help and why - key info about your beneficiaries and the need</a:t>
            </a:r>
          </a:p>
          <a:p>
            <a:pPr marL="395478" lvl="0" indent="-285750"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What you propose to do about it – </a:t>
            </a:r>
            <a:r>
              <a:rPr lang="en-GB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activities / outputs</a:t>
            </a:r>
          </a:p>
          <a:p>
            <a:pPr marL="395478" lvl="0" indent="-285750"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What you will achieve as a result – </a:t>
            </a:r>
            <a:r>
              <a:rPr lang="en-GB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outcomes / impact</a:t>
            </a:r>
          </a:p>
          <a:p>
            <a:pPr marL="395478" lvl="0" indent="-285750"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How you will measure this</a:t>
            </a:r>
          </a:p>
          <a:p>
            <a:pPr marL="395478" indent="-285750"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How much it will cost you – </a:t>
            </a:r>
            <a:r>
              <a:rPr lang="en-GB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budget</a:t>
            </a: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marL="395478" lvl="0" indent="-285750"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Why your organisation is best placed to achieve this change</a:t>
            </a:r>
          </a:p>
        </p:txBody>
      </p:sp>
      <p:sp>
        <p:nvSpPr>
          <p:cNvPr id="13" name="Title 2"/>
          <p:cNvSpPr txBox="1">
            <a:spLocks/>
          </p:cNvSpPr>
          <p:nvPr/>
        </p:nvSpPr>
        <p:spPr>
          <a:xfrm>
            <a:off x="2411760" y="274638"/>
            <a:ext cx="6696744" cy="1143000"/>
          </a:xfrm>
          <a:prstGeom prst="rect">
            <a:avLst/>
          </a:prstGeom>
        </p:spPr>
        <p:txBody>
          <a:bodyPr vert="horz" numCol="1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GB" sz="2800" b="1" noProof="0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Five key stages of a T&amp;F programme</a:t>
            </a:r>
            <a:endParaRPr kumimoji="0" lang="en-GB" altLang="en-GB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Droid Sans"/>
              <a:ea typeface="+mj-ea"/>
              <a:cs typeface="+mj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1520" y="1502974"/>
            <a:ext cx="1656000" cy="553998"/>
          </a:xfrm>
          <a:prstGeom prst="rect">
            <a:avLst/>
          </a:prstGeom>
          <a:noFill/>
          <a:ln w="19050">
            <a:solidFill>
              <a:srgbClr val="47B403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Establishing funding needs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7009" y="1502976"/>
            <a:ext cx="1656000" cy="5544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Prospect research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9912" y="1502975"/>
            <a:ext cx="1656000" cy="5539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 spc="-2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Developing the case for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816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Writing brilliant applications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8304" y="1504800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Record-keeping &amp; relationships</a:t>
            </a:r>
          </a:p>
        </p:txBody>
      </p:sp>
    </p:spTree>
    <p:extLst>
      <p:ext uri="{BB962C8B-B14F-4D97-AF65-F5344CB8AC3E}">
        <p14:creationId xmlns:p14="http://schemas.microsoft.com/office/powerpoint/2010/main" xmlns="" val="2658608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Content Placeholder 1">
            <a:extLst>
              <a:ext uri="{FF2B5EF4-FFF2-40B4-BE49-F238E27FC236}">
                <a16:creationId xmlns:a16="http://schemas.microsoft.com/office/drawing/2014/main" xmlns="" id="{8B69D3E9-8F67-4DCF-8197-2EEAFC901CBB}"/>
              </a:ext>
            </a:extLst>
          </p:cNvPr>
          <p:cNvSpPr txBox="1">
            <a:spLocks/>
          </p:cNvSpPr>
          <p:nvPr/>
        </p:nvSpPr>
        <p:spPr>
          <a:xfrm>
            <a:off x="467544" y="2276872"/>
            <a:ext cx="8280920" cy="3672408"/>
          </a:xfrm>
          <a:prstGeom prst="rect">
            <a:avLst/>
          </a:prstGeom>
          <a:noFill/>
        </p:spPr>
        <p:txBody>
          <a:bodyPr vert="horz">
            <a:noAutofit/>
          </a:bodyPr>
          <a:lstStyle/>
          <a:p>
            <a:pPr marL="365760" lvl="0" indent="-256032">
              <a:spcAft>
                <a:spcPts val="1200"/>
              </a:spcAft>
              <a:buClr>
                <a:srgbClr val="47B403"/>
              </a:buClr>
              <a:buSzPct val="68000"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What content can help you to answer these questions?</a:t>
            </a: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A60DECD5-ACD3-4FDA-91CC-A49CB8740BB8}"/>
              </a:ext>
            </a:extLst>
          </p:cNvPr>
          <p:cNvSpPr/>
          <p:nvPr/>
        </p:nvSpPr>
        <p:spPr>
          <a:xfrm>
            <a:off x="1331640" y="3068960"/>
            <a:ext cx="2664296" cy="25922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r>
              <a:rPr lang="en-GB" b="1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Inputs</a:t>
            </a:r>
          </a:p>
          <a:p>
            <a:pPr algn="ctr"/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Raw content that will interest your donors</a:t>
            </a:r>
          </a:p>
          <a:p>
            <a:pPr algn="ctr"/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A79A33BA-188F-477F-B61B-0A0EBFB6B592}"/>
              </a:ext>
            </a:extLst>
          </p:cNvPr>
          <p:cNvSpPr/>
          <p:nvPr/>
        </p:nvSpPr>
        <p:spPr>
          <a:xfrm>
            <a:off x="5148064" y="3068960"/>
            <a:ext cx="2664296" cy="25922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r>
              <a:rPr lang="en-GB" b="1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Output</a:t>
            </a:r>
          </a:p>
          <a:p>
            <a:pPr algn="ctr"/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 case for support which excites them</a:t>
            </a:r>
          </a:p>
          <a:p>
            <a:pPr algn="ctr"/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</p:txBody>
      </p:sp>
      <p:sp>
        <p:nvSpPr>
          <p:cNvPr id="13" name="Title 2"/>
          <p:cNvSpPr txBox="1">
            <a:spLocks/>
          </p:cNvSpPr>
          <p:nvPr/>
        </p:nvSpPr>
        <p:spPr>
          <a:xfrm>
            <a:off x="2411760" y="274638"/>
            <a:ext cx="6696744" cy="1143000"/>
          </a:xfrm>
          <a:prstGeom prst="rect">
            <a:avLst/>
          </a:prstGeom>
        </p:spPr>
        <p:txBody>
          <a:bodyPr vert="horz" numCol="1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GB" sz="2800" b="1" noProof="0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Five key stages of a T&amp;F programme</a:t>
            </a:r>
            <a:endParaRPr kumimoji="0" lang="en-GB" altLang="en-GB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Droid Sans"/>
              <a:ea typeface="+mj-ea"/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1520" y="1502974"/>
            <a:ext cx="1656000" cy="553998"/>
          </a:xfrm>
          <a:prstGeom prst="rect">
            <a:avLst/>
          </a:prstGeom>
          <a:noFill/>
          <a:ln w="19050">
            <a:solidFill>
              <a:srgbClr val="47B403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Establishing funding needs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7009" y="1502976"/>
            <a:ext cx="1656000" cy="5544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Prospect 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9912" y="1502975"/>
            <a:ext cx="1656000" cy="5539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 spc="-2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Developing the case for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816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Writing brilliant applications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08304" y="1504800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Record-keeping &amp; relationships</a:t>
            </a:r>
          </a:p>
        </p:txBody>
      </p:sp>
    </p:spTree>
    <p:extLst>
      <p:ext uri="{BB962C8B-B14F-4D97-AF65-F5344CB8AC3E}">
        <p14:creationId xmlns:p14="http://schemas.microsoft.com/office/powerpoint/2010/main" xmlns="" val="1450929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Content Placeholder 1"/>
          <p:cNvSpPr txBox="1">
            <a:spLocks/>
          </p:cNvSpPr>
          <p:nvPr/>
        </p:nvSpPr>
        <p:spPr>
          <a:xfrm>
            <a:off x="467544" y="2348880"/>
            <a:ext cx="8229600" cy="3744416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>
              <a:spcAft>
                <a:spcPts val="700"/>
              </a:spcAft>
              <a:buClr>
                <a:srgbClr val="47B403"/>
              </a:buClr>
              <a:buSzPct val="68000"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Gather up any information that will help you to make your case :</a:t>
            </a: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marL="395478" lvl="0" indent="-285750">
              <a:spcAft>
                <a:spcPts val="7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Statistics (about your beneficiaries, their needs, your impact)</a:t>
            </a:r>
          </a:p>
          <a:p>
            <a:pPr marL="395478" lvl="0" indent="-285750">
              <a:spcAft>
                <a:spcPts val="7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Third party research and evidence</a:t>
            </a:r>
          </a:p>
          <a:p>
            <a:pPr marL="395478" lvl="0" indent="-285750">
              <a:spcAft>
                <a:spcPts val="7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Infographics</a:t>
            </a:r>
          </a:p>
          <a:p>
            <a:pPr marL="395478" lvl="0" indent="-285750">
              <a:spcAft>
                <a:spcPts val="7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Photos</a:t>
            </a:r>
          </a:p>
          <a:p>
            <a:pPr marL="395478" indent="-285750">
              <a:spcAft>
                <a:spcPts val="7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Video content</a:t>
            </a:r>
          </a:p>
          <a:p>
            <a:pPr marL="395478" indent="-285750">
              <a:spcAft>
                <a:spcPts val="7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Case studies</a:t>
            </a:r>
          </a:p>
          <a:p>
            <a:pPr marL="395478" indent="-285750">
              <a:spcAft>
                <a:spcPts val="7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Testimonials from staff and beneficiaries</a:t>
            </a:r>
          </a:p>
          <a:p>
            <a:pPr marL="395478" indent="-285750">
              <a:spcAft>
                <a:spcPts val="7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Endorsements from ‘experts’</a:t>
            </a:r>
          </a:p>
          <a:p>
            <a:pPr marL="395478" indent="-285750">
              <a:spcAft>
                <a:spcPts val="7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Awards / formal recognition for your organisation</a:t>
            </a:r>
          </a:p>
        </p:txBody>
      </p:sp>
      <p:sp>
        <p:nvSpPr>
          <p:cNvPr id="13" name="Title 2"/>
          <p:cNvSpPr txBox="1">
            <a:spLocks/>
          </p:cNvSpPr>
          <p:nvPr/>
        </p:nvSpPr>
        <p:spPr>
          <a:xfrm>
            <a:off x="2411760" y="274638"/>
            <a:ext cx="6696744" cy="1143000"/>
          </a:xfrm>
          <a:prstGeom prst="rect">
            <a:avLst/>
          </a:prstGeom>
        </p:spPr>
        <p:txBody>
          <a:bodyPr vert="horz" numCol="1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GB" sz="2800" b="1" noProof="0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Five key stages of a T&amp;F programme</a:t>
            </a:r>
            <a:endParaRPr kumimoji="0" lang="en-GB" altLang="en-GB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Droid Sans"/>
              <a:ea typeface="+mj-ea"/>
              <a:cs typeface="+mj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1520" y="1502974"/>
            <a:ext cx="1656000" cy="553998"/>
          </a:xfrm>
          <a:prstGeom prst="rect">
            <a:avLst/>
          </a:prstGeom>
          <a:noFill/>
          <a:ln w="19050">
            <a:solidFill>
              <a:srgbClr val="47B403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Establishing funding needs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7009" y="1502976"/>
            <a:ext cx="1656000" cy="5544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Prospect research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9912" y="1502975"/>
            <a:ext cx="1656000" cy="5539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 spc="-2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Developing the case for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816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Writing brilliant applications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8304" y="1504800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Record-keeping &amp; relationships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Content Placeholder 1"/>
          <p:cNvSpPr txBox="1">
            <a:spLocks/>
          </p:cNvSpPr>
          <p:nvPr/>
        </p:nvSpPr>
        <p:spPr>
          <a:xfrm>
            <a:off x="467544" y="2348880"/>
            <a:ext cx="8229600" cy="3744416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>
              <a:spcAft>
                <a:spcPts val="1000"/>
              </a:spcAft>
              <a:buClr>
                <a:srgbClr val="47B403"/>
              </a:buClr>
              <a:buSzPct val="68000"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The questions your case for support helps you to answer:</a:t>
            </a: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marL="452628" lvl="0" indent="-342900">
              <a:spcAft>
                <a:spcPts val="1000"/>
              </a:spcAft>
              <a:buClr>
                <a:srgbClr val="47B403"/>
              </a:buClr>
              <a:buSzPct val="100000"/>
              <a:buFont typeface="+mj-lt"/>
              <a:buAutoNum type="arabicPeriod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Who you are - background info / quick summary about your organisation</a:t>
            </a:r>
          </a:p>
          <a:p>
            <a:pPr marL="452628" lvl="0" indent="-342900">
              <a:spcAft>
                <a:spcPts val="1000"/>
              </a:spcAft>
              <a:buClr>
                <a:srgbClr val="47B403"/>
              </a:buClr>
              <a:buSzPct val="100000"/>
              <a:buFont typeface="+mj-lt"/>
              <a:buAutoNum type="arabicPeriod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Who you help and why - key info about your beneficiaries and the need</a:t>
            </a:r>
          </a:p>
          <a:p>
            <a:pPr marL="452628" lvl="0" indent="-342900">
              <a:spcAft>
                <a:spcPts val="1000"/>
              </a:spcAft>
              <a:buClr>
                <a:srgbClr val="47B403"/>
              </a:buClr>
              <a:buSzPct val="100000"/>
              <a:buFont typeface="+mj-lt"/>
              <a:buAutoNum type="arabicPeriod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What you propose to do about it – </a:t>
            </a:r>
            <a:r>
              <a:rPr lang="en-GB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activities / outputs</a:t>
            </a:r>
          </a:p>
          <a:p>
            <a:pPr marL="452628" lvl="0" indent="-342900">
              <a:spcAft>
                <a:spcPts val="1000"/>
              </a:spcAft>
              <a:buClr>
                <a:srgbClr val="47B403"/>
              </a:buClr>
              <a:buSzPct val="100000"/>
              <a:buFont typeface="+mj-lt"/>
              <a:buAutoNum type="arabicPeriod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What you will achieve as a result – </a:t>
            </a:r>
            <a:r>
              <a:rPr lang="en-GB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outcomes / impact</a:t>
            </a:r>
          </a:p>
          <a:p>
            <a:pPr marL="452628" lvl="0" indent="-342900">
              <a:spcAft>
                <a:spcPts val="1000"/>
              </a:spcAft>
              <a:buClr>
                <a:srgbClr val="47B403"/>
              </a:buClr>
              <a:buSzPct val="100000"/>
              <a:buFont typeface="+mj-lt"/>
              <a:buAutoNum type="arabicPeriod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How you will measure this</a:t>
            </a:r>
          </a:p>
          <a:p>
            <a:pPr marL="452628" indent="-342900">
              <a:spcAft>
                <a:spcPts val="1000"/>
              </a:spcAft>
              <a:buClr>
                <a:srgbClr val="47B403"/>
              </a:buClr>
              <a:buSzPct val="100000"/>
              <a:buFont typeface="+mj-lt"/>
              <a:buAutoNum type="arabicPeriod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How much it will cost you – </a:t>
            </a:r>
            <a:r>
              <a:rPr lang="en-GB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budget</a:t>
            </a: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marL="452628" lvl="0" indent="-342900">
              <a:spcAft>
                <a:spcPts val="1000"/>
              </a:spcAft>
              <a:buClr>
                <a:srgbClr val="47B403"/>
              </a:buClr>
              <a:buSzPct val="100000"/>
              <a:buFont typeface="+mj-lt"/>
              <a:buAutoNum type="arabicPeriod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Why your organisation is best placed to achieve this change</a:t>
            </a:r>
          </a:p>
        </p:txBody>
      </p:sp>
      <p:sp>
        <p:nvSpPr>
          <p:cNvPr id="13" name="Title 2"/>
          <p:cNvSpPr txBox="1">
            <a:spLocks/>
          </p:cNvSpPr>
          <p:nvPr/>
        </p:nvSpPr>
        <p:spPr>
          <a:xfrm>
            <a:off x="2411760" y="274638"/>
            <a:ext cx="6696744" cy="1143000"/>
          </a:xfrm>
          <a:prstGeom prst="rect">
            <a:avLst/>
          </a:prstGeom>
        </p:spPr>
        <p:txBody>
          <a:bodyPr vert="horz" numCol="1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GB" sz="2800" b="1" noProof="0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Five key stages of a T&amp;F programme</a:t>
            </a:r>
            <a:endParaRPr kumimoji="0" lang="en-GB" altLang="en-GB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Droid Sans"/>
              <a:ea typeface="+mj-ea"/>
              <a:cs typeface="+mj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1520" y="1502974"/>
            <a:ext cx="1656000" cy="553998"/>
          </a:xfrm>
          <a:prstGeom prst="rect">
            <a:avLst/>
          </a:prstGeom>
          <a:noFill/>
          <a:ln w="19050">
            <a:solidFill>
              <a:srgbClr val="47B403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Establishing funding needs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7009" y="1502976"/>
            <a:ext cx="1656000" cy="5544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Prospect research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9912" y="1502975"/>
            <a:ext cx="1656000" cy="5539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 spc="-2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Developing the case for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816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Writing brilliant applications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8304" y="1504800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Record-keeping &amp; relationships</a:t>
            </a:r>
          </a:p>
        </p:txBody>
      </p:sp>
    </p:spTree>
    <p:extLst>
      <p:ext uri="{BB962C8B-B14F-4D97-AF65-F5344CB8AC3E}">
        <p14:creationId xmlns:p14="http://schemas.microsoft.com/office/powerpoint/2010/main" xmlns="" val="1956980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Content Placeholder 1"/>
          <p:cNvSpPr txBox="1">
            <a:spLocks/>
          </p:cNvSpPr>
          <p:nvPr/>
        </p:nvSpPr>
        <p:spPr>
          <a:xfrm>
            <a:off x="467544" y="2348880"/>
            <a:ext cx="8229600" cy="3744416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>
              <a:spcAft>
                <a:spcPts val="1000"/>
              </a:spcAft>
              <a:buClr>
                <a:srgbClr val="47B403"/>
              </a:buClr>
              <a:buSzPct val="68000"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Creating this bank of content / ‘online filing cabinet’:</a:t>
            </a: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marL="395478" lvl="0" indent="-285750"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Saves you time in the long run by creating reusable content</a:t>
            </a:r>
          </a:p>
          <a:p>
            <a:pPr marL="395478" lvl="0" indent="-285750"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Builds a much stronger case for support, which enables you to write better applications</a:t>
            </a:r>
          </a:p>
          <a:p>
            <a:pPr marL="395478" lvl="0" indent="-285750"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Helps you to identify and address any weaknesses / gaps in your projects</a:t>
            </a:r>
          </a:p>
          <a:p>
            <a:pPr marL="395478" lvl="0" indent="-285750"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Allows you to subsequently apply more quickly, take advantage of last-minute opportunities etc.</a:t>
            </a:r>
          </a:p>
          <a:p>
            <a:pPr marL="395478" lvl="0" indent="-285750"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Enables you to describe your work in your own words and on your terms</a:t>
            </a:r>
          </a:p>
        </p:txBody>
      </p:sp>
      <p:sp>
        <p:nvSpPr>
          <p:cNvPr id="13" name="Title 2"/>
          <p:cNvSpPr txBox="1">
            <a:spLocks/>
          </p:cNvSpPr>
          <p:nvPr/>
        </p:nvSpPr>
        <p:spPr>
          <a:xfrm>
            <a:off x="2411760" y="274638"/>
            <a:ext cx="6696744" cy="1143000"/>
          </a:xfrm>
          <a:prstGeom prst="rect">
            <a:avLst/>
          </a:prstGeom>
        </p:spPr>
        <p:txBody>
          <a:bodyPr vert="horz" numCol="1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GB" sz="2800" b="1" noProof="0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Five key stages of a T&amp;F programme</a:t>
            </a:r>
            <a:endParaRPr kumimoji="0" lang="en-GB" altLang="en-GB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Droid Sans"/>
              <a:ea typeface="+mj-ea"/>
              <a:cs typeface="+mj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1520" y="1502974"/>
            <a:ext cx="1656000" cy="553998"/>
          </a:xfrm>
          <a:prstGeom prst="rect">
            <a:avLst/>
          </a:prstGeom>
          <a:noFill/>
          <a:ln w="19050">
            <a:solidFill>
              <a:srgbClr val="47B403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Establishing funding needs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7009" y="1502976"/>
            <a:ext cx="1656000" cy="5544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Prospect research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9912" y="1502975"/>
            <a:ext cx="1656000" cy="5539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 spc="-2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Developing the case for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816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Writing brilliant applications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8304" y="1504800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Record-keeping &amp; relationships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251520" y="1502974"/>
            <a:ext cx="1656000" cy="553998"/>
          </a:xfrm>
          <a:prstGeom prst="rect">
            <a:avLst/>
          </a:prstGeom>
          <a:noFill/>
          <a:ln w="19050">
            <a:solidFill>
              <a:srgbClr val="47B403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Establishing funding needs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7009" y="1502976"/>
            <a:ext cx="1656000" cy="5544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Prospect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8304" y="1504800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Record-keeping &amp; relationships</a:t>
            </a:r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467544" y="2348880"/>
            <a:ext cx="4680520" cy="3744416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174625" indent="-174625">
              <a:spcAft>
                <a:spcPts val="1200"/>
              </a:spcAft>
              <a:buClr>
                <a:srgbClr val="47B403"/>
              </a:buClr>
              <a:buSzPct val="68000"/>
            </a:pPr>
            <a:r>
              <a:rPr lang="en-GB" sz="2800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Your own case for support</a:t>
            </a:r>
            <a:endParaRPr lang="en-GB" sz="2800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lvl="0">
              <a:spcAft>
                <a:spcPts val="1000"/>
              </a:spcAft>
              <a:buClr>
                <a:srgbClr val="47B403"/>
              </a:buClr>
              <a:buSzPct val="68000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In your pairs, assume the role of applicant and funder…</a:t>
            </a:r>
          </a:p>
          <a:p>
            <a:pPr marL="285750" indent="-285750"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Applicants: How will you tell your story to convince the funder of your need?</a:t>
            </a:r>
          </a:p>
          <a:p>
            <a:pPr marL="285750" lvl="0" indent="-285750"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Funders: You have £20,000 to donate – what info will help inform your decision?</a:t>
            </a:r>
          </a:p>
          <a:p>
            <a:pPr marL="285750" lvl="0" indent="-285750"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Work together to answer four of the key questions your case for support is built on. </a:t>
            </a:r>
          </a:p>
        </p:txBody>
      </p:sp>
      <p:sp>
        <p:nvSpPr>
          <p:cNvPr id="12" name="Title 2"/>
          <p:cNvSpPr txBox="1">
            <a:spLocks/>
          </p:cNvSpPr>
          <p:nvPr/>
        </p:nvSpPr>
        <p:spPr>
          <a:xfrm>
            <a:off x="2411760" y="274638"/>
            <a:ext cx="6696744" cy="1143000"/>
          </a:xfrm>
          <a:prstGeom prst="rect">
            <a:avLst/>
          </a:prstGeom>
        </p:spPr>
        <p:txBody>
          <a:bodyPr vert="horz" numCol="1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GB" sz="2800" b="1" noProof="0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Five key stages of a T&amp;F programme</a:t>
            </a:r>
            <a:endParaRPr kumimoji="0" lang="en-GB" altLang="en-GB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Droid Sans"/>
              <a:ea typeface="+mj-ea"/>
              <a:cs typeface="+mj-cs"/>
            </a:endParaRPr>
          </a:p>
        </p:txBody>
      </p:sp>
      <p:pic>
        <p:nvPicPr>
          <p:cNvPr id="14" name="Picture 2" descr="C:\Users\Mike\Downloads\cartoon-1082068_640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64088" y="2780928"/>
            <a:ext cx="3336032" cy="3336032"/>
          </a:xfrm>
          <a:prstGeom prst="rect">
            <a:avLst/>
          </a:prstGeom>
          <a:noFill/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D5470362-957F-4DFD-A364-0ED573BA6066}"/>
              </a:ext>
            </a:extLst>
          </p:cNvPr>
          <p:cNvSpPr txBox="1"/>
          <p:nvPr/>
        </p:nvSpPr>
        <p:spPr>
          <a:xfrm>
            <a:off x="5532816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Writing brilliant applications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B6C44D94-6893-4F18-B004-12EE94A3CBDC}"/>
              </a:ext>
            </a:extLst>
          </p:cNvPr>
          <p:cNvSpPr txBox="1"/>
          <p:nvPr/>
        </p:nvSpPr>
        <p:spPr>
          <a:xfrm>
            <a:off x="3779912" y="1502975"/>
            <a:ext cx="1656000" cy="5539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 spc="-2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Developing the case for support</a:t>
            </a:r>
          </a:p>
        </p:txBody>
      </p:sp>
    </p:spTree>
    <p:extLst>
      <p:ext uri="{BB962C8B-B14F-4D97-AF65-F5344CB8AC3E}">
        <p14:creationId xmlns:p14="http://schemas.microsoft.com/office/powerpoint/2010/main" xmlns="" val="1017567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Content Placeholder 1"/>
          <p:cNvSpPr txBox="1">
            <a:spLocks/>
          </p:cNvSpPr>
          <p:nvPr/>
        </p:nvSpPr>
        <p:spPr>
          <a:xfrm>
            <a:off x="467544" y="2348880"/>
            <a:ext cx="8229600" cy="3744416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>
              <a:spcAft>
                <a:spcPts val="900"/>
              </a:spcAft>
              <a:buClr>
                <a:srgbClr val="47B403"/>
              </a:buClr>
              <a:buSzPct val="68000"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Hand-picking the best funders for your organisation</a:t>
            </a: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marL="365760" lvl="0" indent="-256032">
              <a:spcAft>
                <a:spcPts val="9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Draw on all your work so far: funding needs, prospects, case for support</a:t>
            </a:r>
          </a:p>
          <a:p>
            <a:pPr marL="365760" lvl="0" indent="-256032">
              <a:spcAft>
                <a:spcPts val="9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Vital background checks (in batches of 5-10):</a:t>
            </a:r>
          </a:p>
          <a:p>
            <a:pPr marL="822960" lvl="1" indent="-256032">
              <a:spcAft>
                <a:spcPts val="9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Double check your research: funders can and do change</a:t>
            </a:r>
          </a:p>
          <a:p>
            <a:pPr marL="822960" lvl="1" indent="-256032">
              <a:spcAft>
                <a:spcPts val="9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Check internal records: previous applications, correspondence and feedback, reporting deadlines</a:t>
            </a:r>
          </a:p>
          <a:p>
            <a:pPr marL="822960" lvl="1" indent="-256032">
              <a:spcAft>
                <a:spcPts val="9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Check for connections or possible introductions with their trustees</a:t>
            </a:r>
          </a:p>
          <a:p>
            <a:pPr marL="822960" lvl="1" indent="-256032">
              <a:spcAft>
                <a:spcPts val="9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Are you clear on what to apply for? Does everyone agree?</a:t>
            </a:r>
          </a:p>
          <a:p>
            <a:pPr marL="365760" lvl="0" indent="-256032">
              <a:spcAft>
                <a:spcPts val="9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Take </a:t>
            </a:r>
            <a:r>
              <a:rPr lang="en-GB" u="sng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any</a:t>
            </a: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 opportunity to speak to each funder and ask questions – any advice and insight that isn’t publicly available is a huge advantage.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520" y="1502974"/>
            <a:ext cx="1656000" cy="553998"/>
          </a:xfrm>
          <a:prstGeom prst="rect">
            <a:avLst/>
          </a:prstGeom>
          <a:noFill/>
          <a:ln w="19050">
            <a:solidFill>
              <a:srgbClr val="47B403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Establishing funding needs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7009" y="1502976"/>
            <a:ext cx="1656000" cy="5544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Prospect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9912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spc="-2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Developing the case for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816" y="1502975"/>
            <a:ext cx="1656000" cy="5539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Writing brilliant applications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8304" y="1504800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Record-keeping &amp; relationships</a:t>
            </a:r>
          </a:p>
        </p:txBody>
      </p:sp>
      <p:sp>
        <p:nvSpPr>
          <p:cNvPr id="10" name="Title 2"/>
          <p:cNvSpPr txBox="1">
            <a:spLocks/>
          </p:cNvSpPr>
          <p:nvPr/>
        </p:nvSpPr>
        <p:spPr>
          <a:xfrm>
            <a:off x="2411760" y="274638"/>
            <a:ext cx="6696744" cy="1143000"/>
          </a:xfrm>
          <a:prstGeom prst="rect">
            <a:avLst/>
          </a:prstGeom>
        </p:spPr>
        <p:txBody>
          <a:bodyPr vert="horz" numCol="1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GB" sz="2800" b="1" noProof="0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Five key stages of a T&amp;F programme</a:t>
            </a:r>
            <a:endParaRPr kumimoji="0" lang="en-GB" altLang="en-GB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Droid Sans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Content Placeholder 1"/>
          <p:cNvSpPr txBox="1">
            <a:spLocks/>
          </p:cNvSpPr>
          <p:nvPr/>
        </p:nvSpPr>
        <p:spPr>
          <a:xfrm>
            <a:off x="467544" y="2348880"/>
            <a:ext cx="8229600" cy="3744416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>
              <a:spcAft>
                <a:spcPts val="700"/>
              </a:spcAft>
              <a:buClr>
                <a:srgbClr val="47B403"/>
              </a:buClr>
              <a:buSzPct val="68000"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Laying the groundwork for brilliant applications</a:t>
            </a: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marL="365760" lvl="0" indent="-256032">
              <a:spcAft>
                <a:spcPts val="7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Be clear on how to apply – application form, written proposal, cover letter?</a:t>
            </a:r>
          </a:p>
          <a:p>
            <a:pPr marL="365760" indent="-256032">
              <a:spcAft>
                <a:spcPts val="7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Identify key criteria / priorities / themes to align your application with</a:t>
            </a:r>
          </a:p>
          <a:p>
            <a:pPr marL="365760" lvl="0" indent="-256032">
              <a:spcAft>
                <a:spcPts val="7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Create a checklist of any supporting materials that you’ll need to provide</a:t>
            </a:r>
          </a:p>
          <a:p>
            <a:pPr marL="365760" lvl="0" indent="-256032">
              <a:spcAft>
                <a:spcPts val="7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Identify any likely challenges or sticking points as early as possible</a:t>
            </a:r>
          </a:p>
          <a:p>
            <a:pPr marL="365760" lvl="0" indent="-256032">
              <a:spcAft>
                <a:spcPts val="7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Identify the deadline and set some key milestones:</a:t>
            </a:r>
          </a:p>
          <a:p>
            <a:pPr marL="822960" lvl="1" indent="-256032">
              <a:spcAft>
                <a:spcPts val="7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Planning meeting – who needs to be involved?</a:t>
            </a:r>
          </a:p>
          <a:p>
            <a:pPr marL="822960" lvl="1" indent="-256032">
              <a:spcAft>
                <a:spcPts val="7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Process for drafting and reviewing </a:t>
            </a:r>
          </a:p>
          <a:p>
            <a:pPr marL="822960" lvl="1" indent="-256032">
              <a:spcAft>
                <a:spcPts val="7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Sign-off process</a:t>
            </a:r>
          </a:p>
          <a:p>
            <a:pPr marL="822960" lvl="1" indent="-256032">
              <a:spcAft>
                <a:spcPts val="7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Practicalities of submitting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520" y="1502974"/>
            <a:ext cx="1656000" cy="553998"/>
          </a:xfrm>
          <a:prstGeom prst="rect">
            <a:avLst/>
          </a:prstGeom>
          <a:noFill/>
          <a:ln w="19050">
            <a:solidFill>
              <a:srgbClr val="47B403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Establishing funding needs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7009" y="1502976"/>
            <a:ext cx="1656000" cy="5544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Prospect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9912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spc="-2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Developing the case for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816" y="1502975"/>
            <a:ext cx="1656000" cy="5539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Writing brilliant applications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8304" y="1504800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Record-keeping &amp; relationships</a:t>
            </a:r>
          </a:p>
        </p:txBody>
      </p:sp>
      <p:sp>
        <p:nvSpPr>
          <p:cNvPr id="10" name="Title 2"/>
          <p:cNvSpPr txBox="1">
            <a:spLocks/>
          </p:cNvSpPr>
          <p:nvPr/>
        </p:nvSpPr>
        <p:spPr>
          <a:xfrm>
            <a:off x="2411760" y="274638"/>
            <a:ext cx="6696744" cy="1143000"/>
          </a:xfrm>
          <a:prstGeom prst="rect">
            <a:avLst/>
          </a:prstGeom>
        </p:spPr>
        <p:txBody>
          <a:bodyPr vert="horz" numCol="1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GB" sz="2800" b="1" noProof="0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Five key stages of a T&amp;F programme</a:t>
            </a:r>
            <a:endParaRPr kumimoji="0" lang="en-GB" altLang="en-GB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Droid Sans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251520" y="1502974"/>
            <a:ext cx="1656000" cy="553998"/>
          </a:xfrm>
          <a:prstGeom prst="rect">
            <a:avLst/>
          </a:prstGeom>
          <a:noFill/>
          <a:ln w="19050">
            <a:solidFill>
              <a:srgbClr val="47B403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Establishing funding needs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7009" y="1502976"/>
            <a:ext cx="1656000" cy="5544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Prospect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9912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spc="-2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Developing the case for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816" y="1502975"/>
            <a:ext cx="1656000" cy="5539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Writing brilliant applications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8304" y="1504800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Record-keeping &amp; relationships</a:t>
            </a:r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467544" y="2348880"/>
            <a:ext cx="4464496" cy="3744416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174625" indent="-174625">
              <a:spcAft>
                <a:spcPts val="1200"/>
              </a:spcAft>
              <a:buClr>
                <a:srgbClr val="47B403"/>
              </a:buClr>
              <a:buSzPct val="68000"/>
            </a:pPr>
            <a:r>
              <a:rPr lang="en-GB" sz="2800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Application swap shop!</a:t>
            </a:r>
            <a:endParaRPr lang="en-GB" sz="2800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lvl="0">
              <a:spcAft>
                <a:spcPts val="1000"/>
              </a:spcAft>
              <a:buClr>
                <a:srgbClr val="47B403"/>
              </a:buClr>
              <a:buSzPct val="68000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Buddy up and peer review one of your organisation’s applications…</a:t>
            </a:r>
          </a:p>
          <a:p>
            <a:pPr marL="261938" lvl="0" indent="-261938">
              <a:spcAft>
                <a:spcPts val="1000"/>
              </a:spcAft>
              <a:buClr>
                <a:srgbClr val="47B403"/>
              </a:buClr>
              <a:buSzPct val="68000"/>
              <a:buFont typeface="Wingdings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What stands out as particularly strong or successful?</a:t>
            </a:r>
          </a:p>
          <a:p>
            <a:pPr marL="261938" lvl="0" indent="-261938">
              <a:spcAft>
                <a:spcPts val="1000"/>
              </a:spcAft>
              <a:buClr>
                <a:srgbClr val="47B403"/>
              </a:buClr>
              <a:buSzPct val="68000"/>
              <a:buFont typeface="Wingdings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What are the weaker areas and how could they be improved?</a:t>
            </a:r>
          </a:p>
          <a:p>
            <a:pPr marL="261938" lvl="0" indent="-261938">
              <a:spcAft>
                <a:spcPts val="1000"/>
              </a:spcAft>
              <a:buClr>
                <a:srgbClr val="47B403"/>
              </a:buClr>
              <a:buSzPct val="68000"/>
              <a:buFont typeface="Wingdings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What tips / advice would you share to avoid repeating previous mistakes?</a:t>
            </a:r>
          </a:p>
        </p:txBody>
      </p:sp>
      <p:sp>
        <p:nvSpPr>
          <p:cNvPr id="12" name="Title 2"/>
          <p:cNvSpPr txBox="1">
            <a:spLocks/>
          </p:cNvSpPr>
          <p:nvPr/>
        </p:nvSpPr>
        <p:spPr>
          <a:xfrm>
            <a:off x="2411760" y="274638"/>
            <a:ext cx="6696744" cy="1143000"/>
          </a:xfrm>
          <a:prstGeom prst="rect">
            <a:avLst/>
          </a:prstGeom>
        </p:spPr>
        <p:txBody>
          <a:bodyPr vert="horz" numCol="1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GB" sz="2800" b="1" noProof="0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Five key stages of a T&amp;F programme</a:t>
            </a:r>
            <a:endParaRPr kumimoji="0" lang="en-GB" altLang="en-GB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Droid Sans"/>
              <a:ea typeface="+mj-ea"/>
              <a:cs typeface="+mj-cs"/>
            </a:endParaRPr>
          </a:p>
        </p:txBody>
      </p:sp>
      <p:pic>
        <p:nvPicPr>
          <p:cNvPr id="14" name="Picture 2" descr="C:\Users\Mike\Downloads\cartoon-1082068_640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64088" y="2780928"/>
            <a:ext cx="3336032" cy="333603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Content Placeholder 1"/>
          <p:cNvSpPr txBox="1">
            <a:spLocks/>
          </p:cNvSpPr>
          <p:nvPr/>
        </p:nvSpPr>
        <p:spPr>
          <a:xfrm>
            <a:off x="467544" y="2348880"/>
            <a:ext cx="8229600" cy="36004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>
              <a:spcAft>
                <a:spcPts val="700"/>
              </a:spcAft>
              <a:buClr>
                <a:srgbClr val="47B403"/>
              </a:buClr>
              <a:buSzPct val="68000"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Common trusts &amp; foundations mistakes to avoid</a:t>
            </a: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1520" y="1502974"/>
            <a:ext cx="1656000" cy="553998"/>
          </a:xfrm>
          <a:prstGeom prst="rect">
            <a:avLst/>
          </a:prstGeom>
          <a:noFill/>
          <a:ln w="19050">
            <a:solidFill>
              <a:srgbClr val="47B403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Establishing funding needs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7009" y="1502976"/>
            <a:ext cx="1656000" cy="5544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Prospect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9912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spc="-2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Developing the case for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816" y="1502975"/>
            <a:ext cx="1656000" cy="5539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Writing brilliant applications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8304" y="1504800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Record-keeping &amp; relationships</a:t>
            </a:r>
          </a:p>
        </p:txBody>
      </p:sp>
      <p:sp>
        <p:nvSpPr>
          <p:cNvPr id="10" name="Content Placeholder 1"/>
          <p:cNvSpPr txBox="1">
            <a:spLocks/>
          </p:cNvSpPr>
          <p:nvPr/>
        </p:nvSpPr>
        <p:spPr>
          <a:xfrm>
            <a:off x="467544" y="2780928"/>
            <a:ext cx="8229600" cy="432048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365760" lvl="0" indent="-256032">
              <a:spcBef>
                <a:spcPts val="400"/>
              </a:spcBef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r>
              <a:rPr lang="en-GB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1. Taking a punt with a ‘circular’ appeal</a:t>
            </a:r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467544" y="3212976"/>
            <a:ext cx="8229600" cy="1584176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365760" lvl="0" indent="-256032">
              <a:spcAft>
                <a:spcPts val="6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Create re-usable content to save time &amp; write stronger applications</a:t>
            </a:r>
          </a:p>
          <a:p>
            <a:pPr marL="365760" lvl="0" indent="-256032">
              <a:spcAft>
                <a:spcPts val="6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Do your research and tailor each application &amp; cover letter accordingly</a:t>
            </a:r>
          </a:p>
          <a:p>
            <a:pPr marL="365760" lvl="0" indent="-256032">
              <a:spcAft>
                <a:spcPts val="6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Don’t be tempted to think of it as a numbers game</a:t>
            </a:r>
          </a:p>
        </p:txBody>
      </p:sp>
      <p:sp>
        <p:nvSpPr>
          <p:cNvPr id="12" name="Content Placeholder 1"/>
          <p:cNvSpPr txBox="1">
            <a:spLocks/>
          </p:cNvSpPr>
          <p:nvPr/>
        </p:nvSpPr>
        <p:spPr>
          <a:xfrm>
            <a:off x="467544" y="4509120"/>
            <a:ext cx="8229600" cy="432048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365760" lvl="0" indent="-256032">
              <a:spcBef>
                <a:spcPts val="400"/>
              </a:spcBef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r>
              <a:rPr lang="en-GB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2. Making basic mistakes in your applications</a:t>
            </a:r>
          </a:p>
        </p:txBody>
      </p:sp>
      <p:sp>
        <p:nvSpPr>
          <p:cNvPr id="19" name="Content Placeholder 1"/>
          <p:cNvSpPr txBox="1">
            <a:spLocks/>
          </p:cNvSpPr>
          <p:nvPr/>
        </p:nvSpPr>
        <p:spPr>
          <a:xfrm>
            <a:off x="467544" y="4941168"/>
            <a:ext cx="8229600" cy="1584176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365760" lvl="0" indent="-256032">
              <a:spcAft>
                <a:spcPts val="6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Check every funder’s details on their website or on a funding database</a:t>
            </a:r>
          </a:p>
          <a:p>
            <a:pPr marL="365760" lvl="0" indent="-256032">
              <a:spcAft>
                <a:spcPts val="6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Triple check all the basic details – use a checklist if needed</a:t>
            </a:r>
          </a:p>
          <a:p>
            <a:pPr marL="365760" lvl="0" indent="-256032">
              <a:spcAft>
                <a:spcPts val="6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Check every application with a fresh pair of eyes</a:t>
            </a:r>
          </a:p>
        </p:txBody>
      </p:sp>
      <p:sp>
        <p:nvSpPr>
          <p:cNvPr id="20" name="Title 2"/>
          <p:cNvSpPr txBox="1">
            <a:spLocks/>
          </p:cNvSpPr>
          <p:nvPr/>
        </p:nvSpPr>
        <p:spPr>
          <a:xfrm>
            <a:off x="2411760" y="274638"/>
            <a:ext cx="6696744" cy="1143000"/>
          </a:xfrm>
          <a:prstGeom prst="rect">
            <a:avLst/>
          </a:prstGeom>
        </p:spPr>
        <p:txBody>
          <a:bodyPr vert="horz" numCol="1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GB" sz="2800" b="1" noProof="0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Five key stages of a T&amp;F programme</a:t>
            </a:r>
            <a:endParaRPr kumimoji="0" lang="en-GB" altLang="en-GB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Droid Sans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Content Placeholder 1"/>
          <p:cNvSpPr txBox="1">
            <a:spLocks/>
          </p:cNvSpPr>
          <p:nvPr/>
        </p:nvSpPr>
        <p:spPr>
          <a:xfrm>
            <a:off x="467544" y="2348880"/>
            <a:ext cx="8229600" cy="36004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>
              <a:spcAft>
                <a:spcPts val="700"/>
              </a:spcAft>
              <a:buClr>
                <a:srgbClr val="47B403"/>
              </a:buClr>
              <a:buSzPct val="68000"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Common trusts &amp; foundations mistakes to avoid</a:t>
            </a: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1520" y="1502974"/>
            <a:ext cx="1656000" cy="553998"/>
          </a:xfrm>
          <a:prstGeom prst="rect">
            <a:avLst/>
          </a:prstGeom>
          <a:noFill/>
          <a:ln w="19050">
            <a:solidFill>
              <a:srgbClr val="47B403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Establishing funding needs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7009" y="1502976"/>
            <a:ext cx="1656000" cy="5544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Prospect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9912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spc="-2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Developing the case for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816" y="1502975"/>
            <a:ext cx="1656000" cy="5539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Writing brilliant applications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8304" y="1504800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Record-keeping &amp; relationships</a:t>
            </a:r>
          </a:p>
        </p:txBody>
      </p:sp>
      <p:sp>
        <p:nvSpPr>
          <p:cNvPr id="10" name="Content Placeholder 1"/>
          <p:cNvSpPr txBox="1">
            <a:spLocks/>
          </p:cNvSpPr>
          <p:nvPr/>
        </p:nvSpPr>
        <p:spPr>
          <a:xfrm>
            <a:off x="467544" y="2780928"/>
            <a:ext cx="8229600" cy="432048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365760" lvl="0" indent="-256032">
              <a:spcBef>
                <a:spcPts val="400"/>
              </a:spcBef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r>
              <a:rPr lang="en-GB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3. Getting your budget wrong</a:t>
            </a:r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467544" y="3212976"/>
            <a:ext cx="8229600" cy="1584176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365760" indent="-256032">
              <a:spcAft>
                <a:spcPts val="6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Triple check your figures! (allow plenty of time for this)</a:t>
            </a:r>
          </a:p>
          <a:p>
            <a:pPr marL="365760" lvl="0" indent="-256032">
              <a:spcAft>
                <a:spcPts val="6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Use a budget calculator tool with formulae to auto-calculate totals</a:t>
            </a:r>
          </a:p>
          <a:p>
            <a:pPr marL="365760" lvl="0" indent="-256032">
              <a:spcAft>
                <a:spcPts val="6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Always ‘show your workings’, especially if multiple people are involved</a:t>
            </a:r>
          </a:p>
        </p:txBody>
      </p:sp>
      <p:sp>
        <p:nvSpPr>
          <p:cNvPr id="12" name="Content Placeholder 1"/>
          <p:cNvSpPr txBox="1">
            <a:spLocks/>
          </p:cNvSpPr>
          <p:nvPr/>
        </p:nvSpPr>
        <p:spPr>
          <a:xfrm>
            <a:off x="467544" y="4509120"/>
            <a:ext cx="8229600" cy="432048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365760" indent="-256032">
              <a:spcBef>
                <a:spcPts val="400"/>
              </a:spcBef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r>
              <a:rPr lang="en-GB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4. Failing to achieve full cost recovery</a:t>
            </a:r>
          </a:p>
        </p:txBody>
      </p:sp>
      <p:sp>
        <p:nvSpPr>
          <p:cNvPr id="19" name="Content Placeholder 1"/>
          <p:cNvSpPr txBox="1">
            <a:spLocks/>
          </p:cNvSpPr>
          <p:nvPr/>
        </p:nvSpPr>
        <p:spPr>
          <a:xfrm>
            <a:off x="467544" y="4941168"/>
            <a:ext cx="8352928" cy="1584176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365760" lvl="0" indent="-256032">
              <a:spcAft>
                <a:spcPts val="6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spc="-1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Calculate indirect costs for each project – these represent your ‘added value’</a:t>
            </a:r>
          </a:p>
          <a:p>
            <a:pPr marL="365760" lvl="0" indent="-256032">
              <a:spcAft>
                <a:spcPts val="6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Check each funder’s guidance on overhead costs – ask/clarify if needed</a:t>
            </a:r>
          </a:p>
          <a:p>
            <a:pPr marL="365760" lvl="0" indent="-256032">
              <a:spcAft>
                <a:spcPts val="6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If a grant or project puts your organisation’s finances at risk, walk away</a:t>
            </a:r>
          </a:p>
        </p:txBody>
      </p:sp>
      <p:sp>
        <p:nvSpPr>
          <p:cNvPr id="20" name="Title 2"/>
          <p:cNvSpPr txBox="1">
            <a:spLocks/>
          </p:cNvSpPr>
          <p:nvPr/>
        </p:nvSpPr>
        <p:spPr>
          <a:xfrm>
            <a:off x="2411760" y="274638"/>
            <a:ext cx="6696744" cy="1143000"/>
          </a:xfrm>
          <a:prstGeom prst="rect">
            <a:avLst/>
          </a:prstGeom>
        </p:spPr>
        <p:txBody>
          <a:bodyPr vert="horz" numCol="1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GB" sz="2800" b="1" noProof="0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Five key stages of a T&amp;F programme</a:t>
            </a:r>
            <a:endParaRPr kumimoji="0" lang="en-GB" altLang="en-GB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Droid Sans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Content Placeholder 1"/>
          <p:cNvSpPr txBox="1">
            <a:spLocks/>
          </p:cNvSpPr>
          <p:nvPr/>
        </p:nvSpPr>
        <p:spPr>
          <a:xfrm>
            <a:off x="467544" y="2348880"/>
            <a:ext cx="8229600" cy="36004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>
              <a:spcAft>
                <a:spcPts val="700"/>
              </a:spcAft>
              <a:buClr>
                <a:srgbClr val="47B403"/>
              </a:buClr>
              <a:buSzPct val="68000"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Common trusts &amp; foundations mistakes to avoid</a:t>
            </a: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1520" y="1502974"/>
            <a:ext cx="1656000" cy="553998"/>
          </a:xfrm>
          <a:prstGeom prst="rect">
            <a:avLst/>
          </a:prstGeom>
          <a:noFill/>
          <a:ln w="19050">
            <a:solidFill>
              <a:srgbClr val="47B403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Establishing funding needs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7009" y="1502976"/>
            <a:ext cx="1656000" cy="5544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Prospect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9912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spc="-2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Developing the case for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816" y="1502975"/>
            <a:ext cx="1656000" cy="5539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Writing brilliant applications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8304" y="1504800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Record-keeping &amp; relationships</a:t>
            </a:r>
          </a:p>
        </p:txBody>
      </p:sp>
      <p:sp>
        <p:nvSpPr>
          <p:cNvPr id="10" name="Content Placeholder 1"/>
          <p:cNvSpPr txBox="1">
            <a:spLocks/>
          </p:cNvSpPr>
          <p:nvPr/>
        </p:nvSpPr>
        <p:spPr>
          <a:xfrm>
            <a:off x="467544" y="2780928"/>
            <a:ext cx="8229600" cy="432048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365760" lvl="0" indent="-256032">
              <a:spcBef>
                <a:spcPts val="400"/>
              </a:spcBef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r>
              <a:rPr lang="en-GB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5. Ignoring guidelines from a funder</a:t>
            </a:r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467544" y="3212976"/>
            <a:ext cx="8229600" cy="1584176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365760" lvl="0" indent="-256032">
              <a:spcAft>
                <a:spcPts val="6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Read everything they’ve published &amp; create a checklist to remind you</a:t>
            </a:r>
          </a:p>
          <a:p>
            <a:pPr marL="365760" lvl="0" indent="-256032">
              <a:spcAft>
                <a:spcPts val="6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Try calling them to check details and ask questions</a:t>
            </a:r>
          </a:p>
          <a:p>
            <a:pPr marL="365760" lvl="0" indent="-256032">
              <a:spcAft>
                <a:spcPts val="6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Demonstrate and apply your knowledge in the application</a:t>
            </a:r>
          </a:p>
        </p:txBody>
      </p:sp>
      <p:sp>
        <p:nvSpPr>
          <p:cNvPr id="12" name="Content Placeholder 1"/>
          <p:cNvSpPr txBox="1">
            <a:spLocks/>
          </p:cNvSpPr>
          <p:nvPr/>
        </p:nvSpPr>
        <p:spPr>
          <a:xfrm>
            <a:off x="467544" y="4509120"/>
            <a:ext cx="8229600" cy="432048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365760" indent="-256032">
              <a:spcBef>
                <a:spcPts val="400"/>
              </a:spcBef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r>
              <a:rPr lang="en-GB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6. Failing to acknowledge previous support</a:t>
            </a:r>
          </a:p>
          <a:p>
            <a:pPr marL="365760" indent="-256032">
              <a:spcBef>
                <a:spcPts val="400"/>
              </a:spcBef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endParaRPr lang="en-GB" dirty="0">
              <a:solidFill>
                <a:srgbClr val="47B403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</p:txBody>
      </p:sp>
      <p:sp>
        <p:nvSpPr>
          <p:cNvPr id="19" name="Content Placeholder 1"/>
          <p:cNvSpPr txBox="1">
            <a:spLocks/>
          </p:cNvSpPr>
          <p:nvPr/>
        </p:nvSpPr>
        <p:spPr>
          <a:xfrm>
            <a:off x="467544" y="4941168"/>
            <a:ext cx="8229600" cy="1080120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365760" lvl="0" indent="-256032">
              <a:spcAft>
                <a:spcPts val="6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Check all previous correspondence &amp; grant details before you start</a:t>
            </a:r>
          </a:p>
          <a:p>
            <a:pPr marL="365760" lvl="0" indent="-256032">
              <a:spcAft>
                <a:spcPts val="6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Get your house in order (thanking and reporting) before applying again</a:t>
            </a:r>
          </a:p>
          <a:p>
            <a:pPr marL="365760" lvl="0" indent="-256032">
              <a:spcAft>
                <a:spcPts val="6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Reiterate your thanks &amp; reference previous grants in your cover letters</a:t>
            </a:r>
          </a:p>
        </p:txBody>
      </p:sp>
      <p:sp>
        <p:nvSpPr>
          <p:cNvPr id="20" name="Title 2"/>
          <p:cNvSpPr txBox="1">
            <a:spLocks/>
          </p:cNvSpPr>
          <p:nvPr/>
        </p:nvSpPr>
        <p:spPr>
          <a:xfrm>
            <a:off x="2411760" y="274638"/>
            <a:ext cx="6696744" cy="1143000"/>
          </a:xfrm>
          <a:prstGeom prst="rect">
            <a:avLst/>
          </a:prstGeom>
        </p:spPr>
        <p:txBody>
          <a:bodyPr vert="horz" numCol="1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GB" sz="2800" b="1" noProof="0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Five key stages of a T&amp;F programme</a:t>
            </a:r>
            <a:endParaRPr kumimoji="0" lang="en-GB" altLang="en-GB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Droid Sans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Content Placeholder 1"/>
          <p:cNvSpPr txBox="1">
            <a:spLocks/>
          </p:cNvSpPr>
          <p:nvPr/>
        </p:nvSpPr>
        <p:spPr>
          <a:xfrm>
            <a:off x="467544" y="2348880"/>
            <a:ext cx="8229600" cy="36004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>
              <a:spcAft>
                <a:spcPts val="700"/>
              </a:spcAft>
              <a:buClr>
                <a:srgbClr val="47B403"/>
              </a:buClr>
              <a:buSzPct val="68000"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Common trusts &amp; foundations mistakes to avoid</a:t>
            </a: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1520" y="1502974"/>
            <a:ext cx="1656000" cy="553998"/>
          </a:xfrm>
          <a:prstGeom prst="rect">
            <a:avLst/>
          </a:prstGeom>
          <a:noFill/>
          <a:ln w="19050">
            <a:solidFill>
              <a:srgbClr val="47B403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Establishing funding needs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7009" y="1502976"/>
            <a:ext cx="1656000" cy="5544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Prospect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9912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spc="-2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Developing the case for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816" y="1502975"/>
            <a:ext cx="1656000" cy="5539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Writing brilliant applications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8304" y="1504800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Record-keeping &amp; relationships</a:t>
            </a:r>
          </a:p>
        </p:txBody>
      </p:sp>
      <p:sp>
        <p:nvSpPr>
          <p:cNvPr id="10" name="Content Placeholder 1"/>
          <p:cNvSpPr txBox="1">
            <a:spLocks/>
          </p:cNvSpPr>
          <p:nvPr/>
        </p:nvSpPr>
        <p:spPr>
          <a:xfrm>
            <a:off x="467544" y="2780928"/>
            <a:ext cx="8229600" cy="432048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365760" lvl="0" indent="-256032">
              <a:spcBef>
                <a:spcPts val="400"/>
              </a:spcBef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r>
              <a:rPr lang="en-GB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7. Resorting to technical jargon</a:t>
            </a:r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467544" y="3212976"/>
            <a:ext cx="8229600" cy="1080120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365760" lvl="0" indent="-256032">
              <a:spcAft>
                <a:spcPts val="6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Avoid using technical language – remember you’re speaking to a person</a:t>
            </a:r>
          </a:p>
          <a:p>
            <a:pPr marL="365760" lvl="0" indent="-256032">
              <a:spcAft>
                <a:spcPts val="6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Explain everything in the clearest, simplest possible way</a:t>
            </a:r>
          </a:p>
          <a:p>
            <a:pPr marL="365760" lvl="0" indent="-256032">
              <a:spcAft>
                <a:spcPts val="6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Ask a friend or uninformed colleague to give a different perspective</a:t>
            </a:r>
          </a:p>
        </p:txBody>
      </p:sp>
      <p:sp>
        <p:nvSpPr>
          <p:cNvPr id="12" name="Content Placeholder 1"/>
          <p:cNvSpPr txBox="1">
            <a:spLocks/>
          </p:cNvSpPr>
          <p:nvPr/>
        </p:nvSpPr>
        <p:spPr>
          <a:xfrm>
            <a:off x="467544" y="4509120"/>
            <a:ext cx="8229600" cy="432048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365760" lvl="0" indent="-256032">
              <a:spcBef>
                <a:spcPts val="400"/>
              </a:spcBef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r>
              <a:rPr lang="en-GB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8. Inadvertently talking down your work</a:t>
            </a:r>
          </a:p>
        </p:txBody>
      </p:sp>
      <p:sp>
        <p:nvSpPr>
          <p:cNvPr id="19" name="Content Placeholder 1"/>
          <p:cNvSpPr txBox="1">
            <a:spLocks/>
          </p:cNvSpPr>
          <p:nvPr/>
        </p:nvSpPr>
        <p:spPr>
          <a:xfrm>
            <a:off x="467544" y="4941168"/>
            <a:ext cx="8229600" cy="1584176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365760" lvl="0" indent="-256032">
              <a:spcAft>
                <a:spcPts val="6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Take time to describe your beneficiaries and the need</a:t>
            </a:r>
          </a:p>
          <a:p>
            <a:pPr marL="365760" lvl="0" indent="-256032">
              <a:spcAft>
                <a:spcPts val="6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Use case studies and personal stories to inspire emotion and empathy</a:t>
            </a:r>
          </a:p>
          <a:p>
            <a:pPr marL="365760" lvl="0" indent="-256032">
              <a:spcAft>
                <a:spcPts val="600"/>
              </a:spcAft>
              <a:buClr>
                <a:schemeClr val="accent1"/>
              </a:buClr>
              <a:buSzPct val="68000"/>
              <a:buFont typeface="Wingdings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Use uncomfortable &amp; shocking information, but carefully!</a:t>
            </a:r>
          </a:p>
        </p:txBody>
      </p:sp>
      <p:sp>
        <p:nvSpPr>
          <p:cNvPr id="20" name="Title 2"/>
          <p:cNvSpPr txBox="1">
            <a:spLocks/>
          </p:cNvSpPr>
          <p:nvPr/>
        </p:nvSpPr>
        <p:spPr>
          <a:xfrm>
            <a:off x="2411760" y="274638"/>
            <a:ext cx="6696744" cy="1143000"/>
          </a:xfrm>
          <a:prstGeom prst="rect">
            <a:avLst/>
          </a:prstGeom>
        </p:spPr>
        <p:txBody>
          <a:bodyPr vert="horz" numCol="1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GB" sz="2800" b="1" noProof="0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Five key stages of a T&amp;F programme</a:t>
            </a:r>
            <a:endParaRPr kumimoji="0" lang="en-GB" altLang="en-GB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Droid Sans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Content Placeholder 1"/>
          <p:cNvSpPr txBox="1">
            <a:spLocks/>
          </p:cNvSpPr>
          <p:nvPr/>
        </p:nvSpPr>
        <p:spPr>
          <a:xfrm>
            <a:off x="467544" y="2348880"/>
            <a:ext cx="8229600" cy="3744416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>
              <a:spcAft>
                <a:spcPts val="1000"/>
              </a:spcAft>
              <a:buClr>
                <a:srgbClr val="47B403"/>
              </a:buClr>
              <a:buSzPct val="68000"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Organisation skills and attention to detail are essential for trusts fundraising. For every application, aim to record:</a:t>
            </a: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marL="365760" lvl="0" indent="-256032">
              <a:spcAft>
                <a:spcPts val="10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Any correspondence you had with the funder (who, when, what)</a:t>
            </a:r>
          </a:p>
          <a:p>
            <a:pPr marL="365760" lvl="0" indent="-256032">
              <a:spcAft>
                <a:spcPts val="10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How much you applied for</a:t>
            </a:r>
          </a:p>
          <a:p>
            <a:pPr marL="365760" lvl="0" indent="-256032">
              <a:spcAft>
                <a:spcPts val="10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What project / funding need you applied for</a:t>
            </a:r>
          </a:p>
          <a:p>
            <a:pPr marL="365760" indent="-256032">
              <a:spcAft>
                <a:spcPts val="10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How you applied, and where the application is stored</a:t>
            </a:r>
          </a:p>
          <a:p>
            <a:pPr marL="365760" lvl="0" indent="-256032">
              <a:spcAft>
                <a:spcPts val="10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When to expect a decision</a:t>
            </a:r>
          </a:p>
          <a:p>
            <a:pPr marL="365760" lvl="0" indent="-256032">
              <a:spcAft>
                <a:spcPts val="10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marL="365760" lvl="0" indent="-256032">
              <a:spcAft>
                <a:spcPts val="10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marL="365760" lvl="0" indent="-256032">
              <a:spcAft>
                <a:spcPts val="10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1520" y="1502974"/>
            <a:ext cx="1656000" cy="553998"/>
          </a:xfrm>
          <a:prstGeom prst="rect">
            <a:avLst/>
          </a:prstGeom>
          <a:noFill/>
          <a:ln w="19050">
            <a:solidFill>
              <a:srgbClr val="47B403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Establishing funding needs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7009" y="1502976"/>
            <a:ext cx="1656000" cy="5544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Prospect research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9912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spc="-2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Developing the case for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816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Writing brilliant applications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8304" y="1504800"/>
            <a:ext cx="1656000" cy="5539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Record-keeping &amp; relationships</a:t>
            </a:r>
          </a:p>
        </p:txBody>
      </p:sp>
      <p:sp>
        <p:nvSpPr>
          <p:cNvPr id="10" name="Title 2"/>
          <p:cNvSpPr txBox="1">
            <a:spLocks/>
          </p:cNvSpPr>
          <p:nvPr/>
        </p:nvSpPr>
        <p:spPr>
          <a:xfrm>
            <a:off x="2411760" y="274638"/>
            <a:ext cx="6696744" cy="1143000"/>
          </a:xfrm>
          <a:prstGeom prst="rect">
            <a:avLst/>
          </a:prstGeom>
        </p:spPr>
        <p:txBody>
          <a:bodyPr vert="horz" numCol="1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GB" sz="2800" b="1" noProof="0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Five key stages of a T&amp;F programme</a:t>
            </a:r>
            <a:endParaRPr kumimoji="0" lang="en-GB" altLang="en-GB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Droid Sans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Content Placeholder 1"/>
          <p:cNvSpPr txBox="1">
            <a:spLocks/>
          </p:cNvSpPr>
          <p:nvPr/>
        </p:nvSpPr>
        <p:spPr>
          <a:xfrm>
            <a:off x="467544" y="2348880"/>
            <a:ext cx="8229600" cy="3744416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>
              <a:spcAft>
                <a:spcPts val="800"/>
              </a:spcAft>
              <a:buClr>
                <a:srgbClr val="47B403"/>
              </a:buClr>
              <a:buSzPct val="68000"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Once a decision is made on your application, you should also record:</a:t>
            </a: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marL="365760" lvl="0" indent="-256032">
              <a:spcAft>
                <a:spcPts val="8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What the outcome was, and when</a:t>
            </a:r>
          </a:p>
          <a:p>
            <a:pPr marL="365760" lvl="0" indent="-256032">
              <a:spcAft>
                <a:spcPts val="8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If successful:</a:t>
            </a:r>
          </a:p>
          <a:p>
            <a:pPr marL="822960" lvl="1" indent="-256032">
              <a:spcAft>
                <a:spcPts val="8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How much you received</a:t>
            </a:r>
          </a:p>
          <a:p>
            <a:pPr marL="822960" lvl="1" indent="-256032">
              <a:spcAft>
                <a:spcPts val="8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Reporting requirements and timeframe</a:t>
            </a:r>
          </a:p>
          <a:p>
            <a:pPr marL="822960" lvl="1" indent="-256032">
              <a:spcAft>
                <a:spcPts val="8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Any conditions attached to the grant</a:t>
            </a:r>
          </a:p>
          <a:p>
            <a:pPr marL="365760" lvl="0" indent="-256032">
              <a:spcAft>
                <a:spcPts val="8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If unsuccessful:</a:t>
            </a:r>
          </a:p>
          <a:p>
            <a:pPr marL="822960" lvl="1" indent="-256032">
              <a:spcAft>
                <a:spcPts val="8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Any specific feedback that you received</a:t>
            </a:r>
          </a:p>
          <a:p>
            <a:pPr marL="822960" lvl="1" indent="-256032">
              <a:spcAft>
                <a:spcPts val="8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When you can re-apply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520" y="1502974"/>
            <a:ext cx="1656000" cy="553998"/>
          </a:xfrm>
          <a:prstGeom prst="rect">
            <a:avLst/>
          </a:prstGeom>
          <a:noFill/>
          <a:ln w="19050">
            <a:solidFill>
              <a:srgbClr val="47B403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Establishing funding needs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7009" y="1502976"/>
            <a:ext cx="1656000" cy="5544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Prospect research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9912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spc="-2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Developing the case for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816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Writing brilliant applications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8304" y="1504800"/>
            <a:ext cx="1656000" cy="5539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Record-keeping &amp; relationships</a:t>
            </a:r>
          </a:p>
        </p:txBody>
      </p:sp>
      <p:sp>
        <p:nvSpPr>
          <p:cNvPr id="10" name="Title 2"/>
          <p:cNvSpPr txBox="1">
            <a:spLocks/>
          </p:cNvSpPr>
          <p:nvPr/>
        </p:nvSpPr>
        <p:spPr>
          <a:xfrm>
            <a:off x="2411760" y="274638"/>
            <a:ext cx="6696744" cy="1143000"/>
          </a:xfrm>
          <a:prstGeom prst="rect">
            <a:avLst/>
          </a:prstGeom>
        </p:spPr>
        <p:txBody>
          <a:bodyPr vert="horz" numCol="1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GB" sz="2800" b="1" noProof="0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Five key stages of a T&amp;F programme</a:t>
            </a:r>
            <a:endParaRPr kumimoji="0" lang="en-GB" altLang="en-GB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Droid Sans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Content Placeholder 1"/>
          <p:cNvSpPr txBox="1">
            <a:spLocks/>
          </p:cNvSpPr>
          <p:nvPr/>
        </p:nvSpPr>
        <p:spPr>
          <a:xfrm>
            <a:off x="467544" y="2348880"/>
            <a:ext cx="8229600" cy="3744416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>
              <a:spcAft>
                <a:spcPts val="800"/>
              </a:spcAft>
              <a:buClr>
                <a:srgbClr val="47B403"/>
              </a:buClr>
              <a:buSzPct val="68000"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Some general record-keeping tips:</a:t>
            </a: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marL="365760" lvl="0" indent="-256032">
              <a:spcAft>
                <a:spcPts val="8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 CRM is ideal, but a well-maintained spreadsheet can be fine</a:t>
            </a:r>
          </a:p>
          <a:p>
            <a:pPr marL="365760" lvl="0" indent="-256032">
              <a:spcAft>
                <a:spcPts val="8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Keep a tidy filing system – name files clearly, use labelled sub-folders, remove old drafts</a:t>
            </a:r>
          </a:p>
          <a:p>
            <a:pPr marL="365760" lvl="0" indent="-256032">
              <a:spcAft>
                <a:spcPts val="8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Scan or store hard-copy correspondence and make sure it is easy to find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520" y="1502974"/>
            <a:ext cx="1656000" cy="553998"/>
          </a:xfrm>
          <a:prstGeom prst="rect">
            <a:avLst/>
          </a:prstGeom>
          <a:noFill/>
          <a:ln w="19050">
            <a:solidFill>
              <a:srgbClr val="47B403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Establishing funding needs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7009" y="1502976"/>
            <a:ext cx="1656000" cy="5544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Prospect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9912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spc="-2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Developing the case for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816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Writing brilliant applications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8304" y="1504800"/>
            <a:ext cx="1656000" cy="5539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Record-keeping &amp; relationships</a:t>
            </a:r>
          </a:p>
        </p:txBody>
      </p:sp>
      <p:sp>
        <p:nvSpPr>
          <p:cNvPr id="10" name="Title 2"/>
          <p:cNvSpPr txBox="1">
            <a:spLocks/>
          </p:cNvSpPr>
          <p:nvPr/>
        </p:nvSpPr>
        <p:spPr>
          <a:xfrm>
            <a:off x="2411760" y="274638"/>
            <a:ext cx="6696744" cy="1143000"/>
          </a:xfrm>
          <a:prstGeom prst="rect">
            <a:avLst/>
          </a:prstGeom>
        </p:spPr>
        <p:txBody>
          <a:bodyPr vert="horz" numCol="1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GB" sz="2800" b="1" noProof="0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Five key stages of a T&amp;F programme</a:t>
            </a:r>
            <a:endParaRPr kumimoji="0" lang="en-GB" altLang="en-GB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Droid Sans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Content Placeholder 1"/>
          <p:cNvSpPr txBox="1">
            <a:spLocks/>
          </p:cNvSpPr>
          <p:nvPr/>
        </p:nvSpPr>
        <p:spPr>
          <a:xfrm>
            <a:off x="467544" y="2348880"/>
            <a:ext cx="8229600" cy="3744416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>
              <a:spcAft>
                <a:spcPts val="800"/>
              </a:spcAft>
              <a:buClr>
                <a:srgbClr val="47B403"/>
              </a:buClr>
              <a:buSzPct val="68000"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Building relationships with funders:</a:t>
            </a: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marL="365760" lvl="0" indent="-256032">
              <a:spcAft>
                <a:spcPts val="8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Trusts aren’t faceless organisations – individual people make the decisions!</a:t>
            </a:r>
          </a:p>
          <a:p>
            <a:pPr marL="365760" lvl="0" indent="-256032">
              <a:spcAft>
                <a:spcPts val="8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Always capitalise on opportunities to speak to funders – before, during and after your application.</a:t>
            </a:r>
          </a:p>
          <a:p>
            <a:pPr marL="365760" lvl="0" indent="-256032">
              <a:spcAft>
                <a:spcPts val="8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Provide updates where possible e.g. any changes to your plans, other funding successes, positive news about your project.</a:t>
            </a:r>
          </a:p>
          <a:p>
            <a:pPr marL="365760" lvl="0" indent="-256032">
              <a:spcAft>
                <a:spcPts val="8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Be honest and open about any challenges – funders don’t expect everything to run smoothly, and can sometimes help.</a:t>
            </a:r>
          </a:p>
          <a:p>
            <a:pPr marL="365760" indent="-256032">
              <a:spcAft>
                <a:spcPts val="8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Phone calls are often best for gauging reactions &amp; getting informal advice.</a:t>
            </a:r>
          </a:p>
          <a:p>
            <a:pPr marL="365760" lvl="0" indent="-256032">
              <a:spcAft>
                <a:spcPts val="8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Look for opportunities to keep building relationships e.g. networking events, social media, invitations to see your work in action.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520" y="1502974"/>
            <a:ext cx="1656000" cy="553998"/>
          </a:xfrm>
          <a:prstGeom prst="rect">
            <a:avLst/>
          </a:prstGeom>
          <a:noFill/>
          <a:ln w="19050">
            <a:solidFill>
              <a:srgbClr val="47B403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Establishing funding needs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7009" y="1502976"/>
            <a:ext cx="1656000" cy="5544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Prospect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9912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spc="-2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Developing the case for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816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Writing brilliant applications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8304" y="1504800"/>
            <a:ext cx="1656000" cy="5539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Record-keeping &amp; relationships</a:t>
            </a:r>
          </a:p>
        </p:txBody>
      </p:sp>
      <p:sp>
        <p:nvSpPr>
          <p:cNvPr id="10" name="Title 2"/>
          <p:cNvSpPr txBox="1">
            <a:spLocks/>
          </p:cNvSpPr>
          <p:nvPr/>
        </p:nvSpPr>
        <p:spPr>
          <a:xfrm>
            <a:off x="2411760" y="274638"/>
            <a:ext cx="6696744" cy="1143000"/>
          </a:xfrm>
          <a:prstGeom prst="rect">
            <a:avLst/>
          </a:prstGeom>
        </p:spPr>
        <p:txBody>
          <a:bodyPr vert="horz" numCol="1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GB" sz="2800" b="1" noProof="0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Five key stages of a T&amp;F programme</a:t>
            </a:r>
            <a:endParaRPr kumimoji="0" lang="en-GB" altLang="en-GB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Droid Sans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85918" y="1700808"/>
            <a:ext cx="5612730" cy="1868788"/>
          </a:xfrm>
        </p:spPr>
        <p:txBody>
          <a:bodyPr>
            <a:noAutofit/>
          </a:bodyPr>
          <a:lstStyle/>
          <a:p>
            <a:pPr algn="ctr"/>
            <a:r>
              <a:rPr lang="en-GB" sz="3200" dirty="0">
                <a:latin typeface="Droid Sans" pitchFamily="34" charset="0"/>
                <a:ea typeface="Droid Sans" pitchFamily="34" charset="0"/>
                <a:cs typeface="Droid Sans" pitchFamily="34" charset="0"/>
              </a:rPr>
              <a:t>What funders say, what they really mean, and what to do about it</a:t>
            </a:r>
          </a:p>
        </p:txBody>
      </p:sp>
      <p:pic>
        <p:nvPicPr>
          <p:cNvPr id="4" name="Picture 3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14678" y="500042"/>
            <a:ext cx="2618072" cy="952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617830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1"/>
          <p:cNvSpPr txBox="1">
            <a:spLocks/>
          </p:cNvSpPr>
          <p:nvPr/>
        </p:nvSpPr>
        <p:spPr>
          <a:xfrm>
            <a:off x="467544" y="1628800"/>
            <a:ext cx="8229600" cy="2088232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365760" lvl="0" indent="-256032">
              <a:lnSpc>
                <a:spcPts val="2000"/>
              </a:lnSpc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 funder says: </a:t>
            </a: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“We don’t fund running or salary costs”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1907704" y="274638"/>
            <a:ext cx="6696744" cy="1143000"/>
          </a:xfrm>
          <a:prstGeom prst="rect">
            <a:avLst/>
          </a:prstGeom>
        </p:spPr>
        <p:txBody>
          <a:bodyPr vert="horz" numCol="1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GB" sz="2800" b="1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What funders say…</a:t>
            </a:r>
            <a:endParaRPr kumimoji="0" lang="en-GB" altLang="en-GB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Droid Sans"/>
              <a:ea typeface="+mj-ea"/>
              <a:cs typeface="+mj-cs"/>
            </a:endParaRPr>
          </a:p>
        </p:txBody>
      </p:sp>
      <p:sp>
        <p:nvSpPr>
          <p:cNvPr id="7" name="Content Placeholder 1"/>
          <p:cNvSpPr txBox="1">
            <a:spLocks/>
          </p:cNvSpPr>
          <p:nvPr/>
        </p:nvSpPr>
        <p:spPr>
          <a:xfrm>
            <a:off x="446856" y="4077072"/>
            <a:ext cx="8229600" cy="1971600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109728">
              <a:lnSpc>
                <a:spcPts val="2000"/>
              </a:lnSpc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How you can respond:</a:t>
            </a:r>
          </a:p>
          <a:p>
            <a:pPr marL="395478" lvl="0" indent="-285750">
              <a:lnSpc>
                <a:spcPts val="2000"/>
              </a:lnSpc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Package your work into projects which include funding for key staff</a:t>
            </a:r>
          </a:p>
          <a:p>
            <a:pPr marL="395478" lvl="0" indent="-285750">
              <a:lnSpc>
                <a:spcPts val="2000"/>
              </a:lnSpc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Adopt a full cost-recovery approach to claim a share of overheads</a:t>
            </a:r>
          </a:p>
          <a:p>
            <a:pPr marL="395478" lvl="0" indent="-285750">
              <a:lnSpc>
                <a:spcPts val="2000"/>
              </a:lnSpc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Careful budgeting will prevent you having to ‘dip in’ to core funding</a:t>
            </a:r>
          </a:p>
          <a:p>
            <a:pPr marL="395478" lvl="0" indent="-285750">
              <a:lnSpc>
                <a:spcPts val="2000"/>
              </a:lnSpc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Identify specialist funders who do fund running and/or salary costs</a:t>
            </a:r>
          </a:p>
          <a:p>
            <a:pPr marL="365760" lvl="0" indent="-256032"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</p:txBody>
      </p:sp>
      <p:sp>
        <p:nvSpPr>
          <p:cNvPr id="9" name="Content Placeholder 1"/>
          <p:cNvSpPr txBox="1">
            <a:spLocks/>
          </p:cNvSpPr>
          <p:nvPr/>
        </p:nvSpPr>
        <p:spPr>
          <a:xfrm>
            <a:off x="467544" y="2060848"/>
            <a:ext cx="8229600" cy="2088232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365760" lvl="0" indent="-256032">
              <a:lnSpc>
                <a:spcPts val="2000"/>
              </a:lnSpc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They may mean: </a:t>
            </a:r>
          </a:p>
          <a:p>
            <a:pPr marL="395478" lvl="0" indent="-285750">
              <a:lnSpc>
                <a:spcPts val="2000"/>
              </a:lnSpc>
              <a:spcAft>
                <a:spcPts val="1200"/>
              </a:spcAft>
              <a:buClr>
                <a:schemeClr val="accent1"/>
              </a:buClr>
              <a:buSzPct val="68000"/>
              <a:buFont typeface="Wingdings" panose="05000000000000000000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They won’t fund running or salary costs as a stand-alone item</a:t>
            </a:r>
          </a:p>
          <a:p>
            <a:pPr marL="395478" lvl="0" indent="-285750">
              <a:lnSpc>
                <a:spcPts val="2000"/>
              </a:lnSpc>
              <a:spcAft>
                <a:spcPts val="1200"/>
              </a:spcAft>
              <a:buClr>
                <a:schemeClr val="accent1"/>
              </a:buClr>
              <a:buSzPct val="68000"/>
              <a:buFont typeface="Wingdings" panose="05000000000000000000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They’re seeking tangible projects that can easily be linked to their funding</a:t>
            </a:r>
          </a:p>
          <a:p>
            <a:pPr marL="395478" lvl="0" indent="-285750">
              <a:lnSpc>
                <a:spcPts val="2000"/>
              </a:lnSpc>
              <a:spcAft>
                <a:spcPts val="1200"/>
              </a:spcAft>
              <a:buClr>
                <a:schemeClr val="accent1"/>
              </a:buClr>
              <a:buSzPct val="68000"/>
              <a:buFont typeface="Wingdings" panose="05000000000000000000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Funding of this nature doesn’t help them to achieve their goal</a:t>
            </a:r>
          </a:p>
          <a:p>
            <a:pPr marL="395478" lvl="0" indent="-285750">
              <a:lnSpc>
                <a:spcPts val="2000"/>
              </a:lnSpc>
              <a:spcAft>
                <a:spcPts val="1200"/>
              </a:spcAft>
              <a:buClr>
                <a:schemeClr val="accent1"/>
              </a:buClr>
              <a:buSzPct val="68000"/>
              <a:buFont typeface="Wingdings" panose="05000000000000000000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They want to fund meaningful project work, not pay to keep people in jobs</a:t>
            </a:r>
          </a:p>
        </p:txBody>
      </p:sp>
    </p:spTree>
    <p:extLst>
      <p:ext uri="{BB962C8B-B14F-4D97-AF65-F5344CB8AC3E}">
        <p14:creationId xmlns:p14="http://schemas.microsoft.com/office/powerpoint/2010/main" xmlns="" val="692108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1"/>
          <p:cNvSpPr txBox="1">
            <a:spLocks/>
          </p:cNvSpPr>
          <p:nvPr/>
        </p:nvSpPr>
        <p:spPr>
          <a:xfrm>
            <a:off x="467544" y="1628800"/>
            <a:ext cx="8229600" cy="4176464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365760" lvl="0" indent="-256032">
              <a:lnSpc>
                <a:spcPts val="2000"/>
              </a:lnSpc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 funder says: </a:t>
            </a: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“We only fund new ideas and activities”</a:t>
            </a:r>
          </a:p>
          <a:p>
            <a:pPr marL="395478" lvl="0" indent="-285750">
              <a:spcAft>
                <a:spcPts val="1200"/>
              </a:spcAft>
              <a:buClr>
                <a:schemeClr val="accent1"/>
              </a:buClr>
              <a:buSzPct val="68000"/>
              <a:buFont typeface="Wingdings" panose="05000000000000000000" pitchFamily="2" charset="2"/>
              <a:buChar char="Ø"/>
              <a:defRPr/>
            </a:pP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marL="365760" lvl="0" indent="-256032"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1907704" y="274638"/>
            <a:ext cx="6696744" cy="1143000"/>
          </a:xfrm>
          <a:prstGeom prst="rect">
            <a:avLst/>
          </a:prstGeom>
        </p:spPr>
        <p:txBody>
          <a:bodyPr vert="horz" numCol="1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GB" sz="2800" b="1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What funders say…</a:t>
            </a:r>
            <a:endParaRPr kumimoji="0" lang="en-GB" altLang="en-GB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Droid Sans"/>
              <a:ea typeface="+mj-ea"/>
              <a:cs typeface="+mj-cs"/>
            </a:endParaRPr>
          </a:p>
        </p:txBody>
      </p:sp>
      <p:sp>
        <p:nvSpPr>
          <p:cNvPr id="7" name="Content Placeholder 1"/>
          <p:cNvSpPr txBox="1">
            <a:spLocks/>
          </p:cNvSpPr>
          <p:nvPr/>
        </p:nvSpPr>
        <p:spPr>
          <a:xfrm>
            <a:off x="467544" y="1988840"/>
            <a:ext cx="8229600" cy="1224136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365760" lvl="0" indent="-256032">
              <a:lnSpc>
                <a:spcPts val="2000"/>
              </a:lnSpc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They may mean: </a:t>
            </a:r>
          </a:p>
          <a:p>
            <a:pPr marL="395478" lvl="0" indent="-285750">
              <a:lnSpc>
                <a:spcPts val="2000"/>
              </a:lnSpc>
              <a:spcAft>
                <a:spcPts val="1200"/>
              </a:spcAft>
              <a:buClr>
                <a:schemeClr val="accent1"/>
              </a:buClr>
              <a:buSzPct val="68000"/>
              <a:buFont typeface="Wingdings" panose="05000000000000000000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They are looking for evidence of innovation</a:t>
            </a:r>
          </a:p>
          <a:p>
            <a:pPr marL="395478" lvl="0" indent="-285750">
              <a:lnSpc>
                <a:spcPts val="2000"/>
              </a:lnSpc>
              <a:spcAft>
                <a:spcPts val="1200"/>
              </a:spcAft>
              <a:buClr>
                <a:schemeClr val="accent1"/>
              </a:buClr>
              <a:buSzPct val="68000"/>
              <a:buFont typeface="Wingdings" panose="05000000000000000000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They don’t want to fund the same activities year on year</a:t>
            </a:r>
          </a:p>
          <a:p>
            <a:pPr marL="395478" lvl="0" indent="-285750">
              <a:spcAft>
                <a:spcPts val="1200"/>
              </a:spcAft>
              <a:buClr>
                <a:schemeClr val="accent1"/>
              </a:buClr>
              <a:buSzPct val="68000"/>
              <a:buFont typeface="Wingdings" panose="05000000000000000000" pitchFamily="2" charset="2"/>
              <a:buChar char="Ø"/>
              <a:defRPr/>
            </a:pP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marL="365760" lvl="0" indent="-256032"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</p:txBody>
      </p:sp>
      <p:sp>
        <p:nvSpPr>
          <p:cNvPr id="9" name="Content Placeholder 1"/>
          <p:cNvSpPr txBox="1">
            <a:spLocks/>
          </p:cNvSpPr>
          <p:nvPr/>
        </p:nvSpPr>
        <p:spPr>
          <a:xfrm>
            <a:off x="467544" y="3140968"/>
            <a:ext cx="8229600" cy="2376264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109728">
              <a:lnSpc>
                <a:spcPts val="2000"/>
              </a:lnSpc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How you can respond:</a:t>
            </a:r>
          </a:p>
          <a:p>
            <a:pPr marL="395478" lvl="0" indent="-285750">
              <a:lnSpc>
                <a:spcPts val="2000"/>
              </a:lnSpc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Your projects may not be new to you, but are they innovative in your field?</a:t>
            </a:r>
          </a:p>
          <a:p>
            <a:pPr marL="395478" indent="-285750">
              <a:lnSpc>
                <a:spcPts val="2000"/>
              </a:lnSpc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Show the learning process of your project – evolution, lessons learned</a:t>
            </a:r>
          </a:p>
          <a:p>
            <a:pPr marL="395478" indent="-285750">
              <a:lnSpc>
                <a:spcPts val="2000"/>
              </a:lnSpc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Show how new developments (e.g. new evidence or changing political climate) make your current projects more necessary</a:t>
            </a:r>
          </a:p>
          <a:p>
            <a:pPr marL="395478" lvl="0" indent="-285750">
              <a:lnSpc>
                <a:spcPts val="2000"/>
              </a:lnSpc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Could your project be a catalyst for others?</a:t>
            </a:r>
          </a:p>
          <a:p>
            <a:pPr marL="395478" indent="-285750">
              <a:lnSpc>
                <a:spcPts val="2000"/>
              </a:lnSpc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Provide evidence of beneficiary consultation</a:t>
            </a:r>
          </a:p>
          <a:p>
            <a:pPr marL="395478" lvl="0" indent="-285750">
              <a:lnSpc>
                <a:spcPts val="2000"/>
              </a:lnSpc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Speak to and meet with funders</a:t>
            </a:r>
          </a:p>
          <a:p>
            <a:pPr marL="109728" lvl="0"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marL="395478" lvl="0" indent="-285750">
              <a:spcAft>
                <a:spcPts val="1200"/>
              </a:spcAft>
              <a:buClr>
                <a:schemeClr val="accent1"/>
              </a:buClr>
              <a:buSzPct val="68000"/>
              <a:buFont typeface="Wingdings" panose="05000000000000000000" pitchFamily="2" charset="2"/>
              <a:buChar char="Ø"/>
              <a:defRPr/>
            </a:pP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marL="365760" lvl="0" indent="-256032"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25641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1"/>
          <p:cNvSpPr txBox="1">
            <a:spLocks/>
          </p:cNvSpPr>
          <p:nvPr/>
        </p:nvSpPr>
        <p:spPr>
          <a:xfrm>
            <a:off x="467544" y="1628800"/>
            <a:ext cx="8229600" cy="432048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365760" lvl="0" indent="-256032">
              <a:lnSpc>
                <a:spcPts val="2000"/>
              </a:lnSpc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 funder says: </a:t>
            </a: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“We don’t fund work which is a statutory responsibility”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1907704" y="274638"/>
            <a:ext cx="6696744" cy="1143000"/>
          </a:xfrm>
          <a:prstGeom prst="rect">
            <a:avLst/>
          </a:prstGeom>
        </p:spPr>
        <p:txBody>
          <a:bodyPr vert="horz" numCol="1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GB" sz="2800" b="1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What funders say…</a:t>
            </a:r>
            <a:endParaRPr kumimoji="0" lang="en-GB" altLang="en-GB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Droid Sans"/>
              <a:ea typeface="+mj-ea"/>
              <a:cs typeface="+mj-cs"/>
            </a:endParaRPr>
          </a:p>
        </p:txBody>
      </p:sp>
      <p:sp>
        <p:nvSpPr>
          <p:cNvPr id="7" name="Content Placeholder 1"/>
          <p:cNvSpPr txBox="1">
            <a:spLocks/>
          </p:cNvSpPr>
          <p:nvPr/>
        </p:nvSpPr>
        <p:spPr>
          <a:xfrm>
            <a:off x="467544" y="1988840"/>
            <a:ext cx="8229600" cy="1584176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365760" lvl="0" indent="-256032">
              <a:lnSpc>
                <a:spcPts val="2000"/>
              </a:lnSpc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They may mean: </a:t>
            </a:r>
          </a:p>
          <a:p>
            <a:pPr marL="395478" lvl="0" indent="-285750">
              <a:lnSpc>
                <a:spcPts val="2000"/>
              </a:lnSpc>
              <a:spcAft>
                <a:spcPts val="1200"/>
              </a:spcAft>
              <a:buClr>
                <a:schemeClr val="accent1"/>
              </a:buClr>
              <a:buSzPct val="68000"/>
              <a:buFont typeface="Wingdings" panose="05000000000000000000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They don’t want to pick up the slack for government spending cuts.</a:t>
            </a:r>
          </a:p>
          <a:p>
            <a:pPr marL="395478" lvl="0" indent="-285750">
              <a:lnSpc>
                <a:spcPts val="2000"/>
              </a:lnSpc>
              <a:spcAft>
                <a:spcPts val="1200"/>
              </a:spcAft>
              <a:buClr>
                <a:schemeClr val="accent1"/>
              </a:buClr>
              <a:buSzPct val="68000"/>
              <a:buFont typeface="Wingdings" panose="05000000000000000000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They’re not interested in funding work which is typically government-funded e.g. residential care, housing, employment support.</a:t>
            </a:r>
          </a:p>
        </p:txBody>
      </p:sp>
      <p:sp>
        <p:nvSpPr>
          <p:cNvPr id="9" name="Content Placeholder 1"/>
          <p:cNvSpPr txBox="1">
            <a:spLocks/>
          </p:cNvSpPr>
          <p:nvPr/>
        </p:nvSpPr>
        <p:spPr>
          <a:xfrm>
            <a:off x="446856" y="3356992"/>
            <a:ext cx="8229600" cy="2448272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109728">
              <a:lnSpc>
                <a:spcPts val="2000"/>
              </a:lnSpc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How you can respond:</a:t>
            </a:r>
          </a:p>
          <a:p>
            <a:pPr marL="395478" lvl="0" indent="-285750">
              <a:lnSpc>
                <a:spcPts val="2000"/>
              </a:lnSpc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Show your work is different, better or more innovative.</a:t>
            </a:r>
          </a:p>
          <a:p>
            <a:pPr marL="395478" lvl="0" indent="-285750">
              <a:lnSpc>
                <a:spcPts val="2000"/>
              </a:lnSpc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Define your work in terms of what beneficiaries need and why your experience tells you it’s necessary, rather than just presenting it as a substitute for a statutory-funded project.</a:t>
            </a:r>
          </a:p>
          <a:p>
            <a:pPr marL="395478" lvl="0" indent="-285750">
              <a:lnSpc>
                <a:spcPts val="2000"/>
              </a:lnSpc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Demonstrate social return on investment - how does your work save e.g. the NHS money?</a:t>
            </a:r>
          </a:p>
          <a:p>
            <a:pPr marL="395478" indent="-285750">
              <a:lnSpc>
                <a:spcPts val="2000"/>
              </a:lnSpc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Know when to walk away from a funder that simply isn’t the right fit.</a:t>
            </a:r>
          </a:p>
          <a:p>
            <a:pPr marL="395478" lvl="0" indent="-285750">
              <a:lnSpc>
                <a:spcPts val="2000"/>
              </a:lnSpc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marL="395478" lvl="0" indent="-285750">
              <a:lnSpc>
                <a:spcPts val="2000"/>
              </a:lnSpc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marL="109728" lvl="0"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marL="365760" lvl="0" indent="-256032"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27587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1"/>
          <p:cNvSpPr txBox="1">
            <a:spLocks/>
          </p:cNvSpPr>
          <p:nvPr/>
        </p:nvSpPr>
        <p:spPr>
          <a:xfrm>
            <a:off x="467544" y="1628800"/>
            <a:ext cx="8229600" cy="432048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365760" lvl="0" indent="-256032">
              <a:lnSpc>
                <a:spcPts val="2000"/>
              </a:lnSpc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 funder says: </a:t>
            </a: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“We don’t accept unsolicited applications”</a:t>
            </a:r>
          </a:p>
          <a:p>
            <a:pPr marL="365760" lvl="0" indent="-256032"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1907704" y="274638"/>
            <a:ext cx="6696744" cy="1143000"/>
          </a:xfrm>
          <a:prstGeom prst="rect">
            <a:avLst/>
          </a:prstGeom>
        </p:spPr>
        <p:txBody>
          <a:bodyPr vert="horz" numCol="1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GB" sz="2800" b="1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What funders say…</a:t>
            </a:r>
            <a:endParaRPr kumimoji="0" lang="en-GB" altLang="en-GB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Droid Sans"/>
              <a:ea typeface="+mj-ea"/>
              <a:cs typeface="+mj-cs"/>
            </a:endParaRPr>
          </a:p>
        </p:txBody>
      </p:sp>
      <p:sp>
        <p:nvSpPr>
          <p:cNvPr id="7" name="Content Placeholder 1"/>
          <p:cNvSpPr txBox="1">
            <a:spLocks/>
          </p:cNvSpPr>
          <p:nvPr/>
        </p:nvSpPr>
        <p:spPr>
          <a:xfrm>
            <a:off x="467544" y="2060848"/>
            <a:ext cx="8229600" cy="2088232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365760" lvl="0" indent="-256032">
              <a:lnSpc>
                <a:spcPts val="2000"/>
              </a:lnSpc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They may mean: </a:t>
            </a:r>
          </a:p>
          <a:p>
            <a:pPr marL="395478" lvl="0" indent="-285750">
              <a:lnSpc>
                <a:spcPts val="2000"/>
              </a:lnSpc>
              <a:spcAft>
                <a:spcPts val="1200"/>
              </a:spcAft>
              <a:buClr>
                <a:schemeClr val="accent1"/>
              </a:buClr>
              <a:buSzPct val="68000"/>
              <a:buFont typeface="Wingdings" panose="05000000000000000000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The organisation does its own research into the work it wishes to fund</a:t>
            </a:r>
          </a:p>
          <a:p>
            <a:pPr marL="395478" indent="-285750">
              <a:lnSpc>
                <a:spcPts val="2000"/>
              </a:lnSpc>
              <a:spcAft>
                <a:spcPts val="1200"/>
              </a:spcAft>
              <a:buClr>
                <a:schemeClr val="accent1"/>
              </a:buClr>
              <a:buSzPct val="68000"/>
              <a:buFont typeface="Wingdings" panose="05000000000000000000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They fund based on personal recommendations</a:t>
            </a:r>
          </a:p>
          <a:p>
            <a:pPr marL="395478" lvl="0" indent="-285750">
              <a:lnSpc>
                <a:spcPts val="2000"/>
              </a:lnSpc>
              <a:spcAft>
                <a:spcPts val="1200"/>
              </a:spcAft>
              <a:buClr>
                <a:schemeClr val="accent1"/>
              </a:buClr>
              <a:buSzPct val="68000"/>
              <a:buFont typeface="Wingdings" panose="05000000000000000000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They have received too many poor quality applications in the past</a:t>
            </a:r>
          </a:p>
          <a:p>
            <a:pPr marL="395478" lvl="0" indent="-285750">
              <a:lnSpc>
                <a:spcPts val="2000"/>
              </a:lnSpc>
              <a:spcAft>
                <a:spcPts val="1200"/>
              </a:spcAft>
              <a:buClr>
                <a:schemeClr val="accent1"/>
              </a:buClr>
              <a:buSzPct val="68000"/>
              <a:buFont typeface="Wingdings" panose="05000000000000000000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They don’t have the resources to manage large numbers of applications</a:t>
            </a:r>
          </a:p>
          <a:p>
            <a:pPr marL="365760" lvl="0" indent="-256032"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</p:txBody>
      </p:sp>
      <p:sp>
        <p:nvSpPr>
          <p:cNvPr id="9" name="Content Placeholder 1"/>
          <p:cNvSpPr txBox="1">
            <a:spLocks/>
          </p:cNvSpPr>
          <p:nvPr/>
        </p:nvSpPr>
        <p:spPr>
          <a:xfrm>
            <a:off x="467544" y="4149080"/>
            <a:ext cx="8229600" cy="2016224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109728">
              <a:lnSpc>
                <a:spcPts val="2000"/>
              </a:lnSpc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How you can respond:</a:t>
            </a:r>
          </a:p>
          <a:p>
            <a:pPr marL="395478" indent="-285750">
              <a:lnSpc>
                <a:spcPts val="2000"/>
              </a:lnSpc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Ask their advice </a:t>
            </a: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– If they have funded similar projects, what can you learn?</a:t>
            </a:r>
            <a:endParaRPr lang="en-GB" dirty="0">
              <a:solidFill>
                <a:srgbClr val="47B403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marL="395478" indent="-285750">
              <a:lnSpc>
                <a:spcPts val="2000"/>
              </a:lnSpc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Explore relationships </a:t>
            </a: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– Do you know anyone who can introduce you?</a:t>
            </a:r>
          </a:p>
          <a:p>
            <a:pPr marL="395478" lvl="0" indent="-285750">
              <a:lnSpc>
                <a:spcPts val="2000"/>
              </a:lnSpc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Get noticed </a:t>
            </a: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– Letter of introduction, annual report, invite them to visit you</a:t>
            </a:r>
          </a:p>
          <a:p>
            <a:pPr marL="395478" lvl="0" indent="-285750">
              <a:lnSpc>
                <a:spcPts val="2000"/>
              </a:lnSpc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Create connections </a:t>
            </a: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– Do they have a newsletter/social media?</a:t>
            </a:r>
          </a:p>
          <a:p>
            <a:pPr marL="109728" lvl="0"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marL="365760" lvl="0" indent="-256032"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10194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1"/>
          <p:cNvSpPr txBox="1">
            <a:spLocks/>
          </p:cNvSpPr>
          <p:nvPr/>
        </p:nvSpPr>
        <p:spPr>
          <a:xfrm>
            <a:off x="467544" y="1628800"/>
            <a:ext cx="8229600" cy="720080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87313" lvl="0"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 funder says:	</a:t>
            </a: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“We don’t enter into discussions about funding in advance or provide feedback”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1907704" y="274638"/>
            <a:ext cx="6696744" cy="1143000"/>
          </a:xfrm>
          <a:prstGeom prst="rect">
            <a:avLst/>
          </a:prstGeom>
        </p:spPr>
        <p:txBody>
          <a:bodyPr vert="horz" numCol="1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GB" sz="2800" b="1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What funders say…</a:t>
            </a:r>
            <a:endParaRPr kumimoji="0" lang="en-GB" altLang="en-GB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Droid Sans"/>
              <a:ea typeface="+mj-ea"/>
              <a:cs typeface="+mj-cs"/>
            </a:endParaRPr>
          </a:p>
        </p:txBody>
      </p:sp>
      <p:sp>
        <p:nvSpPr>
          <p:cNvPr id="7" name="Content Placeholder 1"/>
          <p:cNvSpPr txBox="1">
            <a:spLocks/>
          </p:cNvSpPr>
          <p:nvPr/>
        </p:nvSpPr>
        <p:spPr>
          <a:xfrm>
            <a:off x="446856" y="2564904"/>
            <a:ext cx="8229600" cy="2763688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365760" lvl="0" indent="-256032"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They may mean: </a:t>
            </a:r>
          </a:p>
          <a:p>
            <a:pPr marL="395478" lvl="0" indent="-285750">
              <a:spcAft>
                <a:spcPts val="1200"/>
              </a:spcAft>
              <a:buClr>
                <a:schemeClr val="accent1"/>
              </a:buClr>
              <a:buSzPct val="68000"/>
              <a:buFont typeface="Wingdings" panose="05000000000000000000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They don’t have the resources to provide this support</a:t>
            </a:r>
          </a:p>
          <a:p>
            <a:pPr marL="395478" lvl="0" indent="-285750">
              <a:spcAft>
                <a:spcPts val="1200"/>
              </a:spcAft>
              <a:buClr>
                <a:schemeClr val="accent1"/>
              </a:buClr>
              <a:buSzPct val="68000"/>
              <a:buFont typeface="Wingdings" panose="05000000000000000000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They don’t see value in these discussions</a:t>
            </a:r>
          </a:p>
          <a:p>
            <a:pPr marL="395478" lvl="0" indent="-285750">
              <a:spcAft>
                <a:spcPts val="1200"/>
              </a:spcAft>
              <a:buClr>
                <a:schemeClr val="accent1"/>
              </a:buClr>
              <a:buSzPct val="68000"/>
              <a:buFont typeface="Wingdings" panose="05000000000000000000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They prioritise relationships with the organisations they fund</a:t>
            </a:r>
          </a:p>
          <a:p>
            <a:pPr marL="395478" lvl="0" indent="-285750">
              <a:spcAft>
                <a:spcPts val="1200"/>
              </a:spcAft>
              <a:buClr>
                <a:schemeClr val="accent1"/>
              </a:buClr>
              <a:buSzPct val="68000"/>
              <a:buFont typeface="Wingdings" panose="05000000000000000000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Feedback can be debateable and create further discussion</a:t>
            </a:r>
          </a:p>
          <a:p>
            <a:pPr marL="395478" lvl="0" indent="-285750">
              <a:spcAft>
                <a:spcPts val="1200"/>
              </a:spcAft>
              <a:buClr>
                <a:schemeClr val="accent1"/>
              </a:buClr>
              <a:buSzPct val="68000"/>
              <a:buFont typeface="Wingdings" panose="05000000000000000000" pitchFamily="2" charset="2"/>
              <a:buChar char="Ø"/>
              <a:defRPr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Sometimes there is nothing helpful a funder can tell you!</a:t>
            </a:r>
          </a:p>
          <a:p>
            <a:pPr marL="395478" lvl="0" indent="-285750">
              <a:spcAft>
                <a:spcPts val="1200"/>
              </a:spcAft>
              <a:buClr>
                <a:schemeClr val="accent1"/>
              </a:buClr>
              <a:buSzPct val="68000"/>
              <a:buFont typeface="Wingdings" panose="05000000000000000000" pitchFamily="2" charset="2"/>
              <a:buChar char="Ø"/>
              <a:defRPr/>
            </a:pP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marL="365760" lvl="0" indent="-256032"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61739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1"/>
          <p:cNvSpPr txBox="1">
            <a:spLocks/>
          </p:cNvSpPr>
          <p:nvPr/>
        </p:nvSpPr>
        <p:spPr>
          <a:xfrm>
            <a:off x="467544" y="1628800"/>
            <a:ext cx="8229600" cy="792088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87313" lvl="0"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 funder says:	</a:t>
            </a: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“We don’t enter into discussions about funding in advance or provide feedback”</a:t>
            </a:r>
          </a:p>
          <a:p>
            <a:pPr marL="395478" lvl="0" indent="-285750"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 marL="365760" lvl="0" indent="-256032"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endParaRPr lang="en-GB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1907704" y="274638"/>
            <a:ext cx="6696744" cy="1143000"/>
          </a:xfrm>
          <a:prstGeom prst="rect">
            <a:avLst/>
          </a:prstGeom>
        </p:spPr>
        <p:txBody>
          <a:bodyPr vert="horz" numCol="1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GB" sz="2800" b="1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What funders say…</a:t>
            </a:r>
            <a:endParaRPr kumimoji="0" lang="en-GB" altLang="en-GB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Droid Sans"/>
              <a:ea typeface="+mj-ea"/>
              <a:cs typeface="+mj-cs"/>
            </a:endParaRPr>
          </a:p>
        </p:txBody>
      </p:sp>
      <p:sp>
        <p:nvSpPr>
          <p:cNvPr id="7" name="Content Placeholder 1"/>
          <p:cNvSpPr txBox="1">
            <a:spLocks/>
          </p:cNvSpPr>
          <p:nvPr/>
        </p:nvSpPr>
        <p:spPr>
          <a:xfrm>
            <a:off x="446856" y="2537520"/>
            <a:ext cx="8229600" cy="2763688"/>
          </a:xfrm>
          <a:prstGeom prst="rect">
            <a:avLst/>
          </a:prstGeom>
        </p:spPr>
        <p:txBody>
          <a:bodyPr vert="horz" numCol="1">
            <a:noAutofit/>
          </a:bodyPr>
          <a:lstStyle/>
          <a:p>
            <a:pPr marL="109728">
              <a:spcAft>
                <a:spcPts val="1200"/>
              </a:spcAft>
              <a:buClr>
                <a:schemeClr val="accent1"/>
              </a:buClr>
              <a:buSzPct val="68000"/>
              <a:defRPr/>
            </a:pPr>
            <a:r>
              <a:rPr lang="en-GB" b="1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How you can respond:</a:t>
            </a:r>
          </a:p>
          <a:p>
            <a:pPr marL="395478" indent="-285750"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Research similar projects they have funded</a:t>
            </a:r>
          </a:p>
          <a:p>
            <a:pPr marL="395478" indent="-285750"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Tap into existing relationships with funders</a:t>
            </a:r>
          </a:p>
          <a:p>
            <a:pPr marL="395478" lvl="0" indent="-285750"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Read any guidelines carefully</a:t>
            </a:r>
          </a:p>
          <a:p>
            <a:pPr marL="395478" lvl="0" indent="-285750"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Cast a critical eye over your application – ask someone less familiar with your work</a:t>
            </a:r>
          </a:p>
          <a:p>
            <a:pPr marL="395478" lvl="0" indent="-285750"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Call a funder to avoid the ‘copy and paste’ email response</a:t>
            </a:r>
          </a:p>
          <a:p>
            <a:pPr marL="395478" lvl="0" indent="-285750">
              <a:spcAft>
                <a:spcPts val="1000"/>
              </a:spcAft>
              <a:buClr>
                <a:srgbClr val="47B403"/>
              </a:buClr>
              <a:buSzPct val="68000"/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Accept that competition is fierce</a:t>
            </a:r>
          </a:p>
        </p:txBody>
      </p:sp>
    </p:spTree>
    <p:extLst>
      <p:ext uri="{BB962C8B-B14F-4D97-AF65-F5344CB8AC3E}">
        <p14:creationId xmlns:p14="http://schemas.microsoft.com/office/powerpoint/2010/main" xmlns="" val="497316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itle 2"/>
          <p:cNvSpPr txBox="1">
            <a:spLocks/>
          </p:cNvSpPr>
          <p:nvPr/>
        </p:nvSpPr>
        <p:spPr>
          <a:xfrm>
            <a:off x="2411760" y="274638"/>
            <a:ext cx="6696744" cy="1143000"/>
          </a:xfrm>
          <a:prstGeom prst="rect">
            <a:avLst/>
          </a:prstGeom>
        </p:spPr>
        <p:txBody>
          <a:bodyPr vert="horz" numCol="1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GB" sz="2800" b="1" noProof="0" dirty="0">
                <a:solidFill>
                  <a:schemeClr val="tx2"/>
                </a:solidFill>
                <a:latin typeface="Droid Sans"/>
                <a:ea typeface="+mj-ea"/>
                <a:cs typeface="+mj-cs"/>
              </a:rPr>
              <a:t>Questions &amp; final thoughts?</a:t>
            </a:r>
            <a:endParaRPr kumimoji="0" lang="en-GB" altLang="en-GB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Droid Sans"/>
              <a:ea typeface="+mj-ea"/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1520" y="1502974"/>
            <a:ext cx="1656000" cy="553998"/>
          </a:xfrm>
          <a:prstGeom prst="rect">
            <a:avLst/>
          </a:prstGeom>
          <a:noFill/>
          <a:ln w="19050">
            <a:solidFill>
              <a:srgbClr val="47B403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Establishing funding needs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7009" y="1502976"/>
            <a:ext cx="1656000" cy="5544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Prospect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9912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spc="-2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Developing the case for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816" y="1502975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Writing brilliant 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8304" y="1504800"/>
            <a:ext cx="1656000" cy="5539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Record-keeping &amp; relationships</a:t>
            </a:r>
          </a:p>
        </p:txBody>
      </p:sp>
      <p:pic>
        <p:nvPicPr>
          <p:cNvPr id="1026" name="Picture 2" descr="C:\Users\Mike\Google Drive\Work\Lime Green\1. Marketing &amp; networking\Blogging\Lime Green\Image 21. Handing out money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27784" y="2276872"/>
            <a:ext cx="3902075" cy="39020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 txBox="1">
            <a:spLocks/>
          </p:cNvSpPr>
          <p:nvPr/>
        </p:nvSpPr>
        <p:spPr>
          <a:xfrm>
            <a:off x="1822508" y="274638"/>
            <a:ext cx="5688632" cy="114300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GB" sz="2800" b="1" dirty="0">
                <a:solidFill>
                  <a:schemeClr val="tx2"/>
                </a:solidFill>
                <a:latin typeface="Droid Sans"/>
              </a:rPr>
              <a:t>What to do next?</a:t>
            </a:r>
          </a:p>
        </p:txBody>
      </p:sp>
      <p:pic>
        <p:nvPicPr>
          <p:cNvPr id="6" name="Picture 5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467544" y="1700808"/>
            <a:ext cx="828092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buClr>
                <a:srgbClr val="47B403"/>
              </a:buClr>
              <a:buFont typeface="Wingdings" pitchFamily="2" charset="2"/>
              <a:buChar char="Ø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 </a:t>
            </a:r>
            <a:r>
              <a:rPr lang="en-GB" sz="20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Complete</a:t>
            </a:r>
            <a:r>
              <a:rPr lang="en-GB" sz="2000" dirty="0">
                <a:latin typeface="Droid Sans" pitchFamily="34" charset="0"/>
                <a:ea typeface="Droid Sans" pitchFamily="34" charset="0"/>
                <a:cs typeface="Droid Sans" pitchFamily="34" charset="0"/>
              </a:rPr>
              <a:t> </a:t>
            </a:r>
            <a:r>
              <a:rPr lang="en-GB" sz="20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the </a:t>
            </a:r>
            <a:r>
              <a:rPr lang="en-GB" sz="2000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feedback form</a:t>
            </a:r>
          </a:p>
          <a:p>
            <a:pPr>
              <a:spcAft>
                <a:spcPts val="1800"/>
              </a:spcAft>
              <a:buClr>
                <a:srgbClr val="47B403"/>
              </a:buClr>
              <a:buFont typeface="Wingdings" pitchFamily="2" charset="2"/>
              <a:buChar char="Ø"/>
            </a:pPr>
            <a:r>
              <a:rPr lang="en-GB" sz="20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 Leave contact details to receive </a:t>
            </a:r>
            <a:r>
              <a:rPr lang="en-GB" sz="2000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follow-up resources </a:t>
            </a:r>
            <a:r>
              <a:rPr lang="en-GB" sz="20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and </a:t>
            </a:r>
            <a:r>
              <a:rPr lang="en-GB" sz="2000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helpsheets</a:t>
            </a:r>
            <a:r>
              <a:rPr lang="en-GB" sz="20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 </a:t>
            </a:r>
            <a:endParaRPr lang="en-GB" sz="2000" dirty="0">
              <a:solidFill>
                <a:srgbClr val="47B403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  <a:p>
            <a:pPr>
              <a:spcAft>
                <a:spcPts val="1800"/>
              </a:spcAft>
              <a:buClr>
                <a:srgbClr val="47B403"/>
              </a:buClr>
              <a:buFont typeface="Wingdings" pitchFamily="2" charset="2"/>
              <a:buChar char="Ø"/>
            </a:pPr>
            <a:r>
              <a:rPr lang="en-GB" sz="20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 Visit</a:t>
            </a:r>
            <a:r>
              <a:rPr lang="en-GB" sz="2000" dirty="0">
                <a:latin typeface="Droid Sans" pitchFamily="34" charset="0"/>
                <a:ea typeface="Droid Sans" pitchFamily="34" charset="0"/>
                <a:cs typeface="Droid Sans" pitchFamily="34" charset="0"/>
              </a:rPr>
              <a:t> </a:t>
            </a:r>
            <a:r>
              <a:rPr lang="en-GB" sz="2000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www.limegreenconsulting.co.uk</a:t>
            </a:r>
            <a:r>
              <a:rPr lang="en-GB" sz="2000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 for more information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 txBox="1">
            <a:spLocks/>
          </p:cNvSpPr>
          <p:nvPr/>
        </p:nvSpPr>
        <p:spPr>
          <a:xfrm>
            <a:off x="2483768" y="274638"/>
            <a:ext cx="5976664" cy="114300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GB" sz="2800" b="1" dirty="0">
                <a:solidFill>
                  <a:srgbClr val="515151"/>
                </a:solidFill>
                <a:latin typeface="Droid Sans"/>
              </a:rPr>
              <a:t>About Lime Green Consulting </a:t>
            </a:r>
          </a:p>
        </p:txBody>
      </p:sp>
      <p:pic>
        <p:nvPicPr>
          <p:cNvPr id="6" name="Picture 5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500042"/>
            <a:ext cx="2094458" cy="762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1484784"/>
            <a:ext cx="7920880" cy="1761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ontent Placeholder 1"/>
          <p:cNvSpPr txBox="1">
            <a:spLocks/>
          </p:cNvSpPr>
          <p:nvPr/>
        </p:nvSpPr>
        <p:spPr>
          <a:xfrm>
            <a:off x="467544" y="3429000"/>
            <a:ext cx="2448272" cy="1512168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174625" lvl="0" indent="-166688">
              <a:spcAft>
                <a:spcPts val="10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Business planning</a:t>
            </a:r>
          </a:p>
          <a:p>
            <a:pPr marL="174625" lvl="0" indent="-166688">
              <a:spcAft>
                <a:spcPts val="10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Facilitation</a:t>
            </a:r>
          </a:p>
          <a:p>
            <a:pPr marL="174625" lvl="0" indent="-166688">
              <a:spcAft>
                <a:spcPts val="10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Theory of change</a:t>
            </a:r>
          </a:p>
        </p:txBody>
      </p:sp>
      <p:sp>
        <p:nvSpPr>
          <p:cNvPr id="10" name="Content Placeholder 1"/>
          <p:cNvSpPr txBox="1">
            <a:spLocks/>
          </p:cNvSpPr>
          <p:nvPr/>
        </p:nvSpPr>
        <p:spPr>
          <a:xfrm>
            <a:off x="3131840" y="3429000"/>
            <a:ext cx="2448272" cy="1512168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174625" lvl="0" indent="-166688">
              <a:spcAft>
                <a:spcPts val="10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Fundraising strategy</a:t>
            </a:r>
          </a:p>
          <a:p>
            <a:pPr marL="174625" lvl="0" indent="-166688">
              <a:spcAft>
                <a:spcPts val="10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Advice &amp; mentoring</a:t>
            </a:r>
          </a:p>
          <a:p>
            <a:pPr marL="174625" lvl="0" indent="-166688">
              <a:spcAft>
                <a:spcPts val="10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Case for support</a:t>
            </a:r>
          </a:p>
          <a:p>
            <a:pPr marL="174625" lvl="0" indent="-166688">
              <a:spcAft>
                <a:spcPts val="10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New campaigns</a:t>
            </a:r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5940152" y="3429000"/>
            <a:ext cx="2736304" cy="1512168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174625" lvl="0" indent="-166688">
              <a:spcAft>
                <a:spcPts val="10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Grant funding strategy</a:t>
            </a:r>
          </a:p>
          <a:p>
            <a:pPr marL="174625" lvl="0" indent="-166688">
              <a:spcAft>
                <a:spcPts val="10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Prospect research</a:t>
            </a:r>
          </a:p>
          <a:p>
            <a:pPr marL="174625" lvl="0" indent="-166688">
              <a:spcAft>
                <a:spcPts val="10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Template applications</a:t>
            </a:r>
          </a:p>
          <a:p>
            <a:pPr marL="174625" lvl="0" indent="-166688">
              <a:spcAft>
                <a:spcPts val="1000"/>
              </a:spcAft>
              <a:buClr>
                <a:srgbClr val="47B403"/>
              </a:buClr>
              <a:buSzPct val="68000"/>
              <a:buFont typeface="Wingdings 3"/>
              <a:buChar char=""/>
            </a:pPr>
            <a:r>
              <a:rPr lang="en-GB" dirty="0">
                <a:solidFill>
                  <a:srgbClr val="515151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Bid writing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91680" y="2060848"/>
            <a:ext cx="5832648" cy="1512168"/>
          </a:xfrm>
        </p:spPr>
        <p:txBody>
          <a:bodyPr>
            <a:normAutofit/>
          </a:bodyPr>
          <a:lstStyle/>
          <a:p>
            <a:pPr algn="ctr">
              <a:spcBef>
                <a:spcPts val="1200"/>
              </a:spcBef>
            </a:pPr>
            <a:r>
              <a:rPr lang="en-GB" sz="2800" dirty="0">
                <a:latin typeface="Droid Sans" pitchFamily="34" charset="0"/>
                <a:ea typeface="Droid Sans" pitchFamily="34" charset="0"/>
                <a:cs typeface="Droid Sans" pitchFamily="34" charset="0"/>
              </a:rPr>
              <a:t>Thank you!</a:t>
            </a:r>
            <a:br>
              <a:rPr lang="en-GB" sz="2800" dirty="0">
                <a:latin typeface="Droid Sans" pitchFamily="34" charset="0"/>
                <a:ea typeface="Droid Sans" pitchFamily="34" charset="0"/>
                <a:cs typeface="Droid Sans" pitchFamily="34" charset="0"/>
              </a:rPr>
            </a:br>
            <a:r>
              <a:rPr lang="en-GB" sz="1900" dirty="0">
                <a:latin typeface="Droid Sans" pitchFamily="34" charset="0"/>
                <a:ea typeface="Droid Sans" pitchFamily="34" charset="0"/>
                <a:cs typeface="Droid Sans" pitchFamily="34" charset="0"/>
              </a:rPr>
              <a:t/>
            </a:r>
            <a:br>
              <a:rPr lang="en-GB" sz="1900" dirty="0">
                <a:latin typeface="Droid Sans" pitchFamily="34" charset="0"/>
                <a:ea typeface="Droid Sans" pitchFamily="34" charset="0"/>
                <a:cs typeface="Droid Sans" pitchFamily="34" charset="0"/>
              </a:rPr>
            </a:br>
            <a:r>
              <a:rPr lang="en-GB" sz="2800" dirty="0">
                <a:solidFill>
                  <a:srgbClr val="47B403"/>
                </a:solidFill>
                <a:latin typeface="Droid Sans" pitchFamily="34" charset="0"/>
                <a:ea typeface="Droid Sans" pitchFamily="34" charset="0"/>
                <a:cs typeface="Droid Sans" pitchFamily="34" charset="0"/>
              </a:rPr>
              <a:t>www.limegreenconsulting.co.uk</a:t>
            </a:r>
            <a:endParaRPr lang="en-GB" sz="2800" dirty="0">
              <a:solidFill>
                <a:srgbClr val="515151"/>
              </a:solidFill>
              <a:latin typeface="Droid Sans" pitchFamily="34" charset="0"/>
              <a:ea typeface="Droid Sans" pitchFamily="34" charset="0"/>
              <a:cs typeface="Droid Sans" pitchFamily="34" charset="0"/>
            </a:endParaRPr>
          </a:p>
        </p:txBody>
      </p:sp>
      <p:pic>
        <p:nvPicPr>
          <p:cNvPr id="4" name="Picture 3" descr="C:\Users\Mike\Google Drive\Work\Solo consultancy\Planning work\Website\Core visual elements\Lime Green Consulting final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14678" y="500042"/>
            <a:ext cx="2618072" cy="952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3327914" y="4081632"/>
            <a:ext cx="2684246" cy="571504"/>
          </a:xfrm>
          <a:prstGeom prst="rect">
            <a:avLst/>
          </a:prstGeom>
        </p:spPr>
        <p:txBody>
          <a:bodyPr vert="horz" anchor="b">
            <a:normAutofit fontScale="975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Droid Sans" pitchFamily="34" charset="0"/>
                <a:ea typeface="Droid Sans" pitchFamily="34" charset="0"/>
                <a:cs typeface="Droid Sans" pitchFamily="34" charset="0"/>
              </a:rPr>
              <a:t>In partnership with:</a:t>
            </a:r>
          </a:p>
        </p:txBody>
      </p:sp>
      <p:pic>
        <p:nvPicPr>
          <p:cNvPr id="9" name="Picture 3" descr="C:\Users\Mike\Google Drive\Work\Lime Green\6. Client work\Short-term strategic consultancy\Paid workshops &amp; webinars\School for Social Entrepreneurs\SSE log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2160" y="3990181"/>
            <a:ext cx="2858158" cy="95098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Lime Green">
      <a:dk1>
        <a:sysClr val="windowText" lastClr="000000"/>
      </a:dk1>
      <a:lt1>
        <a:sysClr val="window" lastClr="FFFFFF"/>
      </a:lt1>
      <a:dk2>
        <a:srgbClr val="464646"/>
      </a:dk2>
      <a:lt2>
        <a:srgbClr val="515151"/>
      </a:lt2>
      <a:accent1>
        <a:srgbClr val="47B403"/>
      </a:accent1>
      <a:accent2>
        <a:srgbClr val="515151"/>
      </a:accent2>
      <a:accent3>
        <a:srgbClr val="9DB735"/>
      </a:accent3>
      <a:accent4>
        <a:srgbClr val="47B403"/>
      </a:accent4>
      <a:accent5>
        <a:srgbClr val="515151"/>
      </a:accent5>
      <a:accent6>
        <a:srgbClr val="9DB735"/>
      </a:accent6>
      <a:hlink>
        <a:srgbClr val="FF8119"/>
      </a:hlink>
      <a:folHlink>
        <a:srgbClr val="47B403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22951</TotalTime>
  <Words>3314</Words>
  <Application>Microsoft Office PowerPoint</Application>
  <PresentationFormat>On-screen Show (4:3)</PresentationFormat>
  <Paragraphs>510</Paragraphs>
  <Slides>49</Slides>
  <Notes>28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0" baseType="lpstr">
      <vt:lpstr>Concourse</vt:lpstr>
      <vt:lpstr>Trusts &amp; Foundations Fundraising    2 August 2018</vt:lpstr>
      <vt:lpstr>Slide 2</vt:lpstr>
      <vt:lpstr>Slide 3</vt:lpstr>
      <vt:lpstr>Slide 4</vt:lpstr>
      <vt:lpstr>Raising money from trusts and foundations: what are the challenges?</vt:lpstr>
      <vt:lpstr>Slide 6</vt:lpstr>
      <vt:lpstr>Trusts &amp; foundations: State of the landscape</vt:lpstr>
      <vt:lpstr>Slide 8</vt:lpstr>
      <vt:lpstr>Slide 9</vt:lpstr>
      <vt:lpstr>Slide 10</vt:lpstr>
      <vt:lpstr>The five key stages of a successful trusts &amp; foundations programme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What funders say, what they really mean, and what to do about it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Thank you!  www.limegreenconsulting.co.uk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Lime Green Consulting</dc:title>
  <dc:creator>Mike</dc:creator>
  <cp:lastModifiedBy>Mike</cp:lastModifiedBy>
  <cp:revision>853</cp:revision>
  <dcterms:created xsi:type="dcterms:W3CDTF">2014-08-15T13:33:33Z</dcterms:created>
  <dcterms:modified xsi:type="dcterms:W3CDTF">2018-08-06T16:24:52Z</dcterms:modified>
</cp:coreProperties>
</file>
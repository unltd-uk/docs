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866" r:id="rId2"/>
  </p:sldMasterIdLst>
  <p:notesMasterIdLst>
    <p:notesMasterId r:id="rId22"/>
  </p:notesMasterIdLst>
  <p:sldIdLst>
    <p:sldId id="331" r:id="rId3"/>
    <p:sldId id="376" r:id="rId4"/>
    <p:sldId id="380" r:id="rId5"/>
    <p:sldId id="379" r:id="rId6"/>
    <p:sldId id="392" r:id="rId7"/>
    <p:sldId id="389" r:id="rId8"/>
    <p:sldId id="386" r:id="rId9"/>
    <p:sldId id="387" r:id="rId10"/>
    <p:sldId id="378" r:id="rId11"/>
    <p:sldId id="395" r:id="rId12"/>
    <p:sldId id="393" r:id="rId13"/>
    <p:sldId id="390" r:id="rId14"/>
    <p:sldId id="400" r:id="rId15"/>
    <p:sldId id="396" r:id="rId16"/>
    <p:sldId id="399" r:id="rId17"/>
    <p:sldId id="394" r:id="rId18"/>
    <p:sldId id="398" r:id="rId19"/>
    <p:sldId id="397" r:id="rId20"/>
    <p:sldId id="391" r:id="rId21"/>
  </p:sldIdLst>
  <p:sldSz cx="9144000" cy="6858000" type="screen4x3"/>
  <p:notesSz cx="7099300" cy="10234613"/>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pitchFamily="112" charset="-128"/>
        <a:cs typeface="+mn-cs"/>
      </a:defRPr>
    </a:lvl1pPr>
    <a:lvl2pPr marL="457200" algn="l" rtl="0" eaLnBrk="0" fontAlgn="base" hangingPunct="0">
      <a:spcBef>
        <a:spcPct val="0"/>
      </a:spcBef>
      <a:spcAft>
        <a:spcPct val="0"/>
      </a:spcAft>
      <a:defRPr sz="2800" kern="1200">
        <a:solidFill>
          <a:schemeClr val="tx1"/>
        </a:solidFill>
        <a:latin typeface="Arial" charset="0"/>
        <a:ea typeface="ＭＳ Ｐゴシック" pitchFamily="112" charset="-128"/>
        <a:cs typeface="+mn-cs"/>
      </a:defRPr>
    </a:lvl2pPr>
    <a:lvl3pPr marL="914400" algn="l" rtl="0" eaLnBrk="0" fontAlgn="base" hangingPunct="0">
      <a:spcBef>
        <a:spcPct val="0"/>
      </a:spcBef>
      <a:spcAft>
        <a:spcPct val="0"/>
      </a:spcAft>
      <a:defRPr sz="2800" kern="1200">
        <a:solidFill>
          <a:schemeClr val="tx1"/>
        </a:solidFill>
        <a:latin typeface="Arial" charset="0"/>
        <a:ea typeface="ＭＳ Ｐゴシック" pitchFamily="112" charset="-128"/>
        <a:cs typeface="+mn-cs"/>
      </a:defRPr>
    </a:lvl3pPr>
    <a:lvl4pPr marL="1371600" algn="l" rtl="0" eaLnBrk="0" fontAlgn="base" hangingPunct="0">
      <a:spcBef>
        <a:spcPct val="0"/>
      </a:spcBef>
      <a:spcAft>
        <a:spcPct val="0"/>
      </a:spcAft>
      <a:defRPr sz="2800" kern="1200">
        <a:solidFill>
          <a:schemeClr val="tx1"/>
        </a:solidFill>
        <a:latin typeface="Arial" charset="0"/>
        <a:ea typeface="ＭＳ Ｐゴシック" pitchFamily="112" charset="-128"/>
        <a:cs typeface="+mn-cs"/>
      </a:defRPr>
    </a:lvl4pPr>
    <a:lvl5pPr marL="1828800" algn="l" rtl="0" eaLnBrk="0" fontAlgn="base" hangingPunct="0">
      <a:spcBef>
        <a:spcPct val="0"/>
      </a:spcBef>
      <a:spcAft>
        <a:spcPct val="0"/>
      </a:spcAft>
      <a:defRPr sz="2800" kern="1200">
        <a:solidFill>
          <a:schemeClr val="tx1"/>
        </a:solidFill>
        <a:latin typeface="Arial" charset="0"/>
        <a:ea typeface="ＭＳ Ｐゴシック" pitchFamily="112" charset="-128"/>
        <a:cs typeface="+mn-cs"/>
      </a:defRPr>
    </a:lvl5pPr>
    <a:lvl6pPr marL="2286000" algn="l" defTabSz="914400" rtl="0" eaLnBrk="1" latinLnBrk="0" hangingPunct="1">
      <a:defRPr sz="2800" kern="1200">
        <a:solidFill>
          <a:schemeClr val="tx1"/>
        </a:solidFill>
        <a:latin typeface="Arial" charset="0"/>
        <a:ea typeface="ＭＳ Ｐゴシック" pitchFamily="112" charset="-128"/>
        <a:cs typeface="+mn-cs"/>
      </a:defRPr>
    </a:lvl6pPr>
    <a:lvl7pPr marL="2743200" algn="l" defTabSz="914400" rtl="0" eaLnBrk="1" latinLnBrk="0" hangingPunct="1">
      <a:defRPr sz="2800" kern="1200">
        <a:solidFill>
          <a:schemeClr val="tx1"/>
        </a:solidFill>
        <a:latin typeface="Arial" charset="0"/>
        <a:ea typeface="ＭＳ Ｐゴシック" pitchFamily="112" charset="-128"/>
        <a:cs typeface="+mn-cs"/>
      </a:defRPr>
    </a:lvl7pPr>
    <a:lvl8pPr marL="3200400" algn="l" defTabSz="914400" rtl="0" eaLnBrk="1" latinLnBrk="0" hangingPunct="1">
      <a:defRPr sz="2800" kern="1200">
        <a:solidFill>
          <a:schemeClr val="tx1"/>
        </a:solidFill>
        <a:latin typeface="Arial" charset="0"/>
        <a:ea typeface="ＭＳ Ｐゴシック" pitchFamily="112" charset="-128"/>
        <a:cs typeface="+mn-cs"/>
      </a:defRPr>
    </a:lvl8pPr>
    <a:lvl9pPr marL="3657600" algn="l" defTabSz="914400" rtl="0" eaLnBrk="1" latinLnBrk="0" hangingPunct="1">
      <a:defRPr sz="2800" kern="1200">
        <a:solidFill>
          <a:schemeClr val="tx1"/>
        </a:solidFill>
        <a:latin typeface="Arial" charset="0"/>
        <a:ea typeface="ＭＳ Ｐゴシック" pitchFamily="112"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DAC3"/>
    <a:srgbClr val="E86B0F"/>
    <a:srgbClr val="E6E6E6"/>
    <a:srgbClr val="C7C7C7"/>
    <a:srgbClr val="060C3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9" autoAdjust="0"/>
    <p:restoredTop sz="90962" autoAdjust="0"/>
  </p:normalViewPr>
  <p:slideViewPr>
    <p:cSldViewPr>
      <p:cViewPr varScale="1">
        <p:scale>
          <a:sx n="61" d="100"/>
          <a:sy n="61" d="100"/>
        </p:scale>
        <p:origin x="-114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9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lvl1pPr>
              <a:defRPr sz="1300">
                <a:latin typeface="Arial" charset="0"/>
                <a:ea typeface="ＭＳ Ｐゴシック" pitchFamily="1" charset="-128"/>
              </a:defRPr>
            </a:lvl1pPr>
          </a:lstStyle>
          <a:p>
            <a:pPr>
              <a:defRPr/>
            </a:pPr>
            <a:endParaRPr lang="en-US"/>
          </a:p>
        </p:txBody>
      </p:sp>
      <p:sp>
        <p:nvSpPr>
          <p:cNvPr id="3075" name="Rectangle 3"/>
          <p:cNvSpPr>
            <a:spLocks noGrp="1" noChangeArrowheads="1"/>
          </p:cNvSpPr>
          <p:nvPr>
            <p:ph type="dt" idx="1"/>
          </p:nvPr>
        </p:nvSpPr>
        <p:spPr bwMode="auto">
          <a:xfrm>
            <a:off x="4022725" y="0"/>
            <a:ext cx="3076575" cy="511175"/>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lvl1pPr algn="r">
              <a:defRPr sz="1300">
                <a:latin typeface="Arial" charset="0"/>
                <a:ea typeface="ＭＳ Ｐゴシック" pitchFamily="1" charset="-128"/>
              </a:defRPr>
            </a:lvl1pPr>
          </a:lstStyle>
          <a:p>
            <a:pPr>
              <a:defRPr/>
            </a:pPr>
            <a:endParaRPr lang="en-US"/>
          </a:p>
        </p:txBody>
      </p:sp>
      <p:sp>
        <p:nvSpPr>
          <p:cNvPr id="2253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46150" y="4860925"/>
            <a:ext cx="5207000" cy="4605338"/>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8"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p:spPr>
        <p:txBody>
          <a:bodyPr vert="horz" wrap="square" lIns="99048" tIns="49524" rIns="99048" bIns="49524" numCol="1" anchor="b" anchorCtr="0" compatLnSpc="1">
            <a:prstTxWarp prst="textNoShape">
              <a:avLst/>
            </a:prstTxWarp>
          </a:bodyPr>
          <a:lstStyle>
            <a:lvl1pPr>
              <a:defRPr sz="1300">
                <a:latin typeface="Arial" charset="0"/>
                <a:ea typeface="ＭＳ Ｐゴシック" pitchFamily="1" charset="-128"/>
              </a:defRPr>
            </a:lvl1pPr>
          </a:lstStyle>
          <a:p>
            <a:pPr>
              <a:defRPr/>
            </a:pPr>
            <a:endParaRPr lang="en-US"/>
          </a:p>
        </p:txBody>
      </p:sp>
      <p:sp>
        <p:nvSpPr>
          <p:cNvPr id="3079"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p:spPr>
        <p:txBody>
          <a:bodyPr vert="horz" wrap="square" lIns="99048" tIns="49524" rIns="99048" bIns="49524" numCol="1" anchor="b" anchorCtr="0" compatLnSpc="1">
            <a:prstTxWarp prst="textNoShape">
              <a:avLst/>
            </a:prstTxWarp>
          </a:bodyPr>
          <a:lstStyle>
            <a:lvl1pPr algn="r">
              <a:defRPr sz="1300">
                <a:latin typeface="Arial" charset="0"/>
                <a:ea typeface="ＭＳ Ｐゴシック" pitchFamily="1" charset="-128"/>
              </a:defRPr>
            </a:lvl1pPr>
          </a:lstStyle>
          <a:p>
            <a:pPr>
              <a:defRPr/>
            </a:pPr>
            <a:fld id="{00EFF6E6-645C-4CE6-80A5-A99E460DF8F9}"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49C29789-5542-487D-B75C-1B2034303697}" type="slidenum">
              <a:rPr lang="en-US" smtClean="0">
                <a:ea typeface="ＭＳ Ｐゴシック" pitchFamily="112" charset="-128"/>
              </a:rPr>
              <a:pPr/>
              <a:t>1</a:t>
            </a:fld>
            <a:endParaRPr lang="en-US" smtClean="0">
              <a:ea typeface="ＭＳ Ｐゴシック" pitchFamily="112" charset="-128"/>
            </a:endParaRPr>
          </a:p>
        </p:txBody>
      </p:sp>
      <p:sp>
        <p:nvSpPr>
          <p:cNvPr id="23555" name="Rectangle 2"/>
          <p:cNvSpPr>
            <a:spLocks noGrp="1" noRot="1" noChangeAspect="1" noChangeArrowheads="1" noTextEdit="1"/>
          </p:cNvSpPr>
          <p:nvPr>
            <p:ph type="sldImg"/>
          </p:nvPr>
        </p:nvSpPr>
        <p:spPr>
          <a:solidFill>
            <a:srgbClr val="FFFFFF"/>
          </a:solidFill>
          <a:ln/>
        </p:spPr>
      </p:sp>
      <p:sp>
        <p:nvSpPr>
          <p:cNvPr id="2355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2</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F7B0E52F-C259-4819-9F12-21645CCC48D3}" type="slidenum">
              <a:rPr lang="en-US" smtClean="0">
                <a:solidFill>
                  <a:srgbClr val="000000"/>
                </a:solidFill>
                <a:ea typeface="ＭＳ Ｐゴシック" pitchFamily="112" charset="-128"/>
              </a:rPr>
              <a:pPr/>
              <a:t>3</a:t>
            </a:fld>
            <a:endParaRPr lang="en-US" smtClean="0">
              <a:solidFill>
                <a:srgbClr val="000000"/>
              </a:solidFill>
              <a:ea typeface="ＭＳ Ｐゴシック" pitchFamily="112" charset="-128"/>
            </a:endParaRPr>
          </a:p>
        </p:txBody>
      </p:sp>
      <p:sp>
        <p:nvSpPr>
          <p:cNvPr id="26627" name="Rectangle 2"/>
          <p:cNvSpPr>
            <a:spLocks noGrp="1" noRot="1" noChangeAspect="1" noChangeArrowheads="1" noTextEdit="1"/>
          </p:cNvSpPr>
          <p:nvPr>
            <p:ph type="sldImg"/>
          </p:nvPr>
        </p:nvSpPr>
        <p:spPr>
          <a:solidFill>
            <a:srgbClr val="FFFFFF"/>
          </a:solidFill>
          <a:ln/>
        </p:spPr>
      </p:sp>
      <p:sp>
        <p:nvSpPr>
          <p:cNvPr id="2662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8D79F96D-40B0-408C-83CB-B5B0C5485ED6}" type="slidenum">
              <a:rPr lang="en-US" smtClean="0">
                <a:solidFill>
                  <a:srgbClr val="000000"/>
                </a:solidFill>
                <a:ea typeface="ＭＳ Ｐゴシック" pitchFamily="112" charset="-128"/>
              </a:rPr>
              <a:pPr/>
              <a:t>4</a:t>
            </a:fld>
            <a:endParaRPr lang="en-US" smtClean="0">
              <a:solidFill>
                <a:srgbClr val="000000"/>
              </a:solidFill>
              <a:ea typeface="ＭＳ Ｐゴシック" pitchFamily="112" charset="-128"/>
            </a:endParaRPr>
          </a:p>
        </p:txBody>
      </p:sp>
      <p:sp>
        <p:nvSpPr>
          <p:cNvPr id="25603" name="Rectangle 2"/>
          <p:cNvSpPr>
            <a:spLocks noGrp="1" noRot="1" noChangeAspect="1" noChangeArrowheads="1" noTextEdit="1"/>
          </p:cNvSpPr>
          <p:nvPr>
            <p:ph type="sldImg"/>
          </p:nvPr>
        </p:nvSpPr>
        <p:spPr>
          <a:solidFill>
            <a:srgbClr val="FFFFFF"/>
          </a:solidFill>
          <a:ln/>
        </p:spPr>
      </p:sp>
      <p:sp>
        <p:nvSpPr>
          <p:cNvPr id="2560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F7B0E52F-C259-4819-9F12-21645CCC48D3}" type="slidenum">
              <a:rPr lang="en-US" smtClean="0">
                <a:solidFill>
                  <a:srgbClr val="000000"/>
                </a:solidFill>
                <a:ea typeface="ＭＳ Ｐゴシック" pitchFamily="112" charset="-128"/>
              </a:rPr>
              <a:pPr/>
              <a:t>5</a:t>
            </a:fld>
            <a:endParaRPr lang="en-US" smtClean="0">
              <a:solidFill>
                <a:srgbClr val="000000"/>
              </a:solidFill>
              <a:ea typeface="ＭＳ Ｐゴシック" pitchFamily="112" charset="-128"/>
            </a:endParaRPr>
          </a:p>
        </p:txBody>
      </p:sp>
      <p:sp>
        <p:nvSpPr>
          <p:cNvPr id="26627" name="Rectangle 2"/>
          <p:cNvSpPr>
            <a:spLocks noGrp="1" noRot="1" noChangeAspect="1" noChangeArrowheads="1" noTextEdit="1"/>
          </p:cNvSpPr>
          <p:nvPr>
            <p:ph type="sldImg"/>
          </p:nvPr>
        </p:nvSpPr>
        <p:spPr>
          <a:solidFill>
            <a:srgbClr val="FFFFFF"/>
          </a:solidFill>
          <a:ln/>
        </p:spPr>
      </p:sp>
      <p:sp>
        <p:nvSpPr>
          <p:cNvPr id="2662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B32A289A-4EF2-4E9A-81F1-6A289B5FCBE6}" type="slidenum">
              <a:rPr lang="en-US" smtClean="0">
                <a:solidFill>
                  <a:srgbClr val="000000"/>
                </a:solidFill>
                <a:ea typeface="ＭＳ Ｐゴシック" pitchFamily="112" charset="-128"/>
              </a:rPr>
              <a:pPr/>
              <a:t>6</a:t>
            </a:fld>
            <a:endParaRPr lang="en-US" smtClean="0">
              <a:solidFill>
                <a:srgbClr val="000000"/>
              </a:solidFill>
              <a:ea typeface="ＭＳ Ｐゴシック" pitchFamily="112" charset="-128"/>
            </a:endParaRPr>
          </a:p>
        </p:txBody>
      </p:sp>
      <p:sp>
        <p:nvSpPr>
          <p:cNvPr id="33795" name="Rectangle 2"/>
          <p:cNvSpPr>
            <a:spLocks noGrp="1" noRot="1" noChangeAspect="1" noChangeArrowheads="1" noTextEdit="1"/>
          </p:cNvSpPr>
          <p:nvPr>
            <p:ph type="sldImg"/>
          </p:nvPr>
        </p:nvSpPr>
        <p:spPr>
          <a:solidFill>
            <a:srgbClr val="FFFFFF"/>
          </a:solidFill>
          <a:ln/>
        </p:spPr>
      </p:sp>
      <p:sp>
        <p:nvSpPr>
          <p:cNvPr id="3379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DFF73387-90BE-4303-8E27-5B4C5B123947}" type="slidenum">
              <a:rPr lang="en-US" smtClean="0">
                <a:ea typeface="ＭＳ Ｐゴシック" pitchFamily="112" charset="-128"/>
              </a:rPr>
              <a:pPr/>
              <a:t>7</a:t>
            </a:fld>
            <a:endParaRPr lang="en-US" smtClean="0">
              <a:ea typeface="ＭＳ Ｐゴシック" pitchFamily="112" charset="-128"/>
            </a:endParaRPr>
          </a:p>
        </p:txBody>
      </p:sp>
      <p:sp>
        <p:nvSpPr>
          <p:cNvPr id="36867" name="Rectangle 2"/>
          <p:cNvSpPr>
            <a:spLocks noGrp="1" noRot="1" noChangeAspect="1" noChangeArrowheads="1" noTextEdit="1"/>
          </p:cNvSpPr>
          <p:nvPr>
            <p:ph type="sldImg"/>
          </p:nvPr>
        </p:nvSpPr>
        <p:spPr>
          <a:solidFill>
            <a:srgbClr val="FFFFFF"/>
          </a:solidFill>
          <a:ln/>
        </p:spPr>
      </p:sp>
      <p:sp>
        <p:nvSpPr>
          <p:cNvPr id="36868"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GB" sz="1500" smtClean="0">
                <a:latin typeface="Adobe Caslon Pro SmBd" pitchFamily="112" charset="0"/>
                <a:ea typeface="ＭＳ Ｐゴシック" pitchFamily="112" charset="-128"/>
              </a:rPr>
              <a:t>Low reserves = inability to effectively manage cash flow difficulties or invest in future growth</a:t>
            </a:r>
            <a:endParaRPr lang="en-GB" smtClean="0">
              <a:latin typeface="Adobe Caslon Pro SmBd" pitchFamily="112" charset="0"/>
              <a:ea typeface="ＭＳ Ｐゴシック" pitchFamily="112" charset="-128"/>
            </a:endParaRPr>
          </a:p>
          <a:p>
            <a:pPr eaLnBrk="1" hangingPunct="1"/>
            <a:r>
              <a:rPr lang="en-GB" smtClean="0">
                <a:latin typeface="Adobe Caslon Pro SmBd" pitchFamily="112" charset="0"/>
                <a:ea typeface="ＭＳ Ｐゴシック" pitchFamily="112" charset="-128"/>
              </a:rPr>
              <a:t>Social vs. financial weight may influence interest to seek outside finance</a:t>
            </a:r>
          </a:p>
          <a:p>
            <a:pPr eaLnBrk="1" hangingPunct="1"/>
            <a:r>
              <a:rPr lang="en-GB" smtClean="0">
                <a:latin typeface="Adobe Caslon Pro SmBd" pitchFamily="112" charset="0"/>
                <a:ea typeface="ＭＳ Ｐゴシック" pitchFamily="112" charset="-128"/>
              </a:rPr>
              <a:t>Lack of contacts with financial suppliers and knowledge on how to identify the most relevant supplier and present the information they require</a:t>
            </a:r>
          </a:p>
          <a:p>
            <a:pPr eaLnBrk="1" hangingPunct="1"/>
            <a:r>
              <a:rPr lang="en-GB" smtClean="0">
                <a:latin typeface="Adobe Caslon Pro SmBd" pitchFamily="112" charset="0"/>
                <a:ea typeface="ＭＳ Ｐゴシック" pitchFamily="112" charset="-128"/>
              </a:rPr>
              <a:t>May be risk aversion associated growth capital due to expense and strategy shifts required to make return payments by more complex financing</a:t>
            </a:r>
            <a:endParaRPr lang="en-US" smtClean="0">
              <a:latin typeface="Adobe Caslon Pro SmBd" pitchFamily="112" charset="0"/>
              <a:ea typeface="ＭＳ Ｐゴシック" pitchFamily="112"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878E12F1-D56E-423D-8098-B57ADFCC45C8}" type="slidenum">
              <a:rPr lang="en-US" smtClean="0">
                <a:ea typeface="ＭＳ Ｐゴシック" pitchFamily="112" charset="-128"/>
              </a:rPr>
              <a:pPr/>
              <a:t>8</a:t>
            </a:fld>
            <a:endParaRPr lang="en-US" smtClean="0">
              <a:ea typeface="ＭＳ Ｐゴシック" pitchFamily="112" charset="-128"/>
            </a:endParaRPr>
          </a:p>
        </p:txBody>
      </p:sp>
      <p:sp>
        <p:nvSpPr>
          <p:cNvPr id="37891" name="Rectangle 2"/>
          <p:cNvSpPr>
            <a:spLocks noGrp="1" noRot="1" noChangeAspect="1" noChangeArrowheads="1" noTextEdit="1"/>
          </p:cNvSpPr>
          <p:nvPr>
            <p:ph type="sldImg"/>
          </p:nvPr>
        </p:nvSpPr>
        <p:spPr>
          <a:solidFill>
            <a:srgbClr val="FFFFFF"/>
          </a:solidFill>
          <a:ln/>
        </p:spPr>
      </p:sp>
      <p:sp>
        <p:nvSpPr>
          <p:cNvPr id="3789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sz="600" smtClean="0">
                <a:latin typeface="Adobe Caslon Pro SmBd" pitchFamily="112" charset="0"/>
                <a:ea typeface="ＭＳ Ｐゴシック" pitchFamily="112" charset="-128"/>
              </a:rPr>
              <a:t>Requirements and financial literacy varies across spectrum; difficult to present financial information in a uniform manner</a:t>
            </a:r>
            <a:endParaRPr lang="en-GB" sz="800" smtClean="0">
              <a:latin typeface="Adobe Caslon Pro SmBd" pitchFamily="112" charset="0"/>
              <a:ea typeface="ＭＳ Ｐゴシック" pitchFamily="112" charset="-128"/>
            </a:endParaRPr>
          </a:p>
          <a:p>
            <a:pPr eaLnBrk="1" hangingPunct="1">
              <a:spcBef>
                <a:spcPct val="0"/>
              </a:spcBef>
              <a:spcAft>
                <a:spcPct val="60000"/>
              </a:spcAft>
              <a:buFontTx/>
              <a:buChar char="•"/>
            </a:pPr>
            <a:r>
              <a:rPr lang="en-US" sz="600" smtClean="0">
                <a:latin typeface="Adobe Caslon Pro SmBd" pitchFamily="112" charset="0"/>
                <a:ea typeface="ＭＳ Ｐゴシック" pitchFamily="112" charset="-128"/>
              </a:rPr>
              <a:t>Majority of investmentslow risk ie. loans or fixed acquisitions  </a:t>
            </a:r>
          </a:p>
          <a:p>
            <a:pPr eaLnBrk="1" hangingPunct="1"/>
            <a:endParaRPr lang="en-US" sz="600" smtClean="0">
              <a:latin typeface="Adobe Caslon Pro SmBd" pitchFamily="112" charset="0"/>
              <a:ea typeface="ＭＳ Ｐゴシック" pitchFamily="112" charset="-128"/>
            </a:endParaRPr>
          </a:p>
          <a:p>
            <a:pPr eaLnBrk="1" hangingPunct="1"/>
            <a:r>
              <a:rPr lang="en-US" sz="600" smtClean="0">
                <a:latin typeface="Adobe Caslon Pro SmBd" pitchFamily="112" charset="0"/>
                <a:ea typeface="ＭＳ Ｐゴシック" pitchFamily="112" charset="-128"/>
              </a:rPr>
              <a:t>Lack of transparency resulting in few clearly defined terms</a:t>
            </a:r>
          </a:p>
          <a:p>
            <a:pPr eaLnBrk="1" hangingPunct="1"/>
            <a:r>
              <a:rPr lang="en-GB" sz="600" smtClean="0">
                <a:latin typeface="Adobe Caslon Pro SmBd" pitchFamily="112" charset="0"/>
                <a:ea typeface="ＭＳ Ｐゴシック" pitchFamily="112" charset="-128"/>
              </a:rPr>
              <a:t>Limited mechanisms or coordination between suppliers resulting in missed opportunities (co-investment, cross-learning, syndication and effective signposting)</a:t>
            </a:r>
            <a:endParaRPr lang="en-GB" sz="800" smtClean="0">
              <a:latin typeface="Adobe Caslon Pro SmBd" pitchFamily="112" charset="0"/>
              <a:ea typeface="ＭＳ Ｐゴシック" pitchFamily="112" charset="-128"/>
            </a:endParaRPr>
          </a:p>
          <a:p>
            <a:pPr eaLnBrk="1" hangingPunct="1"/>
            <a:r>
              <a:rPr lang="en-GB" sz="600" smtClean="0">
                <a:latin typeface="Adobe Caslon Pro SmBd" pitchFamily="112" charset="0"/>
                <a:ea typeface="ＭＳ Ｐゴシック" pitchFamily="112" charset="-128"/>
              </a:rPr>
              <a:t>Inefficient communication </a:t>
            </a:r>
            <a:r>
              <a:rPr lang="en-US" sz="600" smtClean="0">
                <a:latin typeface="Adobe Caslon Pro SmBd" pitchFamily="112" charset="0"/>
                <a:ea typeface="ＭＳ Ｐゴシック" pitchFamily="112" charset="-128"/>
              </a:rPr>
              <a:t>with third sector organisations has led to financial instruments being mismatched,  wrongly interpreted financial needs, untimely &amp; complex transactions and high costs</a:t>
            </a:r>
            <a:endParaRPr lang="en-GB" sz="800" smtClean="0">
              <a:latin typeface="Adobe Caslon Pro SmBd" pitchFamily="112" charset="0"/>
              <a:ea typeface="ＭＳ Ｐゴシック" pitchFamily="112" charset="-128"/>
            </a:endParaRPr>
          </a:p>
          <a:p>
            <a:pPr eaLnBrk="1" hangingPunct="1">
              <a:lnSpc>
                <a:spcPct val="85000"/>
              </a:lnSpc>
              <a:spcBef>
                <a:spcPct val="0"/>
              </a:spcBef>
              <a:spcAft>
                <a:spcPct val="85000"/>
              </a:spcAft>
              <a:buFontTx/>
              <a:buChar char="•"/>
            </a:pPr>
            <a:r>
              <a:rPr lang="en-GB" sz="600" smtClean="0">
                <a:latin typeface="Adobe Caslon Pro SmBd" pitchFamily="112" charset="0"/>
                <a:ea typeface="ＭＳ Ｐゴシック" pitchFamily="112" charset="-128"/>
              </a:rPr>
              <a:t>Risk aversion - </a:t>
            </a:r>
            <a:r>
              <a:rPr lang="en-US" sz="600" smtClean="0">
                <a:latin typeface="Adobe Caslon Pro SmBd" pitchFamily="112" charset="0"/>
                <a:ea typeface="ＭＳ Ｐゴシック" pitchFamily="112" charset="-128"/>
              </a:rPr>
              <a:t>Perception that third sector organisations are higher risk investment prospects than they often are. </a:t>
            </a:r>
            <a:endParaRPr lang="en-US" sz="600" i="1" smtClean="0">
              <a:latin typeface="Adobe Caslon Pro SmBd" pitchFamily="112" charset="0"/>
              <a:ea typeface="ＭＳ Ｐゴシック" pitchFamily="112" charset="-128"/>
            </a:endParaRPr>
          </a:p>
          <a:p>
            <a:pPr eaLnBrk="1" hangingPunct="1"/>
            <a:endParaRPr lang="en-GB" sz="800" smtClean="0">
              <a:latin typeface="Adobe Caslon Pro SmBd" pitchFamily="112" charset="0"/>
              <a:ea typeface="ＭＳ Ｐゴシック" pitchFamily="112" charset="-128"/>
            </a:endParaRPr>
          </a:p>
          <a:p>
            <a:pPr eaLnBrk="1" hangingPunct="1"/>
            <a:endParaRPr lang="en-GB" sz="800" smtClean="0">
              <a:latin typeface="Adobe Caslon Pro SmBd" pitchFamily="112" charset="0"/>
              <a:ea typeface="ＭＳ Ｐゴシック" pitchFamily="112" charset="-128"/>
            </a:endParaRPr>
          </a:p>
          <a:p>
            <a:pPr eaLnBrk="1" hangingPunct="1"/>
            <a:endParaRPr lang="en-GB" sz="800" smtClean="0">
              <a:latin typeface="Adobe Caslon Pro SmBd" pitchFamily="112" charset="0"/>
              <a:ea typeface="ＭＳ Ｐゴシック" pitchFamily="112" charset="-128"/>
            </a:endParaRPr>
          </a:p>
          <a:p>
            <a:pPr eaLnBrk="1" hangingPunct="1"/>
            <a:endParaRPr lang="en-GB" sz="800" smtClean="0">
              <a:latin typeface="Adobe Caslon Pro SmBd" pitchFamily="112" charset="0"/>
              <a:ea typeface="ＭＳ Ｐゴシック" pitchFamily="112" charset="-128"/>
            </a:endParaRPr>
          </a:p>
          <a:p>
            <a:pPr eaLnBrk="1" hangingPunct="1"/>
            <a:r>
              <a:rPr lang="en-GB" sz="800" smtClean="0">
                <a:latin typeface="Adobe Caslon Pro SmBd" pitchFamily="112" charset="0"/>
                <a:ea typeface="ＭＳ Ｐゴシック" pitchFamily="112" charset="-128"/>
              </a:rPr>
              <a:t>Lack of access to appropriate finance (patient capital, equity)</a:t>
            </a:r>
          </a:p>
          <a:p>
            <a:pPr eaLnBrk="1" hangingPunct="1">
              <a:buFontTx/>
              <a:buChar char="•"/>
            </a:pPr>
            <a:r>
              <a:rPr lang="en-US" sz="800" smtClean="0">
                <a:latin typeface="Adobe Caslon Pro SmBd" pitchFamily="112" charset="0"/>
                <a:ea typeface="ＭＳ Ｐゴシック" pitchFamily="112" charset="-128"/>
              </a:rPr>
              <a:t>Investors/Funders may not fully understand financial needs associated with third sector</a:t>
            </a:r>
          </a:p>
          <a:p>
            <a:pPr lvl="1" eaLnBrk="1" hangingPunct="1">
              <a:buFontTx/>
              <a:buChar char="•"/>
            </a:pPr>
            <a:r>
              <a:rPr lang="en-US" sz="800" smtClean="0">
                <a:latin typeface="Adobe Caslon Pro SmBd" pitchFamily="112" charset="0"/>
                <a:ea typeface="ＭＳ Ｐゴシック" pitchFamily="112" charset="-128"/>
              </a:rPr>
              <a:t>Various types of ‘reserves’ along with roles and restrictions</a:t>
            </a:r>
            <a:endParaRPr lang="en-GB" smtClean="0">
              <a:latin typeface="Adobe Caslon Pro SmBd" pitchFamily="112" charset="0"/>
              <a:ea typeface="ＭＳ Ｐゴシック" pitchFamily="112" charset="-128"/>
            </a:endParaRPr>
          </a:p>
          <a:p>
            <a:pPr>
              <a:spcBef>
                <a:spcPct val="0"/>
              </a:spcBef>
              <a:buFontTx/>
              <a:buChar char="•"/>
            </a:pPr>
            <a:r>
              <a:rPr lang="en-US" sz="800" smtClean="0">
                <a:latin typeface="Adobe Caslon Pro SmBd" pitchFamily="112" charset="0"/>
                <a:ea typeface="ＭＳ Ｐゴシック" pitchFamily="112" charset="-128"/>
              </a:rPr>
              <a:t>Perception that third sector organisations are higher risk investment prospects than they often are. </a:t>
            </a:r>
            <a:r>
              <a:rPr lang="en-US" sz="600" i="1" smtClean="0">
                <a:latin typeface="Adobe Caslon Pro SmBd" pitchFamily="112" charset="0"/>
                <a:ea typeface="ＭＳ Ｐゴシック" pitchFamily="112" charset="-128"/>
              </a:rPr>
              <a:t>May be due to low levels of financial literary &amp; difficulties in communicating financial needs</a:t>
            </a:r>
            <a:endParaRPr lang="en-GB" smtClean="0">
              <a:latin typeface="Adobe Caslon Pro SmBd" pitchFamily="112" charset="0"/>
              <a:ea typeface="ＭＳ Ｐゴシック" pitchFamily="112" charset="-128"/>
            </a:endParaRPr>
          </a:p>
          <a:p>
            <a:pPr>
              <a:spcBef>
                <a:spcPct val="0"/>
              </a:spcBef>
              <a:buFontTx/>
              <a:buChar char="•"/>
            </a:pPr>
            <a:endParaRPr lang="en-GB" smtClean="0">
              <a:latin typeface="Adobe Caslon Pro SmBd" pitchFamily="112" charset="0"/>
              <a:ea typeface="ＭＳ Ｐゴシック" pitchFamily="112" charset="-128"/>
            </a:endParaRPr>
          </a:p>
          <a:p>
            <a:pPr>
              <a:spcBef>
                <a:spcPct val="0"/>
              </a:spcBef>
              <a:buFontTx/>
              <a:buChar char="•"/>
            </a:pPr>
            <a:r>
              <a:rPr lang="en-GB" smtClean="0">
                <a:latin typeface="Adobe Caslon Pro SmBd" pitchFamily="112" charset="0"/>
                <a:ea typeface="ＭＳ Ｐゴシック" pitchFamily="112" charset="-128"/>
              </a:rPr>
              <a:t>Funds have different priorities  </a:t>
            </a:r>
          </a:p>
          <a:p>
            <a:pPr>
              <a:spcBef>
                <a:spcPct val="0"/>
              </a:spcBef>
              <a:buFontTx/>
              <a:buChar char="•"/>
            </a:pPr>
            <a:r>
              <a:rPr lang="en-GB" smtClean="0">
                <a:latin typeface="Adobe Caslon Pro SmBd" pitchFamily="112" charset="0"/>
                <a:ea typeface="ＭＳ Ｐゴシック" pitchFamily="112" charset="-128"/>
              </a:rPr>
              <a:t>The lack of transparency and limited mechanisms available to connect financial suppliers to each other limits the ability to create an efficient and viable market.</a:t>
            </a:r>
            <a:endParaRPr lang="en-US" smtClean="0">
              <a:latin typeface="Adobe Caslon Pro SmBd" pitchFamily="112" charset="0"/>
              <a:ea typeface="ＭＳ Ｐゴシック" pitchFamily="112" charset="-128"/>
            </a:endParaRPr>
          </a:p>
          <a:p>
            <a:pPr eaLnBrk="1" hangingPunct="1"/>
            <a:endParaRPr lang="en-US" sz="800" smtClean="0">
              <a:latin typeface="Adobe Caslon Pro SmBd" pitchFamily="112" charset="0"/>
              <a:ea typeface="ＭＳ Ｐゴシック" pitchFamily="112"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95D6BCD1-F972-40F8-BBDB-DF8CF45C8AA8}" type="slidenum">
              <a:rPr lang="en-US" smtClean="0">
                <a:solidFill>
                  <a:srgbClr val="000000"/>
                </a:solidFill>
                <a:ea typeface="ＭＳ Ｐゴシック" pitchFamily="112" charset="-128"/>
              </a:rPr>
              <a:pPr/>
              <a:t>9</a:t>
            </a:fld>
            <a:endParaRPr lang="en-US" smtClean="0">
              <a:solidFill>
                <a:srgbClr val="000000"/>
              </a:solidFill>
              <a:ea typeface="ＭＳ Ｐゴシック" pitchFamily="112" charset="-128"/>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10</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11</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12</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13</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14</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15</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16</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17</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18</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4D2DD3-1F0D-453C-A991-C73FC47F2E64}" type="slidenum">
              <a:rPr lang="en-US" smtClean="0">
                <a:solidFill>
                  <a:srgbClr val="000000"/>
                </a:solidFill>
                <a:ea typeface="ＭＳ Ｐゴシック" pitchFamily="112" charset="-128"/>
              </a:rPr>
              <a:pPr/>
              <a:t>19</a:t>
            </a:fld>
            <a:endParaRPr lang="en-US" smtClean="0">
              <a:solidFill>
                <a:srgbClr val="000000"/>
              </a:solidFill>
              <a:ea typeface="ＭＳ Ｐゴシック" pitchFamily="112" charset="-128"/>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ea typeface="ＭＳ Ｐゴシック" pitchFamily="112"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6702A46-E0AE-481A-B439-06D273656B63}"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AABFEF8-30B7-4883-A0E0-CEB1306EFB0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9B7ED62-D892-45BB-997F-D628911D473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304800" y="1524000"/>
            <a:ext cx="4114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572000" y="1524000"/>
            <a:ext cx="4114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5034A7E-F30C-4BFC-BB7E-6A61406F73D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3D8075C9-8240-432E-8E56-83243145E607}"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E619969-BFD3-4E35-8D9E-DE17FF5AC24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243049D-22A7-4BE7-BCA7-43B03CC2347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624C1A8-B8BF-4D0C-81DE-00CB49056EA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7EAB0C8-42BA-41B3-A627-4E69C2A2FDF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4956094-951A-44A9-96F7-4A701FCE28C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152400"/>
            <a:ext cx="2286000" cy="5791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0" y="-152400"/>
            <a:ext cx="670560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A40D85B-A970-4775-9ACB-D22EC763F040}"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24BFCA9-0C0D-4C34-95B1-37593DFC302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 name="Rectangle 10"/>
          <p:cNvSpPr>
            <a:spLocks noChangeArrowheads="1"/>
          </p:cNvSpPr>
          <p:nvPr userDrawn="1"/>
        </p:nvSpPr>
        <p:spPr bwMode="auto">
          <a:xfrm>
            <a:off x="0" y="5867400"/>
            <a:ext cx="9144000" cy="255588"/>
          </a:xfrm>
          <a:prstGeom prst="rect">
            <a:avLst/>
          </a:prstGeom>
          <a:solidFill>
            <a:srgbClr val="E86B0F"/>
          </a:solidFill>
          <a:ln w="9525">
            <a:noFill/>
            <a:miter lim="800000"/>
            <a:headEnd/>
            <a:tailEnd/>
          </a:ln>
        </p:spPr>
        <p:txBody>
          <a:bodyPr wrap="none" anchor="ctr"/>
          <a:lstStyle/>
          <a:p>
            <a:pPr>
              <a:defRPr/>
            </a:pPr>
            <a:endParaRPr lang="en-GB">
              <a:ea typeface="ＭＳ Ｐゴシック" pitchFamily="1" charset="-128"/>
            </a:endParaRPr>
          </a:p>
        </p:txBody>
      </p:sp>
      <p:sp>
        <p:nvSpPr>
          <p:cNvPr id="1035" name="Rectangle 11"/>
          <p:cNvSpPr>
            <a:spLocks noChangeArrowheads="1"/>
          </p:cNvSpPr>
          <p:nvPr userDrawn="1"/>
        </p:nvSpPr>
        <p:spPr bwMode="auto">
          <a:xfrm>
            <a:off x="0" y="5943600"/>
            <a:ext cx="9144000" cy="76200"/>
          </a:xfrm>
          <a:prstGeom prst="rect">
            <a:avLst/>
          </a:prstGeom>
          <a:solidFill>
            <a:srgbClr val="96A79C"/>
          </a:solidFill>
          <a:ln w="9525">
            <a:noFill/>
            <a:miter lim="800000"/>
            <a:headEnd/>
            <a:tailEnd/>
          </a:ln>
        </p:spPr>
        <p:txBody>
          <a:bodyPr wrap="none" anchor="ctr"/>
          <a:lstStyle/>
          <a:p>
            <a:pPr>
              <a:defRPr/>
            </a:pPr>
            <a:endParaRPr lang="en-GB">
              <a:ea typeface="ＭＳ Ｐゴシック" pitchFamily="1" charset="-128"/>
            </a:endParaRPr>
          </a:p>
        </p:txBody>
      </p:sp>
      <p:sp>
        <p:nvSpPr>
          <p:cNvPr id="1031" name="Rectangle 7"/>
          <p:cNvSpPr>
            <a:spLocks noChangeArrowheads="1"/>
          </p:cNvSpPr>
          <p:nvPr userDrawn="1"/>
        </p:nvSpPr>
        <p:spPr bwMode="auto">
          <a:xfrm>
            <a:off x="0" y="-152400"/>
            <a:ext cx="9144000" cy="1066800"/>
          </a:xfrm>
          <a:prstGeom prst="rect">
            <a:avLst/>
          </a:prstGeom>
          <a:gradFill rotWithShape="0">
            <a:gsLst>
              <a:gs pos="0">
                <a:schemeClr val="tx2"/>
              </a:gs>
              <a:gs pos="100000">
                <a:srgbClr val="060C36"/>
              </a:gs>
            </a:gsLst>
            <a:lin ang="5400000" scaled="1"/>
          </a:gradFill>
          <a:ln w="9525">
            <a:solidFill>
              <a:schemeClr val="tx1"/>
            </a:solidFill>
            <a:miter lim="800000"/>
            <a:headEnd/>
            <a:tailEnd/>
          </a:ln>
        </p:spPr>
        <p:txBody>
          <a:bodyPr wrap="none" anchor="ctr"/>
          <a:lstStyle/>
          <a:p>
            <a:pPr>
              <a:defRPr/>
            </a:pPr>
            <a:endParaRPr lang="en-GB">
              <a:ea typeface="ＭＳ Ｐゴシック" pitchFamily="1" charset="-128"/>
            </a:endParaRPr>
          </a:p>
        </p:txBody>
      </p:sp>
      <p:sp>
        <p:nvSpPr>
          <p:cNvPr id="1029" name="Rectangle 2"/>
          <p:cNvSpPr>
            <a:spLocks noGrp="1" noChangeArrowheads="1"/>
          </p:cNvSpPr>
          <p:nvPr>
            <p:ph type="title"/>
          </p:nvPr>
        </p:nvSpPr>
        <p:spPr bwMode="auto">
          <a:xfrm>
            <a:off x="0" y="-152400"/>
            <a:ext cx="9144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30" name="Rectangle 3"/>
          <p:cNvSpPr>
            <a:spLocks noGrp="1" noChangeArrowheads="1"/>
          </p:cNvSpPr>
          <p:nvPr>
            <p:ph type="body" idx="1"/>
          </p:nvPr>
        </p:nvSpPr>
        <p:spPr bwMode="auto">
          <a:xfrm>
            <a:off x="304800" y="1524000"/>
            <a:ext cx="83820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atin typeface="Arial" charset="0"/>
                <a:ea typeface="ＭＳ Ｐゴシック" pitchFamily="1" charset="-128"/>
              </a:defRPr>
            </a:lvl1pPr>
          </a:lstStyle>
          <a:p>
            <a:pPr>
              <a:defRPr/>
            </a:pPr>
            <a:endParaRPr lang="en-US"/>
          </a:p>
        </p:txBody>
      </p:sp>
      <p:sp>
        <p:nvSpPr>
          <p:cNvPr id="2"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latin typeface="Arial" charset="0"/>
                <a:ea typeface="ＭＳ Ｐゴシック" pitchFamily="1" charset="-128"/>
              </a:defRPr>
            </a:lvl1pPr>
          </a:lstStyle>
          <a:p>
            <a:pPr>
              <a:defRPr/>
            </a:pPr>
            <a:endParaRPr lang="en-US"/>
          </a:p>
        </p:txBody>
      </p:sp>
      <p:sp>
        <p:nvSpPr>
          <p:cNvPr id="3"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latin typeface="Arial" charset="0"/>
                <a:ea typeface="ＭＳ Ｐゴシック" pitchFamily="1" charset="-128"/>
              </a:defRPr>
            </a:lvl1pPr>
          </a:lstStyle>
          <a:p>
            <a:pPr>
              <a:defRPr/>
            </a:pPr>
            <a:fld id="{AFF616EF-3B60-4422-906D-8490B6C787D0}" type="slidenum">
              <a:rPr lang="en-US"/>
              <a:pPr>
                <a:defRPr/>
              </a:pPr>
              <a:t>‹#›</a:t>
            </a:fld>
            <a:endParaRPr lang="en-US"/>
          </a:p>
        </p:txBody>
      </p:sp>
      <p:sp>
        <p:nvSpPr>
          <p:cNvPr id="1032" name="Rectangle 8"/>
          <p:cNvSpPr>
            <a:spLocks noChangeArrowheads="1"/>
          </p:cNvSpPr>
          <p:nvPr userDrawn="1"/>
        </p:nvSpPr>
        <p:spPr bwMode="auto">
          <a:xfrm>
            <a:off x="0" y="6019800"/>
            <a:ext cx="9144000" cy="990600"/>
          </a:xfrm>
          <a:prstGeom prst="rect">
            <a:avLst/>
          </a:prstGeom>
          <a:gradFill rotWithShape="0">
            <a:gsLst>
              <a:gs pos="0">
                <a:srgbClr val="060C36"/>
              </a:gs>
              <a:gs pos="100000">
                <a:schemeClr val="tx2"/>
              </a:gs>
            </a:gsLst>
            <a:lin ang="5400000" scaled="1"/>
          </a:gradFill>
          <a:ln w="9525">
            <a:solidFill>
              <a:schemeClr val="tx1"/>
            </a:solidFill>
            <a:miter lim="800000"/>
            <a:headEnd/>
            <a:tailEnd/>
          </a:ln>
        </p:spPr>
        <p:txBody>
          <a:bodyPr wrap="none" anchor="ctr"/>
          <a:lstStyle/>
          <a:p>
            <a:pPr>
              <a:defRPr/>
            </a:pPr>
            <a:endParaRPr lang="en-GB">
              <a:ea typeface="ＭＳ Ｐゴシック" pitchFamily="1" charset="-128"/>
            </a:endParaRPr>
          </a:p>
        </p:txBody>
      </p:sp>
    </p:spTree>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Lst>
  <p:txStyles>
    <p:titleStyle>
      <a:lvl1pPr marL="115888" indent="-115888" algn="l" rtl="0" eaLnBrk="0" fontAlgn="base" hangingPunct="0">
        <a:spcBef>
          <a:spcPct val="0"/>
        </a:spcBef>
        <a:spcAft>
          <a:spcPct val="0"/>
        </a:spcAft>
        <a:defRPr sz="3200">
          <a:solidFill>
            <a:schemeClr val="bg1"/>
          </a:solidFill>
          <a:latin typeface="+mj-lt"/>
          <a:ea typeface="+mj-ea"/>
          <a:cs typeface="+mj-cs"/>
        </a:defRPr>
      </a:lvl1pPr>
      <a:lvl2pPr marL="115888" indent="-115888" algn="l" rtl="0" eaLnBrk="0" fontAlgn="base" hangingPunct="0">
        <a:spcBef>
          <a:spcPct val="0"/>
        </a:spcBef>
        <a:spcAft>
          <a:spcPct val="0"/>
        </a:spcAft>
        <a:defRPr sz="3200">
          <a:solidFill>
            <a:schemeClr val="bg1"/>
          </a:solidFill>
          <a:latin typeface="Arial" charset="0"/>
          <a:ea typeface="ＭＳ Ｐゴシック" pitchFamily="1" charset="-128"/>
        </a:defRPr>
      </a:lvl2pPr>
      <a:lvl3pPr marL="115888" indent="-115888" algn="l" rtl="0" eaLnBrk="0" fontAlgn="base" hangingPunct="0">
        <a:spcBef>
          <a:spcPct val="0"/>
        </a:spcBef>
        <a:spcAft>
          <a:spcPct val="0"/>
        </a:spcAft>
        <a:defRPr sz="3200">
          <a:solidFill>
            <a:schemeClr val="bg1"/>
          </a:solidFill>
          <a:latin typeface="Arial" charset="0"/>
          <a:ea typeface="ＭＳ Ｐゴシック" pitchFamily="1" charset="-128"/>
        </a:defRPr>
      </a:lvl3pPr>
      <a:lvl4pPr marL="115888" indent="-115888" algn="l" rtl="0" eaLnBrk="0" fontAlgn="base" hangingPunct="0">
        <a:spcBef>
          <a:spcPct val="0"/>
        </a:spcBef>
        <a:spcAft>
          <a:spcPct val="0"/>
        </a:spcAft>
        <a:defRPr sz="3200">
          <a:solidFill>
            <a:schemeClr val="bg1"/>
          </a:solidFill>
          <a:latin typeface="Arial" charset="0"/>
          <a:ea typeface="ＭＳ Ｐゴシック" pitchFamily="1" charset="-128"/>
        </a:defRPr>
      </a:lvl4pPr>
      <a:lvl5pPr marL="115888" indent="-115888" algn="l" rtl="0" eaLnBrk="0" fontAlgn="base" hangingPunct="0">
        <a:spcBef>
          <a:spcPct val="0"/>
        </a:spcBef>
        <a:spcAft>
          <a:spcPct val="0"/>
        </a:spcAft>
        <a:defRPr sz="3200">
          <a:solidFill>
            <a:schemeClr val="bg1"/>
          </a:solidFill>
          <a:latin typeface="Arial" charset="0"/>
          <a:ea typeface="ＭＳ Ｐゴシック" pitchFamily="1" charset="-128"/>
        </a:defRPr>
      </a:lvl5pPr>
      <a:lvl6pPr marL="573088" indent="-115888" algn="l" rtl="0" fontAlgn="base">
        <a:spcBef>
          <a:spcPct val="0"/>
        </a:spcBef>
        <a:spcAft>
          <a:spcPct val="0"/>
        </a:spcAft>
        <a:defRPr sz="3200">
          <a:solidFill>
            <a:schemeClr val="bg1"/>
          </a:solidFill>
          <a:latin typeface="Arial" charset="0"/>
          <a:ea typeface="ＭＳ Ｐゴシック" pitchFamily="1" charset="-128"/>
        </a:defRPr>
      </a:lvl6pPr>
      <a:lvl7pPr marL="1030288" indent="-115888" algn="l" rtl="0" fontAlgn="base">
        <a:spcBef>
          <a:spcPct val="0"/>
        </a:spcBef>
        <a:spcAft>
          <a:spcPct val="0"/>
        </a:spcAft>
        <a:defRPr sz="3200">
          <a:solidFill>
            <a:schemeClr val="bg1"/>
          </a:solidFill>
          <a:latin typeface="Arial" charset="0"/>
          <a:ea typeface="ＭＳ Ｐゴシック" pitchFamily="1" charset="-128"/>
        </a:defRPr>
      </a:lvl7pPr>
      <a:lvl8pPr marL="1487488" indent="-115888" algn="l" rtl="0" fontAlgn="base">
        <a:spcBef>
          <a:spcPct val="0"/>
        </a:spcBef>
        <a:spcAft>
          <a:spcPct val="0"/>
        </a:spcAft>
        <a:defRPr sz="3200">
          <a:solidFill>
            <a:schemeClr val="bg1"/>
          </a:solidFill>
          <a:latin typeface="Arial" charset="0"/>
          <a:ea typeface="ＭＳ Ｐゴシック" pitchFamily="1" charset="-128"/>
        </a:defRPr>
      </a:lvl8pPr>
      <a:lvl9pPr marL="1944688" indent="-115888" algn="l" rtl="0" fontAlgn="base">
        <a:spcBef>
          <a:spcPct val="0"/>
        </a:spcBef>
        <a:spcAft>
          <a:spcPct val="0"/>
        </a:spcAft>
        <a:defRPr sz="3200">
          <a:solidFill>
            <a:schemeClr val="bg1"/>
          </a:solidFill>
          <a:latin typeface="Arial" charset="0"/>
          <a:ea typeface="ＭＳ Ｐゴシック" pitchFamily="1" charset="-128"/>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00050" indent="-285750" algn="l" rtl="0" eaLnBrk="0" fontAlgn="base" hangingPunct="0">
        <a:spcBef>
          <a:spcPct val="20000"/>
        </a:spcBef>
        <a:spcAft>
          <a:spcPct val="0"/>
        </a:spcAft>
        <a:buChar char="–"/>
        <a:defRPr>
          <a:solidFill>
            <a:schemeClr val="tx1"/>
          </a:solidFill>
          <a:latin typeface="+mn-lt"/>
          <a:ea typeface="+mn-ea"/>
        </a:defRPr>
      </a:lvl2pPr>
      <a:lvl3pPr marL="742950" indent="-228600" algn="l" rtl="0" eaLnBrk="0" fontAlgn="base" hangingPunct="0">
        <a:spcBef>
          <a:spcPct val="20000"/>
        </a:spcBef>
        <a:spcAft>
          <a:spcPct val="0"/>
        </a:spcAft>
        <a:buChar char="-"/>
        <a:defRPr>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 name="Rectangle 10"/>
          <p:cNvSpPr>
            <a:spLocks noChangeArrowheads="1"/>
          </p:cNvSpPr>
          <p:nvPr userDrawn="1"/>
        </p:nvSpPr>
        <p:spPr bwMode="auto">
          <a:xfrm>
            <a:off x="0" y="5867400"/>
            <a:ext cx="9144000" cy="255588"/>
          </a:xfrm>
          <a:prstGeom prst="rect">
            <a:avLst/>
          </a:prstGeom>
          <a:solidFill>
            <a:srgbClr val="E86B0F"/>
          </a:solidFill>
          <a:ln w="9525">
            <a:noFill/>
            <a:miter lim="800000"/>
            <a:headEnd/>
            <a:tailEnd/>
          </a:ln>
        </p:spPr>
        <p:txBody>
          <a:bodyPr wrap="none" anchor="ctr"/>
          <a:lstStyle/>
          <a:p>
            <a:pPr>
              <a:defRPr/>
            </a:pPr>
            <a:endParaRPr lang="en-GB">
              <a:solidFill>
                <a:srgbClr val="000000"/>
              </a:solidFill>
              <a:ea typeface="ＭＳ Ｐゴシック" pitchFamily="1" charset="-128"/>
            </a:endParaRPr>
          </a:p>
        </p:txBody>
      </p:sp>
      <p:sp>
        <p:nvSpPr>
          <p:cNvPr id="1035" name="Rectangle 11"/>
          <p:cNvSpPr>
            <a:spLocks noChangeArrowheads="1"/>
          </p:cNvSpPr>
          <p:nvPr userDrawn="1"/>
        </p:nvSpPr>
        <p:spPr bwMode="auto">
          <a:xfrm>
            <a:off x="0" y="5943600"/>
            <a:ext cx="9144000" cy="76200"/>
          </a:xfrm>
          <a:prstGeom prst="rect">
            <a:avLst/>
          </a:prstGeom>
          <a:solidFill>
            <a:srgbClr val="96A79C"/>
          </a:solidFill>
          <a:ln w="9525">
            <a:noFill/>
            <a:miter lim="800000"/>
            <a:headEnd/>
            <a:tailEnd/>
          </a:ln>
        </p:spPr>
        <p:txBody>
          <a:bodyPr wrap="none" anchor="ctr"/>
          <a:lstStyle/>
          <a:p>
            <a:pPr>
              <a:defRPr/>
            </a:pPr>
            <a:endParaRPr lang="en-GB">
              <a:solidFill>
                <a:srgbClr val="000000"/>
              </a:solidFill>
              <a:ea typeface="ＭＳ Ｐゴシック" pitchFamily="1" charset="-128"/>
            </a:endParaRPr>
          </a:p>
        </p:txBody>
      </p:sp>
      <p:sp>
        <p:nvSpPr>
          <p:cNvPr id="1031" name="Rectangle 7"/>
          <p:cNvSpPr>
            <a:spLocks noChangeArrowheads="1"/>
          </p:cNvSpPr>
          <p:nvPr userDrawn="1"/>
        </p:nvSpPr>
        <p:spPr bwMode="auto">
          <a:xfrm>
            <a:off x="0" y="-152400"/>
            <a:ext cx="9144000" cy="1066800"/>
          </a:xfrm>
          <a:prstGeom prst="rect">
            <a:avLst/>
          </a:prstGeom>
          <a:gradFill rotWithShape="0">
            <a:gsLst>
              <a:gs pos="0">
                <a:schemeClr val="tx2"/>
              </a:gs>
              <a:gs pos="100000">
                <a:srgbClr val="060C36"/>
              </a:gs>
            </a:gsLst>
            <a:lin ang="5400000" scaled="1"/>
          </a:gradFill>
          <a:ln w="9525">
            <a:solidFill>
              <a:schemeClr val="tx1"/>
            </a:solidFill>
            <a:miter lim="800000"/>
            <a:headEnd/>
            <a:tailEnd/>
          </a:ln>
        </p:spPr>
        <p:txBody>
          <a:bodyPr wrap="none" anchor="ctr"/>
          <a:lstStyle/>
          <a:p>
            <a:pPr>
              <a:defRPr/>
            </a:pPr>
            <a:endParaRPr lang="en-GB">
              <a:solidFill>
                <a:srgbClr val="000000"/>
              </a:solidFill>
              <a:ea typeface="ＭＳ Ｐゴシック" pitchFamily="1" charset="-128"/>
            </a:endParaRPr>
          </a:p>
        </p:txBody>
      </p:sp>
      <p:sp>
        <p:nvSpPr>
          <p:cNvPr id="3077" name="Rectangle 2"/>
          <p:cNvSpPr>
            <a:spLocks noGrp="1" noChangeArrowheads="1"/>
          </p:cNvSpPr>
          <p:nvPr>
            <p:ph type="title"/>
          </p:nvPr>
        </p:nvSpPr>
        <p:spPr bwMode="auto">
          <a:xfrm>
            <a:off x="0" y="-152400"/>
            <a:ext cx="9144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8" name="Rectangle 3"/>
          <p:cNvSpPr>
            <a:spLocks noGrp="1" noChangeArrowheads="1"/>
          </p:cNvSpPr>
          <p:nvPr>
            <p:ph type="body" idx="1"/>
          </p:nvPr>
        </p:nvSpPr>
        <p:spPr bwMode="auto">
          <a:xfrm>
            <a:off x="304800" y="1524000"/>
            <a:ext cx="83820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solidFill>
                  <a:srgbClr val="000000"/>
                </a:solidFill>
                <a:latin typeface="Arial" charset="0"/>
                <a:ea typeface="ＭＳ Ｐゴシック" pitchFamily="1" charset="-128"/>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solidFill>
                  <a:srgbClr val="000000"/>
                </a:solidFill>
                <a:latin typeface="Arial" charset="0"/>
                <a:ea typeface="ＭＳ Ｐゴシック" pitchFamily="1" charset="-128"/>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rgbClr val="000000"/>
                </a:solidFill>
                <a:latin typeface="Arial" charset="0"/>
                <a:ea typeface="ＭＳ Ｐゴシック" pitchFamily="1" charset="-128"/>
              </a:defRPr>
            </a:lvl1pPr>
          </a:lstStyle>
          <a:p>
            <a:pPr>
              <a:defRPr/>
            </a:pPr>
            <a:fld id="{C2B56EB0-7974-487D-A4A7-99813600D218}" type="slidenum">
              <a:rPr lang="en-US"/>
              <a:pPr>
                <a:defRPr/>
              </a:pPr>
              <a:t>‹#›</a:t>
            </a:fld>
            <a:endParaRPr lang="en-US"/>
          </a:p>
        </p:txBody>
      </p:sp>
      <p:sp>
        <p:nvSpPr>
          <p:cNvPr id="1032" name="Rectangle 8"/>
          <p:cNvSpPr>
            <a:spLocks noChangeArrowheads="1"/>
          </p:cNvSpPr>
          <p:nvPr userDrawn="1"/>
        </p:nvSpPr>
        <p:spPr bwMode="auto">
          <a:xfrm>
            <a:off x="0" y="6019800"/>
            <a:ext cx="9144000" cy="990600"/>
          </a:xfrm>
          <a:prstGeom prst="rect">
            <a:avLst/>
          </a:prstGeom>
          <a:gradFill rotWithShape="0">
            <a:gsLst>
              <a:gs pos="0">
                <a:srgbClr val="060C36"/>
              </a:gs>
              <a:gs pos="100000">
                <a:schemeClr val="tx2"/>
              </a:gs>
            </a:gsLst>
            <a:lin ang="5400000" scaled="1"/>
          </a:gradFill>
          <a:ln w="9525">
            <a:solidFill>
              <a:schemeClr val="tx1"/>
            </a:solidFill>
            <a:miter lim="800000"/>
            <a:headEnd/>
            <a:tailEnd/>
          </a:ln>
        </p:spPr>
        <p:txBody>
          <a:bodyPr wrap="none" anchor="ctr"/>
          <a:lstStyle/>
          <a:p>
            <a:pPr>
              <a:defRPr/>
            </a:pPr>
            <a:endParaRPr lang="en-GB">
              <a:solidFill>
                <a:srgbClr val="000000"/>
              </a:solidFill>
              <a:ea typeface="ＭＳ Ｐゴシック" pitchFamily="1" charset="-128"/>
            </a:endParaRPr>
          </a:p>
        </p:txBody>
      </p:sp>
    </p:spTree>
  </p:cSld>
  <p:clrMap bg1="lt1" tx1="dk1" bg2="lt2" tx2="dk2" accent1="accent1" accent2="accent2" accent3="accent3" accent4="accent4" accent5="accent5" accent6="accent6" hlink="hlink" folHlink="folHlink"/>
  <p:sldLayoutIdLst>
    <p:sldLayoutId id="2147483879" r:id="rId1"/>
  </p:sldLayoutIdLst>
  <p:txStyles>
    <p:titleStyle>
      <a:lvl1pPr marL="115888" indent="-115888" algn="l" rtl="0" eaLnBrk="0" fontAlgn="base" hangingPunct="0">
        <a:spcBef>
          <a:spcPct val="0"/>
        </a:spcBef>
        <a:spcAft>
          <a:spcPct val="0"/>
        </a:spcAft>
        <a:defRPr sz="3200">
          <a:solidFill>
            <a:schemeClr val="bg1"/>
          </a:solidFill>
          <a:latin typeface="+mj-lt"/>
          <a:ea typeface="+mj-ea"/>
          <a:cs typeface="+mj-cs"/>
        </a:defRPr>
      </a:lvl1pPr>
      <a:lvl2pPr marL="115888" indent="-115888" algn="l" rtl="0" eaLnBrk="0" fontAlgn="base" hangingPunct="0">
        <a:spcBef>
          <a:spcPct val="0"/>
        </a:spcBef>
        <a:spcAft>
          <a:spcPct val="0"/>
        </a:spcAft>
        <a:defRPr sz="3200">
          <a:solidFill>
            <a:schemeClr val="bg1"/>
          </a:solidFill>
          <a:latin typeface="Arial" charset="0"/>
          <a:ea typeface="ＭＳ Ｐゴシック" pitchFamily="1" charset="-128"/>
        </a:defRPr>
      </a:lvl2pPr>
      <a:lvl3pPr marL="115888" indent="-115888" algn="l" rtl="0" eaLnBrk="0" fontAlgn="base" hangingPunct="0">
        <a:spcBef>
          <a:spcPct val="0"/>
        </a:spcBef>
        <a:spcAft>
          <a:spcPct val="0"/>
        </a:spcAft>
        <a:defRPr sz="3200">
          <a:solidFill>
            <a:schemeClr val="bg1"/>
          </a:solidFill>
          <a:latin typeface="Arial" charset="0"/>
          <a:ea typeface="ＭＳ Ｐゴシック" pitchFamily="1" charset="-128"/>
        </a:defRPr>
      </a:lvl3pPr>
      <a:lvl4pPr marL="115888" indent="-115888" algn="l" rtl="0" eaLnBrk="0" fontAlgn="base" hangingPunct="0">
        <a:spcBef>
          <a:spcPct val="0"/>
        </a:spcBef>
        <a:spcAft>
          <a:spcPct val="0"/>
        </a:spcAft>
        <a:defRPr sz="3200">
          <a:solidFill>
            <a:schemeClr val="bg1"/>
          </a:solidFill>
          <a:latin typeface="Arial" charset="0"/>
          <a:ea typeface="ＭＳ Ｐゴシック" pitchFamily="1" charset="-128"/>
        </a:defRPr>
      </a:lvl4pPr>
      <a:lvl5pPr marL="115888" indent="-115888" algn="l" rtl="0" eaLnBrk="0" fontAlgn="base" hangingPunct="0">
        <a:spcBef>
          <a:spcPct val="0"/>
        </a:spcBef>
        <a:spcAft>
          <a:spcPct val="0"/>
        </a:spcAft>
        <a:defRPr sz="3200">
          <a:solidFill>
            <a:schemeClr val="bg1"/>
          </a:solidFill>
          <a:latin typeface="Arial" charset="0"/>
          <a:ea typeface="ＭＳ Ｐゴシック" pitchFamily="1" charset="-128"/>
        </a:defRPr>
      </a:lvl5pPr>
      <a:lvl6pPr marL="573088" indent="-115888" algn="l" rtl="0" fontAlgn="base">
        <a:spcBef>
          <a:spcPct val="0"/>
        </a:spcBef>
        <a:spcAft>
          <a:spcPct val="0"/>
        </a:spcAft>
        <a:defRPr sz="3200">
          <a:solidFill>
            <a:schemeClr val="bg1"/>
          </a:solidFill>
          <a:latin typeface="Arial" charset="0"/>
          <a:ea typeface="ＭＳ Ｐゴシック" pitchFamily="1" charset="-128"/>
        </a:defRPr>
      </a:lvl6pPr>
      <a:lvl7pPr marL="1030288" indent="-115888" algn="l" rtl="0" fontAlgn="base">
        <a:spcBef>
          <a:spcPct val="0"/>
        </a:spcBef>
        <a:spcAft>
          <a:spcPct val="0"/>
        </a:spcAft>
        <a:defRPr sz="3200">
          <a:solidFill>
            <a:schemeClr val="bg1"/>
          </a:solidFill>
          <a:latin typeface="Arial" charset="0"/>
          <a:ea typeface="ＭＳ Ｐゴシック" pitchFamily="1" charset="-128"/>
        </a:defRPr>
      </a:lvl7pPr>
      <a:lvl8pPr marL="1487488" indent="-115888" algn="l" rtl="0" fontAlgn="base">
        <a:spcBef>
          <a:spcPct val="0"/>
        </a:spcBef>
        <a:spcAft>
          <a:spcPct val="0"/>
        </a:spcAft>
        <a:defRPr sz="3200">
          <a:solidFill>
            <a:schemeClr val="bg1"/>
          </a:solidFill>
          <a:latin typeface="Arial" charset="0"/>
          <a:ea typeface="ＭＳ Ｐゴシック" pitchFamily="1" charset="-128"/>
        </a:defRPr>
      </a:lvl8pPr>
      <a:lvl9pPr marL="1944688" indent="-115888" algn="l" rtl="0" fontAlgn="base">
        <a:spcBef>
          <a:spcPct val="0"/>
        </a:spcBef>
        <a:spcAft>
          <a:spcPct val="0"/>
        </a:spcAft>
        <a:defRPr sz="3200">
          <a:solidFill>
            <a:schemeClr val="bg1"/>
          </a:solidFill>
          <a:latin typeface="Arial" charset="0"/>
          <a:ea typeface="ＭＳ Ｐゴシック" pitchFamily="1" charset="-128"/>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00050" indent="-285750" algn="l" rtl="0" eaLnBrk="0" fontAlgn="base" hangingPunct="0">
        <a:spcBef>
          <a:spcPct val="20000"/>
        </a:spcBef>
        <a:spcAft>
          <a:spcPct val="0"/>
        </a:spcAft>
        <a:buChar char="–"/>
        <a:defRPr>
          <a:solidFill>
            <a:schemeClr val="tx1"/>
          </a:solidFill>
          <a:latin typeface="+mn-lt"/>
          <a:ea typeface="+mn-ea"/>
        </a:defRPr>
      </a:lvl2pPr>
      <a:lvl3pPr marL="742950" indent="-228600" algn="l" rtl="0" eaLnBrk="0" fontAlgn="base" hangingPunct="0">
        <a:spcBef>
          <a:spcPct val="20000"/>
        </a:spcBef>
        <a:spcAft>
          <a:spcPct val="0"/>
        </a:spcAft>
        <a:buChar char="-"/>
        <a:defRPr>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6375400" y="1911350"/>
            <a:ext cx="184150" cy="457200"/>
          </a:xfrm>
          <a:prstGeom prst="rect">
            <a:avLst/>
          </a:prstGeom>
          <a:noFill/>
          <a:ln w="9525">
            <a:noFill/>
            <a:miter lim="800000"/>
            <a:headEnd/>
            <a:tailEnd/>
          </a:ln>
        </p:spPr>
        <p:txBody>
          <a:bodyPr wrap="none">
            <a:spAutoFit/>
          </a:bodyPr>
          <a:lstStyle/>
          <a:p>
            <a:endParaRPr lang="en-US" sz="2400"/>
          </a:p>
        </p:txBody>
      </p:sp>
      <p:sp>
        <p:nvSpPr>
          <p:cNvPr id="4099" name="Rectangle 3"/>
          <p:cNvSpPr>
            <a:spLocks noChangeArrowheads="1"/>
          </p:cNvSpPr>
          <p:nvPr/>
        </p:nvSpPr>
        <p:spPr bwMode="auto">
          <a:xfrm>
            <a:off x="0" y="-304800"/>
            <a:ext cx="9144000" cy="7162800"/>
          </a:xfrm>
          <a:prstGeom prst="rect">
            <a:avLst/>
          </a:prstGeom>
          <a:gradFill rotWithShape="0">
            <a:gsLst>
              <a:gs pos="0">
                <a:srgbClr val="050925"/>
              </a:gs>
              <a:gs pos="50000">
                <a:srgbClr val="0A134F"/>
              </a:gs>
              <a:gs pos="100000">
                <a:srgbClr val="050925"/>
              </a:gs>
            </a:gsLst>
            <a:lin ang="5400000" scaled="1"/>
          </a:gradFill>
          <a:ln w="9525">
            <a:solidFill>
              <a:schemeClr val="tx1"/>
            </a:solidFill>
            <a:miter lim="800000"/>
            <a:headEnd/>
            <a:tailEnd/>
          </a:ln>
        </p:spPr>
        <p:txBody>
          <a:bodyPr wrap="none" anchor="ctr"/>
          <a:lstStyle/>
          <a:p>
            <a:pPr algn="ctr"/>
            <a:endParaRPr lang="en-US" sz="1200" b="1" dirty="0">
              <a:solidFill>
                <a:srgbClr val="96A79C"/>
              </a:solidFill>
            </a:endParaRPr>
          </a:p>
        </p:txBody>
      </p:sp>
      <p:sp>
        <p:nvSpPr>
          <p:cNvPr id="4101" name="Text Box 5"/>
          <p:cNvSpPr>
            <a:spLocks noGrp="1" noChangeArrowheads="1"/>
          </p:cNvSpPr>
          <p:nvPr>
            <p:ph type="subTitle" idx="1"/>
          </p:nvPr>
        </p:nvSpPr>
        <p:spPr>
          <a:xfrm>
            <a:off x="1835696" y="3356992"/>
            <a:ext cx="5256584" cy="360040"/>
          </a:xfrm>
          <a:noFill/>
        </p:spPr>
        <p:txBody>
          <a:bodyPr/>
          <a:lstStyle/>
          <a:p>
            <a:pPr>
              <a:spcBef>
                <a:spcPct val="50000"/>
              </a:spcBef>
            </a:pPr>
            <a:r>
              <a:rPr lang="en-US" sz="1400" b="1" dirty="0" smtClean="0">
                <a:solidFill>
                  <a:srgbClr val="96A79C"/>
                </a:solidFill>
              </a:rPr>
              <a:t>The Foundation for </a:t>
            </a:r>
            <a:br>
              <a:rPr lang="en-US" sz="1400" b="1" dirty="0" smtClean="0">
                <a:solidFill>
                  <a:srgbClr val="96A79C"/>
                </a:solidFill>
              </a:rPr>
            </a:br>
            <a:r>
              <a:rPr lang="en-US" sz="1400" b="1" dirty="0" smtClean="0">
                <a:solidFill>
                  <a:srgbClr val="96A79C"/>
                </a:solidFill>
              </a:rPr>
              <a:t>Social Entrepreneurs</a:t>
            </a:r>
          </a:p>
          <a:p>
            <a:pPr algn="r">
              <a:spcBef>
                <a:spcPct val="50000"/>
              </a:spcBef>
            </a:pPr>
            <a:endParaRPr lang="en-US" sz="2000" dirty="0" smtClean="0"/>
          </a:p>
        </p:txBody>
      </p:sp>
      <p:sp>
        <p:nvSpPr>
          <p:cNvPr id="4102" name="Text Box 6"/>
          <p:cNvSpPr txBox="1">
            <a:spLocks noChangeArrowheads="1"/>
          </p:cNvSpPr>
          <p:nvPr/>
        </p:nvSpPr>
        <p:spPr bwMode="auto">
          <a:xfrm>
            <a:off x="2483768" y="5085184"/>
            <a:ext cx="4248150" cy="1615827"/>
          </a:xfrm>
          <a:prstGeom prst="rect">
            <a:avLst/>
          </a:prstGeom>
          <a:noFill/>
          <a:ln w="9525">
            <a:noFill/>
            <a:miter lim="800000"/>
            <a:headEnd/>
            <a:tailEnd/>
          </a:ln>
        </p:spPr>
        <p:txBody>
          <a:bodyPr>
            <a:spAutoFit/>
          </a:bodyPr>
          <a:lstStyle/>
          <a:p>
            <a:pPr algn="ctr">
              <a:spcBef>
                <a:spcPct val="50000"/>
              </a:spcBef>
            </a:pPr>
            <a:r>
              <a:rPr lang="en-US" sz="1800" dirty="0" smtClean="0">
                <a:solidFill>
                  <a:schemeClr val="bg1"/>
                </a:solidFill>
              </a:rPr>
              <a:t>Investing in ambitious social enterprises</a:t>
            </a:r>
          </a:p>
          <a:p>
            <a:pPr algn="ctr">
              <a:spcBef>
                <a:spcPct val="50000"/>
              </a:spcBef>
            </a:pPr>
            <a:endParaRPr lang="en-US" sz="1800" dirty="0" smtClean="0">
              <a:solidFill>
                <a:schemeClr val="bg1"/>
              </a:solidFill>
            </a:endParaRPr>
          </a:p>
          <a:p>
            <a:pPr algn="ctr">
              <a:spcBef>
                <a:spcPct val="50000"/>
              </a:spcBef>
            </a:pPr>
            <a:r>
              <a:rPr lang="en-US" sz="1800" dirty="0" smtClean="0">
                <a:solidFill>
                  <a:schemeClr val="bg1"/>
                </a:solidFill>
              </a:rPr>
              <a:t>Gareth Zahir-Bill</a:t>
            </a:r>
            <a:endParaRPr lang="en-US" sz="1800" dirty="0">
              <a:solidFill>
                <a:schemeClr val="bg1"/>
              </a:solidFill>
            </a:endParaRPr>
          </a:p>
          <a:p>
            <a:pPr algn="ctr">
              <a:spcBef>
                <a:spcPct val="50000"/>
              </a:spcBef>
            </a:pPr>
            <a:r>
              <a:rPr lang="en-US" sz="1800" dirty="0" smtClean="0">
                <a:solidFill>
                  <a:schemeClr val="bg1"/>
                </a:solidFill>
              </a:rPr>
              <a:t>14 July  2011</a:t>
            </a:r>
            <a:endParaRPr lang="en-US" sz="1800" dirty="0">
              <a:solidFill>
                <a:schemeClr val="bg1"/>
              </a:solidFill>
            </a:endParaRPr>
          </a:p>
        </p:txBody>
      </p:sp>
      <p:pic>
        <p:nvPicPr>
          <p:cNvPr id="7" name="Picture 4" descr="UnLtdLogoAdjCMYK"/>
          <p:cNvPicPr>
            <a:picLocks noChangeAspect="1" noChangeArrowheads="1"/>
          </p:cNvPicPr>
          <p:nvPr/>
        </p:nvPicPr>
        <p:blipFill>
          <a:blip r:embed="rId3" cstate="print"/>
          <a:srcRect/>
          <a:stretch>
            <a:fillRect/>
          </a:stretch>
        </p:blipFill>
        <p:spPr bwMode="auto">
          <a:xfrm>
            <a:off x="3059832" y="1988840"/>
            <a:ext cx="3616595" cy="12961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2195513" y="2924175"/>
            <a:ext cx="4800600" cy="533400"/>
          </a:xfrm>
        </p:spPr>
        <p:txBody>
          <a:bodyPr/>
          <a:lstStyle/>
          <a:p>
            <a:pPr marL="0" indent="0" algn="ctr" eaLnBrk="1" hangingPunct="1">
              <a:lnSpc>
                <a:spcPct val="90000"/>
              </a:lnSpc>
            </a:pPr>
            <a:endParaRPr lang="en-GB" sz="2800" u="sng" dirty="0" smtClean="0">
              <a:solidFill>
                <a:schemeClr val="accent2"/>
              </a:solidFill>
            </a:endParaRPr>
          </a:p>
          <a:p>
            <a:pPr marL="0" indent="0" algn="ctr" eaLnBrk="1" hangingPunct="1">
              <a:lnSpc>
                <a:spcPct val="90000"/>
              </a:lnSpc>
            </a:pPr>
            <a:endParaRPr lang="en-GB" sz="2800" u="sng" dirty="0" smtClean="0">
              <a:solidFill>
                <a:schemeClr val="accent2"/>
              </a:solidFill>
            </a:endParaRPr>
          </a:p>
          <a:p>
            <a:pPr marL="0" indent="0" eaLnBrk="1" hangingPunct="1">
              <a:lnSpc>
                <a:spcPct val="90000"/>
              </a:lnSpc>
            </a:pPr>
            <a:endParaRPr lang="en-US" sz="2800" dirty="0" smtClean="0"/>
          </a:p>
        </p:txBody>
      </p:sp>
      <p:sp>
        <p:nvSpPr>
          <p:cNvPr id="5" name="Title 4"/>
          <p:cNvSpPr>
            <a:spLocks noGrp="1"/>
          </p:cNvSpPr>
          <p:nvPr>
            <p:ph type="title"/>
          </p:nvPr>
        </p:nvSpPr>
        <p:spPr/>
        <p:txBody>
          <a:bodyPr/>
          <a:lstStyle/>
          <a:p>
            <a:r>
              <a:rPr lang="en-GB" dirty="0" smtClean="0"/>
              <a:t>What is investment?</a:t>
            </a:r>
            <a:endParaRPr lang="en-GB" dirty="0"/>
          </a:p>
        </p:txBody>
      </p:sp>
      <p:sp>
        <p:nvSpPr>
          <p:cNvPr id="7" name="TextBox 6"/>
          <p:cNvSpPr txBox="1"/>
          <p:nvPr/>
        </p:nvSpPr>
        <p:spPr>
          <a:xfrm>
            <a:off x="323528" y="1268760"/>
            <a:ext cx="8496944" cy="5139869"/>
          </a:xfrm>
          <a:prstGeom prst="rect">
            <a:avLst/>
          </a:prstGeom>
          <a:noFill/>
        </p:spPr>
        <p:txBody>
          <a:bodyPr wrap="square" rtlCol="0">
            <a:spAutoFit/>
          </a:bodyPr>
          <a:lstStyle/>
          <a:p>
            <a:pPr algn="ctr"/>
            <a:r>
              <a:rPr lang="en-GB" sz="2000" dirty="0" smtClean="0"/>
              <a:t>“The investing of money or capital in order to gain profitable returns, as interest, income, or profitable appreciation in value”</a:t>
            </a:r>
          </a:p>
          <a:p>
            <a:pPr algn="ctr"/>
            <a:endParaRPr lang="en-GB" sz="2000" dirty="0" smtClean="0"/>
          </a:p>
          <a:p>
            <a:pPr algn="ctr"/>
            <a:r>
              <a:rPr lang="en-GB" sz="2000" dirty="0" smtClean="0"/>
              <a:t>“Social investments... are intended to both provide attractive returns to investors and to provide market-based solutions to social and environmental issues.”</a:t>
            </a:r>
          </a:p>
          <a:p>
            <a:pPr algn="ctr"/>
            <a:endParaRPr lang="en-GB" sz="2000" b="1" u="sng" dirty="0" smtClean="0"/>
          </a:p>
          <a:p>
            <a:r>
              <a:rPr lang="en-GB" sz="2000" b="1" u="sng" dirty="0" smtClean="0"/>
              <a:t>What is not investment?</a:t>
            </a:r>
          </a:p>
          <a:p>
            <a:pPr algn="ctr"/>
            <a:endParaRPr lang="en-GB" sz="2000" dirty="0" smtClean="0"/>
          </a:p>
          <a:p>
            <a:pPr algn="ctr"/>
            <a:r>
              <a:rPr lang="en-GB" sz="1800" dirty="0" smtClean="0"/>
              <a:t>“Impetus Trust works to break the cycle of poverty by investing in ambitious charities and social enterprises that fight economic disadvantage. We use our highly effective venture philanthropy model to accelerate the growth of carefully selected charities and social enterprises so they can help many more people living in poverty.”</a:t>
            </a:r>
          </a:p>
          <a:p>
            <a:pPr algn="ctr"/>
            <a:r>
              <a:rPr lang="en-GB" sz="1800" dirty="0" smtClean="0"/>
              <a:t> (by managing pro-bono consultants and giving grants)</a:t>
            </a:r>
          </a:p>
          <a:p>
            <a:pPr algn="ctr"/>
            <a:endParaRPr lang="en-GB" sz="2000" dirty="0" smtClean="0"/>
          </a:p>
          <a:p>
            <a:pPr algn="ctr"/>
            <a:endParaRPr lang="en-GB" sz="20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Rectangle 8"/>
          <p:cNvSpPr>
            <a:spLocks noGrp="1" noChangeArrowheads="1"/>
          </p:cNvSpPr>
          <p:nvPr>
            <p:ph type="title"/>
          </p:nvPr>
        </p:nvSpPr>
        <p:spPr/>
        <p:txBody>
          <a:bodyPr/>
          <a:lstStyle/>
          <a:p>
            <a:pPr eaLnBrk="1" hangingPunct="1"/>
            <a:r>
              <a:rPr lang="en-US" smtClean="0"/>
              <a:t/>
            </a:r>
            <a:br>
              <a:rPr lang="en-US" smtClean="0"/>
            </a:br>
            <a:r>
              <a:rPr lang="en-US" smtClean="0"/>
              <a:t>Range of Financial Instruments &amp; Capital Needs</a:t>
            </a:r>
          </a:p>
        </p:txBody>
      </p:sp>
      <p:graphicFrame>
        <p:nvGraphicFramePr>
          <p:cNvPr id="9" name="Table 8"/>
          <p:cNvGraphicFramePr>
            <a:graphicFrameLocks noGrp="1"/>
          </p:cNvGraphicFramePr>
          <p:nvPr/>
        </p:nvGraphicFramePr>
        <p:xfrm>
          <a:off x="179512" y="1052736"/>
          <a:ext cx="8784978" cy="4046542"/>
        </p:xfrm>
        <a:graphic>
          <a:graphicData uri="http://schemas.openxmlformats.org/drawingml/2006/table">
            <a:tbl>
              <a:tblPr firstRow="1" bandRow="1">
                <a:tableStyleId>{5C22544A-7EE6-4342-B048-85BDC9FD1C3A}</a:tableStyleId>
              </a:tblPr>
              <a:tblGrid>
                <a:gridCol w="2928326"/>
                <a:gridCol w="4128461"/>
                <a:gridCol w="1728191"/>
              </a:tblGrid>
              <a:tr h="318467">
                <a:tc>
                  <a:txBody>
                    <a:bodyPr/>
                    <a:lstStyle/>
                    <a:p>
                      <a:r>
                        <a:rPr lang="en-GB" dirty="0" smtClean="0"/>
                        <a:t>Instrument</a:t>
                      </a:r>
                      <a:endParaRPr lang="en-GB" dirty="0"/>
                    </a:p>
                  </a:txBody>
                  <a:tcPr/>
                </a:tc>
                <a:tc>
                  <a:txBody>
                    <a:bodyPr/>
                    <a:lstStyle/>
                    <a:p>
                      <a:r>
                        <a:rPr lang="en-GB" dirty="0" smtClean="0"/>
                        <a:t>Providers</a:t>
                      </a:r>
                      <a:endParaRPr lang="en-GB" dirty="0"/>
                    </a:p>
                  </a:txBody>
                  <a:tcPr/>
                </a:tc>
                <a:tc>
                  <a:txBody>
                    <a:bodyPr/>
                    <a:lstStyle/>
                    <a:p>
                      <a:r>
                        <a:rPr lang="en-GB" dirty="0" smtClean="0"/>
                        <a:t>Return</a:t>
                      </a:r>
                      <a:endParaRPr lang="en-GB" dirty="0"/>
                    </a:p>
                  </a:txBody>
                  <a:tcPr/>
                </a:tc>
              </a:tr>
              <a:tr h="549682">
                <a:tc>
                  <a:txBody>
                    <a:bodyPr/>
                    <a:lstStyle/>
                    <a:p>
                      <a:r>
                        <a:rPr lang="en-GB" sz="1600" dirty="0" smtClean="0"/>
                        <a:t>Loans</a:t>
                      </a:r>
                      <a:endParaRPr lang="en-GB" sz="1600" dirty="0"/>
                    </a:p>
                  </a:txBody>
                  <a:tcPr/>
                </a:tc>
                <a:tc>
                  <a:txBody>
                    <a:bodyPr/>
                    <a:lstStyle/>
                    <a:p>
                      <a:r>
                        <a:rPr lang="en-GB" sz="1600" dirty="0" err="1" smtClean="0"/>
                        <a:t>Natwest</a:t>
                      </a:r>
                      <a:r>
                        <a:rPr lang="en-GB" sz="1600" dirty="0" smtClean="0"/>
                        <a:t>, Charity Bank, Triodos Bank</a:t>
                      </a:r>
                      <a:endParaRPr lang="en-GB" sz="1600" dirty="0"/>
                    </a:p>
                  </a:txBody>
                  <a:tcPr/>
                </a:tc>
                <a:tc>
                  <a:txBody>
                    <a:bodyPr/>
                    <a:lstStyle/>
                    <a:p>
                      <a:r>
                        <a:rPr lang="en-GB" sz="1600" dirty="0" smtClean="0"/>
                        <a:t>BR+2-4%</a:t>
                      </a:r>
                      <a:endParaRPr lang="en-GB" sz="1600" dirty="0"/>
                    </a:p>
                  </a:txBody>
                  <a:tcPr/>
                </a:tc>
              </a:tr>
              <a:tr h="780290">
                <a:tc>
                  <a:txBody>
                    <a:bodyPr/>
                    <a:lstStyle/>
                    <a:p>
                      <a:r>
                        <a:rPr lang="en-GB" sz="1600" dirty="0" smtClean="0"/>
                        <a:t>Quasi-</a:t>
                      </a:r>
                      <a:r>
                        <a:rPr lang="en-GB" sz="1600" baseline="0" dirty="0" smtClean="0"/>
                        <a:t>Equity</a:t>
                      </a:r>
                      <a:endParaRPr lang="en-GB" sz="1600" dirty="0"/>
                    </a:p>
                  </a:txBody>
                  <a:tcPr/>
                </a:tc>
                <a:tc>
                  <a:txBody>
                    <a:bodyPr/>
                    <a:lstStyle/>
                    <a:p>
                      <a:r>
                        <a:rPr lang="en-GB" sz="1600" dirty="0" smtClean="0"/>
                        <a:t>Venturesome, Big Issue Invest , Bridges Ventures</a:t>
                      </a:r>
                      <a:endParaRPr lang="en-GB" sz="1600" dirty="0"/>
                    </a:p>
                  </a:txBody>
                  <a:tcPr/>
                </a:tc>
                <a:tc>
                  <a:txBody>
                    <a:bodyPr/>
                    <a:lstStyle/>
                    <a:p>
                      <a:r>
                        <a:rPr lang="en-GB" sz="1600" dirty="0" smtClean="0"/>
                        <a:t>c.10%</a:t>
                      </a:r>
                      <a:endParaRPr lang="en-GB" sz="1600" dirty="0"/>
                    </a:p>
                  </a:txBody>
                  <a:tcPr/>
                </a:tc>
              </a:tr>
              <a:tr h="780290">
                <a:tc>
                  <a:txBody>
                    <a:bodyPr/>
                    <a:lstStyle/>
                    <a:p>
                      <a:r>
                        <a:rPr lang="en-GB" sz="1600" dirty="0" smtClean="0"/>
                        <a:t>High Net Worth Individuals (HNWI)</a:t>
                      </a:r>
                      <a:endParaRPr lang="en-GB" sz="1600" dirty="0"/>
                    </a:p>
                  </a:txBody>
                  <a:tcPr/>
                </a:tc>
                <a:tc>
                  <a:txBody>
                    <a:bodyPr/>
                    <a:lstStyle/>
                    <a:p>
                      <a:r>
                        <a:rPr lang="en-GB" sz="1600" dirty="0" smtClean="0"/>
                        <a:t>Individuals, Networks - ClearlySo, Envestors, Resonance</a:t>
                      </a:r>
                      <a:endParaRPr lang="en-GB" sz="1600" dirty="0"/>
                    </a:p>
                  </a:txBody>
                  <a:tcPr/>
                </a:tc>
                <a:tc>
                  <a:txBody>
                    <a:bodyPr/>
                    <a:lstStyle/>
                    <a:p>
                      <a:r>
                        <a:rPr lang="en-GB" sz="1600" dirty="0" smtClean="0"/>
                        <a:t>15%+</a:t>
                      </a:r>
                      <a:endParaRPr lang="en-GB" sz="1600" dirty="0"/>
                    </a:p>
                  </a:txBody>
                  <a:tcPr/>
                </a:tc>
              </a:tr>
              <a:tr h="785260">
                <a:tc>
                  <a:txBody>
                    <a:bodyPr/>
                    <a:lstStyle/>
                    <a:p>
                      <a:r>
                        <a:rPr lang="en-GB" sz="1600" dirty="0" smtClean="0"/>
                        <a:t>Charitable Foundations</a:t>
                      </a:r>
                      <a:endParaRPr lang="en-GB" sz="1600" dirty="0"/>
                    </a:p>
                  </a:txBody>
                  <a:tcPr/>
                </a:tc>
                <a:tc>
                  <a:txBody>
                    <a:bodyPr/>
                    <a:lstStyle/>
                    <a:p>
                      <a:r>
                        <a:rPr lang="en-GB" sz="1600" dirty="0" err="1" smtClean="0"/>
                        <a:t>Esmee</a:t>
                      </a:r>
                      <a:r>
                        <a:rPr lang="en-GB" sz="1600" dirty="0" smtClean="0"/>
                        <a:t> Fairbairn,</a:t>
                      </a:r>
                      <a:r>
                        <a:rPr lang="en-GB" sz="1600" baseline="0" dirty="0" smtClean="0"/>
                        <a:t> Tudor Trust, Waterloo Foundation</a:t>
                      </a:r>
                      <a:endParaRPr lang="en-GB" sz="1600" dirty="0"/>
                    </a:p>
                  </a:txBody>
                  <a:tcPr/>
                </a:tc>
                <a:tc>
                  <a:txBody>
                    <a:bodyPr/>
                    <a:lstStyle/>
                    <a:p>
                      <a:r>
                        <a:rPr lang="en-GB" sz="1600" dirty="0" smtClean="0"/>
                        <a:t>Capital Back +</a:t>
                      </a:r>
                      <a:endParaRPr lang="en-GB" sz="1600" dirty="0"/>
                    </a:p>
                  </a:txBody>
                  <a:tcPr/>
                </a:tc>
              </a:tr>
              <a:tr h="785260">
                <a:tc>
                  <a:txBody>
                    <a:bodyPr/>
                    <a:lstStyle/>
                    <a:p>
                      <a:r>
                        <a:rPr lang="en-GB" sz="1600" dirty="0" smtClean="0"/>
                        <a:t>Seed Capital / Venture Capital</a:t>
                      </a:r>
                      <a:endParaRPr lang="en-GB" sz="1600" dirty="0"/>
                    </a:p>
                  </a:txBody>
                  <a:tcPr/>
                </a:tc>
                <a:tc>
                  <a:txBody>
                    <a:bodyPr/>
                    <a:lstStyle/>
                    <a:p>
                      <a:r>
                        <a:rPr lang="en-GB" sz="1600" dirty="0" err="1" smtClean="0"/>
                        <a:t>vCap</a:t>
                      </a:r>
                      <a:r>
                        <a:rPr lang="en-GB" sz="1600" dirty="0" smtClean="0"/>
                        <a:t>,</a:t>
                      </a:r>
                      <a:r>
                        <a:rPr lang="en-GB" sz="1600" baseline="0" dirty="0" smtClean="0"/>
                        <a:t> Bridges Ventures, EIS Funds</a:t>
                      </a:r>
                      <a:endParaRPr lang="en-GB" sz="1600" dirty="0"/>
                    </a:p>
                  </a:txBody>
                  <a:tcPr/>
                </a:tc>
                <a:tc>
                  <a:txBody>
                    <a:bodyPr/>
                    <a:lstStyle/>
                    <a:p>
                      <a:r>
                        <a:rPr lang="en-GB" sz="1600" dirty="0" smtClean="0"/>
                        <a:t>25% IRR+</a:t>
                      </a:r>
                      <a:endParaRPr lang="en-GB" sz="1600" dirty="0"/>
                    </a:p>
                  </a:txBody>
                  <a:tcPr/>
                </a:tc>
              </a:tr>
            </a:tbl>
          </a:graphicData>
        </a:graphic>
      </p:graphicFrame>
      <p:sp>
        <p:nvSpPr>
          <p:cNvPr id="5" name="TextBox 4"/>
          <p:cNvSpPr txBox="1"/>
          <p:nvPr/>
        </p:nvSpPr>
        <p:spPr>
          <a:xfrm>
            <a:off x="827584" y="5229200"/>
            <a:ext cx="7776864" cy="369332"/>
          </a:xfrm>
          <a:prstGeom prst="rect">
            <a:avLst/>
          </a:prstGeom>
          <a:noFill/>
        </p:spPr>
        <p:txBody>
          <a:bodyPr wrap="square" rtlCol="0">
            <a:spAutoFit/>
          </a:bodyPr>
          <a:lstStyle/>
          <a:p>
            <a:r>
              <a:rPr lang="en-GB" sz="1800" dirty="0" smtClean="0"/>
              <a:t>          Others - Grants, Crowd Funding, Donations, Bonds, etc..etc..</a:t>
            </a:r>
            <a:endParaRPr lang="en-GB" sz="1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76200" y="5638800"/>
            <a:ext cx="3276859" cy="215444"/>
          </a:xfrm>
          <a:prstGeom prst="rect">
            <a:avLst/>
          </a:prstGeom>
          <a:noFill/>
          <a:ln w="9525">
            <a:noFill/>
            <a:miter lim="800000"/>
            <a:headEnd/>
            <a:tailEnd/>
          </a:ln>
        </p:spPr>
        <p:txBody>
          <a:bodyPr wrap="none">
            <a:spAutoFit/>
          </a:bodyPr>
          <a:lstStyle/>
          <a:p>
            <a:r>
              <a:rPr lang="en-US" sz="800" dirty="0">
                <a:solidFill>
                  <a:srgbClr val="000000"/>
                </a:solidFill>
              </a:rPr>
              <a:t>Source: </a:t>
            </a:r>
            <a:r>
              <a:rPr lang="en-US" sz="800" dirty="0" smtClean="0">
                <a:solidFill>
                  <a:srgbClr val="000000"/>
                </a:solidFill>
              </a:rPr>
              <a:t> Adapted From : Venturesome</a:t>
            </a:r>
            <a:r>
              <a:rPr lang="en-US" sz="800" dirty="0">
                <a:solidFill>
                  <a:srgbClr val="000000"/>
                </a:solidFill>
              </a:rPr>
              <a:t>, Financing Civil Society 2008</a:t>
            </a:r>
          </a:p>
        </p:txBody>
      </p:sp>
      <p:grpSp>
        <p:nvGrpSpPr>
          <p:cNvPr id="6147" name="Group 3"/>
          <p:cNvGrpSpPr>
            <a:grpSpLocks/>
          </p:cNvGrpSpPr>
          <p:nvPr/>
        </p:nvGrpSpPr>
        <p:grpSpPr bwMode="auto">
          <a:xfrm>
            <a:off x="76200" y="1981200"/>
            <a:ext cx="8964613" cy="3078163"/>
            <a:chOff x="48" y="1248"/>
            <a:chExt cx="5647" cy="1939"/>
          </a:xfrm>
        </p:grpSpPr>
        <p:sp>
          <p:nvSpPr>
            <p:cNvPr id="6149" name="Text Box 4"/>
            <p:cNvSpPr txBox="1">
              <a:spLocks noChangeArrowheads="1"/>
            </p:cNvSpPr>
            <p:nvPr/>
          </p:nvSpPr>
          <p:spPr bwMode="auto">
            <a:xfrm>
              <a:off x="374" y="2784"/>
              <a:ext cx="1162" cy="403"/>
            </a:xfrm>
            <a:prstGeom prst="rect">
              <a:avLst/>
            </a:prstGeom>
            <a:noFill/>
            <a:ln w="9525">
              <a:noFill/>
              <a:miter lim="800000"/>
              <a:headEnd/>
              <a:tailEnd/>
            </a:ln>
          </p:spPr>
          <p:txBody>
            <a:bodyPr>
              <a:spAutoFit/>
            </a:bodyPr>
            <a:lstStyle/>
            <a:p>
              <a:r>
                <a:rPr lang="en-US" sz="1200">
                  <a:solidFill>
                    <a:srgbClr val="000000"/>
                  </a:solidFill>
                </a:rPr>
                <a:t>Fixed asset acquisition/ Hard development capital</a:t>
              </a:r>
            </a:p>
          </p:txBody>
        </p:sp>
        <p:sp>
          <p:nvSpPr>
            <p:cNvPr id="6150" name="Text Box 5"/>
            <p:cNvSpPr txBox="1">
              <a:spLocks noChangeArrowheads="1"/>
            </p:cNvSpPr>
            <p:nvPr/>
          </p:nvSpPr>
          <p:spPr bwMode="auto">
            <a:xfrm>
              <a:off x="1632" y="2784"/>
              <a:ext cx="1152" cy="288"/>
            </a:xfrm>
            <a:prstGeom prst="rect">
              <a:avLst/>
            </a:prstGeom>
            <a:noFill/>
            <a:ln w="9525">
              <a:noFill/>
              <a:miter lim="800000"/>
              <a:headEnd/>
              <a:tailEnd/>
            </a:ln>
          </p:spPr>
          <p:txBody>
            <a:bodyPr>
              <a:spAutoFit/>
            </a:bodyPr>
            <a:lstStyle/>
            <a:p>
              <a:r>
                <a:rPr lang="en-US" sz="1200">
                  <a:solidFill>
                    <a:srgbClr val="000000"/>
                  </a:solidFill>
                </a:rPr>
                <a:t>Bridging finance/ </a:t>
              </a:r>
              <a:br>
                <a:rPr lang="en-US" sz="1200">
                  <a:solidFill>
                    <a:srgbClr val="000000"/>
                  </a:solidFill>
                </a:rPr>
              </a:br>
              <a:r>
                <a:rPr lang="en-US" sz="1200">
                  <a:solidFill>
                    <a:srgbClr val="000000"/>
                  </a:solidFill>
                </a:rPr>
                <a:t>Closed working capital</a:t>
              </a:r>
            </a:p>
          </p:txBody>
        </p:sp>
        <p:sp>
          <p:nvSpPr>
            <p:cNvPr id="6151" name="Text Box 6"/>
            <p:cNvSpPr txBox="1">
              <a:spLocks noChangeArrowheads="1"/>
            </p:cNvSpPr>
            <p:nvPr/>
          </p:nvSpPr>
          <p:spPr bwMode="auto">
            <a:xfrm>
              <a:off x="2880" y="2784"/>
              <a:ext cx="1152" cy="288"/>
            </a:xfrm>
            <a:prstGeom prst="rect">
              <a:avLst/>
            </a:prstGeom>
            <a:noFill/>
            <a:ln w="9525">
              <a:noFill/>
              <a:miter lim="800000"/>
              <a:headEnd/>
              <a:tailEnd/>
            </a:ln>
          </p:spPr>
          <p:txBody>
            <a:bodyPr>
              <a:spAutoFit/>
            </a:bodyPr>
            <a:lstStyle/>
            <a:p>
              <a:r>
                <a:rPr lang="en-US" sz="1200">
                  <a:solidFill>
                    <a:srgbClr val="000000"/>
                  </a:solidFill>
                </a:rPr>
                <a:t>Reserve capital/ </a:t>
              </a:r>
              <a:br>
                <a:rPr lang="en-US" sz="1200">
                  <a:solidFill>
                    <a:srgbClr val="000000"/>
                  </a:solidFill>
                </a:rPr>
              </a:br>
              <a:r>
                <a:rPr lang="en-US" sz="1200">
                  <a:solidFill>
                    <a:srgbClr val="000000"/>
                  </a:solidFill>
                </a:rPr>
                <a:t>Open working capital</a:t>
              </a:r>
            </a:p>
          </p:txBody>
        </p:sp>
        <p:sp>
          <p:nvSpPr>
            <p:cNvPr id="6152" name="Text Box 7"/>
            <p:cNvSpPr txBox="1">
              <a:spLocks noChangeArrowheads="1"/>
            </p:cNvSpPr>
            <p:nvPr/>
          </p:nvSpPr>
          <p:spPr bwMode="auto">
            <a:xfrm>
              <a:off x="4032" y="2784"/>
              <a:ext cx="1152" cy="403"/>
            </a:xfrm>
            <a:prstGeom prst="rect">
              <a:avLst/>
            </a:prstGeom>
            <a:noFill/>
            <a:ln w="9525">
              <a:noFill/>
              <a:miter lim="800000"/>
              <a:headEnd/>
              <a:tailEnd/>
            </a:ln>
          </p:spPr>
          <p:txBody>
            <a:bodyPr>
              <a:spAutoFit/>
            </a:bodyPr>
            <a:lstStyle/>
            <a:p>
              <a:pPr algn="r"/>
              <a:r>
                <a:rPr lang="en-US" sz="1200">
                  <a:solidFill>
                    <a:srgbClr val="000000"/>
                  </a:solidFill>
                </a:rPr>
                <a:t>Growth capital/ </a:t>
              </a:r>
              <a:br>
                <a:rPr lang="en-US" sz="1200">
                  <a:solidFill>
                    <a:srgbClr val="000000"/>
                  </a:solidFill>
                </a:rPr>
              </a:br>
              <a:r>
                <a:rPr lang="en-US" sz="1200">
                  <a:solidFill>
                    <a:srgbClr val="000000"/>
                  </a:solidFill>
                </a:rPr>
                <a:t>Soft development capital</a:t>
              </a:r>
            </a:p>
          </p:txBody>
        </p:sp>
        <p:cxnSp>
          <p:nvCxnSpPr>
            <p:cNvPr id="6153" name="AutoShape 8"/>
            <p:cNvCxnSpPr>
              <a:cxnSpLocks noChangeShapeType="1"/>
            </p:cNvCxnSpPr>
            <p:nvPr/>
          </p:nvCxnSpPr>
          <p:spPr bwMode="auto">
            <a:xfrm>
              <a:off x="336" y="2592"/>
              <a:ext cx="4848" cy="0"/>
            </a:xfrm>
            <a:prstGeom prst="straightConnector1">
              <a:avLst/>
            </a:prstGeom>
            <a:noFill/>
            <a:ln w="9525">
              <a:solidFill>
                <a:schemeClr val="tx1"/>
              </a:solidFill>
              <a:round/>
              <a:headEnd type="triangle" w="med" len="med"/>
              <a:tailEnd type="triangle" w="med" len="med"/>
            </a:ln>
          </p:spPr>
        </p:cxnSp>
        <p:sp>
          <p:nvSpPr>
            <p:cNvPr id="6154" name="Rectangle 9"/>
            <p:cNvSpPr>
              <a:spLocks noChangeArrowheads="1"/>
            </p:cNvSpPr>
            <p:nvPr/>
          </p:nvSpPr>
          <p:spPr bwMode="auto">
            <a:xfrm>
              <a:off x="5136" y="2668"/>
              <a:ext cx="559" cy="173"/>
            </a:xfrm>
            <a:prstGeom prst="rect">
              <a:avLst/>
            </a:prstGeom>
            <a:noFill/>
            <a:ln w="9525">
              <a:noFill/>
              <a:miter lim="800000"/>
              <a:headEnd/>
              <a:tailEnd/>
            </a:ln>
          </p:spPr>
          <p:txBody>
            <a:bodyPr wrap="none">
              <a:spAutoFit/>
            </a:bodyPr>
            <a:lstStyle/>
            <a:p>
              <a:r>
                <a:rPr lang="en-US" sz="1200" b="1" i="1">
                  <a:solidFill>
                    <a:srgbClr val="000000"/>
                  </a:solidFill>
                </a:rPr>
                <a:t>High Risk</a:t>
              </a:r>
            </a:p>
          </p:txBody>
        </p:sp>
        <p:sp>
          <p:nvSpPr>
            <p:cNvPr id="6155" name="Rectangle 10"/>
            <p:cNvSpPr>
              <a:spLocks noChangeArrowheads="1"/>
            </p:cNvSpPr>
            <p:nvPr/>
          </p:nvSpPr>
          <p:spPr bwMode="auto">
            <a:xfrm>
              <a:off x="48" y="2634"/>
              <a:ext cx="537" cy="173"/>
            </a:xfrm>
            <a:prstGeom prst="rect">
              <a:avLst/>
            </a:prstGeom>
            <a:noFill/>
            <a:ln w="9525">
              <a:noFill/>
              <a:miter lim="800000"/>
              <a:headEnd/>
              <a:tailEnd/>
            </a:ln>
          </p:spPr>
          <p:txBody>
            <a:bodyPr wrap="none">
              <a:spAutoFit/>
            </a:bodyPr>
            <a:lstStyle/>
            <a:p>
              <a:r>
                <a:rPr lang="en-US" sz="1200" b="1" i="1">
                  <a:solidFill>
                    <a:srgbClr val="000000"/>
                  </a:solidFill>
                </a:rPr>
                <a:t>Low Risk</a:t>
              </a:r>
            </a:p>
          </p:txBody>
        </p:sp>
        <p:sp>
          <p:nvSpPr>
            <p:cNvPr id="6156" name="Rectangle 11"/>
            <p:cNvSpPr>
              <a:spLocks noChangeArrowheads="1"/>
            </p:cNvSpPr>
            <p:nvPr/>
          </p:nvSpPr>
          <p:spPr bwMode="auto">
            <a:xfrm>
              <a:off x="336" y="1248"/>
              <a:ext cx="1824" cy="1248"/>
            </a:xfrm>
            <a:prstGeom prst="rect">
              <a:avLst/>
            </a:prstGeom>
            <a:gradFill rotWithShape="0">
              <a:gsLst>
                <a:gs pos="0">
                  <a:srgbClr val="D2D2D2"/>
                </a:gs>
                <a:gs pos="100000">
                  <a:srgbClr val="FFFFFF"/>
                </a:gs>
              </a:gsLst>
              <a:lin ang="0" scaled="1"/>
            </a:gradFill>
            <a:ln w="9525">
              <a:solidFill>
                <a:srgbClr val="D2D2D2"/>
              </a:solidFill>
              <a:miter lim="800000"/>
              <a:headEnd/>
              <a:tailEnd/>
            </a:ln>
          </p:spPr>
          <p:txBody>
            <a:bodyPr wrap="none" anchor="ctr"/>
            <a:lstStyle/>
            <a:p>
              <a:r>
                <a:rPr lang="en-US" sz="1200" b="1" i="1">
                  <a:solidFill>
                    <a:srgbClr val="000000"/>
                  </a:solidFill>
                </a:rPr>
                <a:t>Mainstream and specialist </a:t>
              </a:r>
              <a:br>
                <a:rPr lang="en-US" sz="1200" b="1" i="1">
                  <a:solidFill>
                    <a:srgbClr val="000000"/>
                  </a:solidFill>
                </a:rPr>
              </a:br>
              <a:r>
                <a:rPr lang="en-US" sz="1200" b="1" i="1">
                  <a:solidFill>
                    <a:srgbClr val="000000"/>
                  </a:solidFill>
                </a:rPr>
                <a:t>banks:</a:t>
              </a:r>
              <a:r>
                <a:rPr lang="en-US" sz="1200">
                  <a:solidFill>
                    <a:srgbClr val="000000"/>
                  </a:solidFill>
                </a:rPr>
                <a:t> </a:t>
              </a:r>
            </a:p>
            <a:p>
              <a:r>
                <a:rPr lang="en-US" sz="1200">
                  <a:solidFill>
                    <a:srgbClr val="000000"/>
                  </a:solidFill>
                </a:rPr>
                <a:t>Charity Bank</a:t>
              </a:r>
            </a:p>
            <a:p>
              <a:r>
                <a:rPr lang="en-US" sz="1200">
                  <a:solidFill>
                    <a:srgbClr val="000000"/>
                  </a:solidFill>
                </a:rPr>
                <a:t>Triodos Bank</a:t>
              </a:r>
            </a:p>
            <a:p>
              <a:r>
                <a:rPr lang="en-US" sz="1200">
                  <a:solidFill>
                    <a:srgbClr val="000000"/>
                  </a:solidFill>
                </a:rPr>
                <a:t>Unity Trust</a:t>
              </a:r>
            </a:p>
            <a:p>
              <a:r>
                <a:rPr lang="en-US" sz="1200">
                  <a:solidFill>
                    <a:srgbClr val="000000"/>
                  </a:solidFill>
                </a:rPr>
                <a:t>Barclays Bank</a:t>
              </a:r>
            </a:p>
            <a:p>
              <a:r>
                <a:rPr lang="en-US" sz="1200">
                  <a:solidFill>
                    <a:srgbClr val="000000"/>
                  </a:solidFill>
                </a:rPr>
                <a:t>Co-operative Bank</a:t>
              </a:r>
            </a:p>
            <a:p>
              <a:r>
                <a:rPr lang="en-US" sz="1200">
                  <a:solidFill>
                    <a:srgbClr val="000000"/>
                  </a:solidFill>
                </a:rPr>
                <a:t>NatWest </a:t>
              </a:r>
              <a:br>
                <a:rPr lang="en-US" sz="1200">
                  <a:solidFill>
                    <a:srgbClr val="000000"/>
                  </a:solidFill>
                </a:rPr>
              </a:br>
              <a:r>
                <a:rPr lang="en-US" sz="1200">
                  <a:solidFill>
                    <a:srgbClr val="000000"/>
                  </a:solidFill>
                </a:rPr>
                <a:t>etc</a:t>
              </a:r>
            </a:p>
          </p:txBody>
        </p:sp>
        <p:sp>
          <p:nvSpPr>
            <p:cNvPr id="6157" name="Rectangle 12"/>
            <p:cNvSpPr>
              <a:spLocks noChangeArrowheads="1"/>
            </p:cNvSpPr>
            <p:nvPr/>
          </p:nvSpPr>
          <p:spPr bwMode="auto">
            <a:xfrm>
              <a:off x="2208" y="2304"/>
              <a:ext cx="2928" cy="192"/>
            </a:xfrm>
            <a:prstGeom prst="rect">
              <a:avLst/>
            </a:prstGeom>
            <a:solidFill>
              <a:srgbClr val="D2D2D2">
                <a:alpha val="56078"/>
              </a:srgbClr>
            </a:solidFill>
            <a:ln w="9525">
              <a:solidFill>
                <a:srgbClr val="D2D2D2"/>
              </a:solidFill>
              <a:miter lim="800000"/>
              <a:headEnd/>
              <a:tailEnd/>
            </a:ln>
          </p:spPr>
          <p:txBody>
            <a:bodyPr wrap="none" anchor="ctr"/>
            <a:lstStyle/>
            <a:p>
              <a:pPr algn="ctr"/>
              <a:endParaRPr lang="en-US" sz="1200" b="1" i="1">
                <a:solidFill>
                  <a:srgbClr val="000000"/>
                </a:solidFill>
              </a:endParaRPr>
            </a:p>
            <a:p>
              <a:pPr algn="ctr"/>
              <a:r>
                <a:rPr lang="en-US" sz="1200" b="1" i="1">
                  <a:solidFill>
                    <a:srgbClr val="000000"/>
                  </a:solidFill>
                </a:rPr>
                <a:t>Specialist risk fund: </a:t>
              </a:r>
              <a:r>
                <a:rPr lang="en-US" sz="1200">
                  <a:solidFill>
                    <a:srgbClr val="000000"/>
                  </a:solidFill>
                </a:rPr>
                <a:t>Venturesome </a:t>
              </a:r>
            </a:p>
            <a:p>
              <a:pPr algn="ctr"/>
              <a:endParaRPr lang="en-US" sz="1200">
                <a:solidFill>
                  <a:srgbClr val="000000"/>
                </a:solidFill>
              </a:endParaRPr>
            </a:p>
          </p:txBody>
        </p:sp>
        <p:sp>
          <p:nvSpPr>
            <p:cNvPr id="6158" name="Rectangle 13"/>
            <p:cNvSpPr>
              <a:spLocks noChangeArrowheads="1"/>
            </p:cNvSpPr>
            <p:nvPr/>
          </p:nvSpPr>
          <p:spPr bwMode="auto">
            <a:xfrm>
              <a:off x="1632" y="1728"/>
              <a:ext cx="2736" cy="528"/>
            </a:xfrm>
            <a:prstGeom prst="rect">
              <a:avLst/>
            </a:prstGeom>
            <a:gradFill rotWithShape="0">
              <a:gsLst>
                <a:gs pos="0">
                  <a:srgbClr val="D2D2D2"/>
                </a:gs>
                <a:gs pos="100000">
                  <a:srgbClr val="FFFFFF"/>
                </a:gs>
              </a:gsLst>
              <a:lin ang="0" scaled="1"/>
            </a:gradFill>
            <a:ln w="9525">
              <a:solidFill>
                <a:srgbClr val="D2D2D2"/>
              </a:solidFill>
              <a:miter lim="800000"/>
              <a:headEnd/>
              <a:tailEnd/>
            </a:ln>
          </p:spPr>
          <p:txBody>
            <a:bodyPr wrap="none" anchor="ctr"/>
            <a:lstStyle/>
            <a:p>
              <a:r>
                <a:rPr lang="en-US" sz="1200" b="1" i="1" dirty="0">
                  <a:solidFill>
                    <a:srgbClr val="000000"/>
                  </a:solidFill>
                </a:rPr>
                <a:t>Government backed funds: </a:t>
              </a:r>
              <a:endParaRPr lang="en-US" sz="1200" dirty="0">
                <a:solidFill>
                  <a:srgbClr val="000000"/>
                </a:solidFill>
              </a:endParaRPr>
            </a:p>
            <a:p>
              <a:r>
                <a:rPr lang="en-US" sz="1200" dirty="0" err="1">
                  <a:solidFill>
                    <a:srgbClr val="000000"/>
                  </a:solidFill>
                </a:rPr>
                <a:t>Futurebuilders</a:t>
              </a:r>
              <a:r>
                <a:rPr lang="en-US" sz="1200" dirty="0">
                  <a:solidFill>
                    <a:srgbClr val="000000"/>
                  </a:solidFill>
                </a:rPr>
                <a:t> England</a:t>
              </a:r>
            </a:p>
            <a:p>
              <a:r>
                <a:rPr lang="en-US" sz="1200" dirty="0">
                  <a:solidFill>
                    <a:srgbClr val="000000"/>
                  </a:solidFill>
                </a:rPr>
                <a:t>Adventure Capital Fund </a:t>
              </a:r>
            </a:p>
            <a:p>
              <a:r>
                <a:rPr lang="en-US" sz="1200" dirty="0">
                  <a:solidFill>
                    <a:srgbClr val="000000"/>
                  </a:solidFill>
                </a:rPr>
                <a:t>Department of Health Social Enterprise Investment Fund</a:t>
              </a:r>
            </a:p>
          </p:txBody>
        </p:sp>
        <p:sp>
          <p:nvSpPr>
            <p:cNvPr id="6159" name="Rectangle 14"/>
            <p:cNvSpPr>
              <a:spLocks noChangeArrowheads="1"/>
            </p:cNvSpPr>
            <p:nvPr/>
          </p:nvSpPr>
          <p:spPr bwMode="auto">
            <a:xfrm>
              <a:off x="3936" y="1248"/>
              <a:ext cx="1200" cy="384"/>
            </a:xfrm>
            <a:prstGeom prst="rect">
              <a:avLst/>
            </a:prstGeom>
            <a:solidFill>
              <a:srgbClr val="D2D2D2">
                <a:alpha val="56078"/>
              </a:srgbClr>
            </a:solidFill>
            <a:ln w="9525">
              <a:solidFill>
                <a:srgbClr val="D2D2D2"/>
              </a:solidFill>
              <a:miter lim="800000"/>
              <a:headEnd/>
              <a:tailEnd/>
            </a:ln>
          </p:spPr>
          <p:txBody>
            <a:bodyPr wrap="none" anchor="ctr"/>
            <a:lstStyle/>
            <a:p>
              <a:r>
                <a:rPr lang="en-US" sz="1200" b="1" i="1" dirty="0">
                  <a:solidFill>
                    <a:srgbClr val="000000"/>
                  </a:solidFill>
                </a:rPr>
                <a:t>Social venture capital: </a:t>
              </a:r>
              <a:br>
                <a:rPr lang="en-US" sz="1200" b="1" i="1" dirty="0">
                  <a:solidFill>
                    <a:srgbClr val="000000"/>
                  </a:solidFill>
                </a:rPr>
              </a:br>
              <a:r>
                <a:rPr lang="en-US" sz="1050" dirty="0" smtClean="0">
                  <a:solidFill>
                    <a:srgbClr val="000000"/>
                  </a:solidFill>
                </a:rPr>
                <a:t>Bridges Social Enterprise</a:t>
              </a:r>
            </a:p>
            <a:p>
              <a:r>
                <a:rPr lang="en-US" sz="1050" dirty="0" smtClean="0">
                  <a:solidFill>
                    <a:srgbClr val="000000"/>
                  </a:solidFill>
                </a:rPr>
                <a:t> Fund</a:t>
              </a:r>
            </a:p>
            <a:p>
              <a:r>
                <a:rPr lang="en-US" sz="1050" dirty="0" smtClean="0">
                  <a:solidFill>
                    <a:srgbClr val="000000"/>
                  </a:solidFill>
                </a:rPr>
                <a:t>Big Issue Invest</a:t>
              </a:r>
            </a:p>
            <a:p>
              <a:r>
                <a:rPr lang="en-US" sz="1050" dirty="0" smtClean="0">
                  <a:solidFill>
                    <a:srgbClr val="000000"/>
                  </a:solidFill>
                </a:rPr>
                <a:t> Social Entrepreneurs Fund</a:t>
              </a:r>
            </a:p>
            <a:p>
              <a:endParaRPr lang="en-US" sz="1200" dirty="0">
                <a:solidFill>
                  <a:srgbClr val="000000"/>
                </a:solidFill>
              </a:endParaRPr>
            </a:p>
          </p:txBody>
        </p:sp>
        <p:sp>
          <p:nvSpPr>
            <p:cNvPr id="6160" name="Rectangle 15"/>
            <p:cNvSpPr>
              <a:spLocks noChangeArrowheads="1"/>
            </p:cNvSpPr>
            <p:nvPr/>
          </p:nvSpPr>
          <p:spPr bwMode="auto">
            <a:xfrm>
              <a:off x="1632" y="1248"/>
              <a:ext cx="2304" cy="384"/>
            </a:xfrm>
            <a:prstGeom prst="rect">
              <a:avLst/>
            </a:prstGeom>
            <a:gradFill rotWithShape="0">
              <a:gsLst>
                <a:gs pos="0">
                  <a:srgbClr val="D2D2D2"/>
                </a:gs>
                <a:gs pos="100000">
                  <a:srgbClr val="FFFFFF"/>
                </a:gs>
              </a:gsLst>
              <a:lin ang="0" scaled="1"/>
            </a:gradFill>
            <a:ln w="9525">
              <a:solidFill>
                <a:srgbClr val="D2D2D2"/>
              </a:solidFill>
              <a:miter lim="800000"/>
              <a:headEnd/>
              <a:tailEnd/>
            </a:ln>
          </p:spPr>
          <p:txBody>
            <a:bodyPr wrap="none" anchor="ctr"/>
            <a:lstStyle/>
            <a:p>
              <a:r>
                <a:rPr lang="en-US" sz="1200" b="1" i="1" dirty="0">
                  <a:solidFill>
                    <a:srgbClr val="000000"/>
                  </a:solidFill>
                </a:rPr>
                <a:t>Specialist intermediaries: </a:t>
              </a:r>
              <a:endParaRPr lang="en-US" sz="1200" dirty="0">
                <a:solidFill>
                  <a:srgbClr val="000000"/>
                </a:solidFill>
              </a:endParaRPr>
            </a:p>
            <a:p>
              <a:r>
                <a:rPr lang="en-US" sz="1200" dirty="0">
                  <a:solidFill>
                    <a:srgbClr val="000000"/>
                  </a:solidFill>
                </a:rPr>
                <a:t>Big </a:t>
              </a:r>
              <a:r>
                <a:rPr lang="en-US" sz="1200" dirty="0" smtClean="0">
                  <a:solidFill>
                    <a:srgbClr val="000000"/>
                  </a:solidFill>
                </a:rPr>
                <a:t>Issue Invest</a:t>
              </a:r>
              <a:endParaRPr lang="en-US" sz="1200" dirty="0">
                <a:solidFill>
                  <a:srgbClr val="000000"/>
                </a:solidFill>
              </a:endParaRPr>
            </a:p>
            <a:p>
              <a:r>
                <a:rPr lang="en-US" sz="1200" dirty="0" err="1">
                  <a:solidFill>
                    <a:srgbClr val="000000"/>
                  </a:solidFill>
                </a:rPr>
                <a:t>ICoF</a:t>
              </a:r>
              <a:r>
                <a:rPr lang="en-US" sz="1200" dirty="0">
                  <a:solidFill>
                    <a:srgbClr val="000000"/>
                  </a:solidFill>
                </a:rPr>
                <a:t>/Co-operative and Community Finance </a:t>
              </a:r>
            </a:p>
          </p:txBody>
        </p:sp>
        <p:sp>
          <p:nvSpPr>
            <p:cNvPr id="6161" name="Rectangle 16"/>
            <p:cNvSpPr>
              <a:spLocks noChangeArrowheads="1"/>
            </p:cNvSpPr>
            <p:nvPr/>
          </p:nvSpPr>
          <p:spPr bwMode="auto">
            <a:xfrm>
              <a:off x="4368" y="1728"/>
              <a:ext cx="768" cy="528"/>
            </a:xfrm>
            <a:prstGeom prst="rect">
              <a:avLst/>
            </a:prstGeom>
            <a:solidFill>
              <a:srgbClr val="D2D2D2">
                <a:alpha val="56078"/>
              </a:srgbClr>
            </a:solidFill>
            <a:ln w="9525">
              <a:solidFill>
                <a:srgbClr val="D2D2D2"/>
              </a:solidFill>
              <a:miter lim="800000"/>
              <a:headEnd/>
              <a:tailEnd/>
            </a:ln>
          </p:spPr>
          <p:txBody>
            <a:bodyPr wrap="none" anchor="ctr"/>
            <a:lstStyle/>
            <a:p>
              <a:pPr algn="r"/>
              <a:r>
                <a:rPr lang="en-US" sz="1200">
                  <a:solidFill>
                    <a:srgbClr val="000000"/>
                  </a:solidFill>
                </a:rPr>
                <a:t>Some grant-</a:t>
              </a:r>
              <a:br>
                <a:rPr lang="en-US" sz="1200">
                  <a:solidFill>
                    <a:srgbClr val="000000"/>
                  </a:solidFill>
                </a:rPr>
              </a:br>
              <a:r>
                <a:rPr lang="en-US" sz="1200">
                  <a:solidFill>
                    <a:srgbClr val="000000"/>
                  </a:solidFill>
                </a:rPr>
                <a:t>making trusts </a:t>
              </a:r>
              <a:br>
                <a:rPr lang="en-US" sz="1200">
                  <a:solidFill>
                    <a:srgbClr val="000000"/>
                  </a:solidFill>
                </a:rPr>
              </a:br>
              <a:r>
                <a:rPr lang="en-US" sz="1200">
                  <a:solidFill>
                    <a:srgbClr val="000000"/>
                  </a:solidFill>
                </a:rPr>
                <a:t>and </a:t>
              </a:r>
            </a:p>
            <a:p>
              <a:pPr algn="r"/>
              <a:r>
                <a:rPr lang="en-US" sz="1200">
                  <a:solidFill>
                    <a:srgbClr val="000000"/>
                  </a:solidFill>
                </a:rPr>
                <a:t>philanthropists</a:t>
              </a:r>
            </a:p>
          </p:txBody>
        </p:sp>
      </p:grpSp>
      <p:sp>
        <p:nvSpPr>
          <p:cNvPr id="6148" name="Rectangle 17"/>
          <p:cNvSpPr>
            <a:spLocks noGrp="1" noChangeArrowheads="1"/>
          </p:cNvSpPr>
          <p:nvPr>
            <p:ph type="title"/>
          </p:nvPr>
        </p:nvSpPr>
        <p:spPr/>
        <p:txBody>
          <a:bodyPr/>
          <a:lstStyle/>
          <a:p>
            <a:pPr eaLnBrk="1" hangingPunct="1"/>
            <a:r>
              <a:rPr lang="en-US" smtClean="0"/>
              <a:t/>
            </a:r>
            <a:br>
              <a:rPr lang="en-US" smtClean="0"/>
            </a:br>
            <a:r>
              <a:rPr lang="en-US" smtClean="0"/>
              <a:t>Financial Suppliers &amp; Financing Needs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76200" y="5694363"/>
            <a:ext cx="2493963" cy="214312"/>
          </a:xfrm>
          <a:prstGeom prst="rect">
            <a:avLst/>
          </a:prstGeom>
          <a:noFill/>
          <a:ln w="9525">
            <a:noFill/>
            <a:miter lim="800000"/>
            <a:headEnd/>
            <a:tailEnd/>
          </a:ln>
        </p:spPr>
        <p:txBody>
          <a:bodyPr wrap="none">
            <a:spAutoFit/>
          </a:bodyPr>
          <a:lstStyle/>
          <a:p>
            <a:r>
              <a:rPr lang="en-US" sz="800">
                <a:solidFill>
                  <a:srgbClr val="000000"/>
                </a:solidFill>
              </a:rPr>
              <a:t>Source: CAF Venturesome, Access to Capital 2009</a:t>
            </a:r>
          </a:p>
        </p:txBody>
      </p:sp>
      <p:pic>
        <p:nvPicPr>
          <p:cNvPr id="7171" name="Picture 3" descr="Picture 15"/>
          <p:cNvPicPr>
            <a:picLocks noChangeAspect="1" noChangeArrowheads="1"/>
          </p:cNvPicPr>
          <p:nvPr/>
        </p:nvPicPr>
        <p:blipFill>
          <a:blip r:embed="rId3" cstate="print"/>
          <a:srcRect/>
          <a:stretch>
            <a:fillRect/>
          </a:stretch>
        </p:blipFill>
        <p:spPr bwMode="auto">
          <a:xfrm>
            <a:off x="304800" y="1600200"/>
            <a:ext cx="7467600" cy="3886200"/>
          </a:xfrm>
          <a:prstGeom prst="rect">
            <a:avLst/>
          </a:prstGeom>
          <a:noFill/>
          <a:ln w="9525">
            <a:noFill/>
            <a:miter lim="800000"/>
            <a:headEnd/>
            <a:tailEnd/>
          </a:ln>
        </p:spPr>
      </p:pic>
      <p:sp>
        <p:nvSpPr>
          <p:cNvPr id="7172" name="Rectangle 4"/>
          <p:cNvSpPr>
            <a:spLocks noChangeArrowheads="1"/>
          </p:cNvSpPr>
          <p:nvPr/>
        </p:nvSpPr>
        <p:spPr bwMode="auto">
          <a:xfrm>
            <a:off x="5791200" y="1447800"/>
            <a:ext cx="381000" cy="304800"/>
          </a:xfrm>
          <a:prstGeom prst="rect">
            <a:avLst/>
          </a:prstGeom>
          <a:solidFill>
            <a:srgbClr val="EDDE9C"/>
          </a:solidFill>
          <a:ln w="9525">
            <a:solidFill>
              <a:schemeClr val="tx1"/>
            </a:solidFill>
            <a:miter lim="800000"/>
            <a:headEnd/>
            <a:tailEnd/>
          </a:ln>
        </p:spPr>
        <p:txBody>
          <a:bodyPr wrap="none" anchor="ctr"/>
          <a:lstStyle/>
          <a:p>
            <a:endParaRPr lang="en-GB">
              <a:solidFill>
                <a:srgbClr val="000000"/>
              </a:solidFill>
            </a:endParaRPr>
          </a:p>
        </p:txBody>
      </p:sp>
      <p:sp>
        <p:nvSpPr>
          <p:cNvPr id="7173" name="Rectangle 5"/>
          <p:cNvSpPr>
            <a:spLocks noChangeArrowheads="1"/>
          </p:cNvSpPr>
          <p:nvPr/>
        </p:nvSpPr>
        <p:spPr bwMode="auto">
          <a:xfrm>
            <a:off x="5791200" y="1828800"/>
            <a:ext cx="381000" cy="304800"/>
          </a:xfrm>
          <a:prstGeom prst="rect">
            <a:avLst/>
          </a:prstGeom>
          <a:solidFill>
            <a:srgbClr val="DA0000"/>
          </a:solidFill>
          <a:ln w="9525">
            <a:solidFill>
              <a:schemeClr val="tx1"/>
            </a:solidFill>
            <a:miter lim="800000"/>
            <a:headEnd/>
            <a:tailEnd/>
          </a:ln>
        </p:spPr>
        <p:txBody>
          <a:bodyPr wrap="none" anchor="ctr"/>
          <a:lstStyle/>
          <a:p>
            <a:endParaRPr lang="en-GB">
              <a:solidFill>
                <a:srgbClr val="000000"/>
              </a:solidFill>
            </a:endParaRPr>
          </a:p>
        </p:txBody>
      </p:sp>
      <p:sp>
        <p:nvSpPr>
          <p:cNvPr id="7174" name="Text Box 6"/>
          <p:cNvSpPr txBox="1">
            <a:spLocks noChangeArrowheads="1"/>
          </p:cNvSpPr>
          <p:nvPr/>
        </p:nvSpPr>
        <p:spPr bwMode="auto">
          <a:xfrm>
            <a:off x="6308725" y="1462088"/>
            <a:ext cx="1685925" cy="304800"/>
          </a:xfrm>
          <a:prstGeom prst="rect">
            <a:avLst/>
          </a:prstGeom>
          <a:noFill/>
          <a:ln w="9525">
            <a:noFill/>
            <a:miter lim="800000"/>
            <a:headEnd/>
            <a:tailEnd/>
          </a:ln>
        </p:spPr>
        <p:txBody>
          <a:bodyPr wrap="none">
            <a:spAutoFit/>
          </a:bodyPr>
          <a:lstStyle/>
          <a:p>
            <a:r>
              <a:rPr lang="en-US" sz="1400">
                <a:solidFill>
                  <a:srgbClr val="000000"/>
                </a:solidFill>
              </a:rPr>
              <a:t>Supply is dominant</a:t>
            </a:r>
          </a:p>
        </p:txBody>
      </p:sp>
      <p:sp>
        <p:nvSpPr>
          <p:cNvPr id="7175" name="Text Box 7"/>
          <p:cNvSpPr txBox="1">
            <a:spLocks noChangeArrowheads="1"/>
          </p:cNvSpPr>
          <p:nvPr/>
        </p:nvSpPr>
        <p:spPr bwMode="auto">
          <a:xfrm>
            <a:off x="6324600" y="1828800"/>
            <a:ext cx="2032000" cy="304800"/>
          </a:xfrm>
          <a:prstGeom prst="rect">
            <a:avLst/>
          </a:prstGeom>
          <a:noFill/>
          <a:ln w="9525">
            <a:noFill/>
            <a:miter lim="800000"/>
            <a:headEnd/>
            <a:tailEnd/>
          </a:ln>
        </p:spPr>
        <p:txBody>
          <a:bodyPr wrap="none">
            <a:spAutoFit/>
          </a:bodyPr>
          <a:lstStyle/>
          <a:p>
            <a:r>
              <a:rPr lang="en-US" sz="1400">
                <a:solidFill>
                  <a:srgbClr val="000000"/>
                </a:solidFill>
              </a:rPr>
              <a:t>Funds in shorter supply</a:t>
            </a:r>
          </a:p>
        </p:txBody>
      </p:sp>
      <p:sp>
        <p:nvSpPr>
          <p:cNvPr id="7176" name="Rectangle 8"/>
          <p:cNvSpPr>
            <a:spLocks noGrp="1" noChangeArrowheads="1"/>
          </p:cNvSpPr>
          <p:nvPr>
            <p:ph type="title"/>
          </p:nvPr>
        </p:nvSpPr>
        <p:spPr/>
        <p:txBody>
          <a:bodyPr/>
          <a:lstStyle/>
          <a:p>
            <a:pPr eaLnBrk="1" hangingPunct="1"/>
            <a:r>
              <a:rPr lang="en-US" smtClean="0"/>
              <a:t/>
            </a:r>
            <a:br>
              <a:rPr lang="en-US" smtClean="0"/>
            </a:br>
            <a:r>
              <a:rPr lang="en-US" smtClean="0"/>
              <a:t>Range of Financial Instruments &amp; Capital Needs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p:cNvSpPr txBox="1">
            <a:spLocks noChangeArrowheads="1"/>
          </p:cNvSpPr>
          <p:nvPr/>
        </p:nvSpPr>
        <p:spPr bwMode="auto">
          <a:xfrm>
            <a:off x="0" y="5638800"/>
            <a:ext cx="3923928" cy="246221"/>
          </a:xfrm>
          <a:prstGeom prst="rect">
            <a:avLst/>
          </a:prstGeom>
          <a:noFill/>
          <a:ln w="9525">
            <a:noFill/>
            <a:miter lim="800000"/>
            <a:headEnd/>
            <a:tailEnd/>
          </a:ln>
        </p:spPr>
        <p:txBody>
          <a:bodyPr wrap="square">
            <a:spAutoFit/>
          </a:bodyPr>
          <a:lstStyle/>
          <a:p>
            <a:r>
              <a:rPr lang="en-US" sz="1000" dirty="0">
                <a:solidFill>
                  <a:srgbClr val="000000"/>
                </a:solidFill>
              </a:rPr>
              <a:t>Source</a:t>
            </a:r>
            <a:r>
              <a:rPr lang="en-US" sz="1000" dirty="0" smtClean="0">
                <a:solidFill>
                  <a:srgbClr val="000000"/>
                </a:solidFill>
              </a:rPr>
              <a:t>: Financing the Big Society: CAF : September 2010</a:t>
            </a:r>
            <a:endParaRPr lang="en-US" sz="1000" dirty="0">
              <a:solidFill>
                <a:srgbClr val="000000"/>
              </a:solidFill>
            </a:endParaRPr>
          </a:p>
        </p:txBody>
      </p:sp>
      <p:sp>
        <p:nvSpPr>
          <p:cNvPr id="14340" name="Rectangle 5"/>
          <p:cNvSpPr>
            <a:spLocks noGrp="1" noChangeArrowheads="1"/>
          </p:cNvSpPr>
          <p:nvPr>
            <p:ph type="title"/>
          </p:nvPr>
        </p:nvSpPr>
        <p:spPr>
          <a:xfrm>
            <a:off x="-36512" y="-152400"/>
            <a:ext cx="9144000" cy="838200"/>
          </a:xfrm>
        </p:spPr>
        <p:txBody>
          <a:bodyPr/>
          <a:lstStyle/>
          <a:p>
            <a:pPr eaLnBrk="1" hangingPunct="1"/>
            <a:r>
              <a:rPr lang="en-US" dirty="0" smtClean="0"/>
              <a:t/>
            </a:r>
            <a:br>
              <a:rPr lang="en-US" dirty="0" smtClean="0"/>
            </a:br>
            <a:r>
              <a:rPr lang="en-US" dirty="0" smtClean="0"/>
              <a:t>Where does social entrepreneurship come from?</a:t>
            </a:r>
          </a:p>
        </p:txBody>
      </p:sp>
      <p:sp>
        <p:nvSpPr>
          <p:cNvPr id="15" name="TextBox 14"/>
          <p:cNvSpPr txBox="1"/>
          <p:nvPr/>
        </p:nvSpPr>
        <p:spPr>
          <a:xfrm>
            <a:off x="251520" y="2492896"/>
            <a:ext cx="1368152" cy="892552"/>
          </a:xfrm>
          <a:prstGeom prst="rect">
            <a:avLst/>
          </a:prstGeom>
          <a:noFill/>
        </p:spPr>
        <p:txBody>
          <a:bodyPr wrap="square" rtlCol="0">
            <a:spAutoFit/>
          </a:bodyPr>
          <a:lstStyle/>
          <a:p>
            <a:pPr algn="ctr"/>
            <a:r>
              <a:rPr lang="en-GB" sz="1200" dirty="0" smtClean="0"/>
              <a:t>Operational</a:t>
            </a:r>
          </a:p>
          <a:p>
            <a:pPr algn="ctr"/>
            <a:r>
              <a:rPr lang="en-GB" sz="1200" dirty="0" smtClean="0"/>
              <a:t>Charity</a:t>
            </a:r>
          </a:p>
          <a:p>
            <a:endParaRPr lang="en-GB" dirty="0"/>
          </a:p>
        </p:txBody>
      </p:sp>
      <p:sp>
        <p:nvSpPr>
          <p:cNvPr id="16" name="TextBox 15"/>
          <p:cNvSpPr txBox="1"/>
          <p:nvPr/>
        </p:nvSpPr>
        <p:spPr>
          <a:xfrm>
            <a:off x="1475656" y="2348880"/>
            <a:ext cx="1296144" cy="1261884"/>
          </a:xfrm>
          <a:prstGeom prst="rect">
            <a:avLst/>
          </a:prstGeom>
          <a:noFill/>
        </p:spPr>
        <p:txBody>
          <a:bodyPr wrap="square" rtlCol="0">
            <a:spAutoFit/>
          </a:bodyPr>
          <a:lstStyle/>
          <a:p>
            <a:pPr algn="ctr"/>
            <a:r>
              <a:rPr lang="en-GB" sz="1200" dirty="0" smtClean="0"/>
              <a:t>On-mission trading </a:t>
            </a:r>
          </a:p>
          <a:p>
            <a:pPr algn="ctr"/>
            <a:r>
              <a:rPr lang="en-GB" sz="1200" dirty="0" smtClean="0"/>
              <a:t>arm of a </a:t>
            </a:r>
          </a:p>
          <a:p>
            <a:pPr algn="ctr"/>
            <a:r>
              <a:rPr lang="en-GB" sz="1200" dirty="0" smtClean="0"/>
              <a:t>charity</a:t>
            </a:r>
          </a:p>
          <a:p>
            <a:endParaRPr lang="en-GB" dirty="0"/>
          </a:p>
        </p:txBody>
      </p:sp>
      <p:sp>
        <p:nvSpPr>
          <p:cNvPr id="17" name="TextBox 16"/>
          <p:cNvSpPr txBox="1"/>
          <p:nvPr/>
        </p:nvSpPr>
        <p:spPr>
          <a:xfrm>
            <a:off x="2411760" y="2564904"/>
            <a:ext cx="1944216" cy="1077218"/>
          </a:xfrm>
          <a:prstGeom prst="rect">
            <a:avLst/>
          </a:prstGeom>
          <a:noFill/>
        </p:spPr>
        <p:txBody>
          <a:bodyPr wrap="square" rtlCol="0">
            <a:spAutoFit/>
          </a:bodyPr>
          <a:lstStyle/>
          <a:p>
            <a:pPr algn="ctr"/>
            <a:r>
              <a:rPr lang="en-GB" sz="1200" dirty="0" smtClean="0"/>
              <a:t>Social</a:t>
            </a:r>
          </a:p>
          <a:p>
            <a:pPr algn="ctr"/>
            <a:r>
              <a:rPr lang="en-GB" sz="1200" dirty="0" smtClean="0"/>
              <a:t> benefit</a:t>
            </a:r>
          </a:p>
          <a:p>
            <a:pPr algn="ctr"/>
            <a:r>
              <a:rPr lang="en-GB" sz="1200" dirty="0" smtClean="0"/>
              <a:t> enterprise</a:t>
            </a:r>
          </a:p>
          <a:p>
            <a:endParaRPr lang="en-GB" dirty="0"/>
          </a:p>
        </p:txBody>
      </p:sp>
      <p:sp>
        <p:nvSpPr>
          <p:cNvPr id="18" name="TextBox 17"/>
          <p:cNvSpPr txBox="1"/>
          <p:nvPr/>
        </p:nvSpPr>
        <p:spPr>
          <a:xfrm>
            <a:off x="3923928" y="2564904"/>
            <a:ext cx="1368152" cy="1077218"/>
          </a:xfrm>
          <a:prstGeom prst="rect">
            <a:avLst/>
          </a:prstGeom>
          <a:noFill/>
        </p:spPr>
        <p:txBody>
          <a:bodyPr wrap="square" rtlCol="0">
            <a:spAutoFit/>
          </a:bodyPr>
          <a:lstStyle/>
          <a:p>
            <a:pPr algn="ctr"/>
            <a:r>
              <a:rPr lang="en-GB" sz="1200" dirty="0" smtClean="0"/>
              <a:t>Social</a:t>
            </a:r>
          </a:p>
          <a:p>
            <a:pPr algn="ctr"/>
            <a:r>
              <a:rPr lang="en-GB" sz="1200" dirty="0" smtClean="0"/>
              <a:t> purpose business</a:t>
            </a:r>
          </a:p>
          <a:p>
            <a:endParaRPr lang="en-GB" dirty="0"/>
          </a:p>
        </p:txBody>
      </p:sp>
      <p:sp>
        <p:nvSpPr>
          <p:cNvPr id="19" name="TextBox 18"/>
          <p:cNvSpPr txBox="1"/>
          <p:nvPr/>
        </p:nvSpPr>
        <p:spPr>
          <a:xfrm>
            <a:off x="6228184" y="2492896"/>
            <a:ext cx="1512168" cy="830997"/>
          </a:xfrm>
          <a:prstGeom prst="rect">
            <a:avLst/>
          </a:prstGeom>
          <a:noFill/>
        </p:spPr>
        <p:txBody>
          <a:bodyPr wrap="square" rtlCol="0">
            <a:spAutoFit/>
          </a:bodyPr>
          <a:lstStyle/>
          <a:p>
            <a:pPr algn="ctr"/>
            <a:r>
              <a:rPr lang="en-GB" sz="1200" dirty="0" smtClean="0"/>
              <a:t>Business</a:t>
            </a:r>
          </a:p>
          <a:p>
            <a:pPr algn="ctr"/>
            <a:r>
              <a:rPr lang="en-GB" sz="1200" dirty="0" smtClean="0"/>
              <a:t> giving</a:t>
            </a:r>
          </a:p>
          <a:p>
            <a:pPr algn="ctr"/>
            <a:r>
              <a:rPr lang="en-GB" sz="1200" dirty="0" smtClean="0"/>
              <a:t> profits to</a:t>
            </a:r>
          </a:p>
          <a:p>
            <a:pPr algn="ctr"/>
            <a:r>
              <a:rPr lang="en-GB" sz="1200" dirty="0" smtClean="0"/>
              <a:t> charity</a:t>
            </a:r>
            <a:endParaRPr lang="en-GB" sz="1200" dirty="0"/>
          </a:p>
        </p:txBody>
      </p:sp>
      <p:sp>
        <p:nvSpPr>
          <p:cNvPr id="20" name="TextBox 19"/>
          <p:cNvSpPr txBox="1"/>
          <p:nvPr/>
        </p:nvSpPr>
        <p:spPr>
          <a:xfrm>
            <a:off x="5148064" y="2564904"/>
            <a:ext cx="1296144" cy="861774"/>
          </a:xfrm>
          <a:prstGeom prst="rect">
            <a:avLst/>
          </a:prstGeom>
          <a:noFill/>
        </p:spPr>
        <p:txBody>
          <a:bodyPr wrap="square" rtlCol="0">
            <a:spAutoFit/>
          </a:bodyPr>
          <a:lstStyle/>
          <a:p>
            <a:pPr algn="ctr"/>
            <a:r>
              <a:rPr lang="en-GB" sz="1200" dirty="0" smtClean="0"/>
              <a:t>Socially responsible </a:t>
            </a:r>
          </a:p>
          <a:p>
            <a:pPr algn="ctr"/>
            <a:r>
              <a:rPr lang="en-GB" sz="1200" dirty="0"/>
              <a:t>b</a:t>
            </a:r>
            <a:r>
              <a:rPr lang="en-GB" sz="1200" dirty="0" smtClean="0"/>
              <a:t>usiness</a:t>
            </a:r>
          </a:p>
          <a:p>
            <a:endParaRPr lang="en-GB" sz="1400" dirty="0"/>
          </a:p>
        </p:txBody>
      </p:sp>
      <p:sp>
        <p:nvSpPr>
          <p:cNvPr id="21" name="TextBox 20"/>
          <p:cNvSpPr txBox="1"/>
          <p:nvPr/>
        </p:nvSpPr>
        <p:spPr>
          <a:xfrm>
            <a:off x="7524328" y="2492896"/>
            <a:ext cx="1296144" cy="1077218"/>
          </a:xfrm>
          <a:prstGeom prst="rect">
            <a:avLst/>
          </a:prstGeom>
          <a:noFill/>
        </p:spPr>
        <p:txBody>
          <a:bodyPr wrap="square" rtlCol="0">
            <a:spAutoFit/>
          </a:bodyPr>
          <a:lstStyle/>
          <a:p>
            <a:pPr algn="ctr"/>
            <a:r>
              <a:rPr lang="en-GB" sz="1200" dirty="0" smtClean="0"/>
              <a:t>Pure commercial enterprise</a:t>
            </a:r>
          </a:p>
          <a:p>
            <a:endParaRPr lang="en-GB" dirty="0"/>
          </a:p>
        </p:txBody>
      </p:sp>
      <p:sp>
        <p:nvSpPr>
          <p:cNvPr id="22" name="Flowchart: Connector 21"/>
          <p:cNvSpPr/>
          <p:nvPr/>
        </p:nvSpPr>
        <p:spPr bwMode="auto">
          <a:xfrm>
            <a:off x="179512" y="2204864"/>
            <a:ext cx="1440160" cy="1440160"/>
          </a:xfrm>
          <a:prstGeom prst="flowChartConnector">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
        <p:nvSpPr>
          <p:cNvPr id="24" name="Flowchart: Connector 23"/>
          <p:cNvSpPr/>
          <p:nvPr/>
        </p:nvSpPr>
        <p:spPr bwMode="auto">
          <a:xfrm>
            <a:off x="2627784" y="2204864"/>
            <a:ext cx="1440160" cy="1440160"/>
          </a:xfrm>
          <a:prstGeom prst="flowChartConnector">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
        <p:nvSpPr>
          <p:cNvPr id="25" name="Flowchart: Connector 24"/>
          <p:cNvSpPr/>
          <p:nvPr/>
        </p:nvSpPr>
        <p:spPr bwMode="auto">
          <a:xfrm>
            <a:off x="3851920" y="2204864"/>
            <a:ext cx="1440160" cy="1440160"/>
          </a:xfrm>
          <a:prstGeom prst="flowChartConnector">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
        <p:nvSpPr>
          <p:cNvPr id="26" name="Flowchart: Connector 25"/>
          <p:cNvSpPr/>
          <p:nvPr/>
        </p:nvSpPr>
        <p:spPr bwMode="auto">
          <a:xfrm>
            <a:off x="6228184" y="2204864"/>
            <a:ext cx="1440160" cy="1440160"/>
          </a:xfrm>
          <a:prstGeom prst="flowChartConnector">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
        <p:nvSpPr>
          <p:cNvPr id="27" name="Flowchart: Connector 26"/>
          <p:cNvSpPr/>
          <p:nvPr/>
        </p:nvSpPr>
        <p:spPr bwMode="auto">
          <a:xfrm>
            <a:off x="5076056" y="2204864"/>
            <a:ext cx="1440160" cy="1440160"/>
          </a:xfrm>
          <a:prstGeom prst="flowChartConnector">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
        <p:nvSpPr>
          <p:cNvPr id="28" name="Flowchart: Connector 27"/>
          <p:cNvSpPr/>
          <p:nvPr/>
        </p:nvSpPr>
        <p:spPr bwMode="auto">
          <a:xfrm>
            <a:off x="7452320" y="2204864"/>
            <a:ext cx="1440160" cy="1440160"/>
          </a:xfrm>
          <a:prstGeom prst="flowChartConnector">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
        <p:nvSpPr>
          <p:cNvPr id="29" name="Flowchart: Connector 28"/>
          <p:cNvSpPr/>
          <p:nvPr/>
        </p:nvSpPr>
        <p:spPr bwMode="auto">
          <a:xfrm>
            <a:off x="1403648" y="2204864"/>
            <a:ext cx="1440160" cy="1440160"/>
          </a:xfrm>
          <a:prstGeom prst="flowChartConnector">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
        <p:nvSpPr>
          <p:cNvPr id="30" name="Left-Right Arrow 29"/>
          <p:cNvSpPr/>
          <p:nvPr/>
        </p:nvSpPr>
        <p:spPr bwMode="auto">
          <a:xfrm>
            <a:off x="179512" y="3645024"/>
            <a:ext cx="8784976" cy="216024"/>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
        <p:nvSpPr>
          <p:cNvPr id="32" name="TextBox 31"/>
          <p:cNvSpPr txBox="1"/>
          <p:nvPr/>
        </p:nvSpPr>
        <p:spPr>
          <a:xfrm>
            <a:off x="0" y="4077072"/>
            <a:ext cx="792088" cy="646331"/>
          </a:xfrm>
          <a:prstGeom prst="rect">
            <a:avLst/>
          </a:prstGeom>
          <a:noFill/>
        </p:spPr>
        <p:txBody>
          <a:bodyPr wrap="square" rtlCol="0">
            <a:spAutoFit/>
          </a:bodyPr>
          <a:lstStyle/>
          <a:p>
            <a:pPr algn="ctr"/>
            <a:r>
              <a:rPr lang="en-GB" sz="1200" dirty="0" smtClean="0"/>
              <a:t>Social </a:t>
            </a:r>
          </a:p>
          <a:p>
            <a:pPr algn="ctr"/>
            <a:r>
              <a:rPr lang="en-GB" sz="1200" dirty="0" smtClean="0"/>
              <a:t>Impact</a:t>
            </a:r>
          </a:p>
          <a:p>
            <a:pPr algn="ctr"/>
            <a:endParaRPr lang="en-GB" sz="1200" dirty="0"/>
          </a:p>
        </p:txBody>
      </p:sp>
      <p:sp>
        <p:nvSpPr>
          <p:cNvPr id="33" name="TextBox 32"/>
          <p:cNvSpPr txBox="1"/>
          <p:nvPr/>
        </p:nvSpPr>
        <p:spPr>
          <a:xfrm>
            <a:off x="8351912" y="4293096"/>
            <a:ext cx="792088" cy="276999"/>
          </a:xfrm>
          <a:prstGeom prst="rect">
            <a:avLst/>
          </a:prstGeom>
          <a:noFill/>
        </p:spPr>
        <p:txBody>
          <a:bodyPr wrap="square" rtlCol="0">
            <a:spAutoFit/>
          </a:bodyPr>
          <a:lstStyle/>
          <a:p>
            <a:r>
              <a:rPr lang="en-GB" sz="1200" dirty="0" smtClean="0"/>
              <a:t>Financial</a:t>
            </a:r>
            <a:endParaRPr lang="en-GB" sz="1200" dirty="0"/>
          </a:p>
        </p:txBody>
      </p:sp>
      <p:sp>
        <p:nvSpPr>
          <p:cNvPr id="34" name="TextBox 33"/>
          <p:cNvSpPr txBox="1"/>
          <p:nvPr/>
        </p:nvSpPr>
        <p:spPr>
          <a:xfrm>
            <a:off x="4211960" y="4149080"/>
            <a:ext cx="864096" cy="646331"/>
          </a:xfrm>
          <a:prstGeom prst="rect">
            <a:avLst/>
          </a:prstGeom>
          <a:noFill/>
        </p:spPr>
        <p:txBody>
          <a:bodyPr wrap="square" rtlCol="0">
            <a:spAutoFit/>
          </a:bodyPr>
          <a:lstStyle/>
          <a:p>
            <a:r>
              <a:rPr lang="en-GB" sz="1200" b="1" dirty="0" smtClean="0"/>
              <a:t>Returns</a:t>
            </a:r>
            <a:r>
              <a:rPr lang="en-GB" sz="1200" dirty="0" smtClean="0"/>
              <a:t> </a:t>
            </a:r>
          </a:p>
          <a:p>
            <a:r>
              <a:rPr lang="en-GB" sz="1200" dirty="0" smtClean="0"/>
              <a:t>Blended</a:t>
            </a:r>
          </a:p>
          <a:p>
            <a:endParaRPr lang="en-GB" sz="1200" dirty="0"/>
          </a:p>
        </p:txBody>
      </p:sp>
      <p:sp>
        <p:nvSpPr>
          <p:cNvPr id="35" name="Left Arrow 34"/>
          <p:cNvSpPr/>
          <p:nvPr/>
        </p:nvSpPr>
        <p:spPr bwMode="auto">
          <a:xfrm>
            <a:off x="827584" y="4365104"/>
            <a:ext cx="3384376" cy="144016"/>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
        <p:nvSpPr>
          <p:cNvPr id="36" name="Right Arrow 35"/>
          <p:cNvSpPr/>
          <p:nvPr/>
        </p:nvSpPr>
        <p:spPr bwMode="auto">
          <a:xfrm>
            <a:off x="4932040" y="4365104"/>
            <a:ext cx="3312368" cy="14401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smtClean="0">
              <a:ln>
                <a:noFill/>
              </a:ln>
              <a:solidFill>
                <a:schemeClr val="tx1"/>
              </a:solidFill>
              <a:effectLst/>
              <a:latin typeface="Arial" charset="0"/>
              <a:ea typeface="ＭＳ Ｐゴシック" pitchFamily="1" charset="-128"/>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0" y="914400"/>
            <a:ext cx="5562600" cy="4953000"/>
          </a:xfrm>
          <a:prstGeom prst="rect">
            <a:avLst/>
          </a:prstGeom>
          <a:solidFill>
            <a:srgbClr val="DEDEDE"/>
          </a:solidFill>
          <a:ln w="12700">
            <a:solidFill>
              <a:schemeClr val="bg2"/>
            </a:solidFill>
            <a:prstDash val="sysDot"/>
            <a:miter lim="800000"/>
            <a:headEnd/>
            <a:tailEnd/>
          </a:ln>
        </p:spPr>
        <p:txBody>
          <a:bodyPr wrap="none" anchor="ctr"/>
          <a:lstStyle/>
          <a:p>
            <a:endParaRPr lang="en-GB"/>
          </a:p>
        </p:txBody>
      </p:sp>
      <p:sp>
        <p:nvSpPr>
          <p:cNvPr id="17411" name="Rectangle 3"/>
          <p:cNvSpPr>
            <a:spLocks noGrp="1" noChangeArrowheads="1"/>
          </p:cNvSpPr>
          <p:nvPr>
            <p:ph type="body" idx="1"/>
          </p:nvPr>
        </p:nvSpPr>
        <p:spPr>
          <a:xfrm>
            <a:off x="152400" y="1219200"/>
            <a:ext cx="5334000" cy="4572000"/>
          </a:xfrm>
        </p:spPr>
        <p:txBody>
          <a:bodyPr/>
          <a:lstStyle/>
          <a:p>
            <a:pPr marL="222250" indent="-222250" eaLnBrk="1" hangingPunct="1">
              <a:spcAft>
                <a:spcPct val="50000"/>
              </a:spcAft>
              <a:buFontTx/>
              <a:buChar char="•"/>
            </a:pPr>
            <a:r>
              <a:rPr lang="en-GB" sz="2100" smtClean="0"/>
              <a:t>Low reserves limits growth investment</a:t>
            </a:r>
          </a:p>
          <a:p>
            <a:pPr marL="222250" indent="-222250" eaLnBrk="1" hangingPunct="1">
              <a:spcAft>
                <a:spcPct val="50000"/>
              </a:spcAft>
              <a:buFontTx/>
              <a:buChar char="•"/>
            </a:pPr>
            <a:r>
              <a:rPr lang="en-GB" sz="2100" smtClean="0"/>
              <a:t>Lack of understanding to build capacity and financial resilience </a:t>
            </a:r>
          </a:p>
          <a:p>
            <a:pPr marL="222250" indent="-222250" eaLnBrk="1" hangingPunct="1">
              <a:spcAft>
                <a:spcPct val="50000"/>
              </a:spcAft>
              <a:buFontTx/>
              <a:buChar char="•"/>
            </a:pPr>
            <a:r>
              <a:rPr lang="en-GB" sz="2100" smtClean="0"/>
              <a:t>Limited professional expertise </a:t>
            </a:r>
          </a:p>
          <a:p>
            <a:pPr marL="222250" indent="-222250" eaLnBrk="1" hangingPunct="1">
              <a:spcAft>
                <a:spcPct val="50000"/>
              </a:spcAft>
              <a:buFontTx/>
              <a:buChar char="•"/>
            </a:pPr>
            <a:r>
              <a:rPr lang="en-GB" sz="2100" smtClean="0"/>
              <a:t>Social vs. financial weight </a:t>
            </a:r>
          </a:p>
          <a:p>
            <a:pPr marL="222250" indent="-222250" eaLnBrk="1" hangingPunct="1">
              <a:spcAft>
                <a:spcPct val="50000"/>
              </a:spcAft>
              <a:buFontTx/>
              <a:buChar char="•"/>
            </a:pPr>
            <a:r>
              <a:rPr lang="en-GB" sz="2100" smtClean="0"/>
              <a:t>Lack of contacts and knowledge</a:t>
            </a:r>
          </a:p>
          <a:p>
            <a:pPr marL="222250" indent="-222250" eaLnBrk="1" hangingPunct="1">
              <a:spcAft>
                <a:spcPct val="50000"/>
              </a:spcAft>
              <a:buFontTx/>
              <a:buChar char="•"/>
            </a:pPr>
            <a:r>
              <a:rPr lang="en-GB" sz="2100" smtClean="0"/>
              <a:t>Risk aversion</a:t>
            </a:r>
            <a:endParaRPr lang="en-US" sz="2100" smtClean="0"/>
          </a:p>
        </p:txBody>
      </p:sp>
      <p:sp>
        <p:nvSpPr>
          <p:cNvPr id="17412" name="Text Box 4"/>
          <p:cNvSpPr txBox="1">
            <a:spLocks noChangeArrowheads="1"/>
          </p:cNvSpPr>
          <p:nvPr/>
        </p:nvSpPr>
        <p:spPr bwMode="auto">
          <a:xfrm>
            <a:off x="6248400" y="5562600"/>
            <a:ext cx="2895600" cy="336550"/>
          </a:xfrm>
          <a:prstGeom prst="rect">
            <a:avLst/>
          </a:prstGeom>
          <a:noFill/>
          <a:ln w="9525">
            <a:noFill/>
            <a:miter lim="800000"/>
            <a:headEnd/>
            <a:tailEnd/>
          </a:ln>
        </p:spPr>
        <p:txBody>
          <a:bodyPr>
            <a:spAutoFit/>
          </a:bodyPr>
          <a:lstStyle/>
          <a:p>
            <a:pPr algn="r"/>
            <a:r>
              <a:rPr lang="en-US" sz="800">
                <a:solidFill>
                  <a:srgbClr val="000000"/>
                </a:solidFill>
              </a:rPr>
              <a:t>Source: Venturesome, Financing Civil Society 2008; CAF Venturesome Access to Capital 2009</a:t>
            </a:r>
          </a:p>
        </p:txBody>
      </p:sp>
      <p:sp>
        <p:nvSpPr>
          <p:cNvPr id="17413" name="Oval 5"/>
          <p:cNvSpPr>
            <a:spLocks noChangeArrowheads="1"/>
          </p:cNvSpPr>
          <p:nvPr/>
        </p:nvSpPr>
        <p:spPr bwMode="auto">
          <a:xfrm>
            <a:off x="6477000" y="2286000"/>
            <a:ext cx="2590800" cy="1828800"/>
          </a:xfrm>
          <a:prstGeom prst="ellipse">
            <a:avLst/>
          </a:prstGeom>
          <a:solidFill>
            <a:srgbClr val="E76A10">
              <a:alpha val="50195"/>
            </a:srgbClr>
          </a:solidFill>
          <a:ln w="57150" cmpd="thinThick">
            <a:solidFill>
              <a:schemeClr val="tx1"/>
            </a:solidFill>
            <a:round/>
            <a:headEnd/>
            <a:tailEnd/>
          </a:ln>
        </p:spPr>
        <p:txBody>
          <a:bodyPr wrap="none" anchor="ctr"/>
          <a:lstStyle/>
          <a:p>
            <a:pPr algn="ctr"/>
            <a:r>
              <a:rPr lang="en-US" sz="1600"/>
              <a:t>SHORTAGE OF </a:t>
            </a:r>
          </a:p>
          <a:p>
            <a:pPr algn="ctr"/>
            <a:r>
              <a:rPr lang="en-US" sz="1600"/>
              <a:t>INVESTMENT </a:t>
            </a:r>
            <a:br>
              <a:rPr lang="en-US" sz="1600"/>
            </a:br>
            <a:r>
              <a:rPr lang="en-US" sz="1600"/>
              <a:t>READY </a:t>
            </a:r>
          </a:p>
          <a:p>
            <a:pPr algn="ctr"/>
            <a:r>
              <a:rPr lang="en-US" sz="1600"/>
              <a:t>SOCIAL </a:t>
            </a:r>
          </a:p>
          <a:p>
            <a:pPr algn="ctr"/>
            <a:r>
              <a:rPr lang="en-US" sz="1600"/>
              <a:t>ENTERPRISES</a:t>
            </a:r>
            <a:endParaRPr lang="en-US" sz="2000"/>
          </a:p>
        </p:txBody>
      </p:sp>
      <p:sp>
        <p:nvSpPr>
          <p:cNvPr id="17414" name="Rectangle 6"/>
          <p:cNvSpPr>
            <a:spLocks noGrp="1" noChangeArrowheads="1"/>
          </p:cNvSpPr>
          <p:nvPr>
            <p:ph type="title"/>
          </p:nvPr>
        </p:nvSpPr>
        <p:spPr/>
        <p:txBody>
          <a:bodyPr/>
          <a:lstStyle/>
          <a:p>
            <a:pPr eaLnBrk="1" hangingPunct="1"/>
            <a:r>
              <a:rPr lang="en-US" smtClean="0"/>
              <a:t/>
            </a:r>
            <a:br>
              <a:rPr lang="en-US" smtClean="0"/>
            </a:br>
            <a:r>
              <a:rPr lang="en-US" smtClean="0"/>
              <a:t>Key Issues related to Social Enterprises </a:t>
            </a:r>
          </a:p>
        </p:txBody>
      </p:sp>
      <p:sp>
        <p:nvSpPr>
          <p:cNvPr id="17415" name="AutoShape 7"/>
          <p:cNvSpPr>
            <a:spLocks noChangeArrowheads="1"/>
          </p:cNvSpPr>
          <p:nvPr/>
        </p:nvSpPr>
        <p:spPr bwMode="auto">
          <a:xfrm>
            <a:off x="5791200" y="3048000"/>
            <a:ext cx="457200" cy="381000"/>
          </a:xfrm>
          <a:prstGeom prst="rightArrow">
            <a:avLst>
              <a:gd name="adj1" fmla="val 50000"/>
              <a:gd name="adj2" fmla="val 30000"/>
            </a:avLst>
          </a:prstGeom>
          <a:noFill/>
          <a:ln w="57150" cmpd="thinThick">
            <a:solidFill>
              <a:schemeClr val="tx1"/>
            </a:solidFill>
            <a:miter lim="800000"/>
            <a:headEnd/>
            <a:tailEnd/>
          </a:ln>
        </p:spPr>
        <p:txBody>
          <a:bodyPr wrap="none" anchor="ctr"/>
          <a:lstStyle/>
          <a:p>
            <a:endParaRPr lang="en-GB"/>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0" y="914400"/>
            <a:ext cx="5486400" cy="4953000"/>
          </a:xfrm>
          <a:prstGeom prst="rect">
            <a:avLst/>
          </a:prstGeom>
          <a:solidFill>
            <a:srgbClr val="DEDEDE"/>
          </a:solidFill>
          <a:ln w="12700">
            <a:solidFill>
              <a:schemeClr val="bg2"/>
            </a:solidFill>
            <a:prstDash val="sysDot"/>
            <a:miter lim="800000"/>
            <a:headEnd/>
            <a:tailEnd/>
          </a:ln>
        </p:spPr>
        <p:txBody>
          <a:bodyPr wrap="none" anchor="ctr"/>
          <a:lstStyle/>
          <a:p>
            <a:endParaRPr lang="en-GB"/>
          </a:p>
        </p:txBody>
      </p:sp>
      <p:sp>
        <p:nvSpPr>
          <p:cNvPr id="18435" name="Rectangle 3"/>
          <p:cNvSpPr>
            <a:spLocks noGrp="1" noChangeArrowheads="1"/>
          </p:cNvSpPr>
          <p:nvPr>
            <p:ph type="body" idx="1"/>
          </p:nvPr>
        </p:nvSpPr>
        <p:spPr>
          <a:xfrm>
            <a:off x="76200" y="1066800"/>
            <a:ext cx="5334000" cy="4724400"/>
          </a:xfrm>
        </p:spPr>
        <p:txBody>
          <a:bodyPr/>
          <a:lstStyle/>
          <a:p>
            <a:pPr marL="177800" indent="-177800" eaLnBrk="1" hangingPunct="1">
              <a:lnSpc>
                <a:spcPct val="90000"/>
              </a:lnSpc>
              <a:spcBef>
                <a:spcPct val="0"/>
              </a:spcBef>
              <a:spcAft>
                <a:spcPct val="60000"/>
              </a:spcAft>
              <a:buFontTx/>
              <a:buChar char="•"/>
            </a:pPr>
            <a:r>
              <a:rPr lang="en-US" dirty="0" smtClean="0"/>
              <a:t>Financial literacy varies</a:t>
            </a:r>
          </a:p>
          <a:p>
            <a:pPr marL="177800" indent="-177800" eaLnBrk="1" hangingPunct="1">
              <a:lnSpc>
                <a:spcPct val="90000"/>
              </a:lnSpc>
              <a:spcBef>
                <a:spcPct val="0"/>
              </a:spcBef>
              <a:spcAft>
                <a:spcPct val="50000"/>
              </a:spcAft>
              <a:buFontTx/>
              <a:buChar char="•"/>
            </a:pPr>
            <a:r>
              <a:rPr lang="en-US" dirty="0" smtClean="0"/>
              <a:t>Mainly low risk investments</a:t>
            </a:r>
          </a:p>
          <a:p>
            <a:pPr marL="177800" indent="-177800" eaLnBrk="1" hangingPunct="1">
              <a:lnSpc>
                <a:spcPct val="90000"/>
              </a:lnSpc>
              <a:spcBef>
                <a:spcPct val="0"/>
              </a:spcBef>
              <a:spcAft>
                <a:spcPct val="50000"/>
              </a:spcAft>
              <a:buFontTx/>
              <a:buChar char="•"/>
            </a:pPr>
            <a:r>
              <a:rPr lang="en-US" dirty="0" smtClean="0"/>
              <a:t>Lack of transparency </a:t>
            </a:r>
          </a:p>
          <a:p>
            <a:pPr marL="177800" indent="-177800" eaLnBrk="1" hangingPunct="1">
              <a:lnSpc>
                <a:spcPct val="90000"/>
              </a:lnSpc>
              <a:spcBef>
                <a:spcPct val="0"/>
              </a:spcBef>
              <a:spcAft>
                <a:spcPct val="50000"/>
              </a:spcAft>
              <a:buFontTx/>
              <a:buChar char="•"/>
            </a:pPr>
            <a:r>
              <a:rPr lang="en-GB" dirty="0" smtClean="0"/>
              <a:t>Limited coordination between suppliers </a:t>
            </a:r>
          </a:p>
          <a:p>
            <a:pPr marL="177800" indent="-177800" eaLnBrk="1" hangingPunct="1">
              <a:lnSpc>
                <a:spcPct val="90000"/>
              </a:lnSpc>
              <a:spcBef>
                <a:spcPct val="0"/>
              </a:spcBef>
              <a:spcAft>
                <a:spcPct val="50000"/>
              </a:spcAft>
              <a:buFontTx/>
              <a:buChar char="•"/>
            </a:pPr>
            <a:r>
              <a:rPr lang="en-GB" dirty="0" smtClean="0"/>
              <a:t>Few brokers &amp; advisors working alongside suppliers</a:t>
            </a:r>
          </a:p>
          <a:p>
            <a:pPr marL="177800" indent="-177800" eaLnBrk="1" hangingPunct="1">
              <a:lnSpc>
                <a:spcPct val="90000"/>
              </a:lnSpc>
              <a:spcBef>
                <a:spcPct val="0"/>
              </a:spcBef>
              <a:spcAft>
                <a:spcPct val="50000"/>
              </a:spcAft>
              <a:buFontTx/>
              <a:buChar char="•"/>
            </a:pPr>
            <a:r>
              <a:rPr lang="en-GB" dirty="0" smtClean="0"/>
              <a:t>Market not yet calculating risk and opportunities</a:t>
            </a:r>
          </a:p>
          <a:p>
            <a:pPr marL="177800" indent="-177800" eaLnBrk="1" hangingPunct="1">
              <a:lnSpc>
                <a:spcPct val="90000"/>
              </a:lnSpc>
              <a:spcBef>
                <a:spcPct val="0"/>
              </a:spcBef>
              <a:spcAft>
                <a:spcPct val="50000"/>
              </a:spcAft>
              <a:buFontTx/>
              <a:buChar char="•"/>
            </a:pPr>
            <a:r>
              <a:rPr lang="en-GB" dirty="0" smtClean="0"/>
              <a:t>Inefficient communication</a:t>
            </a:r>
            <a:endParaRPr lang="en-US" dirty="0" smtClean="0"/>
          </a:p>
          <a:p>
            <a:pPr marL="177800" indent="-177800" eaLnBrk="1" hangingPunct="1">
              <a:lnSpc>
                <a:spcPct val="90000"/>
              </a:lnSpc>
              <a:spcBef>
                <a:spcPct val="0"/>
              </a:spcBef>
              <a:spcAft>
                <a:spcPct val="50000"/>
              </a:spcAft>
              <a:buFontTx/>
              <a:buChar char="•"/>
            </a:pPr>
            <a:r>
              <a:rPr lang="en-US" dirty="0" smtClean="0"/>
              <a:t>Untimely &amp; complex transactions = high costs</a:t>
            </a:r>
          </a:p>
          <a:p>
            <a:pPr marL="177800" indent="-177800" eaLnBrk="1" hangingPunct="1">
              <a:lnSpc>
                <a:spcPct val="90000"/>
              </a:lnSpc>
              <a:spcBef>
                <a:spcPct val="0"/>
              </a:spcBef>
              <a:spcAft>
                <a:spcPct val="50000"/>
              </a:spcAft>
              <a:buFontTx/>
              <a:buChar char="•"/>
            </a:pPr>
            <a:r>
              <a:rPr lang="en-GB" dirty="0" smtClean="0"/>
              <a:t>Risk aversion </a:t>
            </a:r>
          </a:p>
          <a:p>
            <a:pPr marL="177800" indent="-177800" eaLnBrk="1" hangingPunct="1">
              <a:lnSpc>
                <a:spcPct val="90000"/>
              </a:lnSpc>
              <a:spcBef>
                <a:spcPct val="0"/>
              </a:spcBef>
              <a:spcAft>
                <a:spcPct val="50000"/>
              </a:spcAft>
              <a:buFontTx/>
              <a:buChar char="•"/>
            </a:pPr>
            <a:r>
              <a:rPr lang="en-US" dirty="0" smtClean="0"/>
              <a:t>Weighting of financial returns vs. current and potential social impact</a:t>
            </a:r>
            <a:endParaRPr lang="en-GB" sz="1400" dirty="0" smtClean="0"/>
          </a:p>
        </p:txBody>
      </p:sp>
      <p:sp>
        <p:nvSpPr>
          <p:cNvPr id="18436" name="Text Box 4"/>
          <p:cNvSpPr txBox="1">
            <a:spLocks noChangeArrowheads="1"/>
          </p:cNvSpPr>
          <p:nvPr/>
        </p:nvSpPr>
        <p:spPr bwMode="auto">
          <a:xfrm>
            <a:off x="6629400" y="5454650"/>
            <a:ext cx="2438400" cy="336550"/>
          </a:xfrm>
          <a:prstGeom prst="rect">
            <a:avLst/>
          </a:prstGeom>
          <a:noFill/>
          <a:ln w="9525">
            <a:noFill/>
            <a:miter lim="800000"/>
            <a:headEnd/>
            <a:tailEnd/>
          </a:ln>
        </p:spPr>
        <p:txBody>
          <a:bodyPr>
            <a:spAutoFit/>
          </a:bodyPr>
          <a:lstStyle/>
          <a:p>
            <a:pPr algn="r"/>
            <a:r>
              <a:rPr lang="en-US" sz="800">
                <a:solidFill>
                  <a:srgbClr val="000000"/>
                </a:solidFill>
              </a:rPr>
              <a:t>Source: Venturesome, Financing Civil Society 2008; CAF Venturesome Access to Capital 2009</a:t>
            </a:r>
          </a:p>
        </p:txBody>
      </p:sp>
      <p:sp>
        <p:nvSpPr>
          <p:cNvPr id="18437" name="Oval 5"/>
          <p:cNvSpPr>
            <a:spLocks noChangeArrowheads="1"/>
          </p:cNvSpPr>
          <p:nvPr/>
        </p:nvSpPr>
        <p:spPr bwMode="auto">
          <a:xfrm>
            <a:off x="6248400" y="2438400"/>
            <a:ext cx="2514600" cy="1752600"/>
          </a:xfrm>
          <a:prstGeom prst="ellipse">
            <a:avLst/>
          </a:prstGeom>
          <a:solidFill>
            <a:srgbClr val="E76A10">
              <a:alpha val="50195"/>
            </a:srgbClr>
          </a:solidFill>
          <a:ln w="57150" cmpd="thinThick">
            <a:solidFill>
              <a:schemeClr val="tx1"/>
            </a:solidFill>
            <a:round/>
            <a:headEnd/>
            <a:tailEnd/>
          </a:ln>
        </p:spPr>
        <p:txBody>
          <a:bodyPr wrap="none" anchor="ctr"/>
          <a:lstStyle/>
          <a:p>
            <a:pPr algn="ctr"/>
            <a:r>
              <a:rPr lang="en-US" sz="1400"/>
              <a:t>LIMITED ABILITY </a:t>
            </a:r>
          </a:p>
          <a:p>
            <a:pPr algn="ctr"/>
            <a:r>
              <a:rPr lang="en-US" sz="1400"/>
              <a:t>TO EFFECTIVELY </a:t>
            </a:r>
            <a:br>
              <a:rPr lang="en-US" sz="1400"/>
            </a:br>
            <a:r>
              <a:rPr lang="en-US" sz="1400"/>
              <a:t>IDENTIFY &amp; SECURE</a:t>
            </a:r>
          </a:p>
          <a:p>
            <a:pPr algn="ctr"/>
            <a:r>
              <a:rPr lang="en-US" sz="1400"/>
              <a:t>HIGH-POTENTIAL</a:t>
            </a:r>
          </a:p>
          <a:p>
            <a:pPr algn="ctr"/>
            <a:r>
              <a:rPr lang="en-US" sz="1400"/>
              <a:t> OPPORTUNITES</a:t>
            </a:r>
            <a:endParaRPr lang="en-US" sz="2000"/>
          </a:p>
        </p:txBody>
      </p:sp>
      <p:sp>
        <p:nvSpPr>
          <p:cNvPr id="18438" name="Rectangle 6"/>
          <p:cNvSpPr>
            <a:spLocks noGrp="1" noChangeArrowheads="1"/>
          </p:cNvSpPr>
          <p:nvPr>
            <p:ph type="title"/>
          </p:nvPr>
        </p:nvSpPr>
        <p:spPr/>
        <p:txBody>
          <a:bodyPr/>
          <a:lstStyle/>
          <a:p>
            <a:pPr eaLnBrk="1" hangingPunct="1"/>
            <a:r>
              <a:rPr lang="en-US" sz="2800" smtClean="0"/>
              <a:t/>
            </a:r>
            <a:br>
              <a:rPr lang="en-US" sz="2800" smtClean="0"/>
            </a:br>
            <a:r>
              <a:rPr lang="en-US" sz="3000" smtClean="0"/>
              <a:t>Key Issues related to Investors/Financial Suppliers</a:t>
            </a:r>
            <a:endParaRPr lang="en-US" sz="2800" smtClean="0"/>
          </a:p>
        </p:txBody>
      </p:sp>
      <p:sp>
        <p:nvSpPr>
          <p:cNvPr id="18439" name="AutoShape 7"/>
          <p:cNvSpPr>
            <a:spLocks noChangeArrowheads="1"/>
          </p:cNvSpPr>
          <p:nvPr/>
        </p:nvSpPr>
        <p:spPr bwMode="auto">
          <a:xfrm>
            <a:off x="5638800" y="3124200"/>
            <a:ext cx="457200" cy="381000"/>
          </a:xfrm>
          <a:prstGeom prst="rightArrow">
            <a:avLst>
              <a:gd name="adj1" fmla="val 50000"/>
              <a:gd name="adj2" fmla="val 30000"/>
            </a:avLst>
          </a:prstGeom>
          <a:noFill/>
          <a:ln w="57150" cmpd="thinThick">
            <a:solidFill>
              <a:schemeClr val="tx1"/>
            </a:solidFill>
            <a:miter lim="800000"/>
            <a:headEnd/>
            <a:tailEnd/>
          </a:ln>
        </p:spPr>
        <p:txBody>
          <a:bodyPr wrap="none" anchor="ctr"/>
          <a:lstStyle/>
          <a:p>
            <a:endParaRPr lang="en-GB"/>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76200"/>
            <a:ext cx="9144000" cy="838200"/>
          </a:xfrm>
        </p:spPr>
        <p:txBody>
          <a:bodyPr/>
          <a:lstStyle/>
          <a:p>
            <a:pPr eaLnBrk="1" hangingPunct="1"/>
            <a:r>
              <a:rPr lang="en-US" smtClean="0"/>
              <a:t>The Market Place </a:t>
            </a:r>
          </a:p>
        </p:txBody>
      </p:sp>
      <p:sp>
        <p:nvSpPr>
          <p:cNvPr id="5123" name="Oval 4"/>
          <p:cNvSpPr>
            <a:spLocks noChangeArrowheads="1"/>
          </p:cNvSpPr>
          <p:nvPr/>
        </p:nvSpPr>
        <p:spPr bwMode="auto">
          <a:xfrm>
            <a:off x="304800" y="2697163"/>
            <a:ext cx="1524000" cy="990600"/>
          </a:xfrm>
          <a:prstGeom prst="ellipse">
            <a:avLst/>
          </a:prstGeom>
          <a:noFill/>
          <a:ln w="9525">
            <a:solidFill>
              <a:schemeClr val="folHlink"/>
            </a:solidFill>
            <a:round/>
            <a:headEnd/>
            <a:tailEnd/>
          </a:ln>
        </p:spPr>
        <p:txBody>
          <a:bodyPr wrap="none" anchor="ctr"/>
          <a:lstStyle/>
          <a:p>
            <a:endParaRPr lang="en-GB">
              <a:solidFill>
                <a:srgbClr val="000000"/>
              </a:solidFill>
            </a:endParaRPr>
          </a:p>
        </p:txBody>
      </p:sp>
      <p:sp>
        <p:nvSpPr>
          <p:cNvPr id="5124" name="Oval 5"/>
          <p:cNvSpPr>
            <a:spLocks noChangeArrowheads="1"/>
          </p:cNvSpPr>
          <p:nvPr/>
        </p:nvSpPr>
        <p:spPr bwMode="auto">
          <a:xfrm>
            <a:off x="304800" y="1858963"/>
            <a:ext cx="1524000" cy="990600"/>
          </a:xfrm>
          <a:prstGeom prst="ellipse">
            <a:avLst/>
          </a:prstGeom>
          <a:noFill/>
          <a:ln w="9525">
            <a:solidFill>
              <a:schemeClr val="folHlink"/>
            </a:solidFill>
            <a:round/>
            <a:headEnd/>
            <a:tailEnd/>
          </a:ln>
        </p:spPr>
        <p:txBody>
          <a:bodyPr wrap="none" anchor="ctr"/>
          <a:lstStyle/>
          <a:p>
            <a:endParaRPr lang="en-GB">
              <a:solidFill>
                <a:srgbClr val="000000"/>
              </a:solidFill>
            </a:endParaRPr>
          </a:p>
        </p:txBody>
      </p:sp>
      <p:sp>
        <p:nvSpPr>
          <p:cNvPr id="5125" name="Oval 6"/>
          <p:cNvSpPr>
            <a:spLocks noChangeArrowheads="1"/>
          </p:cNvSpPr>
          <p:nvPr/>
        </p:nvSpPr>
        <p:spPr bwMode="auto">
          <a:xfrm>
            <a:off x="304800" y="990600"/>
            <a:ext cx="1524000" cy="990600"/>
          </a:xfrm>
          <a:prstGeom prst="ellipse">
            <a:avLst/>
          </a:prstGeom>
          <a:noFill/>
          <a:ln w="9525">
            <a:solidFill>
              <a:schemeClr val="bg2"/>
            </a:solidFill>
            <a:round/>
            <a:headEnd/>
            <a:tailEnd/>
          </a:ln>
        </p:spPr>
        <p:txBody>
          <a:bodyPr wrap="none" anchor="ctr"/>
          <a:lstStyle/>
          <a:p>
            <a:endParaRPr lang="en-GB">
              <a:solidFill>
                <a:srgbClr val="000000"/>
              </a:solidFill>
            </a:endParaRPr>
          </a:p>
        </p:txBody>
      </p:sp>
      <p:sp>
        <p:nvSpPr>
          <p:cNvPr id="5126" name="Oval 7"/>
          <p:cNvSpPr>
            <a:spLocks noChangeArrowheads="1"/>
          </p:cNvSpPr>
          <p:nvPr/>
        </p:nvSpPr>
        <p:spPr bwMode="auto">
          <a:xfrm>
            <a:off x="304800" y="3459163"/>
            <a:ext cx="1524000" cy="990600"/>
          </a:xfrm>
          <a:prstGeom prst="ellipse">
            <a:avLst/>
          </a:prstGeom>
          <a:noFill/>
          <a:ln w="9525">
            <a:solidFill>
              <a:schemeClr val="folHlink"/>
            </a:solidFill>
            <a:round/>
            <a:headEnd/>
            <a:tailEnd/>
          </a:ln>
        </p:spPr>
        <p:txBody>
          <a:bodyPr wrap="none" anchor="ctr"/>
          <a:lstStyle/>
          <a:p>
            <a:endParaRPr lang="en-GB">
              <a:solidFill>
                <a:srgbClr val="000000"/>
              </a:solidFill>
            </a:endParaRPr>
          </a:p>
        </p:txBody>
      </p:sp>
      <p:sp>
        <p:nvSpPr>
          <p:cNvPr id="5127" name="Oval 8"/>
          <p:cNvSpPr>
            <a:spLocks noChangeArrowheads="1"/>
          </p:cNvSpPr>
          <p:nvPr/>
        </p:nvSpPr>
        <p:spPr bwMode="auto">
          <a:xfrm>
            <a:off x="304800" y="4297363"/>
            <a:ext cx="1524000" cy="990600"/>
          </a:xfrm>
          <a:prstGeom prst="ellipse">
            <a:avLst/>
          </a:prstGeom>
          <a:noFill/>
          <a:ln w="9525">
            <a:solidFill>
              <a:schemeClr val="bg2"/>
            </a:solidFill>
            <a:round/>
            <a:headEnd/>
            <a:tailEnd/>
          </a:ln>
        </p:spPr>
        <p:txBody>
          <a:bodyPr wrap="none" anchor="ctr"/>
          <a:lstStyle/>
          <a:p>
            <a:endParaRPr lang="en-GB">
              <a:solidFill>
                <a:srgbClr val="000000"/>
              </a:solidFill>
            </a:endParaRPr>
          </a:p>
        </p:txBody>
      </p:sp>
      <p:sp>
        <p:nvSpPr>
          <p:cNvPr id="5128" name="Rectangle 9"/>
          <p:cNvSpPr>
            <a:spLocks noChangeArrowheads="1"/>
          </p:cNvSpPr>
          <p:nvPr/>
        </p:nvSpPr>
        <p:spPr bwMode="auto">
          <a:xfrm>
            <a:off x="6477000" y="3279775"/>
            <a:ext cx="184150" cy="244475"/>
          </a:xfrm>
          <a:prstGeom prst="rect">
            <a:avLst/>
          </a:prstGeom>
          <a:noFill/>
          <a:ln w="9525">
            <a:noFill/>
            <a:miter lim="800000"/>
            <a:headEnd/>
            <a:tailEnd/>
          </a:ln>
        </p:spPr>
        <p:txBody>
          <a:bodyPr wrap="none">
            <a:spAutoFit/>
          </a:bodyPr>
          <a:lstStyle/>
          <a:p>
            <a:endParaRPr lang="en-US" sz="1000">
              <a:solidFill>
                <a:srgbClr val="000000"/>
              </a:solidFill>
            </a:endParaRPr>
          </a:p>
        </p:txBody>
      </p:sp>
      <p:sp>
        <p:nvSpPr>
          <p:cNvPr id="5129" name="Text Box 10"/>
          <p:cNvSpPr txBox="1">
            <a:spLocks noChangeArrowheads="1"/>
          </p:cNvSpPr>
          <p:nvPr/>
        </p:nvSpPr>
        <p:spPr bwMode="auto">
          <a:xfrm>
            <a:off x="609600" y="4525963"/>
            <a:ext cx="914400" cy="549275"/>
          </a:xfrm>
          <a:prstGeom prst="rect">
            <a:avLst/>
          </a:prstGeom>
          <a:noFill/>
          <a:ln w="9525">
            <a:noFill/>
            <a:miter lim="800000"/>
            <a:headEnd/>
            <a:tailEnd/>
          </a:ln>
        </p:spPr>
        <p:txBody>
          <a:bodyPr>
            <a:spAutoFit/>
          </a:bodyPr>
          <a:lstStyle/>
          <a:p>
            <a:pPr algn="ctr"/>
            <a:r>
              <a:rPr lang="en-US" sz="1000">
                <a:solidFill>
                  <a:srgbClr val="000000"/>
                </a:solidFill>
              </a:rPr>
              <a:t>Grant Funded</a:t>
            </a:r>
          </a:p>
          <a:p>
            <a:pPr algn="ctr"/>
            <a:r>
              <a:rPr lang="en-US" sz="1000">
                <a:solidFill>
                  <a:srgbClr val="000000"/>
                </a:solidFill>
              </a:rPr>
              <a:t>Charity</a:t>
            </a:r>
          </a:p>
        </p:txBody>
      </p:sp>
      <p:sp>
        <p:nvSpPr>
          <p:cNvPr id="5130" name="Text Box 11"/>
          <p:cNvSpPr txBox="1">
            <a:spLocks noChangeArrowheads="1"/>
          </p:cNvSpPr>
          <p:nvPr/>
        </p:nvSpPr>
        <p:spPr bwMode="auto">
          <a:xfrm>
            <a:off x="533400" y="3763963"/>
            <a:ext cx="1066800" cy="701675"/>
          </a:xfrm>
          <a:prstGeom prst="rect">
            <a:avLst/>
          </a:prstGeom>
          <a:noFill/>
          <a:ln w="9525">
            <a:noFill/>
            <a:miter lim="800000"/>
            <a:headEnd/>
            <a:tailEnd/>
          </a:ln>
        </p:spPr>
        <p:txBody>
          <a:bodyPr>
            <a:spAutoFit/>
          </a:bodyPr>
          <a:lstStyle/>
          <a:p>
            <a:pPr algn="ctr"/>
            <a:r>
              <a:rPr lang="en-US" sz="1000">
                <a:solidFill>
                  <a:srgbClr val="000000"/>
                </a:solidFill>
              </a:rPr>
              <a:t>Revenue Generating Charity</a:t>
            </a:r>
          </a:p>
          <a:p>
            <a:pPr algn="ctr"/>
            <a:endParaRPr lang="en-US" sz="1000">
              <a:solidFill>
                <a:srgbClr val="000000"/>
              </a:solidFill>
            </a:endParaRPr>
          </a:p>
        </p:txBody>
      </p:sp>
      <p:sp>
        <p:nvSpPr>
          <p:cNvPr id="5131" name="Text Box 12"/>
          <p:cNvSpPr txBox="1">
            <a:spLocks noChangeArrowheads="1"/>
          </p:cNvSpPr>
          <p:nvPr/>
        </p:nvSpPr>
        <p:spPr bwMode="auto">
          <a:xfrm>
            <a:off x="533400" y="3001963"/>
            <a:ext cx="1066800" cy="549275"/>
          </a:xfrm>
          <a:prstGeom prst="rect">
            <a:avLst/>
          </a:prstGeom>
          <a:noFill/>
          <a:ln w="9525">
            <a:noFill/>
            <a:miter lim="800000"/>
            <a:headEnd/>
            <a:tailEnd/>
          </a:ln>
        </p:spPr>
        <p:txBody>
          <a:bodyPr>
            <a:spAutoFit/>
          </a:bodyPr>
          <a:lstStyle/>
          <a:p>
            <a:pPr algn="ctr"/>
            <a:r>
              <a:rPr lang="en-US" sz="1000">
                <a:solidFill>
                  <a:srgbClr val="000000"/>
                </a:solidFill>
              </a:rPr>
              <a:t>Social Enterprise/ CIC</a:t>
            </a:r>
          </a:p>
          <a:p>
            <a:pPr algn="ctr"/>
            <a:endParaRPr lang="en-US" sz="1000">
              <a:solidFill>
                <a:srgbClr val="000000"/>
              </a:solidFill>
            </a:endParaRPr>
          </a:p>
        </p:txBody>
      </p:sp>
      <p:sp>
        <p:nvSpPr>
          <p:cNvPr id="5132" name="Text Box 13"/>
          <p:cNvSpPr txBox="1">
            <a:spLocks noChangeArrowheads="1"/>
          </p:cNvSpPr>
          <p:nvPr/>
        </p:nvSpPr>
        <p:spPr bwMode="auto">
          <a:xfrm>
            <a:off x="457200" y="2163763"/>
            <a:ext cx="1066800" cy="549275"/>
          </a:xfrm>
          <a:prstGeom prst="rect">
            <a:avLst/>
          </a:prstGeom>
          <a:noFill/>
          <a:ln w="9525">
            <a:noFill/>
            <a:miter lim="800000"/>
            <a:headEnd/>
            <a:tailEnd/>
          </a:ln>
        </p:spPr>
        <p:txBody>
          <a:bodyPr>
            <a:spAutoFit/>
          </a:bodyPr>
          <a:lstStyle/>
          <a:p>
            <a:pPr algn="ctr"/>
            <a:r>
              <a:rPr lang="en-US" sz="1000">
                <a:solidFill>
                  <a:srgbClr val="000000"/>
                </a:solidFill>
              </a:rPr>
              <a:t>Social</a:t>
            </a:r>
            <a:br>
              <a:rPr lang="en-US" sz="1000">
                <a:solidFill>
                  <a:srgbClr val="000000"/>
                </a:solidFill>
              </a:rPr>
            </a:br>
            <a:r>
              <a:rPr lang="en-US" sz="1000">
                <a:solidFill>
                  <a:srgbClr val="000000"/>
                </a:solidFill>
              </a:rPr>
              <a:t> Purpose Business</a:t>
            </a:r>
          </a:p>
        </p:txBody>
      </p:sp>
      <p:sp>
        <p:nvSpPr>
          <p:cNvPr id="5133" name="Text Box 14"/>
          <p:cNvSpPr txBox="1">
            <a:spLocks noChangeArrowheads="1"/>
          </p:cNvSpPr>
          <p:nvPr/>
        </p:nvSpPr>
        <p:spPr bwMode="auto">
          <a:xfrm>
            <a:off x="533400" y="1143000"/>
            <a:ext cx="1066800" cy="549275"/>
          </a:xfrm>
          <a:prstGeom prst="rect">
            <a:avLst/>
          </a:prstGeom>
          <a:noFill/>
          <a:ln w="9525">
            <a:noFill/>
            <a:miter lim="800000"/>
            <a:headEnd/>
            <a:tailEnd/>
          </a:ln>
        </p:spPr>
        <p:txBody>
          <a:bodyPr>
            <a:spAutoFit/>
          </a:bodyPr>
          <a:lstStyle/>
          <a:p>
            <a:pPr algn="ctr"/>
            <a:endParaRPr lang="en-US" sz="1000">
              <a:solidFill>
                <a:srgbClr val="000000"/>
              </a:solidFill>
            </a:endParaRPr>
          </a:p>
          <a:p>
            <a:pPr algn="ctr"/>
            <a:r>
              <a:rPr lang="en-US" sz="1000">
                <a:solidFill>
                  <a:srgbClr val="000000"/>
                </a:solidFill>
              </a:rPr>
              <a:t>For Profit Business</a:t>
            </a:r>
          </a:p>
        </p:txBody>
      </p:sp>
      <p:cxnSp>
        <p:nvCxnSpPr>
          <p:cNvPr id="5134" name="AutoShape 15"/>
          <p:cNvCxnSpPr>
            <a:cxnSpLocks noChangeShapeType="1"/>
          </p:cNvCxnSpPr>
          <p:nvPr/>
        </p:nvCxnSpPr>
        <p:spPr bwMode="auto">
          <a:xfrm>
            <a:off x="1981200" y="1173163"/>
            <a:ext cx="0" cy="4038600"/>
          </a:xfrm>
          <a:prstGeom prst="straightConnector1">
            <a:avLst/>
          </a:prstGeom>
          <a:noFill/>
          <a:ln w="9525">
            <a:solidFill>
              <a:schemeClr val="bg2"/>
            </a:solidFill>
            <a:round/>
            <a:headEnd type="triangle" w="med" len="med"/>
            <a:tailEnd type="triangle" w="med" len="med"/>
          </a:ln>
        </p:spPr>
      </p:cxnSp>
      <p:cxnSp>
        <p:nvCxnSpPr>
          <p:cNvPr id="5135" name="AutoShape 16"/>
          <p:cNvCxnSpPr>
            <a:cxnSpLocks noChangeShapeType="1"/>
          </p:cNvCxnSpPr>
          <p:nvPr/>
        </p:nvCxnSpPr>
        <p:spPr bwMode="auto">
          <a:xfrm>
            <a:off x="1981200" y="5287963"/>
            <a:ext cx="6705600" cy="0"/>
          </a:xfrm>
          <a:prstGeom prst="straightConnector1">
            <a:avLst/>
          </a:prstGeom>
          <a:noFill/>
          <a:ln w="9525">
            <a:solidFill>
              <a:schemeClr val="bg2"/>
            </a:solidFill>
            <a:round/>
            <a:headEnd type="triangle" w="med" len="med"/>
            <a:tailEnd type="triangle" w="med" len="med"/>
          </a:ln>
        </p:spPr>
      </p:cxnSp>
      <p:sp>
        <p:nvSpPr>
          <p:cNvPr id="5136" name="Text Box 17"/>
          <p:cNvSpPr txBox="1">
            <a:spLocks noChangeArrowheads="1"/>
          </p:cNvSpPr>
          <p:nvPr/>
        </p:nvSpPr>
        <p:spPr bwMode="auto">
          <a:xfrm>
            <a:off x="2133600" y="5364163"/>
            <a:ext cx="1047750" cy="274637"/>
          </a:xfrm>
          <a:prstGeom prst="rect">
            <a:avLst/>
          </a:prstGeom>
          <a:noFill/>
          <a:ln w="9525">
            <a:noFill/>
            <a:miter lim="800000"/>
            <a:headEnd/>
            <a:tailEnd/>
          </a:ln>
        </p:spPr>
        <p:txBody>
          <a:bodyPr wrap="none">
            <a:spAutoFit/>
          </a:bodyPr>
          <a:lstStyle/>
          <a:p>
            <a:r>
              <a:rPr lang="en-US" sz="1200" b="1">
                <a:solidFill>
                  <a:srgbClr val="000000"/>
                </a:solidFill>
              </a:rPr>
              <a:t>Grant (zero)</a:t>
            </a:r>
          </a:p>
        </p:txBody>
      </p:sp>
      <p:sp>
        <p:nvSpPr>
          <p:cNvPr id="5137" name="Text Box 18"/>
          <p:cNvSpPr txBox="1">
            <a:spLocks noChangeArrowheads="1"/>
          </p:cNvSpPr>
          <p:nvPr/>
        </p:nvSpPr>
        <p:spPr bwMode="auto">
          <a:xfrm>
            <a:off x="3405188" y="5364163"/>
            <a:ext cx="1243012" cy="274637"/>
          </a:xfrm>
          <a:prstGeom prst="rect">
            <a:avLst/>
          </a:prstGeom>
          <a:noFill/>
          <a:ln w="9525">
            <a:noFill/>
            <a:miter lim="800000"/>
            <a:headEnd/>
            <a:tailEnd/>
          </a:ln>
        </p:spPr>
        <p:txBody>
          <a:bodyPr wrap="none">
            <a:spAutoFit/>
          </a:bodyPr>
          <a:lstStyle/>
          <a:p>
            <a:r>
              <a:rPr lang="en-US" sz="1200" b="1">
                <a:solidFill>
                  <a:srgbClr val="000000"/>
                </a:solidFill>
              </a:rPr>
              <a:t>Patient Capital</a:t>
            </a:r>
          </a:p>
        </p:txBody>
      </p:sp>
      <p:sp>
        <p:nvSpPr>
          <p:cNvPr id="5138" name="Text Box 19"/>
          <p:cNvSpPr txBox="1">
            <a:spLocks noChangeArrowheads="1"/>
          </p:cNvSpPr>
          <p:nvPr/>
        </p:nvSpPr>
        <p:spPr bwMode="auto">
          <a:xfrm>
            <a:off x="5243513" y="5364163"/>
            <a:ext cx="547687" cy="274637"/>
          </a:xfrm>
          <a:prstGeom prst="rect">
            <a:avLst/>
          </a:prstGeom>
          <a:noFill/>
          <a:ln w="9525">
            <a:noFill/>
            <a:miter lim="800000"/>
            <a:headEnd/>
            <a:tailEnd/>
          </a:ln>
        </p:spPr>
        <p:txBody>
          <a:bodyPr wrap="none">
            <a:spAutoFit/>
          </a:bodyPr>
          <a:lstStyle/>
          <a:p>
            <a:r>
              <a:rPr lang="en-US" sz="1200" b="1">
                <a:solidFill>
                  <a:srgbClr val="000000"/>
                </a:solidFill>
              </a:rPr>
              <a:t>Loan</a:t>
            </a:r>
          </a:p>
        </p:txBody>
      </p:sp>
      <p:sp>
        <p:nvSpPr>
          <p:cNvPr id="5139" name="Text Box 20"/>
          <p:cNvSpPr txBox="1">
            <a:spLocks noChangeArrowheads="1"/>
          </p:cNvSpPr>
          <p:nvPr/>
        </p:nvSpPr>
        <p:spPr bwMode="auto">
          <a:xfrm>
            <a:off x="7620000" y="5364163"/>
            <a:ext cx="1116013" cy="274637"/>
          </a:xfrm>
          <a:prstGeom prst="rect">
            <a:avLst/>
          </a:prstGeom>
          <a:noFill/>
          <a:ln w="9525">
            <a:noFill/>
            <a:miter lim="800000"/>
            <a:headEnd/>
            <a:tailEnd/>
          </a:ln>
        </p:spPr>
        <p:txBody>
          <a:bodyPr wrap="none">
            <a:spAutoFit/>
          </a:bodyPr>
          <a:lstStyle/>
          <a:p>
            <a:r>
              <a:rPr lang="en-US" sz="1200" b="1">
                <a:solidFill>
                  <a:srgbClr val="000000"/>
                </a:solidFill>
              </a:rPr>
              <a:t>Equity (high)</a:t>
            </a:r>
          </a:p>
        </p:txBody>
      </p:sp>
      <p:sp>
        <p:nvSpPr>
          <p:cNvPr id="5140" name="Text Box 21"/>
          <p:cNvSpPr txBox="1">
            <a:spLocks noChangeArrowheads="1"/>
          </p:cNvSpPr>
          <p:nvPr/>
        </p:nvSpPr>
        <p:spPr bwMode="auto">
          <a:xfrm>
            <a:off x="6248400" y="5364163"/>
            <a:ext cx="1123950" cy="274637"/>
          </a:xfrm>
          <a:prstGeom prst="rect">
            <a:avLst/>
          </a:prstGeom>
          <a:noFill/>
          <a:ln w="9525">
            <a:noFill/>
            <a:miter lim="800000"/>
            <a:headEnd/>
            <a:tailEnd/>
          </a:ln>
        </p:spPr>
        <p:txBody>
          <a:bodyPr wrap="none">
            <a:spAutoFit/>
          </a:bodyPr>
          <a:lstStyle/>
          <a:p>
            <a:r>
              <a:rPr lang="en-US" sz="1200" b="1">
                <a:solidFill>
                  <a:srgbClr val="000000"/>
                </a:solidFill>
              </a:rPr>
              <a:t>Quasi-Equity</a:t>
            </a:r>
          </a:p>
        </p:txBody>
      </p:sp>
      <p:graphicFrame>
        <p:nvGraphicFramePr>
          <p:cNvPr id="259117" name="Group 45"/>
          <p:cNvGraphicFramePr>
            <a:graphicFrameLocks noGrp="1"/>
          </p:cNvGraphicFramePr>
          <p:nvPr/>
        </p:nvGraphicFramePr>
        <p:xfrm>
          <a:off x="2286000" y="1249363"/>
          <a:ext cx="6400800" cy="3860800"/>
        </p:xfrm>
        <a:graphic>
          <a:graphicData uri="http://schemas.openxmlformats.org/drawingml/2006/table">
            <a:tbl>
              <a:tblPr/>
              <a:tblGrid>
                <a:gridCol w="3200400"/>
                <a:gridCol w="3200400"/>
              </a:tblGrid>
              <a:tr h="1930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charset="0"/>
                        <a:ea typeface="ＭＳ Ｐゴシック" pitchFamily="1" charset="-128"/>
                      </a:endParaRPr>
                    </a:p>
                  </a:txBody>
                  <a:tcPr horzOverflow="overflow">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charset="0"/>
                        <a:ea typeface="ＭＳ Ｐゴシック" pitchFamily="1" charset="-128"/>
                      </a:endParaRPr>
                    </a:p>
                  </a:txBody>
                  <a:tcPr horzOverflow="overflow">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lnTlToBr>
                      <a:noFill/>
                    </a:lnTlToBr>
                    <a:lnBlToTr>
                      <a:noFill/>
                    </a:lnBlToTr>
                    <a:noFill/>
                  </a:tcPr>
                </a:tc>
              </a:tr>
              <a:tr h="1930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Arial" charset="0"/>
                        <a:ea typeface="ＭＳ Ｐゴシック" pitchFamily="1" charset="-128"/>
                      </a:endParaRPr>
                    </a:p>
                  </a:txBody>
                  <a:tcPr horzOverflow="overflow">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smtClean="0">
                        <a:ln>
                          <a:noFill/>
                        </a:ln>
                        <a:solidFill>
                          <a:schemeClr val="tx1"/>
                        </a:solidFill>
                        <a:effectLst/>
                        <a:latin typeface="Arial" charset="0"/>
                        <a:ea typeface="ＭＳ Ｐゴシック" pitchFamily="1" charset="-128"/>
                      </a:endParaRPr>
                    </a:p>
                  </a:txBody>
                  <a:tcPr horzOverflow="overflow">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lnTlToBr>
                      <a:noFill/>
                    </a:lnTlToBr>
                    <a:lnBlToTr>
                      <a:noFill/>
                    </a:lnBlToTr>
                    <a:noFill/>
                  </a:tcPr>
                </a:tc>
              </a:tr>
            </a:tbl>
          </a:graphicData>
        </a:graphic>
      </p:graphicFrame>
      <p:pic>
        <p:nvPicPr>
          <p:cNvPr id="5152" name="Picture 46" descr="Picture 2"/>
          <p:cNvPicPr>
            <a:picLocks noChangeAspect="1" noChangeArrowheads="1"/>
          </p:cNvPicPr>
          <p:nvPr/>
        </p:nvPicPr>
        <p:blipFill>
          <a:blip r:embed="rId3" cstate="print"/>
          <a:srcRect/>
          <a:stretch>
            <a:fillRect/>
          </a:stretch>
        </p:blipFill>
        <p:spPr bwMode="auto">
          <a:xfrm>
            <a:off x="2362200" y="4525963"/>
            <a:ext cx="1143000" cy="533400"/>
          </a:xfrm>
          <a:prstGeom prst="rect">
            <a:avLst/>
          </a:prstGeom>
          <a:noFill/>
          <a:ln w="9525">
            <a:noFill/>
            <a:miter lim="800000"/>
            <a:headEnd/>
            <a:tailEnd/>
          </a:ln>
        </p:spPr>
      </p:pic>
      <p:pic>
        <p:nvPicPr>
          <p:cNvPr id="5153" name="Picture 47" descr="Picture 3"/>
          <p:cNvPicPr>
            <a:picLocks noChangeAspect="1" noChangeArrowheads="1"/>
          </p:cNvPicPr>
          <p:nvPr/>
        </p:nvPicPr>
        <p:blipFill>
          <a:blip r:embed="rId4" cstate="print"/>
          <a:srcRect/>
          <a:stretch>
            <a:fillRect/>
          </a:stretch>
        </p:blipFill>
        <p:spPr bwMode="auto">
          <a:xfrm>
            <a:off x="2362200" y="3924300"/>
            <a:ext cx="1143000" cy="525463"/>
          </a:xfrm>
          <a:prstGeom prst="rect">
            <a:avLst/>
          </a:prstGeom>
          <a:noFill/>
          <a:ln w="9525">
            <a:noFill/>
            <a:miter lim="800000"/>
            <a:headEnd/>
            <a:tailEnd/>
          </a:ln>
        </p:spPr>
      </p:pic>
      <p:pic>
        <p:nvPicPr>
          <p:cNvPr id="5154" name="Picture 48" descr="Picture 6"/>
          <p:cNvPicPr>
            <a:picLocks noChangeAspect="1" noChangeArrowheads="1"/>
          </p:cNvPicPr>
          <p:nvPr/>
        </p:nvPicPr>
        <p:blipFill>
          <a:blip r:embed="rId5" cstate="print"/>
          <a:srcRect/>
          <a:stretch>
            <a:fillRect/>
          </a:stretch>
        </p:blipFill>
        <p:spPr bwMode="auto">
          <a:xfrm>
            <a:off x="2819400" y="2819400"/>
            <a:ext cx="1371600" cy="565150"/>
          </a:xfrm>
          <a:prstGeom prst="rect">
            <a:avLst/>
          </a:prstGeom>
          <a:noFill/>
          <a:ln w="9525">
            <a:noFill/>
            <a:miter lim="800000"/>
            <a:headEnd/>
            <a:tailEnd/>
          </a:ln>
        </p:spPr>
      </p:pic>
      <p:pic>
        <p:nvPicPr>
          <p:cNvPr id="5155" name="Picture 49" descr="Picture 7"/>
          <p:cNvPicPr>
            <a:picLocks noChangeAspect="1" noChangeArrowheads="1"/>
          </p:cNvPicPr>
          <p:nvPr/>
        </p:nvPicPr>
        <p:blipFill>
          <a:blip r:embed="rId6" cstate="print"/>
          <a:srcRect/>
          <a:stretch>
            <a:fillRect/>
          </a:stretch>
        </p:blipFill>
        <p:spPr bwMode="auto">
          <a:xfrm>
            <a:off x="3810000" y="4449763"/>
            <a:ext cx="977900" cy="377825"/>
          </a:xfrm>
          <a:prstGeom prst="rect">
            <a:avLst/>
          </a:prstGeom>
          <a:noFill/>
          <a:ln w="9525">
            <a:noFill/>
            <a:miter lim="800000"/>
            <a:headEnd/>
            <a:tailEnd/>
          </a:ln>
        </p:spPr>
      </p:pic>
      <p:pic>
        <p:nvPicPr>
          <p:cNvPr id="5156" name="Picture 50" descr="Picture 8"/>
          <p:cNvPicPr>
            <a:picLocks noChangeAspect="1" noChangeArrowheads="1"/>
          </p:cNvPicPr>
          <p:nvPr/>
        </p:nvPicPr>
        <p:blipFill>
          <a:blip r:embed="rId7" cstate="print"/>
          <a:srcRect/>
          <a:stretch>
            <a:fillRect/>
          </a:stretch>
        </p:blipFill>
        <p:spPr bwMode="auto">
          <a:xfrm>
            <a:off x="4025900" y="3460750"/>
            <a:ext cx="698500" cy="882650"/>
          </a:xfrm>
          <a:prstGeom prst="rect">
            <a:avLst/>
          </a:prstGeom>
          <a:noFill/>
          <a:ln w="9525">
            <a:noFill/>
            <a:miter lim="800000"/>
            <a:headEnd/>
            <a:tailEnd/>
          </a:ln>
        </p:spPr>
      </p:pic>
      <p:pic>
        <p:nvPicPr>
          <p:cNvPr id="5157" name="Picture 52" descr="Picture 11"/>
          <p:cNvPicPr>
            <a:picLocks noChangeAspect="1" noChangeArrowheads="1"/>
          </p:cNvPicPr>
          <p:nvPr/>
        </p:nvPicPr>
        <p:blipFill>
          <a:blip r:embed="rId8" cstate="print"/>
          <a:srcRect/>
          <a:stretch>
            <a:fillRect/>
          </a:stretch>
        </p:blipFill>
        <p:spPr bwMode="auto">
          <a:xfrm>
            <a:off x="5791200" y="2468563"/>
            <a:ext cx="762000" cy="554037"/>
          </a:xfrm>
          <a:prstGeom prst="rect">
            <a:avLst/>
          </a:prstGeom>
          <a:noFill/>
          <a:ln w="9525">
            <a:noFill/>
            <a:miter lim="800000"/>
            <a:headEnd/>
            <a:tailEnd/>
          </a:ln>
        </p:spPr>
      </p:pic>
      <p:pic>
        <p:nvPicPr>
          <p:cNvPr id="5158" name="Picture 53" descr="Picture 13"/>
          <p:cNvPicPr>
            <a:picLocks noChangeAspect="1" noChangeArrowheads="1"/>
          </p:cNvPicPr>
          <p:nvPr/>
        </p:nvPicPr>
        <p:blipFill>
          <a:blip r:embed="rId9" cstate="print"/>
          <a:srcRect/>
          <a:stretch>
            <a:fillRect/>
          </a:stretch>
        </p:blipFill>
        <p:spPr bwMode="auto">
          <a:xfrm>
            <a:off x="5181600" y="4221163"/>
            <a:ext cx="685800" cy="681037"/>
          </a:xfrm>
          <a:prstGeom prst="rect">
            <a:avLst/>
          </a:prstGeom>
          <a:noFill/>
          <a:ln w="9525">
            <a:noFill/>
            <a:miter lim="800000"/>
            <a:headEnd/>
            <a:tailEnd/>
          </a:ln>
        </p:spPr>
      </p:pic>
      <p:pic>
        <p:nvPicPr>
          <p:cNvPr id="5159" name="Picture 54" descr="Picture 10"/>
          <p:cNvPicPr>
            <a:picLocks noChangeAspect="1" noChangeArrowheads="1"/>
          </p:cNvPicPr>
          <p:nvPr/>
        </p:nvPicPr>
        <p:blipFill>
          <a:blip r:embed="rId10" cstate="print"/>
          <a:srcRect/>
          <a:stretch>
            <a:fillRect/>
          </a:stretch>
        </p:blipFill>
        <p:spPr bwMode="auto">
          <a:xfrm>
            <a:off x="5029200" y="1858963"/>
            <a:ext cx="825500" cy="534987"/>
          </a:xfrm>
          <a:prstGeom prst="rect">
            <a:avLst/>
          </a:prstGeom>
          <a:noFill/>
          <a:ln w="9525">
            <a:noFill/>
            <a:miter lim="800000"/>
            <a:headEnd/>
            <a:tailEnd/>
          </a:ln>
        </p:spPr>
      </p:pic>
      <p:pic>
        <p:nvPicPr>
          <p:cNvPr id="5160" name="Picture 55" descr="Picture 14"/>
          <p:cNvPicPr>
            <a:picLocks noChangeAspect="1" noChangeArrowheads="1"/>
          </p:cNvPicPr>
          <p:nvPr/>
        </p:nvPicPr>
        <p:blipFill>
          <a:blip r:embed="rId11" cstate="print"/>
          <a:srcRect/>
          <a:stretch>
            <a:fillRect/>
          </a:stretch>
        </p:blipFill>
        <p:spPr bwMode="auto">
          <a:xfrm>
            <a:off x="7596188" y="1268413"/>
            <a:ext cx="774700" cy="406400"/>
          </a:xfrm>
          <a:prstGeom prst="rect">
            <a:avLst/>
          </a:prstGeom>
          <a:noFill/>
          <a:ln w="9525">
            <a:noFill/>
            <a:miter lim="800000"/>
            <a:headEnd/>
            <a:tailEnd/>
          </a:ln>
        </p:spPr>
      </p:pic>
      <p:pic>
        <p:nvPicPr>
          <p:cNvPr id="5162" name="Picture 60" descr="Picture 15"/>
          <p:cNvPicPr>
            <a:picLocks noChangeAspect="1" noChangeArrowheads="1"/>
          </p:cNvPicPr>
          <p:nvPr/>
        </p:nvPicPr>
        <p:blipFill>
          <a:blip r:embed="rId12" cstate="print"/>
          <a:srcRect/>
          <a:stretch>
            <a:fillRect/>
          </a:stretch>
        </p:blipFill>
        <p:spPr bwMode="auto">
          <a:xfrm>
            <a:off x="4876800" y="3611563"/>
            <a:ext cx="1276350" cy="298450"/>
          </a:xfrm>
          <a:prstGeom prst="rect">
            <a:avLst/>
          </a:prstGeom>
          <a:noFill/>
          <a:ln w="9525">
            <a:noFill/>
            <a:miter lim="800000"/>
            <a:headEnd/>
            <a:tailEnd/>
          </a:ln>
        </p:spPr>
      </p:pic>
      <p:pic>
        <p:nvPicPr>
          <p:cNvPr id="5163" name="Picture 61" descr="Picture 16"/>
          <p:cNvPicPr>
            <a:picLocks noChangeAspect="1" noChangeArrowheads="1"/>
          </p:cNvPicPr>
          <p:nvPr/>
        </p:nvPicPr>
        <p:blipFill>
          <a:blip r:embed="rId13" cstate="print"/>
          <a:srcRect/>
          <a:stretch>
            <a:fillRect/>
          </a:stretch>
        </p:blipFill>
        <p:spPr bwMode="auto">
          <a:xfrm>
            <a:off x="6477000" y="3611563"/>
            <a:ext cx="927100" cy="482600"/>
          </a:xfrm>
          <a:prstGeom prst="rect">
            <a:avLst/>
          </a:prstGeom>
          <a:noFill/>
          <a:ln w="9525">
            <a:noFill/>
            <a:miter lim="800000"/>
            <a:headEnd/>
            <a:tailEnd/>
          </a:ln>
        </p:spPr>
      </p:pic>
      <p:sp>
        <p:nvSpPr>
          <p:cNvPr id="5164" name="Text Box 62"/>
          <p:cNvSpPr txBox="1">
            <a:spLocks noChangeArrowheads="1"/>
          </p:cNvSpPr>
          <p:nvPr/>
        </p:nvSpPr>
        <p:spPr bwMode="auto">
          <a:xfrm>
            <a:off x="0" y="5638800"/>
            <a:ext cx="1676400" cy="214313"/>
          </a:xfrm>
          <a:prstGeom prst="rect">
            <a:avLst/>
          </a:prstGeom>
          <a:noFill/>
          <a:ln w="9525">
            <a:noFill/>
            <a:miter lim="800000"/>
            <a:headEnd/>
            <a:tailEnd/>
          </a:ln>
        </p:spPr>
        <p:txBody>
          <a:bodyPr>
            <a:spAutoFit/>
          </a:bodyPr>
          <a:lstStyle/>
          <a:p>
            <a:r>
              <a:rPr lang="en-US" sz="800">
                <a:solidFill>
                  <a:srgbClr val="000000"/>
                </a:solidFill>
              </a:rPr>
              <a:t>Source: Bridges Ventures</a:t>
            </a:r>
          </a:p>
        </p:txBody>
      </p:sp>
      <p:pic>
        <p:nvPicPr>
          <p:cNvPr id="35" name="Picture 55" descr="Picture 14"/>
          <p:cNvPicPr>
            <a:picLocks noChangeAspect="1" noChangeArrowheads="1"/>
          </p:cNvPicPr>
          <p:nvPr/>
        </p:nvPicPr>
        <p:blipFill>
          <a:blip r:embed="rId11" cstate="print"/>
          <a:srcRect/>
          <a:stretch>
            <a:fillRect/>
          </a:stretch>
        </p:blipFill>
        <p:spPr bwMode="auto">
          <a:xfrm>
            <a:off x="6588224" y="2492896"/>
            <a:ext cx="774700" cy="40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2195513" y="2924175"/>
            <a:ext cx="4800600" cy="533400"/>
          </a:xfrm>
        </p:spPr>
        <p:txBody>
          <a:bodyPr/>
          <a:lstStyle/>
          <a:p>
            <a:pPr marL="0" indent="0" algn="ctr" eaLnBrk="1" hangingPunct="1">
              <a:lnSpc>
                <a:spcPct val="90000"/>
              </a:lnSpc>
            </a:pPr>
            <a:endParaRPr lang="en-GB" sz="2800" u="sng" dirty="0" smtClean="0">
              <a:solidFill>
                <a:schemeClr val="accent2"/>
              </a:solidFill>
            </a:endParaRPr>
          </a:p>
          <a:p>
            <a:pPr marL="0" indent="0" algn="ctr" eaLnBrk="1" hangingPunct="1">
              <a:lnSpc>
                <a:spcPct val="90000"/>
              </a:lnSpc>
            </a:pPr>
            <a:endParaRPr lang="en-GB" sz="2800" u="sng" dirty="0" smtClean="0">
              <a:solidFill>
                <a:schemeClr val="accent2"/>
              </a:solidFill>
            </a:endParaRPr>
          </a:p>
          <a:p>
            <a:pPr marL="0" indent="0" eaLnBrk="1" hangingPunct="1">
              <a:lnSpc>
                <a:spcPct val="90000"/>
              </a:lnSpc>
            </a:pPr>
            <a:endParaRPr lang="en-US" sz="2800" dirty="0" smtClean="0"/>
          </a:p>
        </p:txBody>
      </p:sp>
      <p:sp>
        <p:nvSpPr>
          <p:cNvPr id="5" name="Title 4"/>
          <p:cNvSpPr>
            <a:spLocks noGrp="1"/>
          </p:cNvSpPr>
          <p:nvPr>
            <p:ph type="title"/>
          </p:nvPr>
        </p:nvSpPr>
        <p:spPr/>
        <p:txBody>
          <a:bodyPr/>
          <a:lstStyle/>
          <a:p>
            <a:r>
              <a:rPr lang="en-GB" dirty="0" smtClean="0"/>
              <a:t>Example - Cool 2 Care</a:t>
            </a:r>
            <a:endParaRPr lang="en-GB" dirty="0"/>
          </a:p>
        </p:txBody>
      </p:sp>
      <p:sp>
        <p:nvSpPr>
          <p:cNvPr id="6" name="TextBox 5"/>
          <p:cNvSpPr txBox="1"/>
          <p:nvPr/>
        </p:nvSpPr>
        <p:spPr>
          <a:xfrm>
            <a:off x="395536" y="1412776"/>
            <a:ext cx="8280920" cy="4247317"/>
          </a:xfrm>
          <a:prstGeom prst="rect">
            <a:avLst/>
          </a:prstGeom>
          <a:noFill/>
        </p:spPr>
        <p:txBody>
          <a:bodyPr wrap="square" rtlCol="0">
            <a:spAutoFit/>
          </a:bodyPr>
          <a:lstStyle/>
          <a:p>
            <a:endParaRPr lang="en-GB" sz="1800" dirty="0" smtClean="0"/>
          </a:p>
          <a:p>
            <a:endParaRPr lang="en-GB" sz="1800" dirty="0" smtClean="0"/>
          </a:p>
          <a:p>
            <a:r>
              <a:rPr lang="en-GB" sz="1800" dirty="0" smtClean="0"/>
              <a:t>£100k by founder</a:t>
            </a:r>
          </a:p>
          <a:p>
            <a:r>
              <a:rPr lang="en-GB" sz="1800" dirty="0" smtClean="0"/>
              <a:t>£  15k from UnLtd – Level 2</a:t>
            </a:r>
          </a:p>
          <a:p>
            <a:r>
              <a:rPr lang="en-GB" sz="1800" dirty="0" smtClean="0"/>
              <a:t>£150k from Big Issue Invest – quasi equity</a:t>
            </a:r>
          </a:p>
          <a:p>
            <a:r>
              <a:rPr lang="en-GB" sz="1800" dirty="0" smtClean="0"/>
              <a:t>£150k from Venturesome – quasi-equity</a:t>
            </a:r>
          </a:p>
          <a:p>
            <a:r>
              <a:rPr lang="en-GB" sz="1800" dirty="0" smtClean="0"/>
              <a:t>£150k from CAN – grant</a:t>
            </a:r>
          </a:p>
          <a:p>
            <a:endParaRPr lang="en-GB" sz="1800" dirty="0" smtClean="0"/>
          </a:p>
          <a:p>
            <a:r>
              <a:rPr lang="en-GB" sz="1800" dirty="0" smtClean="0"/>
              <a:t>+ Discussions with Angel Investors through Clearly So</a:t>
            </a:r>
          </a:p>
          <a:p>
            <a:r>
              <a:rPr lang="en-GB" sz="1800" dirty="0" smtClean="0"/>
              <a:t>+ Discussions with Angel Networks via UnLtd Advantage</a:t>
            </a:r>
          </a:p>
          <a:p>
            <a:r>
              <a:rPr lang="en-GB" sz="1800" dirty="0" smtClean="0"/>
              <a:t>+ Discussions with Triodos Bank via UnLtd Advantage</a:t>
            </a:r>
          </a:p>
          <a:p>
            <a:endParaRPr lang="en-GB" sz="1800" dirty="0" smtClean="0"/>
          </a:p>
          <a:p>
            <a:r>
              <a:rPr lang="en-GB" sz="1800" dirty="0" smtClean="0"/>
              <a:t>Supported through the investment process by UnLtd Advantage</a:t>
            </a:r>
          </a:p>
          <a:p>
            <a:endParaRPr lang="en-GB" sz="1800" dirty="0" smtClean="0"/>
          </a:p>
          <a:p>
            <a:pPr algn="ctr"/>
            <a:r>
              <a:rPr lang="en-GB" sz="1800" u="sng" dirty="0" smtClean="0"/>
              <a:t>It generally takes </a:t>
            </a:r>
            <a:r>
              <a:rPr lang="en-GB" sz="1800" u="sng" dirty="0" err="1" smtClean="0"/>
              <a:t>alot</a:t>
            </a:r>
            <a:r>
              <a:rPr lang="en-GB" sz="1800" u="sng" dirty="0" smtClean="0"/>
              <a:t> of work to pull a social investment deal together!</a:t>
            </a:r>
            <a:endParaRPr lang="en-GB" sz="1800" u="sng" dirty="0"/>
          </a:p>
        </p:txBody>
      </p:sp>
      <p:pic>
        <p:nvPicPr>
          <p:cNvPr id="7" name="Picture 6" descr="cool2care_newweb_logo.jpg"/>
          <p:cNvPicPr>
            <a:picLocks noChangeAspect="1"/>
          </p:cNvPicPr>
          <p:nvPr/>
        </p:nvPicPr>
        <p:blipFill>
          <a:blip r:embed="rId3" cstate="print"/>
          <a:stretch>
            <a:fillRect/>
          </a:stretch>
        </p:blipFill>
        <p:spPr>
          <a:xfrm>
            <a:off x="3995936" y="1556792"/>
            <a:ext cx="4940549" cy="936104"/>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smtClean="0"/>
              <a:t>What financiers look for</a:t>
            </a:r>
          </a:p>
        </p:txBody>
      </p:sp>
      <p:sp>
        <p:nvSpPr>
          <p:cNvPr id="21507" name="Rectangle 3"/>
          <p:cNvSpPr>
            <a:spLocks noGrp="1" noChangeArrowheads="1"/>
          </p:cNvSpPr>
          <p:nvPr>
            <p:ph type="body" idx="1"/>
          </p:nvPr>
        </p:nvSpPr>
        <p:spPr>
          <a:xfrm>
            <a:off x="2195513" y="2924175"/>
            <a:ext cx="4800600" cy="533400"/>
          </a:xfrm>
        </p:spPr>
        <p:txBody>
          <a:bodyPr/>
          <a:lstStyle/>
          <a:p>
            <a:pPr marL="0" indent="0" algn="ctr" eaLnBrk="1" hangingPunct="1">
              <a:lnSpc>
                <a:spcPct val="90000"/>
              </a:lnSpc>
            </a:pPr>
            <a:endParaRPr lang="en-GB" sz="2800" u="sng" dirty="0" smtClean="0">
              <a:solidFill>
                <a:schemeClr val="accent2"/>
              </a:solidFill>
            </a:endParaRPr>
          </a:p>
          <a:p>
            <a:pPr marL="0" indent="0" algn="ctr" eaLnBrk="1" hangingPunct="1">
              <a:lnSpc>
                <a:spcPct val="90000"/>
              </a:lnSpc>
            </a:pPr>
            <a:endParaRPr lang="en-GB" sz="2800" u="sng" dirty="0" smtClean="0">
              <a:solidFill>
                <a:schemeClr val="accent2"/>
              </a:solidFill>
            </a:endParaRPr>
          </a:p>
          <a:p>
            <a:pPr marL="0" indent="0" eaLnBrk="1" hangingPunct="1">
              <a:lnSpc>
                <a:spcPct val="90000"/>
              </a:lnSpc>
            </a:pPr>
            <a:endParaRPr lang="en-US" sz="2800" dirty="0" smtClean="0"/>
          </a:p>
        </p:txBody>
      </p:sp>
      <p:graphicFrame>
        <p:nvGraphicFramePr>
          <p:cNvPr id="5" name="Table 4"/>
          <p:cNvGraphicFramePr>
            <a:graphicFrameLocks noGrp="1"/>
          </p:cNvGraphicFramePr>
          <p:nvPr/>
        </p:nvGraphicFramePr>
        <p:xfrm>
          <a:off x="1524000" y="1397000"/>
          <a:ext cx="6096000" cy="259588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GB" dirty="0" smtClean="0"/>
                        <a:t>Lenders</a:t>
                      </a:r>
                      <a:endParaRPr lang="en-GB" dirty="0"/>
                    </a:p>
                  </a:txBody>
                  <a:tcPr/>
                </a:tc>
                <a:tc>
                  <a:txBody>
                    <a:bodyPr/>
                    <a:lstStyle/>
                    <a:p>
                      <a:r>
                        <a:rPr lang="en-GB" dirty="0" smtClean="0"/>
                        <a:t>Investors</a:t>
                      </a:r>
                      <a:endParaRPr lang="en-GB" dirty="0"/>
                    </a:p>
                  </a:txBody>
                  <a:tcPr/>
                </a:tc>
              </a:tr>
              <a:tr h="370840">
                <a:tc>
                  <a:txBody>
                    <a:bodyPr/>
                    <a:lstStyle/>
                    <a:p>
                      <a:r>
                        <a:rPr lang="en-GB" dirty="0" smtClean="0"/>
                        <a:t>Customer</a:t>
                      </a:r>
                      <a:endParaRPr lang="en-GB" dirty="0"/>
                    </a:p>
                  </a:txBody>
                  <a:tcPr/>
                </a:tc>
                <a:tc>
                  <a:txBody>
                    <a:bodyPr/>
                    <a:lstStyle/>
                    <a:p>
                      <a:endParaRPr lang="en-GB"/>
                    </a:p>
                  </a:txBody>
                  <a:tcPr/>
                </a:tc>
              </a:tr>
              <a:tr h="370840">
                <a:tc>
                  <a:txBody>
                    <a:bodyPr/>
                    <a:lstStyle/>
                    <a:p>
                      <a:r>
                        <a:rPr lang="en-GB" dirty="0" smtClean="0"/>
                        <a:t>Amount</a:t>
                      </a:r>
                      <a:endParaRPr lang="en-GB" dirty="0"/>
                    </a:p>
                  </a:txBody>
                  <a:tcPr/>
                </a:tc>
                <a:tc>
                  <a:txBody>
                    <a:bodyPr/>
                    <a:lstStyle/>
                    <a:p>
                      <a:endParaRPr lang="en-GB"/>
                    </a:p>
                  </a:txBody>
                  <a:tcPr/>
                </a:tc>
              </a:tr>
              <a:tr h="370840">
                <a:tc>
                  <a:txBody>
                    <a:bodyPr/>
                    <a:lstStyle/>
                    <a:p>
                      <a:r>
                        <a:rPr lang="en-GB" dirty="0" smtClean="0"/>
                        <a:t>Means</a:t>
                      </a:r>
                      <a:endParaRPr lang="en-GB" dirty="0"/>
                    </a:p>
                  </a:txBody>
                  <a:tcPr/>
                </a:tc>
                <a:tc>
                  <a:txBody>
                    <a:bodyPr/>
                    <a:lstStyle/>
                    <a:p>
                      <a:endParaRPr lang="en-GB"/>
                    </a:p>
                  </a:txBody>
                  <a:tcPr/>
                </a:tc>
              </a:tr>
              <a:tr h="370840">
                <a:tc>
                  <a:txBody>
                    <a:bodyPr/>
                    <a:lstStyle/>
                    <a:p>
                      <a:r>
                        <a:rPr lang="en-GB" dirty="0" smtClean="0"/>
                        <a:t>Purpose</a:t>
                      </a:r>
                      <a:endParaRPr lang="en-GB" dirty="0"/>
                    </a:p>
                  </a:txBody>
                  <a:tcPr/>
                </a:tc>
                <a:tc>
                  <a:txBody>
                    <a:bodyPr/>
                    <a:lstStyle/>
                    <a:p>
                      <a:endParaRPr lang="en-GB"/>
                    </a:p>
                  </a:txBody>
                  <a:tcPr/>
                </a:tc>
              </a:tr>
              <a:tr h="370840">
                <a:tc>
                  <a:txBody>
                    <a:bodyPr/>
                    <a:lstStyle/>
                    <a:p>
                      <a:r>
                        <a:rPr lang="en-GB" dirty="0" smtClean="0"/>
                        <a:t>Amount</a:t>
                      </a:r>
                      <a:endParaRPr lang="en-GB" dirty="0"/>
                    </a:p>
                  </a:txBody>
                  <a:tcPr/>
                </a:tc>
                <a:tc>
                  <a:txBody>
                    <a:bodyPr/>
                    <a:lstStyle/>
                    <a:p>
                      <a:endParaRPr lang="en-GB"/>
                    </a:p>
                  </a:txBody>
                  <a:tcPr/>
                </a:tc>
              </a:tr>
              <a:tr h="370840">
                <a:tc>
                  <a:txBody>
                    <a:bodyPr/>
                    <a:lstStyle/>
                    <a:p>
                      <a:endParaRPr lang="en-GB" dirty="0"/>
                    </a:p>
                  </a:txBody>
                  <a:tcPr/>
                </a:tc>
                <a:tc>
                  <a:txBody>
                    <a:bodyPr/>
                    <a:lstStyle/>
                    <a:p>
                      <a:endParaRPr lang="en-GB"/>
                    </a:p>
                  </a:txBody>
                  <a:tcPr/>
                </a:tc>
              </a:tr>
            </a:tbl>
          </a:graphicData>
        </a:graphic>
      </p:graphicFrame>
      <p:graphicFrame>
        <p:nvGraphicFramePr>
          <p:cNvPr id="6" name="Table 5"/>
          <p:cNvGraphicFramePr>
            <a:graphicFrameLocks noGrp="1"/>
          </p:cNvGraphicFramePr>
          <p:nvPr/>
        </p:nvGraphicFramePr>
        <p:xfrm>
          <a:off x="1524000" y="1397000"/>
          <a:ext cx="6096000" cy="323596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GB" dirty="0" smtClean="0"/>
                        <a:t>Lenders</a:t>
                      </a:r>
                      <a:endParaRPr lang="en-GB" dirty="0"/>
                    </a:p>
                  </a:txBody>
                  <a:tcPr/>
                </a:tc>
                <a:tc>
                  <a:txBody>
                    <a:bodyPr/>
                    <a:lstStyle/>
                    <a:p>
                      <a:r>
                        <a:rPr lang="en-GB" dirty="0" smtClean="0"/>
                        <a:t>Investors</a:t>
                      </a:r>
                      <a:endParaRPr lang="en-GB" dirty="0"/>
                    </a:p>
                  </a:txBody>
                  <a:tcPr/>
                </a:tc>
              </a:tr>
              <a:tr h="370840">
                <a:tc>
                  <a:txBody>
                    <a:bodyPr/>
                    <a:lstStyle/>
                    <a:p>
                      <a:r>
                        <a:rPr lang="en-GB" b="1" dirty="0" smtClean="0"/>
                        <a:t>C</a:t>
                      </a:r>
                      <a:r>
                        <a:rPr lang="en-GB" dirty="0" smtClean="0"/>
                        <a:t>ustomer</a:t>
                      </a:r>
                      <a:endParaRPr lang="en-GB" dirty="0"/>
                    </a:p>
                  </a:txBody>
                  <a:tcPr/>
                </a:tc>
                <a:tc>
                  <a:txBody>
                    <a:bodyPr/>
                    <a:lstStyle/>
                    <a:p>
                      <a:endParaRPr lang="en-GB" dirty="0"/>
                    </a:p>
                  </a:txBody>
                  <a:tcPr/>
                </a:tc>
              </a:tr>
              <a:tr h="370840">
                <a:tc>
                  <a:txBody>
                    <a:bodyPr/>
                    <a:lstStyle/>
                    <a:p>
                      <a:r>
                        <a:rPr lang="en-GB" b="1" dirty="0" smtClean="0"/>
                        <a:t>A</a:t>
                      </a:r>
                      <a:r>
                        <a:rPr lang="en-GB" dirty="0" smtClean="0"/>
                        <a:t>bility</a:t>
                      </a:r>
                      <a:endParaRPr lang="en-GB" dirty="0"/>
                    </a:p>
                  </a:txBody>
                  <a:tcPr/>
                </a:tc>
                <a:tc>
                  <a:txBody>
                    <a:bodyPr/>
                    <a:lstStyle/>
                    <a:p>
                      <a:r>
                        <a:rPr lang="en-GB" b="1" dirty="0" smtClean="0"/>
                        <a:t>Founders/Management</a:t>
                      </a:r>
                      <a:r>
                        <a:rPr lang="en-GB" b="1" baseline="0" dirty="0" smtClean="0"/>
                        <a:t> Team</a:t>
                      </a:r>
                      <a:endParaRPr lang="en-GB" b="1" dirty="0"/>
                    </a:p>
                  </a:txBody>
                  <a:tcPr/>
                </a:tc>
              </a:tr>
              <a:tr h="370840">
                <a:tc>
                  <a:txBody>
                    <a:bodyPr/>
                    <a:lstStyle/>
                    <a:p>
                      <a:r>
                        <a:rPr lang="en-GB" b="1" dirty="0" smtClean="0"/>
                        <a:t>M</a:t>
                      </a:r>
                      <a:r>
                        <a:rPr lang="en-GB" dirty="0" smtClean="0"/>
                        <a:t>eans</a:t>
                      </a:r>
                      <a:endParaRPr lang="en-GB" dirty="0"/>
                    </a:p>
                  </a:txBody>
                  <a:tcPr/>
                </a:tc>
                <a:tc>
                  <a:txBody>
                    <a:bodyPr/>
                    <a:lstStyle/>
                    <a:p>
                      <a:r>
                        <a:rPr lang="en-GB" dirty="0" smtClean="0"/>
                        <a:t>Competitive advantage</a:t>
                      </a:r>
                      <a:endParaRPr lang="en-GB" dirty="0"/>
                    </a:p>
                  </a:txBody>
                  <a:tcPr/>
                </a:tc>
              </a:tr>
              <a:tr h="370840">
                <a:tc>
                  <a:txBody>
                    <a:bodyPr/>
                    <a:lstStyle/>
                    <a:p>
                      <a:r>
                        <a:rPr lang="en-GB" b="1" dirty="0" smtClean="0"/>
                        <a:t>P</a:t>
                      </a:r>
                      <a:r>
                        <a:rPr lang="en-GB" dirty="0" smtClean="0"/>
                        <a:t>urpose</a:t>
                      </a:r>
                      <a:endParaRPr lang="en-GB" dirty="0"/>
                    </a:p>
                  </a:txBody>
                  <a:tcPr/>
                </a:tc>
                <a:tc>
                  <a:txBody>
                    <a:bodyPr/>
                    <a:lstStyle/>
                    <a:p>
                      <a:r>
                        <a:rPr lang="en-GB" dirty="0" smtClean="0"/>
                        <a:t>Market potential</a:t>
                      </a:r>
                      <a:endParaRPr lang="en-GB" dirty="0"/>
                    </a:p>
                  </a:txBody>
                  <a:tcPr/>
                </a:tc>
              </a:tr>
              <a:tr h="370840">
                <a:tc>
                  <a:txBody>
                    <a:bodyPr/>
                    <a:lstStyle/>
                    <a:p>
                      <a:r>
                        <a:rPr lang="en-GB" b="1" dirty="0" smtClean="0"/>
                        <a:t>A</a:t>
                      </a:r>
                      <a:r>
                        <a:rPr lang="en-GB" dirty="0" smtClean="0"/>
                        <a:t>mount</a:t>
                      </a:r>
                      <a:endParaRPr lang="en-GB" dirty="0"/>
                    </a:p>
                  </a:txBody>
                  <a:tcPr/>
                </a:tc>
                <a:tc>
                  <a:txBody>
                    <a:bodyPr/>
                    <a:lstStyle/>
                    <a:p>
                      <a:r>
                        <a:rPr lang="en-GB" dirty="0" smtClean="0"/>
                        <a:t>Barriers to entry</a:t>
                      </a:r>
                      <a:endParaRPr lang="en-GB" dirty="0"/>
                    </a:p>
                  </a:txBody>
                  <a:tcPr/>
                </a:tc>
              </a:tr>
              <a:tr h="370840">
                <a:tc>
                  <a:txBody>
                    <a:bodyPr/>
                    <a:lstStyle/>
                    <a:p>
                      <a:r>
                        <a:rPr lang="en-GB" b="1" dirty="0" smtClean="0"/>
                        <a:t>R</a:t>
                      </a:r>
                      <a:r>
                        <a:rPr lang="en-GB" dirty="0" smtClean="0"/>
                        <a:t>epayment</a:t>
                      </a:r>
                      <a:endParaRPr lang="en-GB" dirty="0"/>
                    </a:p>
                  </a:txBody>
                  <a:tcPr/>
                </a:tc>
                <a:tc>
                  <a:txBody>
                    <a:bodyPr/>
                    <a:lstStyle/>
                    <a:p>
                      <a:r>
                        <a:rPr lang="en-GB" dirty="0" smtClean="0"/>
                        <a:t>Exit Strategy</a:t>
                      </a:r>
                      <a:endParaRPr lang="en-GB" dirty="0"/>
                    </a:p>
                  </a:txBody>
                  <a:tcPr/>
                </a:tc>
              </a:tr>
              <a:tr h="370840">
                <a:tc>
                  <a:txBody>
                    <a:bodyPr/>
                    <a:lstStyle/>
                    <a:p>
                      <a:r>
                        <a:rPr lang="en-GB" b="1" dirty="0" smtClean="0"/>
                        <a:t>I</a:t>
                      </a:r>
                      <a:r>
                        <a:rPr lang="en-GB" dirty="0" smtClean="0"/>
                        <a:t>nsurance</a:t>
                      </a:r>
                      <a:endParaRPr lang="en-GB" dirty="0"/>
                    </a:p>
                  </a:txBody>
                  <a:tcPr/>
                </a:tc>
                <a:tc>
                  <a:txBody>
                    <a:bodyPr/>
                    <a:lstStyle/>
                    <a:p>
                      <a:endParaRPr lang="en-GB" dirty="0"/>
                    </a:p>
                  </a:txBody>
                  <a:tcPr/>
                </a:tc>
              </a:tr>
            </a:tbl>
          </a:graphicData>
        </a:graphic>
      </p:graphicFrame>
      <p:sp>
        <p:nvSpPr>
          <p:cNvPr id="7" name="TextBox 6"/>
          <p:cNvSpPr txBox="1"/>
          <p:nvPr/>
        </p:nvSpPr>
        <p:spPr>
          <a:xfrm>
            <a:off x="1547664" y="4869160"/>
            <a:ext cx="2592288" cy="646331"/>
          </a:xfrm>
          <a:prstGeom prst="rect">
            <a:avLst/>
          </a:prstGeom>
          <a:noFill/>
        </p:spPr>
        <p:txBody>
          <a:bodyPr wrap="square" rtlCol="0">
            <a:spAutoFit/>
          </a:bodyPr>
          <a:lstStyle/>
          <a:p>
            <a:pPr algn="ctr"/>
            <a:r>
              <a:rPr lang="en-GB" sz="1800" dirty="0" smtClean="0"/>
              <a:t>Certainty, stability,</a:t>
            </a:r>
          </a:p>
          <a:p>
            <a:pPr algn="ctr"/>
            <a:r>
              <a:rPr lang="en-GB" sz="1800" dirty="0" smtClean="0"/>
              <a:t> track record</a:t>
            </a:r>
            <a:endParaRPr lang="en-GB" sz="1800" dirty="0"/>
          </a:p>
        </p:txBody>
      </p:sp>
      <p:sp>
        <p:nvSpPr>
          <p:cNvPr id="8" name="TextBox 7"/>
          <p:cNvSpPr txBox="1"/>
          <p:nvPr/>
        </p:nvSpPr>
        <p:spPr>
          <a:xfrm>
            <a:off x="5220072" y="4797152"/>
            <a:ext cx="2376264" cy="923330"/>
          </a:xfrm>
          <a:prstGeom prst="rect">
            <a:avLst/>
          </a:prstGeom>
          <a:noFill/>
        </p:spPr>
        <p:txBody>
          <a:bodyPr wrap="square" rtlCol="0">
            <a:spAutoFit/>
          </a:bodyPr>
          <a:lstStyle/>
          <a:p>
            <a:pPr algn="ctr"/>
            <a:r>
              <a:rPr lang="en-GB" sz="1800" dirty="0" smtClean="0"/>
              <a:t>Lots of money, management, scalability</a:t>
            </a:r>
            <a:endParaRPr lang="en-GB" sz="1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dirty="0" smtClean="0"/>
              <a:t/>
            </a:r>
            <a:br>
              <a:rPr lang="en-GB" dirty="0" smtClean="0"/>
            </a:br>
            <a:r>
              <a:rPr lang="en-GB" dirty="0" smtClean="0"/>
              <a:t>When is social enough? What is social?</a:t>
            </a:r>
            <a:br>
              <a:rPr lang="en-GB" dirty="0" smtClean="0"/>
            </a:br>
            <a:endParaRPr lang="en-US" dirty="0" smtClean="0"/>
          </a:p>
        </p:txBody>
      </p:sp>
      <p:sp>
        <p:nvSpPr>
          <p:cNvPr id="5" name="TextBox 4"/>
          <p:cNvSpPr txBox="1"/>
          <p:nvPr/>
        </p:nvSpPr>
        <p:spPr>
          <a:xfrm>
            <a:off x="251520" y="1412776"/>
            <a:ext cx="8568952" cy="2246769"/>
          </a:xfrm>
          <a:prstGeom prst="rect">
            <a:avLst/>
          </a:prstGeom>
          <a:noFill/>
        </p:spPr>
        <p:txBody>
          <a:bodyPr wrap="square" rtlCol="0">
            <a:spAutoFit/>
          </a:bodyPr>
          <a:lstStyle/>
          <a:p>
            <a:endParaRPr lang="en-GB" dirty="0" smtClean="0"/>
          </a:p>
          <a:p>
            <a:endParaRPr lang="en-GB" dirty="0" smtClean="0"/>
          </a:p>
          <a:p>
            <a:endParaRPr lang="en-GB" dirty="0" smtClean="0"/>
          </a:p>
          <a:p>
            <a:endParaRPr lang="en-GB" dirty="0" smtClean="0"/>
          </a:p>
          <a:p>
            <a:endParaRPr lang="en-GB" dirty="0"/>
          </a:p>
        </p:txBody>
      </p:sp>
      <p:sp>
        <p:nvSpPr>
          <p:cNvPr id="9" name="TextBox 8"/>
          <p:cNvSpPr txBox="1"/>
          <p:nvPr/>
        </p:nvSpPr>
        <p:spPr>
          <a:xfrm>
            <a:off x="899592" y="1268760"/>
            <a:ext cx="7128792" cy="523220"/>
          </a:xfrm>
          <a:prstGeom prst="rect">
            <a:avLst/>
          </a:prstGeom>
          <a:noFill/>
        </p:spPr>
        <p:txBody>
          <a:bodyPr wrap="square" rtlCol="0">
            <a:spAutoFit/>
          </a:bodyPr>
          <a:lstStyle/>
          <a:p>
            <a:r>
              <a:rPr lang="en-GB" dirty="0" smtClean="0"/>
              <a:t>          </a:t>
            </a:r>
            <a:endParaRPr lang="en-GB" dirty="0"/>
          </a:p>
        </p:txBody>
      </p:sp>
      <p:sp>
        <p:nvSpPr>
          <p:cNvPr id="6" name="TextBox 5"/>
          <p:cNvSpPr txBox="1"/>
          <p:nvPr/>
        </p:nvSpPr>
        <p:spPr>
          <a:xfrm>
            <a:off x="323528" y="1700808"/>
            <a:ext cx="8352928" cy="4031873"/>
          </a:xfrm>
          <a:prstGeom prst="rect">
            <a:avLst/>
          </a:prstGeom>
          <a:noFill/>
        </p:spPr>
        <p:txBody>
          <a:bodyPr wrap="square" rtlCol="0">
            <a:spAutoFit/>
          </a:bodyPr>
          <a:lstStyle/>
          <a:p>
            <a:endParaRPr lang="en-GB" sz="1600" dirty="0" smtClean="0"/>
          </a:p>
          <a:p>
            <a:endParaRPr lang="en-GB" sz="1600" dirty="0" smtClean="0"/>
          </a:p>
          <a:p>
            <a:endParaRPr lang="en-GB" dirty="0" smtClean="0"/>
          </a:p>
          <a:p>
            <a:endParaRPr lang="en-GB" dirty="0" smtClean="0"/>
          </a:p>
          <a:p>
            <a:endParaRPr lang="en-GB" dirty="0" smtClean="0"/>
          </a:p>
          <a:p>
            <a:endParaRPr lang="en-GB" dirty="0" smtClean="0"/>
          </a:p>
          <a:p>
            <a:endParaRPr lang="en-GB" dirty="0" smtClean="0"/>
          </a:p>
          <a:p>
            <a:endParaRPr lang="en-GB" dirty="0" smtClean="0"/>
          </a:p>
          <a:p>
            <a:endParaRPr lang="en-GB" dirty="0" smtClean="0"/>
          </a:p>
          <a:p>
            <a:endParaRPr lang="en-GB" dirty="0"/>
          </a:p>
        </p:txBody>
      </p:sp>
      <p:sp>
        <p:nvSpPr>
          <p:cNvPr id="8" name="TextBox 7"/>
          <p:cNvSpPr txBox="1"/>
          <p:nvPr/>
        </p:nvSpPr>
        <p:spPr>
          <a:xfrm>
            <a:off x="251520" y="2780928"/>
            <a:ext cx="8064896" cy="923330"/>
          </a:xfrm>
          <a:prstGeom prst="rect">
            <a:avLst/>
          </a:prstGeom>
          <a:noFill/>
        </p:spPr>
        <p:txBody>
          <a:bodyPr wrap="square" rtlCol="0">
            <a:spAutoFit/>
          </a:bodyPr>
          <a:lstStyle/>
          <a:p>
            <a:pPr algn="ctr"/>
            <a:r>
              <a:rPr lang="en-GB" sz="1800" dirty="0" smtClean="0"/>
              <a:t>a business....‘with primarily social objectives whose surpluses are principally reinvested for that purpose in the business or community, rather than being driven by the need to maximise profit for shareholders and owners’</a:t>
            </a:r>
          </a:p>
        </p:txBody>
      </p:sp>
      <p:sp>
        <p:nvSpPr>
          <p:cNvPr id="11" name="TextBox 10"/>
          <p:cNvSpPr txBox="1"/>
          <p:nvPr/>
        </p:nvSpPr>
        <p:spPr>
          <a:xfrm>
            <a:off x="611560" y="1484784"/>
            <a:ext cx="7344816" cy="461665"/>
          </a:xfrm>
          <a:prstGeom prst="rect">
            <a:avLst/>
          </a:prstGeom>
          <a:noFill/>
        </p:spPr>
        <p:txBody>
          <a:bodyPr wrap="square" rtlCol="0">
            <a:spAutoFit/>
          </a:bodyPr>
          <a:lstStyle/>
          <a:p>
            <a:r>
              <a:rPr lang="en-GB" sz="2400" dirty="0" smtClean="0"/>
              <a:t>A social enterprise is ????</a:t>
            </a:r>
            <a:endParaRPr lang="en-GB"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dirty="0" smtClean="0"/>
              <a:t/>
            </a:r>
            <a:br>
              <a:rPr lang="en-GB" dirty="0" smtClean="0"/>
            </a:br>
            <a:r>
              <a:rPr lang="en-GB" dirty="0" smtClean="0"/>
              <a:t>When is social enough? What is social?</a:t>
            </a:r>
            <a:br>
              <a:rPr lang="en-GB" dirty="0" smtClean="0"/>
            </a:br>
            <a:endParaRPr lang="en-US" dirty="0" smtClean="0"/>
          </a:p>
        </p:txBody>
      </p:sp>
      <p:sp>
        <p:nvSpPr>
          <p:cNvPr id="5" name="TextBox 4"/>
          <p:cNvSpPr txBox="1"/>
          <p:nvPr/>
        </p:nvSpPr>
        <p:spPr>
          <a:xfrm>
            <a:off x="251520" y="1412776"/>
            <a:ext cx="8568952" cy="2246769"/>
          </a:xfrm>
          <a:prstGeom prst="rect">
            <a:avLst/>
          </a:prstGeom>
          <a:noFill/>
        </p:spPr>
        <p:txBody>
          <a:bodyPr wrap="square" rtlCol="0">
            <a:spAutoFit/>
          </a:bodyPr>
          <a:lstStyle/>
          <a:p>
            <a:endParaRPr lang="en-GB" dirty="0" smtClean="0"/>
          </a:p>
          <a:p>
            <a:endParaRPr lang="en-GB" dirty="0" smtClean="0"/>
          </a:p>
          <a:p>
            <a:endParaRPr lang="en-GB" dirty="0" smtClean="0"/>
          </a:p>
          <a:p>
            <a:endParaRPr lang="en-GB" dirty="0" smtClean="0"/>
          </a:p>
          <a:p>
            <a:endParaRPr lang="en-GB" dirty="0"/>
          </a:p>
        </p:txBody>
      </p:sp>
      <p:sp>
        <p:nvSpPr>
          <p:cNvPr id="9" name="TextBox 8"/>
          <p:cNvSpPr txBox="1"/>
          <p:nvPr/>
        </p:nvSpPr>
        <p:spPr>
          <a:xfrm>
            <a:off x="899592" y="1268760"/>
            <a:ext cx="7128792" cy="523220"/>
          </a:xfrm>
          <a:prstGeom prst="rect">
            <a:avLst/>
          </a:prstGeom>
          <a:noFill/>
        </p:spPr>
        <p:txBody>
          <a:bodyPr wrap="square" rtlCol="0">
            <a:spAutoFit/>
          </a:bodyPr>
          <a:lstStyle/>
          <a:p>
            <a:r>
              <a:rPr lang="en-GB" dirty="0" smtClean="0"/>
              <a:t>          </a:t>
            </a:r>
            <a:endParaRPr lang="en-GB" dirty="0"/>
          </a:p>
        </p:txBody>
      </p:sp>
      <p:sp>
        <p:nvSpPr>
          <p:cNvPr id="6" name="TextBox 5"/>
          <p:cNvSpPr txBox="1"/>
          <p:nvPr/>
        </p:nvSpPr>
        <p:spPr>
          <a:xfrm>
            <a:off x="395536" y="1268760"/>
            <a:ext cx="8352928" cy="8402300"/>
          </a:xfrm>
          <a:prstGeom prst="rect">
            <a:avLst/>
          </a:prstGeom>
          <a:noFill/>
        </p:spPr>
        <p:txBody>
          <a:bodyPr wrap="square" rtlCol="0">
            <a:spAutoFit/>
          </a:bodyPr>
          <a:lstStyle/>
          <a:p>
            <a:r>
              <a:rPr lang="en-GB" dirty="0" smtClean="0"/>
              <a:t>Is it structure?</a:t>
            </a:r>
          </a:p>
          <a:p>
            <a:r>
              <a:rPr lang="en-GB" dirty="0" smtClean="0"/>
              <a:t>	</a:t>
            </a:r>
            <a:r>
              <a:rPr lang="en-GB" sz="1600" dirty="0" smtClean="0"/>
              <a:t>CIC, Charity, Golden Shares? IPS?</a:t>
            </a:r>
          </a:p>
          <a:p>
            <a:endParaRPr lang="en-GB" dirty="0" smtClean="0"/>
          </a:p>
          <a:p>
            <a:r>
              <a:rPr lang="en-GB" dirty="0" smtClean="0"/>
              <a:t>Is it activity?</a:t>
            </a:r>
          </a:p>
          <a:p>
            <a:r>
              <a:rPr lang="en-GB" dirty="0" smtClean="0"/>
              <a:t>	</a:t>
            </a:r>
            <a:r>
              <a:rPr lang="en-GB" sz="1600" dirty="0" smtClean="0"/>
              <a:t>Market Failure? Government Failure?</a:t>
            </a:r>
          </a:p>
          <a:p>
            <a:endParaRPr lang="en-GB" sz="1600" dirty="0" smtClean="0"/>
          </a:p>
          <a:p>
            <a:r>
              <a:rPr lang="en-GB" dirty="0" smtClean="0"/>
              <a:t>Is it motivation of the entrepreneur?</a:t>
            </a:r>
          </a:p>
          <a:p>
            <a:r>
              <a:rPr lang="en-GB" dirty="0" smtClean="0"/>
              <a:t>	</a:t>
            </a:r>
            <a:r>
              <a:rPr lang="en-GB" sz="1600" dirty="0" smtClean="0"/>
              <a:t>“Look at the whites of their eyes”</a:t>
            </a:r>
          </a:p>
          <a:p>
            <a:endParaRPr lang="en-GB" sz="1600" dirty="0" smtClean="0"/>
          </a:p>
          <a:p>
            <a:r>
              <a:rPr lang="en-GB" dirty="0" smtClean="0"/>
              <a:t>Is there a cost to the social activity?</a:t>
            </a:r>
          </a:p>
          <a:p>
            <a:r>
              <a:rPr lang="en-GB" dirty="0" smtClean="0"/>
              <a:t>	</a:t>
            </a:r>
            <a:r>
              <a:rPr lang="en-GB" sz="1600" dirty="0" smtClean="0"/>
              <a:t>Could they make more money by dropping their social activity?</a:t>
            </a:r>
          </a:p>
          <a:p>
            <a:endParaRPr lang="en-GB" sz="1600" dirty="0" smtClean="0"/>
          </a:p>
          <a:p>
            <a:endParaRPr lang="en-GB" sz="1600" dirty="0" smtClean="0"/>
          </a:p>
          <a:p>
            <a:endParaRPr lang="en-GB" dirty="0" smtClean="0"/>
          </a:p>
          <a:p>
            <a:endParaRPr lang="en-GB" dirty="0" smtClean="0"/>
          </a:p>
          <a:p>
            <a:endParaRPr lang="en-GB" dirty="0" smtClean="0"/>
          </a:p>
          <a:p>
            <a:endParaRPr lang="en-GB" dirty="0" smtClean="0"/>
          </a:p>
          <a:p>
            <a:endParaRPr lang="en-GB" dirty="0" smtClean="0"/>
          </a:p>
          <a:p>
            <a:endParaRPr lang="en-GB" dirty="0" smtClean="0"/>
          </a:p>
          <a:p>
            <a:endParaRPr lang="en-GB" dirty="0" smtClean="0"/>
          </a:p>
          <a:p>
            <a:endParaRPr lang="en-GB" dirty="0"/>
          </a:p>
        </p:txBody>
      </p:sp>
      <p:sp>
        <p:nvSpPr>
          <p:cNvPr id="10" name="Rectangle 9"/>
          <p:cNvSpPr/>
          <p:nvPr/>
        </p:nvSpPr>
        <p:spPr>
          <a:xfrm>
            <a:off x="467544" y="62250"/>
            <a:ext cx="8352928" cy="738664"/>
          </a:xfrm>
          <a:prstGeom prst="rect">
            <a:avLst/>
          </a:prstGeom>
        </p:spPr>
        <p:txBody>
          <a:bodyPr wrap="square">
            <a:spAutoFit/>
          </a:bodyPr>
          <a:lstStyle/>
          <a:p>
            <a:pPr lvl="0"/>
            <a:r>
              <a:rPr lang="en-GB" sz="1400" dirty="0" smtClean="0">
                <a:solidFill>
                  <a:srgbClr val="000000"/>
                </a:solidFill>
              </a:rPr>
              <a:t>‘with primarily social objectives whose surpluses are principally reinvested for that purpose in the business or community, rather than being driven by the need to maximise profit for shareholders and owners’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dirty="0" smtClean="0"/>
              <a:t/>
            </a:r>
            <a:br>
              <a:rPr lang="en-GB" dirty="0" smtClean="0"/>
            </a:br>
            <a:r>
              <a:rPr lang="en-GB" dirty="0" smtClean="0"/>
              <a:t>When is social enough? What is social?</a:t>
            </a:r>
            <a:br>
              <a:rPr lang="en-GB" dirty="0" smtClean="0"/>
            </a:br>
            <a:endParaRPr lang="en-US" dirty="0" smtClean="0"/>
          </a:p>
        </p:txBody>
      </p:sp>
      <p:sp>
        <p:nvSpPr>
          <p:cNvPr id="5" name="TextBox 4"/>
          <p:cNvSpPr txBox="1"/>
          <p:nvPr/>
        </p:nvSpPr>
        <p:spPr>
          <a:xfrm>
            <a:off x="251520" y="1412776"/>
            <a:ext cx="8568952" cy="2246769"/>
          </a:xfrm>
          <a:prstGeom prst="rect">
            <a:avLst/>
          </a:prstGeom>
          <a:noFill/>
        </p:spPr>
        <p:txBody>
          <a:bodyPr wrap="square" rtlCol="0">
            <a:spAutoFit/>
          </a:bodyPr>
          <a:lstStyle/>
          <a:p>
            <a:endParaRPr lang="en-GB" dirty="0" smtClean="0"/>
          </a:p>
          <a:p>
            <a:endParaRPr lang="en-GB" dirty="0" smtClean="0"/>
          </a:p>
          <a:p>
            <a:endParaRPr lang="en-GB" dirty="0" smtClean="0"/>
          </a:p>
          <a:p>
            <a:endParaRPr lang="en-GB" dirty="0" smtClean="0"/>
          </a:p>
          <a:p>
            <a:endParaRPr lang="en-GB" dirty="0"/>
          </a:p>
        </p:txBody>
      </p:sp>
      <p:sp>
        <p:nvSpPr>
          <p:cNvPr id="9" name="TextBox 8"/>
          <p:cNvSpPr txBox="1"/>
          <p:nvPr/>
        </p:nvSpPr>
        <p:spPr>
          <a:xfrm>
            <a:off x="899592" y="1268760"/>
            <a:ext cx="7128792" cy="523220"/>
          </a:xfrm>
          <a:prstGeom prst="rect">
            <a:avLst/>
          </a:prstGeom>
          <a:noFill/>
        </p:spPr>
        <p:txBody>
          <a:bodyPr wrap="square" rtlCol="0">
            <a:spAutoFit/>
          </a:bodyPr>
          <a:lstStyle/>
          <a:p>
            <a:r>
              <a:rPr lang="en-GB" dirty="0" smtClean="0"/>
              <a:t>          </a:t>
            </a:r>
            <a:endParaRPr lang="en-GB" dirty="0"/>
          </a:p>
        </p:txBody>
      </p:sp>
      <p:sp>
        <p:nvSpPr>
          <p:cNvPr id="6" name="TextBox 5"/>
          <p:cNvSpPr txBox="1"/>
          <p:nvPr/>
        </p:nvSpPr>
        <p:spPr>
          <a:xfrm>
            <a:off x="467544" y="1268760"/>
            <a:ext cx="8352928" cy="7971413"/>
          </a:xfrm>
          <a:prstGeom prst="rect">
            <a:avLst/>
          </a:prstGeom>
          <a:noFill/>
        </p:spPr>
        <p:txBody>
          <a:bodyPr wrap="square" rtlCol="0">
            <a:spAutoFit/>
          </a:bodyPr>
          <a:lstStyle/>
          <a:p>
            <a:pPr>
              <a:buFont typeface="Arial" pitchFamily="34" charset="0"/>
              <a:buChar char="•"/>
            </a:pPr>
            <a:r>
              <a:rPr lang="en-GB" sz="1800" dirty="0" smtClean="0"/>
              <a:t>An organisation improving mobility for disabled children</a:t>
            </a:r>
          </a:p>
          <a:p>
            <a:pPr>
              <a:buFont typeface="Arial" pitchFamily="34" charset="0"/>
              <a:buChar char="•"/>
            </a:pPr>
            <a:endParaRPr lang="en-GB" sz="1800" dirty="0" smtClean="0"/>
          </a:p>
          <a:p>
            <a:pPr>
              <a:buFont typeface="Arial" pitchFamily="34" charset="0"/>
              <a:buChar char="•"/>
            </a:pPr>
            <a:r>
              <a:rPr lang="en-GB" sz="1800" dirty="0" smtClean="0"/>
              <a:t>A company making wheel chairs for disabled children</a:t>
            </a:r>
          </a:p>
          <a:p>
            <a:pPr>
              <a:buFont typeface="Arial" pitchFamily="34" charset="0"/>
              <a:buChar char="•"/>
            </a:pPr>
            <a:endParaRPr lang="en-GB" sz="1800" dirty="0" smtClean="0"/>
          </a:p>
          <a:p>
            <a:pPr>
              <a:buFont typeface="Arial" pitchFamily="34" charset="0"/>
              <a:buChar char="•"/>
            </a:pPr>
            <a:r>
              <a:rPr lang="en-GB" sz="1800" dirty="0" smtClean="0"/>
              <a:t>A company making wheelchairs</a:t>
            </a:r>
          </a:p>
          <a:p>
            <a:pPr>
              <a:buFont typeface="Arial" pitchFamily="34" charset="0"/>
              <a:buChar char="•"/>
            </a:pPr>
            <a:endParaRPr lang="en-GB" sz="1800" dirty="0" smtClean="0"/>
          </a:p>
          <a:p>
            <a:pPr>
              <a:buFont typeface="Arial" pitchFamily="34" charset="0"/>
              <a:buChar char="•"/>
            </a:pPr>
            <a:r>
              <a:rPr lang="en-GB" sz="1800" dirty="0" smtClean="0"/>
              <a:t>A company that makes a particularly effective design for a wheel of a wheel chair</a:t>
            </a:r>
          </a:p>
          <a:p>
            <a:pPr>
              <a:buFont typeface="Arial" pitchFamily="34" charset="0"/>
              <a:buChar char="•"/>
            </a:pPr>
            <a:endParaRPr lang="en-GB" sz="1800" dirty="0" smtClean="0"/>
          </a:p>
          <a:p>
            <a:pPr>
              <a:buFont typeface="Arial" pitchFamily="34" charset="0"/>
              <a:buChar char="•"/>
            </a:pPr>
            <a:r>
              <a:rPr lang="en-GB" sz="1800" dirty="0" smtClean="0"/>
              <a:t>A company that makes ball-bearings exclusively for the wheelchair market</a:t>
            </a:r>
          </a:p>
          <a:p>
            <a:pPr>
              <a:buFont typeface="Arial" pitchFamily="34" charset="0"/>
              <a:buChar char="•"/>
            </a:pPr>
            <a:endParaRPr lang="en-GB" sz="1800" dirty="0" smtClean="0"/>
          </a:p>
          <a:p>
            <a:pPr>
              <a:buFont typeface="Arial" pitchFamily="34" charset="0"/>
              <a:buChar char="•"/>
            </a:pPr>
            <a:r>
              <a:rPr lang="en-GB" sz="1800" dirty="0" smtClean="0"/>
              <a:t>A company selling metal that sells steel that goes in to the wheel of a wheel chair</a:t>
            </a:r>
          </a:p>
          <a:p>
            <a:pPr>
              <a:buFont typeface="Arial" pitchFamily="34" charset="0"/>
              <a:buChar char="•"/>
            </a:pPr>
            <a:endParaRPr lang="en-GB" sz="1800" dirty="0" smtClean="0"/>
          </a:p>
          <a:p>
            <a:pPr>
              <a:buFont typeface="Arial" pitchFamily="34" charset="0"/>
              <a:buChar char="•"/>
            </a:pPr>
            <a:r>
              <a:rPr lang="en-GB" sz="1800" dirty="0" smtClean="0"/>
              <a:t>A mining company that extracts the iron ore that makes the steel that goes in to the wheel of a wheel chair that gives improved mobility for children</a:t>
            </a:r>
          </a:p>
          <a:p>
            <a:endParaRPr lang="en-GB" dirty="0" smtClean="0"/>
          </a:p>
          <a:p>
            <a:endParaRPr lang="en-GB" dirty="0" smtClean="0"/>
          </a:p>
          <a:p>
            <a:endParaRPr lang="en-GB" dirty="0" smtClean="0"/>
          </a:p>
          <a:p>
            <a:endParaRPr lang="en-GB" dirty="0" smtClean="0"/>
          </a:p>
          <a:p>
            <a:endParaRPr lang="en-GB" dirty="0" smtClean="0"/>
          </a:p>
          <a:p>
            <a:endParaRPr lang="en-GB" dirty="0" smtClean="0"/>
          </a:p>
          <a:p>
            <a:endParaRPr lang="en-GB" dirty="0" smtClean="0"/>
          </a:p>
          <a:p>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smtClean="0"/>
              <a:t>Big Venture Challenge</a:t>
            </a:r>
          </a:p>
        </p:txBody>
      </p:sp>
      <p:sp>
        <p:nvSpPr>
          <p:cNvPr id="21507" name="Rectangle 3"/>
          <p:cNvSpPr>
            <a:spLocks noGrp="1" noChangeArrowheads="1"/>
          </p:cNvSpPr>
          <p:nvPr>
            <p:ph type="body" idx="1"/>
          </p:nvPr>
        </p:nvSpPr>
        <p:spPr>
          <a:xfrm>
            <a:off x="2195513" y="2924175"/>
            <a:ext cx="4800600" cy="533400"/>
          </a:xfrm>
        </p:spPr>
        <p:txBody>
          <a:bodyPr/>
          <a:lstStyle/>
          <a:p>
            <a:pPr marL="0" indent="0" algn="ctr" eaLnBrk="1" hangingPunct="1">
              <a:lnSpc>
                <a:spcPct val="90000"/>
              </a:lnSpc>
            </a:pPr>
            <a:endParaRPr lang="en-GB" sz="2800" u="sng" dirty="0" smtClean="0">
              <a:solidFill>
                <a:schemeClr val="accent2"/>
              </a:solidFill>
            </a:endParaRPr>
          </a:p>
          <a:p>
            <a:pPr marL="0" indent="0" algn="ctr" eaLnBrk="1" hangingPunct="1">
              <a:lnSpc>
                <a:spcPct val="90000"/>
              </a:lnSpc>
            </a:pPr>
            <a:endParaRPr lang="en-GB" sz="2800" u="sng" dirty="0" smtClean="0">
              <a:solidFill>
                <a:schemeClr val="accent2"/>
              </a:solidFill>
            </a:endParaRPr>
          </a:p>
          <a:p>
            <a:pPr marL="0" indent="0" eaLnBrk="1" hangingPunct="1">
              <a:lnSpc>
                <a:spcPct val="90000"/>
              </a:lnSpc>
            </a:pPr>
            <a:endParaRPr lang="en-US" sz="2800" dirty="0" smtClean="0"/>
          </a:p>
        </p:txBody>
      </p:sp>
      <p:sp>
        <p:nvSpPr>
          <p:cNvPr id="5" name="TextBox 4"/>
          <p:cNvSpPr txBox="1"/>
          <p:nvPr/>
        </p:nvSpPr>
        <p:spPr>
          <a:xfrm>
            <a:off x="251520" y="1412776"/>
            <a:ext cx="8568952" cy="2246769"/>
          </a:xfrm>
          <a:prstGeom prst="rect">
            <a:avLst/>
          </a:prstGeom>
          <a:noFill/>
        </p:spPr>
        <p:txBody>
          <a:bodyPr wrap="square" rtlCol="0">
            <a:spAutoFit/>
          </a:bodyPr>
          <a:lstStyle/>
          <a:p>
            <a:endParaRPr lang="en-GB" dirty="0" smtClean="0"/>
          </a:p>
          <a:p>
            <a:endParaRPr lang="en-GB" dirty="0" smtClean="0"/>
          </a:p>
          <a:p>
            <a:endParaRPr lang="en-GB" dirty="0" smtClean="0"/>
          </a:p>
          <a:p>
            <a:endParaRPr lang="en-GB" dirty="0" smtClean="0"/>
          </a:p>
          <a:p>
            <a:endParaRPr lang="en-GB" dirty="0"/>
          </a:p>
        </p:txBody>
      </p:sp>
      <p:sp>
        <p:nvSpPr>
          <p:cNvPr id="12" name="TextBox 11"/>
          <p:cNvSpPr txBox="1"/>
          <p:nvPr/>
        </p:nvSpPr>
        <p:spPr>
          <a:xfrm>
            <a:off x="611560" y="1052736"/>
            <a:ext cx="7704856" cy="3416320"/>
          </a:xfrm>
          <a:prstGeom prst="rect">
            <a:avLst/>
          </a:prstGeom>
          <a:noFill/>
        </p:spPr>
        <p:txBody>
          <a:bodyPr wrap="square" rtlCol="0">
            <a:spAutoFit/>
          </a:bodyPr>
          <a:lstStyle/>
          <a:p>
            <a:pPr>
              <a:buFont typeface="Arial" pitchFamily="34" charset="0"/>
              <a:buChar char="•"/>
            </a:pPr>
            <a:endParaRPr lang="en-GB" sz="1800" dirty="0" smtClean="0"/>
          </a:p>
          <a:p>
            <a:pPr>
              <a:buFont typeface="Arial" pitchFamily="34" charset="0"/>
              <a:buChar char="•"/>
            </a:pPr>
            <a:r>
              <a:rPr lang="en-GB" sz="1800" dirty="0" smtClean="0"/>
              <a:t>The 25 most ambitious Social Entrepreneurs in England</a:t>
            </a:r>
          </a:p>
          <a:p>
            <a:pPr>
              <a:buFont typeface="Arial" pitchFamily="34" charset="0"/>
              <a:buChar char="•"/>
            </a:pPr>
            <a:endParaRPr lang="en-GB" sz="1800" dirty="0" smtClean="0"/>
          </a:p>
          <a:p>
            <a:pPr>
              <a:buFont typeface="Arial" pitchFamily="34" charset="0"/>
              <a:buChar char="•"/>
            </a:pPr>
            <a:r>
              <a:rPr lang="en-GB" sz="1800" dirty="0" smtClean="0"/>
              <a:t>Looking to take on external investment over the next couple of years to   rapidly scale their organisation</a:t>
            </a:r>
          </a:p>
          <a:p>
            <a:pPr>
              <a:buFont typeface="Arial" pitchFamily="34" charset="0"/>
              <a:buChar char="•"/>
            </a:pPr>
            <a:endParaRPr lang="en-GB" sz="1800" dirty="0" smtClean="0"/>
          </a:p>
          <a:p>
            <a:pPr>
              <a:buFont typeface="Arial" pitchFamily="34" charset="0"/>
              <a:buChar char="•"/>
            </a:pPr>
            <a:r>
              <a:rPr lang="en-GB" sz="1800" dirty="0" smtClean="0"/>
              <a:t>Must impact disadvantaged communities in England</a:t>
            </a:r>
          </a:p>
          <a:p>
            <a:pPr>
              <a:buFont typeface="Arial" pitchFamily="34" charset="0"/>
              <a:buChar char="•"/>
            </a:pPr>
            <a:endParaRPr lang="en-GB" sz="1800" dirty="0" smtClean="0"/>
          </a:p>
          <a:p>
            <a:pPr>
              <a:buFont typeface="Arial" pitchFamily="34" charset="0"/>
              <a:buChar char="•"/>
            </a:pPr>
            <a:r>
              <a:rPr lang="en-GB" sz="1800" dirty="0" smtClean="0"/>
              <a:t> Organisation can be a company limited by shares, company limited by guarantee, CIC or even a charity</a:t>
            </a:r>
          </a:p>
          <a:p>
            <a:pPr>
              <a:buFont typeface="Arial" pitchFamily="34" charset="0"/>
              <a:buChar char="•"/>
            </a:pPr>
            <a:endParaRPr lang="en-GB" sz="1800" dirty="0" smtClean="0"/>
          </a:p>
          <a:p>
            <a:pPr>
              <a:buFont typeface="Arial" pitchFamily="34" charset="0"/>
              <a:buChar char="•"/>
            </a:pPr>
            <a:r>
              <a:rPr lang="en-GB" sz="1800" dirty="0" smtClean="0"/>
              <a:t>Must be based in England and over 16</a:t>
            </a:r>
            <a:endParaRPr lang="en-GB" sz="1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smtClean="0"/>
              <a:t>Big Venture Challenge – The Deal</a:t>
            </a:r>
          </a:p>
        </p:txBody>
      </p:sp>
      <p:sp>
        <p:nvSpPr>
          <p:cNvPr id="21507" name="Rectangle 3"/>
          <p:cNvSpPr>
            <a:spLocks noGrp="1" noChangeArrowheads="1"/>
          </p:cNvSpPr>
          <p:nvPr>
            <p:ph type="body" idx="1"/>
          </p:nvPr>
        </p:nvSpPr>
        <p:spPr>
          <a:xfrm>
            <a:off x="2195513" y="2924175"/>
            <a:ext cx="4800600" cy="533400"/>
          </a:xfrm>
        </p:spPr>
        <p:txBody>
          <a:bodyPr/>
          <a:lstStyle/>
          <a:p>
            <a:pPr marL="0" indent="0" algn="ctr" eaLnBrk="1" hangingPunct="1">
              <a:lnSpc>
                <a:spcPct val="90000"/>
              </a:lnSpc>
            </a:pPr>
            <a:endParaRPr lang="en-GB" sz="2800" u="sng" dirty="0" smtClean="0">
              <a:solidFill>
                <a:schemeClr val="accent2"/>
              </a:solidFill>
            </a:endParaRPr>
          </a:p>
          <a:p>
            <a:pPr marL="0" indent="0" algn="ctr" eaLnBrk="1" hangingPunct="1">
              <a:lnSpc>
                <a:spcPct val="90000"/>
              </a:lnSpc>
            </a:pPr>
            <a:endParaRPr lang="en-GB" sz="2800" u="sng" dirty="0" smtClean="0">
              <a:solidFill>
                <a:schemeClr val="accent2"/>
              </a:solidFill>
            </a:endParaRPr>
          </a:p>
          <a:p>
            <a:pPr marL="0" indent="0" eaLnBrk="1" hangingPunct="1">
              <a:lnSpc>
                <a:spcPct val="90000"/>
              </a:lnSpc>
            </a:pPr>
            <a:endParaRPr lang="en-US" sz="2800" dirty="0" smtClean="0"/>
          </a:p>
        </p:txBody>
      </p:sp>
      <p:sp>
        <p:nvSpPr>
          <p:cNvPr id="5" name="TextBox 4"/>
          <p:cNvSpPr txBox="1"/>
          <p:nvPr/>
        </p:nvSpPr>
        <p:spPr>
          <a:xfrm>
            <a:off x="251520" y="1412776"/>
            <a:ext cx="8568952" cy="2246769"/>
          </a:xfrm>
          <a:prstGeom prst="rect">
            <a:avLst/>
          </a:prstGeom>
          <a:noFill/>
        </p:spPr>
        <p:txBody>
          <a:bodyPr wrap="square" rtlCol="0">
            <a:spAutoFit/>
          </a:bodyPr>
          <a:lstStyle/>
          <a:p>
            <a:endParaRPr lang="en-GB" dirty="0" smtClean="0"/>
          </a:p>
          <a:p>
            <a:endParaRPr lang="en-GB" dirty="0" smtClean="0"/>
          </a:p>
          <a:p>
            <a:endParaRPr lang="en-GB" dirty="0" smtClean="0"/>
          </a:p>
          <a:p>
            <a:endParaRPr lang="en-GB" dirty="0" smtClean="0"/>
          </a:p>
          <a:p>
            <a:endParaRPr lang="en-GB" dirty="0"/>
          </a:p>
        </p:txBody>
      </p:sp>
      <p:sp>
        <p:nvSpPr>
          <p:cNvPr id="12" name="TextBox 11"/>
          <p:cNvSpPr txBox="1"/>
          <p:nvPr/>
        </p:nvSpPr>
        <p:spPr>
          <a:xfrm>
            <a:off x="611560" y="1052736"/>
            <a:ext cx="7704856" cy="3416320"/>
          </a:xfrm>
          <a:prstGeom prst="rect">
            <a:avLst/>
          </a:prstGeom>
          <a:noFill/>
        </p:spPr>
        <p:txBody>
          <a:bodyPr wrap="square" rtlCol="0">
            <a:spAutoFit/>
          </a:bodyPr>
          <a:lstStyle/>
          <a:p>
            <a:endParaRPr lang="en-GB" sz="1800" dirty="0" smtClean="0"/>
          </a:p>
          <a:p>
            <a:endParaRPr lang="en-GB" sz="1800" dirty="0" smtClean="0"/>
          </a:p>
          <a:p>
            <a:pPr>
              <a:buFont typeface="Arial" pitchFamily="34" charset="0"/>
              <a:buChar char="•"/>
            </a:pPr>
            <a:r>
              <a:rPr lang="en-GB" sz="1800" dirty="0" smtClean="0"/>
              <a:t>25 Finalists get £25k cash grant</a:t>
            </a:r>
          </a:p>
          <a:p>
            <a:pPr>
              <a:buFont typeface="Arial" pitchFamily="34" charset="0"/>
              <a:buChar char="•"/>
            </a:pPr>
            <a:endParaRPr lang="en-GB" sz="1800" dirty="0" smtClean="0"/>
          </a:p>
          <a:p>
            <a:pPr>
              <a:buFont typeface="Arial" pitchFamily="34" charset="0"/>
              <a:buChar char="•"/>
            </a:pPr>
            <a:r>
              <a:rPr lang="en-GB" sz="1800" dirty="0" smtClean="0"/>
              <a:t>25 Finalists get 3 years 1</a:t>
            </a:r>
            <a:r>
              <a:rPr lang="en-GB" sz="1800" baseline="30000" dirty="0" smtClean="0"/>
              <a:t>st</a:t>
            </a:r>
            <a:r>
              <a:rPr lang="en-GB" sz="1800" dirty="0" smtClean="0"/>
              <a:t> class business support - Legal, PR, </a:t>
            </a:r>
            <a:r>
              <a:rPr lang="en-GB" sz="1800" dirty="0" err="1" smtClean="0"/>
              <a:t>Bootcamps</a:t>
            </a:r>
            <a:r>
              <a:rPr lang="en-GB" sz="1800" dirty="0" smtClean="0"/>
              <a:t>, Mentors, Financial Expertise, Connections!</a:t>
            </a:r>
          </a:p>
          <a:p>
            <a:pPr>
              <a:buFont typeface="Arial" pitchFamily="34" charset="0"/>
              <a:buChar char="•"/>
            </a:pPr>
            <a:endParaRPr lang="en-GB" sz="1800" dirty="0" smtClean="0"/>
          </a:p>
          <a:p>
            <a:pPr>
              <a:buFont typeface="Arial" pitchFamily="34" charset="0"/>
              <a:buChar char="•"/>
            </a:pPr>
            <a:r>
              <a:rPr lang="en-GB" sz="1800" dirty="0" smtClean="0"/>
              <a:t>10 Finalists that secure £50k external investment will get £50k grant match-funding </a:t>
            </a:r>
          </a:p>
          <a:p>
            <a:pPr>
              <a:buFont typeface="Arial" pitchFamily="34" charset="0"/>
              <a:buChar char="•"/>
            </a:pPr>
            <a:endParaRPr lang="en-GB" sz="1800" dirty="0" smtClean="0"/>
          </a:p>
          <a:p>
            <a:pPr>
              <a:buFont typeface="Arial" pitchFamily="34" charset="0"/>
              <a:buChar char="•"/>
            </a:pPr>
            <a:r>
              <a:rPr lang="en-GB" sz="1800" dirty="0" smtClean="0"/>
              <a:t>2 Finalists that secure £100k external investment will get £100k grant match-funding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smtClean="0"/>
              <a:t>Why run the Big Venture Challenge</a:t>
            </a:r>
          </a:p>
        </p:txBody>
      </p:sp>
      <p:sp>
        <p:nvSpPr>
          <p:cNvPr id="21507" name="Rectangle 3"/>
          <p:cNvSpPr>
            <a:spLocks noGrp="1" noChangeArrowheads="1"/>
          </p:cNvSpPr>
          <p:nvPr>
            <p:ph type="body" idx="1"/>
          </p:nvPr>
        </p:nvSpPr>
        <p:spPr>
          <a:xfrm>
            <a:off x="2195513" y="2924175"/>
            <a:ext cx="4800600" cy="533400"/>
          </a:xfrm>
        </p:spPr>
        <p:txBody>
          <a:bodyPr/>
          <a:lstStyle/>
          <a:p>
            <a:pPr marL="0" indent="0" algn="ctr" eaLnBrk="1" hangingPunct="1">
              <a:lnSpc>
                <a:spcPct val="90000"/>
              </a:lnSpc>
            </a:pPr>
            <a:endParaRPr lang="en-GB" sz="2800" u="sng" dirty="0" smtClean="0">
              <a:solidFill>
                <a:schemeClr val="accent2"/>
              </a:solidFill>
            </a:endParaRPr>
          </a:p>
          <a:p>
            <a:pPr marL="0" indent="0" algn="ctr" eaLnBrk="1" hangingPunct="1">
              <a:lnSpc>
                <a:spcPct val="90000"/>
              </a:lnSpc>
            </a:pPr>
            <a:endParaRPr lang="en-GB" sz="2800" u="sng" dirty="0" smtClean="0">
              <a:solidFill>
                <a:schemeClr val="accent2"/>
              </a:solidFill>
            </a:endParaRPr>
          </a:p>
          <a:p>
            <a:pPr marL="0" indent="0" eaLnBrk="1" hangingPunct="1">
              <a:lnSpc>
                <a:spcPct val="90000"/>
              </a:lnSpc>
            </a:pPr>
            <a:endParaRPr lang="en-US" sz="2800" dirty="0" smtClean="0"/>
          </a:p>
        </p:txBody>
      </p:sp>
      <p:sp>
        <p:nvSpPr>
          <p:cNvPr id="5" name="TextBox 4"/>
          <p:cNvSpPr txBox="1"/>
          <p:nvPr/>
        </p:nvSpPr>
        <p:spPr>
          <a:xfrm>
            <a:off x="251520" y="1412776"/>
            <a:ext cx="8568952" cy="2246769"/>
          </a:xfrm>
          <a:prstGeom prst="rect">
            <a:avLst/>
          </a:prstGeom>
          <a:noFill/>
        </p:spPr>
        <p:txBody>
          <a:bodyPr wrap="square" rtlCol="0">
            <a:spAutoFit/>
          </a:bodyPr>
          <a:lstStyle/>
          <a:p>
            <a:endParaRPr lang="en-GB" dirty="0" smtClean="0"/>
          </a:p>
          <a:p>
            <a:endParaRPr lang="en-GB" dirty="0" smtClean="0"/>
          </a:p>
          <a:p>
            <a:endParaRPr lang="en-GB" dirty="0" smtClean="0"/>
          </a:p>
          <a:p>
            <a:endParaRPr lang="en-GB" dirty="0" smtClean="0"/>
          </a:p>
          <a:p>
            <a:endParaRPr lang="en-GB" dirty="0"/>
          </a:p>
        </p:txBody>
      </p:sp>
      <p:sp>
        <p:nvSpPr>
          <p:cNvPr id="10" name="Rectangle 9"/>
          <p:cNvSpPr/>
          <p:nvPr/>
        </p:nvSpPr>
        <p:spPr>
          <a:xfrm>
            <a:off x="611560" y="1772816"/>
            <a:ext cx="7704856" cy="3416320"/>
          </a:xfrm>
          <a:prstGeom prst="rect">
            <a:avLst/>
          </a:prstGeom>
        </p:spPr>
        <p:txBody>
          <a:bodyPr wrap="square">
            <a:spAutoFit/>
          </a:bodyPr>
          <a:lstStyle/>
          <a:p>
            <a:pPr>
              <a:buFont typeface="Arial" pitchFamily="34" charset="0"/>
              <a:buChar char="•"/>
            </a:pPr>
            <a:r>
              <a:rPr lang="en-GB" sz="1800" dirty="0" smtClean="0"/>
              <a:t>We are looking to de-risk social investment</a:t>
            </a:r>
          </a:p>
          <a:p>
            <a:r>
              <a:rPr lang="en-GB" sz="1800" dirty="0" smtClean="0"/>
              <a:t> </a:t>
            </a:r>
          </a:p>
          <a:p>
            <a:pPr>
              <a:buFont typeface="Arial" pitchFamily="34" charset="0"/>
              <a:buChar char="•"/>
            </a:pPr>
            <a:r>
              <a:rPr lang="en-GB" sz="1800" dirty="0" smtClean="0"/>
              <a:t>Social finance has historically been a fragmented market – supply and demand rarely match</a:t>
            </a:r>
          </a:p>
          <a:p>
            <a:pPr>
              <a:buFont typeface="Arial" pitchFamily="34" charset="0"/>
              <a:buChar char="•"/>
            </a:pPr>
            <a:endParaRPr lang="en-GB" sz="1800" dirty="0" smtClean="0"/>
          </a:p>
          <a:p>
            <a:pPr>
              <a:buFont typeface="Arial" pitchFamily="34" charset="0"/>
              <a:buChar char="•"/>
            </a:pPr>
            <a:r>
              <a:rPr lang="en-GB" sz="1800" dirty="0" smtClean="0"/>
              <a:t>Lack of evidence of return / successful exits</a:t>
            </a:r>
          </a:p>
          <a:p>
            <a:pPr>
              <a:buFont typeface="Arial" pitchFamily="34" charset="0"/>
              <a:buChar char="•"/>
            </a:pPr>
            <a:endParaRPr lang="en-GB" sz="1800" dirty="0" smtClean="0"/>
          </a:p>
          <a:p>
            <a:pPr>
              <a:buFont typeface="Arial" pitchFamily="34" charset="0"/>
              <a:buChar char="•"/>
            </a:pPr>
            <a:r>
              <a:rPr lang="en-GB" sz="1800" dirty="0" smtClean="0"/>
              <a:t>Lack of standardised deal types, long time to complete bespoke deals</a:t>
            </a:r>
          </a:p>
          <a:p>
            <a:pPr>
              <a:buFont typeface="Arial" pitchFamily="34" charset="0"/>
              <a:buChar char="•"/>
            </a:pPr>
            <a:endParaRPr lang="en-GB" sz="1800" dirty="0" smtClean="0"/>
          </a:p>
          <a:p>
            <a:pPr>
              <a:buFont typeface="Arial" pitchFamily="34" charset="0"/>
              <a:buChar char="•"/>
            </a:pPr>
            <a:r>
              <a:rPr lang="en-GB" sz="1800" dirty="0" smtClean="0"/>
              <a:t>Risk aversion – both sides</a:t>
            </a:r>
          </a:p>
          <a:p>
            <a:pPr>
              <a:buFont typeface="Arial" pitchFamily="34" charset="0"/>
              <a:buChar char="•"/>
            </a:pPr>
            <a:endParaRPr lang="en-GB" sz="1800" dirty="0" smtClean="0"/>
          </a:p>
          <a:p>
            <a:pPr>
              <a:buFont typeface="Arial" pitchFamily="34" charset="0"/>
              <a:buChar char="•"/>
            </a:pPr>
            <a:r>
              <a:rPr lang="en-GB" sz="1800" dirty="0" smtClean="0"/>
              <a:t>Gap in ‘angel’ style seed-finance in the social sector</a:t>
            </a:r>
            <a:endParaRPr lang="en-GB" sz="1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smtClean="0"/>
              <a:t>The Results</a:t>
            </a:r>
          </a:p>
        </p:txBody>
      </p:sp>
      <p:sp>
        <p:nvSpPr>
          <p:cNvPr id="21507" name="Rectangle 3"/>
          <p:cNvSpPr>
            <a:spLocks noGrp="1" noChangeArrowheads="1"/>
          </p:cNvSpPr>
          <p:nvPr>
            <p:ph type="body" idx="1"/>
          </p:nvPr>
        </p:nvSpPr>
        <p:spPr>
          <a:xfrm>
            <a:off x="2195513" y="2924175"/>
            <a:ext cx="4800600" cy="533400"/>
          </a:xfrm>
        </p:spPr>
        <p:txBody>
          <a:bodyPr/>
          <a:lstStyle/>
          <a:p>
            <a:pPr marL="0" indent="0" algn="ctr" eaLnBrk="1" hangingPunct="1">
              <a:lnSpc>
                <a:spcPct val="90000"/>
              </a:lnSpc>
            </a:pPr>
            <a:endParaRPr lang="en-GB" sz="2800" u="sng" dirty="0" smtClean="0">
              <a:solidFill>
                <a:schemeClr val="accent2"/>
              </a:solidFill>
            </a:endParaRPr>
          </a:p>
          <a:p>
            <a:pPr marL="0" indent="0" algn="ctr" eaLnBrk="1" hangingPunct="1">
              <a:lnSpc>
                <a:spcPct val="90000"/>
              </a:lnSpc>
            </a:pPr>
            <a:endParaRPr lang="en-GB" sz="2800" u="sng" dirty="0" smtClean="0">
              <a:solidFill>
                <a:schemeClr val="accent2"/>
              </a:solidFill>
            </a:endParaRPr>
          </a:p>
          <a:p>
            <a:pPr marL="0" indent="0" eaLnBrk="1" hangingPunct="1">
              <a:lnSpc>
                <a:spcPct val="90000"/>
              </a:lnSpc>
            </a:pPr>
            <a:endParaRPr lang="en-US" sz="2800" dirty="0" smtClean="0"/>
          </a:p>
        </p:txBody>
      </p:sp>
      <p:sp>
        <p:nvSpPr>
          <p:cNvPr id="5" name="TextBox 4"/>
          <p:cNvSpPr txBox="1"/>
          <p:nvPr/>
        </p:nvSpPr>
        <p:spPr>
          <a:xfrm>
            <a:off x="251520" y="1412776"/>
            <a:ext cx="8568952" cy="2246769"/>
          </a:xfrm>
          <a:prstGeom prst="rect">
            <a:avLst/>
          </a:prstGeom>
          <a:noFill/>
        </p:spPr>
        <p:txBody>
          <a:bodyPr wrap="square" rtlCol="0">
            <a:spAutoFit/>
          </a:bodyPr>
          <a:lstStyle/>
          <a:p>
            <a:endParaRPr lang="en-GB" dirty="0" smtClean="0"/>
          </a:p>
          <a:p>
            <a:endParaRPr lang="en-GB" dirty="0" smtClean="0"/>
          </a:p>
          <a:p>
            <a:endParaRPr lang="en-GB" dirty="0" smtClean="0"/>
          </a:p>
          <a:p>
            <a:endParaRPr lang="en-GB" dirty="0" smtClean="0"/>
          </a:p>
          <a:p>
            <a:endParaRPr lang="en-GB" dirty="0"/>
          </a:p>
        </p:txBody>
      </p:sp>
      <p:sp>
        <p:nvSpPr>
          <p:cNvPr id="7" name="Rectangle 6"/>
          <p:cNvSpPr/>
          <p:nvPr/>
        </p:nvSpPr>
        <p:spPr>
          <a:xfrm>
            <a:off x="179512" y="2348880"/>
            <a:ext cx="4032448" cy="2246769"/>
          </a:xfrm>
          <a:prstGeom prst="rect">
            <a:avLst/>
          </a:prstGeom>
        </p:spPr>
        <p:txBody>
          <a:bodyPr wrap="square">
            <a:spAutoFit/>
          </a:bodyPr>
          <a:lstStyle/>
          <a:p>
            <a:r>
              <a:rPr lang="en-GB" sz="1400" dirty="0" smtClean="0"/>
              <a:t>North East		17	3%	</a:t>
            </a:r>
          </a:p>
          <a:p>
            <a:r>
              <a:rPr lang="en-GB" sz="1400" dirty="0" smtClean="0"/>
              <a:t>North West 	51	8%	</a:t>
            </a:r>
          </a:p>
          <a:p>
            <a:r>
              <a:rPr lang="en-GB" sz="1400" dirty="0" smtClean="0"/>
              <a:t>Yorkshire &amp; Humber	74	12%	</a:t>
            </a:r>
          </a:p>
          <a:p>
            <a:r>
              <a:rPr lang="en-GB" sz="1400" dirty="0" smtClean="0"/>
              <a:t>West Midlands	34	5%	</a:t>
            </a:r>
          </a:p>
          <a:p>
            <a:r>
              <a:rPr lang="en-GB" sz="1400" dirty="0" smtClean="0"/>
              <a:t>East Midlands	16	3%	</a:t>
            </a:r>
          </a:p>
          <a:p>
            <a:r>
              <a:rPr lang="en-GB" sz="1400" dirty="0" smtClean="0"/>
              <a:t>East of England	25	4%	</a:t>
            </a:r>
          </a:p>
          <a:p>
            <a:r>
              <a:rPr lang="en-GB" sz="1400" dirty="0" smtClean="0"/>
              <a:t>London		211	34%	</a:t>
            </a:r>
          </a:p>
          <a:p>
            <a:r>
              <a:rPr lang="en-GB" sz="1400" dirty="0" smtClean="0"/>
              <a:t>South East		126	20%</a:t>
            </a:r>
          </a:p>
          <a:p>
            <a:r>
              <a:rPr lang="en-GB" sz="1400" dirty="0" smtClean="0"/>
              <a:t>South West		72	12%</a:t>
            </a:r>
            <a:r>
              <a:rPr lang="en-GB" dirty="0" smtClean="0"/>
              <a:t>	</a:t>
            </a:r>
          </a:p>
        </p:txBody>
      </p:sp>
      <p:sp>
        <p:nvSpPr>
          <p:cNvPr id="8" name="Rectangle 7"/>
          <p:cNvSpPr/>
          <p:nvPr/>
        </p:nvSpPr>
        <p:spPr>
          <a:xfrm>
            <a:off x="4283968" y="2060848"/>
            <a:ext cx="4572000" cy="3539430"/>
          </a:xfrm>
          <a:prstGeom prst="rect">
            <a:avLst/>
          </a:prstGeom>
        </p:spPr>
        <p:txBody>
          <a:bodyPr>
            <a:spAutoFit/>
          </a:bodyPr>
          <a:lstStyle/>
          <a:p>
            <a:r>
              <a:rPr lang="en-GB" sz="1400" dirty="0" smtClean="0"/>
              <a:t>Arts &amp; Culture		16	3% Community Development 	132	21% Crime Prevention		2	0% Disability 			18	3 Education			122	19% Elderly			4	1% Employment		59	9% Environment		46	7% Equality &amp; Diversity		17	3%   Food			2	0</a:t>
            </a:r>
          </a:p>
          <a:p>
            <a:r>
              <a:rPr lang="en-GB" sz="1400" dirty="0" smtClean="0"/>
              <a:t>Health &amp; Social Care		168	27% Housing			4	1% Human Rights		2	0% Poverty Reduction 		12	2% Youth			22	4%	</a:t>
            </a:r>
          </a:p>
        </p:txBody>
      </p:sp>
      <p:sp>
        <p:nvSpPr>
          <p:cNvPr id="9" name="TextBox 8"/>
          <p:cNvSpPr txBox="1"/>
          <p:nvPr/>
        </p:nvSpPr>
        <p:spPr>
          <a:xfrm>
            <a:off x="1403648" y="1196752"/>
            <a:ext cx="7128792" cy="523220"/>
          </a:xfrm>
          <a:prstGeom prst="rect">
            <a:avLst/>
          </a:prstGeom>
          <a:noFill/>
        </p:spPr>
        <p:txBody>
          <a:bodyPr wrap="square" rtlCol="0">
            <a:spAutoFit/>
          </a:bodyPr>
          <a:lstStyle/>
          <a:p>
            <a:r>
              <a:rPr lang="en-GB" dirty="0" smtClean="0"/>
              <a:t>               637 Applications!!!</a:t>
            </a:r>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smtClean="0"/>
              <a:t/>
            </a:r>
            <a:br>
              <a:rPr lang="en-US" dirty="0" smtClean="0"/>
            </a:br>
            <a:r>
              <a:rPr lang="en-US" dirty="0" smtClean="0"/>
              <a:t>Contact Details</a:t>
            </a:r>
          </a:p>
        </p:txBody>
      </p:sp>
      <p:sp>
        <p:nvSpPr>
          <p:cNvPr id="21507" name="Rectangle 3"/>
          <p:cNvSpPr>
            <a:spLocks noGrp="1" noChangeArrowheads="1"/>
          </p:cNvSpPr>
          <p:nvPr>
            <p:ph type="body" idx="1"/>
          </p:nvPr>
        </p:nvSpPr>
        <p:spPr>
          <a:xfrm>
            <a:off x="2195513" y="2924175"/>
            <a:ext cx="4800600" cy="533400"/>
          </a:xfrm>
        </p:spPr>
        <p:txBody>
          <a:bodyPr/>
          <a:lstStyle/>
          <a:p>
            <a:pPr marL="0" indent="0" algn="ctr" eaLnBrk="1" hangingPunct="1">
              <a:lnSpc>
                <a:spcPct val="90000"/>
              </a:lnSpc>
            </a:pPr>
            <a:endParaRPr lang="en-GB" sz="2800" u="sng" dirty="0" smtClean="0">
              <a:solidFill>
                <a:schemeClr val="accent2"/>
              </a:solidFill>
            </a:endParaRPr>
          </a:p>
          <a:p>
            <a:pPr marL="0" indent="0" algn="ctr" eaLnBrk="1" hangingPunct="1">
              <a:lnSpc>
                <a:spcPct val="90000"/>
              </a:lnSpc>
            </a:pPr>
            <a:endParaRPr lang="en-GB" sz="2800" u="sng" dirty="0" smtClean="0">
              <a:solidFill>
                <a:schemeClr val="accent2"/>
              </a:solidFill>
            </a:endParaRPr>
          </a:p>
          <a:p>
            <a:pPr marL="0" indent="0" eaLnBrk="1" hangingPunct="1">
              <a:lnSpc>
                <a:spcPct val="90000"/>
              </a:lnSpc>
            </a:pPr>
            <a:endParaRPr lang="en-US" sz="2800" dirty="0" smtClean="0"/>
          </a:p>
        </p:txBody>
      </p:sp>
      <p:sp>
        <p:nvSpPr>
          <p:cNvPr id="21508" name="Text Box 4"/>
          <p:cNvSpPr txBox="1">
            <a:spLocks noChangeArrowheads="1"/>
          </p:cNvSpPr>
          <p:nvPr/>
        </p:nvSpPr>
        <p:spPr bwMode="auto">
          <a:xfrm>
            <a:off x="1981200" y="2362200"/>
            <a:ext cx="5583238" cy="584775"/>
          </a:xfrm>
          <a:prstGeom prst="rect">
            <a:avLst/>
          </a:prstGeom>
          <a:noFill/>
          <a:ln w="9525">
            <a:noFill/>
            <a:miter lim="800000"/>
            <a:headEnd/>
            <a:tailEnd/>
          </a:ln>
        </p:spPr>
        <p:txBody>
          <a:bodyPr>
            <a:spAutoFit/>
          </a:bodyPr>
          <a:lstStyle/>
          <a:p>
            <a:pPr algn="ctr"/>
            <a:r>
              <a:rPr lang="en-US" sz="3200" dirty="0" smtClean="0">
                <a:solidFill>
                  <a:srgbClr val="000000"/>
                </a:solidFill>
              </a:rPr>
              <a:t>Questions?</a:t>
            </a:r>
            <a:endParaRPr lang="en-US" sz="3200" dirty="0">
              <a:solidFill>
                <a:srgbClr val="0000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3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6534</TotalTime>
  <Words>1290</Words>
  <Application>Microsoft Office PowerPoint</Application>
  <PresentationFormat>On-screen Show (4:3)</PresentationFormat>
  <Paragraphs>348</Paragraphs>
  <Slides>19</Slides>
  <Notes>19</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Blank Presentation</vt:lpstr>
      <vt:lpstr>43_Blank Presentation</vt:lpstr>
      <vt:lpstr>Slide 1</vt:lpstr>
      <vt:lpstr>What is investment?</vt:lpstr>
      <vt:lpstr> Range of Financial Instruments &amp; Capital Needs</vt:lpstr>
      <vt:lpstr> Financial Suppliers &amp; Financing Needs</vt:lpstr>
      <vt:lpstr> Range of Financial Instruments &amp; Capital Needs</vt:lpstr>
      <vt:lpstr> Where does social entrepreneurship come from?</vt:lpstr>
      <vt:lpstr> Key Issues related to Social Enterprises </vt:lpstr>
      <vt:lpstr> Key Issues related to Investors/Financial Suppliers</vt:lpstr>
      <vt:lpstr>The Market Place </vt:lpstr>
      <vt:lpstr>Example - Cool 2 Care</vt:lpstr>
      <vt:lpstr>What financiers look for</vt:lpstr>
      <vt:lpstr> When is social enough? What is social? </vt:lpstr>
      <vt:lpstr> When is social enough? What is social? </vt:lpstr>
      <vt:lpstr> When is social enough? What is social? </vt:lpstr>
      <vt:lpstr>Big Venture Challenge</vt:lpstr>
      <vt:lpstr>Big Venture Challenge – The Deal</vt:lpstr>
      <vt:lpstr>Why run the Big Venture Challenge</vt:lpstr>
      <vt:lpstr>The Results</vt:lpstr>
      <vt:lpstr> Contact Details</vt:lpstr>
    </vt:vector>
  </TitlesOfParts>
  <Company>Amy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Amy</dc:creator>
  <cp:lastModifiedBy>garethzahirbill</cp:lastModifiedBy>
  <cp:revision>132</cp:revision>
  <dcterms:created xsi:type="dcterms:W3CDTF">2009-12-04T13:09:20Z</dcterms:created>
  <dcterms:modified xsi:type="dcterms:W3CDTF">2012-10-11T04:25:10Z</dcterms:modified>
</cp:coreProperties>
</file>